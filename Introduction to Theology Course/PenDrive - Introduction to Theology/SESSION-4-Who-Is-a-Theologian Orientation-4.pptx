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Fira Sans Thin"/>
      <p:regular r:id="rId201314"/>
    </p:embeddedFont>
    <p:embeddedFont>
      <p:font typeface="Fira Sans ExtraLight"/>
      <p:regular r:id="rId201315"/>
    </p:embeddedFont>
    <p:embeddedFont>
      <p:font typeface="Fira Sans Light"/>
      <p:regular r:id="rId201316"/>
    </p:embeddedFont>
    <p:embeddedFont>
      <p:font typeface="Fira Sans"/>
      <p:regular r:id="rId201317"/>
    </p:embeddedFont>
    <p:embeddedFont>
      <p:font typeface="Fira Sans Medium"/>
      <p:regular r:id="rId201318"/>
    </p:embeddedFont>
    <p:embeddedFont>
      <p:font typeface="Fira Sans SemiBold"/>
      <p:regular r:id="rId201319"/>
    </p:embeddedFont>
    <p:embeddedFont>
      <p:font typeface="Fira Sans Bold"/>
      <p:regular r:id="rId201320"/>
    </p:embeddedFont>
    <p:embeddedFont>
      <p:font typeface="Fira Sans ExtraBold"/>
      <p:regular r:id="rId201321"/>
    </p:embeddedFont>
    <p:embeddedFont>
      <p:font typeface="Fira Sans Black"/>
      <p:regular r:id="rId201322"/>
    </p:embeddedFont>
    <p:embeddedFont>
      <p:font typeface="Libre Baskerville"/>
      <p:regular r:id="rId201323"/>
    </p:embeddedFont>
    <p:embeddedFont>
      <p:font typeface="Libre Baskerville Bold"/>
      <p:regular r:id="rId2013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916F29"/>
          </a:solidFill>
          <a:ln/>
        </p:spPr>
      </p:sp>
      <p:sp>
        <p:nvSpPr>
          <p:cNvPr id="3" name="Shape 1"/>
          <p:cNvSpPr/>
          <p:nvPr/>
        </p:nvSpPr>
        <p:spPr>
          <a:xfrm>
            <a:off x="0" y="0"/>
            <a:ext cx="12191695" cy="6858000"/>
          </a:xfrm>
          <a:prstGeom prst="rect">
            <a:avLst/>
          </a:prstGeom>
          <a:solidFill>
            <a:srgbClr val="B98D34"/>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05041" y="1490266"/>
            <a:ext cx="8499461"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SESSION 4: Who Is a Theologian?</a:t>
            </a:r>
            <a:endParaRPr lang="en-US" sz="3450" dirty="0"/>
          </a:p>
        </p:txBody>
      </p:sp>
      <p:sp>
        <p:nvSpPr>
          <p:cNvPr id="3" name="Text 1"/>
          <p:cNvSpPr/>
          <p:nvPr/>
        </p:nvSpPr>
        <p:spPr>
          <a:xfrm>
            <a:off x="805041" y="2124174"/>
            <a:ext cx="6720910"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Identity, Work, and Vocation — Duration 45 minutes</a:t>
            </a:r>
            <a:endParaRPr lang="en-US" sz="1700" dirty="0"/>
          </a:p>
        </p:txBody>
      </p:sp>
      <p:sp>
        <p:nvSpPr>
          <p:cNvPr id="4" name="Shape 2"/>
          <p:cNvSpPr/>
          <p:nvPr/>
        </p:nvSpPr>
        <p:spPr>
          <a:xfrm>
            <a:off x="805041" y="2753221"/>
            <a:ext cx="10581613" cy="25400"/>
          </a:xfrm>
          <a:prstGeom prst="roundRect">
            <a:avLst>
              <a:gd name="adj" fmla="val 59999"/>
            </a:avLst>
          </a:prstGeom>
          <a:solidFill>
            <a:srgbClr val="000000">
              <a:alpha val="50000"/>
            </a:srgbClr>
          </a:solidFill>
          <a:ln/>
        </p:spPr>
      </p:sp>
      <p:sp>
        <p:nvSpPr>
          <p:cNvPr id="5" name="Shape 3"/>
          <p:cNvSpPr/>
          <p:nvPr/>
        </p:nvSpPr>
        <p:spPr>
          <a:xfrm>
            <a:off x="805041" y="3055342"/>
            <a:ext cx="10581613" cy="2312293"/>
          </a:xfrm>
          <a:prstGeom prst="roundRect">
            <a:avLst>
              <a:gd name="adj" fmla="val 3656"/>
            </a:avLst>
          </a:prstGeom>
          <a:solidFill>
            <a:srgbClr val="FFE6CC"/>
          </a:solidFill>
          <a:ln w="6350">
            <a:solidFill>
              <a:srgbClr val="E5CCB2"/>
            </a:solidFill>
            <a:prstDash val="solid"/>
          </a:ln>
        </p:spPr>
      </p:sp>
      <p:sp>
        <p:nvSpPr>
          <p:cNvPr id="6" name="Text 4"/>
          <p:cNvSpPr/>
          <p:nvPr/>
        </p:nvSpPr>
        <p:spPr>
          <a:xfrm>
            <a:off x="1012601" y="3262908"/>
            <a:ext cx="2214011" cy="276820"/>
          </a:xfrm>
          <a:prstGeom prst="rect">
            <a:avLst/>
          </a:prstGeom>
          <a:noFill/>
          <a:ln/>
        </p:spPr>
        <p:txBody>
          <a:bodyPr wrap="none" lIns="0" tIns="0" rIns="0" bIns="0" rtlCol="0" anchor="t"/>
          <a:lstStyle/>
          <a:p>
            <a:pPr algn="l" indent="0" marL="0">
              <a:lnSpc>
                <a:spcPct val="104000"/>
              </a:lnSpc>
              <a:buNone/>
            </a:pPr>
            <a:r>
              <a:rPr lang="en-US" sz="1700" b="1" dirty="0">
                <a:solidFill>
                  <a:srgbClr val="000000"/>
                </a:solidFill>
                <a:latin typeface="Libre Baskerville Bold" pitchFamily="34" charset="0"/>
                <a:ea typeface="Libre Baskerville Bold" pitchFamily="34" charset="-122"/>
                <a:cs typeface="Libre Baskerville Bold" pitchFamily="34" charset="-120"/>
              </a:rPr>
              <a:t>Objectives</a:t>
            </a:r>
            <a:endParaRPr lang="en-US" sz="1700" dirty="0"/>
          </a:p>
        </p:txBody>
      </p:sp>
      <p:sp>
        <p:nvSpPr>
          <p:cNvPr id="7" name="Text 5"/>
          <p:cNvSpPr/>
          <p:nvPr/>
        </p:nvSpPr>
        <p:spPr>
          <a:xfrm>
            <a:off x="1012601" y="3660477"/>
            <a:ext cx="10166493" cy="1499592"/>
          </a:xfrm>
          <a:prstGeom prst="rect">
            <a:avLst/>
          </a:prstGeom>
          <a:noFill/>
          <a:ln/>
        </p:spPr>
        <p:txBody>
          <a:bodyPr wrap="square" lIns="0" tIns="0" rIns="0" bIns="0" rtlCol="0" anchor="t">
            <a:normAutofit/>
          </a:bodyPr>
          <a:lstStyle/>
          <a:p>
            <a:pPr algn="l" marL="314960" indent="-314960">
              <a:lnSpc>
                <a:spcPct val="133000"/>
              </a:lnSpc>
              <a:buSzPct val="100000"/>
              <a:buChar char="•"/>
            </a:pPr>
            <a:r>
              <a:rPr lang="en-US" sz="1550" dirty="0">
                <a:solidFill>
                  <a:srgbClr val="000000"/>
                </a:solidFill>
                <a:latin typeface="Fira Sans" pitchFamily="34" charset="0"/>
                <a:ea typeface="Fira Sans" pitchFamily="34" charset="-122"/>
                <a:cs typeface="Fira Sans" pitchFamily="34" charset="-120"/>
              </a:rPr>
              <a:t>Give students a positive, vocational identity as theologians</a:t>
            </a:r>
            <a:endParaRPr lang="en-US" sz="1550" dirty="0"/>
          </a:p>
          <a:p>
            <a:pPr algn="l" marL="314960" indent="-314960">
              <a:lnSpc>
                <a:spcPct val="133000"/>
              </a:lnSpc>
              <a:buSzPct val="100000"/>
              <a:buChar char="•"/>
            </a:pPr>
            <a:r>
              <a:rPr lang="en-US" sz="1550" dirty="0">
                <a:solidFill>
                  <a:srgbClr val="000000"/>
                </a:solidFill>
                <a:latin typeface="Fira Sans" pitchFamily="34" charset="0"/>
                <a:ea typeface="Fira Sans" pitchFamily="34" charset="-122"/>
                <a:cs typeface="Fira Sans" pitchFamily="34" charset="-120"/>
              </a:rPr>
              <a:t>Describe the four tasks of the theologian (ITC framework)</a:t>
            </a:r>
            <a:endParaRPr lang="en-US" sz="1550" dirty="0"/>
          </a:p>
          <a:p>
            <a:pPr algn="l" marL="314960" indent="-314960">
              <a:lnSpc>
                <a:spcPct val="133000"/>
              </a:lnSpc>
              <a:buSzPct val="100000"/>
              <a:buChar char="•"/>
            </a:pPr>
            <a:r>
              <a:rPr lang="en-US" sz="1550" dirty="0">
                <a:solidFill>
                  <a:srgbClr val="000000"/>
                </a:solidFill>
                <a:latin typeface="Fira Sans" pitchFamily="34" charset="0"/>
                <a:ea typeface="Fira Sans" pitchFamily="34" charset="-122"/>
                <a:cs typeface="Fira Sans" pitchFamily="34" charset="-120"/>
              </a:rPr>
              <a:t>Name the virtues the theologian must cultivate</a:t>
            </a:r>
            <a:endParaRPr lang="en-US" sz="1550" dirty="0"/>
          </a:p>
          <a:p>
            <a:pPr algn="l" marL="314960" indent="-314960">
              <a:lnSpc>
                <a:spcPct val="133000"/>
              </a:lnSpc>
              <a:buSzPct val="100000"/>
              <a:buChar char="•"/>
            </a:pPr>
            <a:r>
              <a:rPr lang="en-US" sz="1550" dirty="0">
                <a:solidFill>
                  <a:srgbClr val="000000"/>
                </a:solidFill>
                <a:latin typeface="Fira Sans" pitchFamily="34" charset="0"/>
                <a:ea typeface="Fira Sans" pitchFamily="34" charset="-122"/>
                <a:cs typeface="Fira Sans" pitchFamily="34" charset="-120"/>
              </a:rPr>
              <a:t>Introduce the idea of the theologian as homo ecclesialis and propheta</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05041" y="558304"/>
            <a:ext cx="4373453" cy="470495"/>
          </a:xfrm>
          <a:prstGeom prst="rect">
            <a:avLst/>
          </a:prstGeom>
          <a:noFill/>
          <a:ln/>
        </p:spPr>
        <p:txBody>
          <a:bodyPr wrap="none" lIns="0" tIns="0" rIns="0" bIns="0" rtlCol="0" anchor="t"/>
          <a:lstStyle/>
          <a:p>
            <a:pPr algn="l" indent="0" marL="0">
              <a:lnSpc>
                <a:spcPct val="104000"/>
              </a:lnSpc>
              <a:buNone/>
            </a:pPr>
            <a:r>
              <a:rPr lang="en-US" sz="2950" b="1" dirty="0">
                <a:solidFill>
                  <a:srgbClr val="000000"/>
                </a:solidFill>
                <a:latin typeface="Libre Baskerville Bold" pitchFamily="34" charset="0"/>
                <a:ea typeface="Libre Baskerville Bold" pitchFamily="34" charset="-122"/>
                <a:cs typeface="Libre Baskerville Bold" pitchFamily="34" charset="-120"/>
              </a:rPr>
              <a:t>Time Breakdown</a:t>
            </a:r>
            <a:endParaRPr lang="en-US" sz="2950" dirty="0"/>
          </a:p>
        </p:txBody>
      </p:sp>
      <p:sp>
        <p:nvSpPr>
          <p:cNvPr id="3" name="Shape 1"/>
          <p:cNvSpPr/>
          <p:nvPr/>
        </p:nvSpPr>
        <p:spPr>
          <a:xfrm>
            <a:off x="6086323" y="1319609"/>
            <a:ext cx="19050" cy="4979988"/>
          </a:xfrm>
          <a:prstGeom prst="roundRect">
            <a:avLst>
              <a:gd name="adj" fmla="val 377198"/>
            </a:avLst>
          </a:prstGeom>
          <a:solidFill>
            <a:srgbClr val="E5CCB2"/>
          </a:solidFill>
          <a:ln/>
        </p:spPr>
      </p:sp>
      <p:sp>
        <p:nvSpPr>
          <p:cNvPr id="4" name="Shape 2"/>
          <p:cNvSpPr/>
          <p:nvPr/>
        </p:nvSpPr>
        <p:spPr>
          <a:xfrm>
            <a:off x="5409221" y="1502470"/>
            <a:ext cx="513246" cy="19050"/>
          </a:xfrm>
          <a:prstGeom prst="roundRect">
            <a:avLst>
              <a:gd name="adj" fmla="val 377198"/>
            </a:avLst>
          </a:prstGeom>
          <a:solidFill>
            <a:srgbClr val="E5CCB2"/>
          </a:solidFill>
          <a:ln/>
        </p:spPr>
      </p:sp>
      <p:sp>
        <p:nvSpPr>
          <p:cNvPr id="5" name="Shape 3"/>
          <p:cNvSpPr/>
          <p:nvPr/>
        </p:nvSpPr>
        <p:spPr>
          <a:xfrm>
            <a:off x="5903418" y="1319609"/>
            <a:ext cx="384860" cy="384870"/>
          </a:xfrm>
          <a:prstGeom prst="roundRect">
            <a:avLst>
              <a:gd name="adj" fmla="val 18671"/>
            </a:avLst>
          </a:prstGeom>
          <a:solidFill>
            <a:srgbClr val="FFE6CC"/>
          </a:solidFill>
          <a:ln w="6350">
            <a:solidFill>
              <a:srgbClr val="E5CCB2"/>
            </a:solidFill>
            <a:prstDash val="solid"/>
          </a:ln>
        </p:spPr>
      </p:sp>
      <p:sp>
        <p:nvSpPr>
          <p:cNvPr id="6" name="Text 4"/>
          <p:cNvSpPr/>
          <p:nvPr/>
        </p:nvSpPr>
        <p:spPr>
          <a:xfrm>
            <a:off x="5982890" y="1370856"/>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1</a:t>
            </a:r>
            <a:endParaRPr lang="en-US" sz="1750" dirty="0"/>
          </a:p>
        </p:txBody>
      </p:sp>
      <p:sp>
        <p:nvSpPr>
          <p:cNvPr id="7" name="Text 5"/>
          <p:cNvSpPr/>
          <p:nvPr/>
        </p:nvSpPr>
        <p:spPr>
          <a:xfrm>
            <a:off x="3358570" y="1378347"/>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0:00 – 0:08</a:t>
            </a:r>
            <a:endParaRPr lang="en-US" sz="1450" dirty="0"/>
          </a:p>
        </p:txBody>
      </p:sp>
      <p:sp>
        <p:nvSpPr>
          <p:cNvPr id="8" name="Text 6"/>
          <p:cNvSpPr/>
          <p:nvPr/>
        </p:nvSpPr>
        <p:spPr>
          <a:xfrm>
            <a:off x="805041" y="1700808"/>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a:t>
            </a:r>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 Game: "Hero or Villain?" — Famous Theologians Quiz</a:t>
            </a:r>
            <a:endParaRPr lang="en-US" sz="1300" dirty="0"/>
          </a:p>
        </p:txBody>
      </p:sp>
      <p:sp>
        <p:nvSpPr>
          <p:cNvPr id="9" name="Shape 7"/>
          <p:cNvSpPr/>
          <p:nvPr/>
        </p:nvSpPr>
        <p:spPr>
          <a:xfrm>
            <a:off x="6269228" y="2477591"/>
            <a:ext cx="513246" cy="19050"/>
          </a:xfrm>
          <a:prstGeom prst="roundRect">
            <a:avLst>
              <a:gd name="adj" fmla="val 377198"/>
            </a:avLst>
          </a:prstGeom>
          <a:solidFill>
            <a:srgbClr val="E5CCB2"/>
          </a:solidFill>
          <a:ln/>
        </p:spPr>
      </p:sp>
      <p:sp>
        <p:nvSpPr>
          <p:cNvPr id="10" name="Shape 8"/>
          <p:cNvSpPr/>
          <p:nvPr/>
        </p:nvSpPr>
        <p:spPr>
          <a:xfrm>
            <a:off x="5903418" y="2294731"/>
            <a:ext cx="384860" cy="384870"/>
          </a:xfrm>
          <a:prstGeom prst="roundRect">
            <a:avLst>
              <a:gd name="adj" fmla="val 18671"/>
            </a:avLst>
          </a:prstGeom>
          <a:solidFill>
            <a:srgbClr val="FFE6CC"/>
          </a:solidFill>
          <a:ln w="6350">
            <a:solidFill>
              <a:srgbClr val="E5CCB2"/>
            </a:solidFill>
            <a:prstDash val="solid"/>
          </a:ln>
        </p:spPr>
      </p:sp>
      <p:sp>
        <p:nvSpPr>
          <p:cNvPr id="11" name="Text 9"/>
          <p:cNvSpPr/>
          <p:nvPr/>
        </p:nvSpPr>
        <p:spPr>
          <a:xfrm>
            <a:off x="5982890" y="2345978"/>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2</a:t>
            </a:r>
            <a:endParaRPr lang="en-US" sz="1750" dirty="0"/>
          </a:p>
        </p:txBody>
      </p:sp>
      <p:sp>
        <p:nvSpPr>
          <p:cNvPr id="12" name="Text 10"/>
          <p:cNvSpPr/>
          <p:nvPr/>
        </p:nvSpPr>
        <p:spPr>
          <a:xfrm>
            <a:off x="6951191" y="235346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0:08 – 0:20</a:t>
            </a:r>
            <a:endParaRPr lang="en-US" sz="1450" dirty="0"/>
          </a:p>
        </p:txBody>
      </p:sp>
      <p:sp>
        <p:nvSpPr>
          <p:cNvPr id="13" name="Text 11"/>
          <p:cNvSpPr/>
          <p:nvPr/>
        </p:nvSpPr>
        <p:spPr>
          <a:xfrm>
            <a:off x="6951191" y="2675930"/>
            <a:ext cx="4435463" cy="253107"/>
          </a:xfrm>
          <a:prstGeom prst="rect">
            <a:avLst/>
          </a:prstGeom>
          <a:noFill/>
          <a:ln/>
        </p:spPr>
        <p:txBody>
          <a:bodyPr wrap="none" lIns="0" tIns="0" rIns="0" bIns="0" rtlCol="0" anchor="t"/>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Who is a theologian? — five dimensions</a:t>
            </a:r>
            <a:endParaRPr lang="en-US" sz="1300" dirty="0"/>
          </a:p>
        </p:txBody>
      </p:sp>
      <p:sp>
        <p:nvSpPr>
          <p:cNvPr id="14" name="Shape 12"/>
          <p:cNvSpPr/>
          <p:nvPr/>
        </p:nvSpPr>
        <p:spPr>
          <a:xfrm>
            <a:off x="5409221" y="3336727"/>
            <a:ext cx="513246" cy="19050"/>
          </a:xfrm>
          <a:prstGeom prst="roundRect">
            <a:avLst>
              <a:gd name="adj" fmla="val 377198"/>
            </a:avLst>
          </a:prstGeom>
          <a:solidFill>
            <a:srgbClr val="E5CCB2"/>
          </a:solidFill>
          <a:ln/>
        </p:spPr>
      </p:sp>
      <p:sp>
        <p:nvSpPr>
          <p:cNvPr id="15" name="Shape 13"/>
          <p:cNvSpPr/>
          <p:nvPr/>
        </p:nvSpPr>
        <p:spPr>
          <a:xfrm>
            <a:off x="5903418" y="3153866"/>
            <a:ext cx="384860" cy="384870"/>
          </a:xfrm>
          <a:prstGeom prst="roundRect">
            <a:avLst>
              <a:gd name="adj" fmla="val 18671"/>
            </a:avLst>
          </a:prstGeom>
          <a:solidFill>
            <a:srgbClr val="FFE6CC"/>
          </a:solidFill>
          <a:ln w="6350">
            <a:solidFill>
              <a:srgbClr val="E5CCB2"/>
            </a:solidFill>
            <a:prstDash val="solid"/>
          </a:ln>
        </p:spPr>
      </p:sp>
      <p:sp>
        <p:nvSpPr>
          <p:cNvPr id="16" name="Text 14"/>
          <p:cNvSpPr/>
          <p:nvPr/>
        </p:nvSpPr>
        <p:spPr>
          <a:xfrm>
            <a:off x="5982890" y="3205113"/>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3</a:t>
            </a:r>
            <a:endParaRPr lang="en-US" sz="1750" dirty="0"/>
          </a:p>
        </p:txBody>
      </p:sp>
      <p:sp>
        <p:nvSpPr>
          <p:cNvPr id="17" name="Text 15"/>
          <p:cNvSpPr/>
          <p:nvPr/>
        </p:nvSpPr>
        <p:spPr>
          <a:xfrm>
            <a:off x="3358570" y="3212604"/>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0:20 – 0:32</a:t>
            </a:r>
            <a:endParaRPr lang="en-US" sz="1450" dirty="0"/>
          </a:p>
        </p:txBody>
      </p:sp>
      <p:sp>
        <p:nvSpPr>
          <p:cNvPr id="18" name="Text 16"/>
          <p:cNvSpPr/>
          <p:nvPr/>
        </p:nvSpPr>
        <p:spPr>
          <a:xfrm>
            <a:off x="805041" y="3535065"/>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The four tasks + virtues required</a:t>
            </a:r>
            <a:endParaRPr lang="en-US" sz="1300" dirty="0"/>
          </a:p>
        </p:txBody>
      </p:sp>
      <p:sp>
        <p:nvSpPr>
          <p:cNvPr id="19" name="Shape 17"/>
          <p:cNvSpPr/>
          <p:nvPr/>
        </p:nvSpPr>
        <p:spPr>
          <a:xfrm>
            <a:off x="6269228" y="4195862"/>
            <a:ext cx="513246" cy="19050"/>
          </a:xfrm>
          <a:prstGeom prst="roundRect">
            <a:avLst>
              <a:gd name="adj" fmla="val 377198"/>
            </a:avLst>
          </a:prstGeom>
          <a:solidFill>
            <a:srgbClr val="E5CCB2"/>
          </a:solidFill>
          <a:ln/>
        </p:spPr>
      </p:sp>
      <p:sp>
        <p:nvSpPr>
          <p:cNvPr id="20" name="Shape 18"/>
          <p:cNvSpPr/>
          <p:nvPr/>
        </p:nvSpPr>
        <p:spPr>
          <a:xfrm>
            <a:off x="5903418" y="4013002"/>
            <a:ext cx="384860" cy="384870"/>
          </a:xfrm>
          <a:prstGeom prst="roundRect">
            <a:avLst>
              <a:gd name="adj" fmla="val 18671"/>
            </a:avLst>
          </a:prstGeom>
          <a:solidFill>
            <a:srgbClr val="FFE6CC"/>
          </a:solidFill>
          <a:ln w="6350">
            <a:solidFill>
              <a:srgbClr val="E5CCB2"/>
            </a:solidFill>
            <a:prstDash val="solid"/>
          </a:ln>
        </p:spPr>
      </p:sp>
      <p:sp>
        <p:nvSpPr>
          <p:cNvPr id="21" name="Text 19"/>
          <p:cNvSpPr/>
          <p:nvPr/>
        </p:nvSpPr>
        <p:spPr>
          <a:xfrm>
            <a:off x="5982890" y="4064248"/>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4</a:t>
            </a:r>
            <a:endParaRPr lang="en-US" sz="1750" dirty="0"/>
          </a:p>
        </p:txBody>
      </p:sp>
      <p:sp>
        <p:nvSpPr>
          <p:cNvPr id="22" name="Text 20"/>
          <p:cNvSpPr/>
          <p:nvPr/>
        </p:nvSpPr>
        <p:spPr>
          <a:xfrm>
            <a:off x="6951191" y="4071739"/>
            <a:ext cx="1881934" cy="235248"/>
          </a:xfrm>
          <a:prstGeom prst="rect">
            <a:avLst/>
          </a:prstGeom>
          <a:noFill/>
          <a:ln/>
        </p:spPr>
        <p:txBody>
          <a:bodyPr wrap="none" lIns="0" tIns="0" rIns="0" bIns="0" rtlCol="0" anchor="t"/>
          <a:lstStyle/>
          <a:p>
            <a:pPr algn="l"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0:32 – 0:42</a:t>
            </a:r>
            <a:endParaRPr lang="en-US" sz="1450" dirty="0"/>
          </a:p>
        </p:txBody>
      </p:sp>
      <p:sp>
        <p:nvSpPr>
          <p:cNvPr id="23" name="Text 21"/>
          <p:cNvSpPr/>
          <p:nvPr/>
        </p:nvSpPr>
        <p:spPr>
          <a:xfrm>
            <a:off x="6951191" y="4394200"/>
            <a:ext cx="4435463" cy="253107"/>
          </a:xfrm>
          <a:prstGeom prst="rect">
            <a:avLst/>
          </a:prstGeom>
          <a:noFill/>
          <a:ln/>
        </p:spPr>
        <p:txBody>
          <a:bodyPr wrap="none" lIns="0" tIns="0" rIns="0" bIns="0" rtlCol="0" anchor="t"/>
          <a:lstStyle/>
          <a:p>
            <a:pPr algn="l"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The Indian theologian: examples + discussion</a:t>
            </a:r>
            <a:endParaRPr lang="en-US" sz="1300" dirty="0"/>
          </a:p>
        </p:txBody>
      </p:sp>
      <p:sp>
        <p:nvSpPr>
          <p:cNvPr id="24" name="Shape 22"/>
          <p:cNvSpPr/>
          <p:nvPr/>
        </p:nvSpPr>
        <p:spPr>
          <a:xfrm>
            <a:off x="5409221" y="5054997"/>
            <a:ext cx="513246" cy="19050"/>
          </a:xfrm>
          <a:prstGeom prst="roundRect">
            <a:avLst>
              <a:gd name="adj" fmla="val 377198"/>
            </a:avLst>
          </a:prstGeom>
          <a:solidFill>
            <a:srgbClr val="E5CCB2"/>
          </a:solidFill>
          <a:ln/>
        </p:spPr>
      </p:sp>
      <p:sp>
        <p:nvSpPr>
          <p:cNvPr id="25" name="Shape 23"/>
          <p:cNvSpPr/>
          <p:nvPr/>
        </p:nvSpPr>
        <p:spPr>
          <a:xfrm>
            <a:off x="5903418" y="4872137"/>
            <a:ext cx="384860" cy="384870"/>
          </a:xfrm>
          <a:prstGeom prst="roundRect">
            <a:avLst>
              <a:gd name="adj" fmla="val 18671"/>
            </a:avLst>
          </a:prstGeom>
          <a:solidFill>
            <a:srgbClr val="FFE6CC"/>
          </a:solidFill>
          <a:ln w="6350">
            <a:solidFill>
              <a:srgbClr val="E5CCB2"/>
            </a:solidFill>
            <a:prstDash val="solid"/>
          </a:ln>
        </p:spPr>
      </p:sp>
      <p:sp>
        <p:nvSpPr>
          <p:cNvPr id="26" name="Text 24"/>
          <p:cNvSpPr/>
          <p:nvPr/>
        </p:nvSpPr>
        <p:spPr>
          <a:xfrm>
            <a:off x="5982890" y="4923383"/>
            <a:ext cx="225816" cy="282277"/>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Libre Baskerville Bold" pitchFamily="34" charset="0"/>
                <a:ea typeface="Libre Baskerville Bold" pitchFamily="34" charset="-122"/>
                <a:cs typeface="Libre Baskerville Bold" pitchFamily="34" charset="-120"/>
              </a:rPr>
              <a:t>5</a:t>
            </a:r>
            <a:endParaRPr lang="en-US" sz="1750" dirty="0"/>
          </a:p>
        </p:txBody>
      </p:sp>
      <p:sp>
        <p:nvSpPr>
          <p:cNvPr id="27" name="Text 25"/>
          <p:cNvSpPr/>
          <p:nvPr/>
        </p:nvSpPr>
        <p:spPr>
          <a:xfrm>
            <a:off x="3358570" y="4930874"/>
            <a:ext cx="1881934" cy="235248"/>
          </a:xfrm>
          <a:prstGeom prst="rect">
            <a:avLst/>
          </a:prstGeom>
          <a:noFill/>
          <a:ln/>
        </p:spPr>
        <p:txBody>
          <a:bodyPr wrap="none" lIns="0" tIns="0" rIns="0" bIns="0" rtlCol="0" anchor="t"/>
          <a:lstStyle/>
          <a:p>
            <a:pPr algn="r" indent="0" marL="0">
              <a:lnSpc>
                <a:spcPct val="104000"/>
              </a:lnSpc>
              <a:buNone/>
            </a:pPr>
            <a:r>
              <a:rPr lang="en-US" sz="1450" b="1" dirty="0">
                <a:solidFill>
                  <a:srgbClr val="000000"/>
                </a:solidFill>
                <a:latin typeface="Libre Baskerville Bold" pitchFamily="34" charset="0"/>
                <a:ea typeface="Libre Baskerville Bold" pitchFamily="34" charset="-122"/>
                <a:cs typeface="Libre Baskerville Bold" pitchFamily="34" charset="-120"/>
              </a:rPr>
              <a:t>0:42 – 0:45</a:t>
            </a:r>
            <a:endParaRPr lang="en-US" sz="1450" dirty="0"/>
          </a:p>
        </p:txBody>
      </p:sp>
      <p:sp>
        <p:nvSpPr>
          <p:cNvPr id="28" name="Text 26"/>
          <p:cNvSpPr/>
          <p:nvPr/>
        </p:nvSpPr>
        <p:spPr>
          <a:xfrm>
            <a:off x="805041" y="5253335"/>
            <a:ext cx="4435463" cy="253107"/>
          </a:xfrm>
          <a:prstGeom prst="rect">
            <a:avLst/>
          </a:prstGeom>
          <a:noFill/>
          <a:ln/>
        </p:spPr>
        <p:txBody>
          <a:bodyPr wrap="none" lIns="0" tIns="0" rIns="0" bIns="0" rtlCol="0" anchor="t"/>
          <a:lstStyle/>
          <a:p>
            <a:pPr algn="r" indent="0" marL="0">
              <a:lnSpc>
                <a:spcPct val="123000"/>
              </a:lnSpc>
              <a:buNone/>
            </a:pPr>
            <a:r>
              <a:rPr lang="en-US" sz="1300" dirty="0">
                <a:solidFill>
                  <a:srgbClr val="000000"/>
                </a:solidFill>
                <a:latin typeface="Fira Sans" pitchFamily="34" charset="0"/>
                <a:ea typeface="Fira Sans" pitchFamily="34" charset="-122"/>
                <a:cs typeface="Fira Sans" pitchFamily="34" charset="-120"/>
              </a:rPr>
              <a:t>Closing Prayer + Pledge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05041" y="1215132"/>
            <a:ext cx="9630129" cy="415032"/>
          </a:xfrm>
          <a:prstGeom prst="rect">
            <a:avLst/>
          </a:prstGeom>
          <a:noFill/>
          <a:ln/>
        </p:spPr>
        <p:txBody>
          <a:bodyPr wrap="none" lIns="0" tIns="0" rIns="0" bIns="0" rtlCol="0" anchor="t"/>
          <a:lstStyle/>
          <a:p>
            <a:pPr algn="l" indent="0" marL="0">
              <a:lnSpc>
                <a:spcPct val="104000"/>
              </a:lnSpc>
              <a:buNone/>
            </a:pPr>
            <a:r>
              <a:rPr lang="en-US" sz="2600" b="1" dirty="0">
                <a:solidFill>
                  <a:srgbClr val="000000"/>
                </a:solidFill>
                <a:latin typeface="Libre Baskerville Bold" pitchFamily="34" charset="0"/>
                <a:ea typeface="Libre Baskerville Bold" pitchFamily="34" charset="-122"/>
                <a:cs typeface="Libre Baskerville Bold" pitchFamily="34" charset="-120"/>
              </a:rPr>
              <a:t>GAME: "Hero or Villain?" Famous Theologians Quiz</a:t>
            </a:r>
            <a:endParaRPr lang="en-US" sz="2600" dirty="0"/>
          </a:p>
        </p:txBody>
      </p:sp>
      <p:sp>
        <p:nvSpPr>
          <p:cNvPr id="3" name="Text 1"/>
          <p:cNvSpPr/>
          <p:nvPr/>
        </p:nvSpPr>
        <p:spPr>
          <a:xfrm>
            <a:off x="805041" y="1675408"/>
            <a:ext cx="2270068"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8 minutes</a:t>
            </a:r>
            <a:endParaRPr lang="en-US" sz="1300" dirty="0"/>
          </a:p>
        </p:txBody>
      </p:sp>
      <p:sp>
        <p:nvSpPr>
          <p:cNvPr id="4" name="Text 2"/>
          <p:cNvSpPr/>
          <p:nvPr/>
        </p:nvSpPr>
        <p:spPr>
          <a:xfrm>
            <a:off x="805041" y="2052737"/>
            <a:ext cx="11191198" cy="211336"/>
          </a:xfrm>
          <a:prstGeom prst="rect">
            <a:avLst/>
          </a:prstGeom>
          <a:noFill/>
          <a:ln/>
        </p:spPr>
        <p:txBody>
          <a:bodyPr wrap="none" lIns="0" tIns="0" rIns="0" bIns="0" rtlCol="0" anchor="t"/>
          <a:lstStyle/>
          <a:p>
            <a:pPr algn="l" indent="0" marL="0">
              <a:lnSpc>
                <a:spcPct val="117000"/>
              </a:lnSpc>
              <a:buNone/>
            </a:pPr>
            <a:r>
              <a:rPr lang="en-US" sz="1150" b="1" dirty="0">
                <a:solidFill>
                  <a:srgbClr val="000000"/>
                </a:solidFill>
                <a:latin typeface="Fira Sans Bold" pitchFamily="34" charset="0"/>
                <a:ea typeface="Fira Sans Bold" pitchFamily="34" charset="-122"/>
                <a:cs typeface="Fira Sans Bold" pitchFamily="34" charset="-120"/>
              </a:rPr>
              <a:t>INSTRUCTIONS:</a:t>
            </a:r>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 Call out names one at a time. Students shout "HERO" or "VILLAIN" based on gut instinct. Then reveal the truth.</a:t>
            </a:r>
            <a:endParaRPr lang="en-US" sz="1150" dirty="0"/>
          </a:p>
        </p:txBody>
      </p:sp>
      <p:sp>
        <p:nvSpPr>
          <p:cNvPr id="5" name="Shape 3"/>
          <p:cNvSpPr/>
          <p:nvPr/>
        </p:nvSpPr>
        <p:spPr>
          <a:xfrm>
            <a:off x="805041" y="2429073"/>
            <a:ext cx="10581613" cy="19050"/>
          </a:xfrm>
          <a:prstGeom prst="roundRect">
            <a:avLst>
              <a:gd name="adj" fmla="val 59999"/>
            </a:avLst>
          </a:prstGeom>
          <a:solidFill>
            <a:srgbClr val="000000">
              <a:alpha val="50000"/>
            </a:srgbClr>
          </a:solidFill>
          <a:ln/>
        </p:spPr>
      </p:sp>
      <p:sp>
        <p:nvSpPr>
          <p:cNvPr id="6" name="Shape 4"/>
          <p:cNvSpPr/>
          <p:nvPr/>
        </p:nvSpPr>
        <p:spPr>
          <a:xfrm>
            <a:off x="805041" y="2613124"/>
            <a:ext cx="5234154" cy="1038027"/>
          </a:xfrm>
          <a:prstGeom prst="roundRect">
            <a:avLst>
              <a:gd name="adj" fmla="val 6108"/>
            </a:avLst>
          </a:prstGeom>
          <a:solidFill>
            <a:srgbClr val="B98D34"/>
          </a:solidFill>
          <a:ln w="19050">
            <a:solidFill>
              <a:srgbClr val="E5CCB2"/>
            </a:solidFill>
            <a:prstDash val="solid"/>
          </a:ln>
        </p:spPr>
      </p:sp>
      <p:sp>
        <p:nvSpPr>
          <p:cNvPr id="7" name="Text 5"/>
          <p:cNvSpPr/>
          <p:nvPr/>
        </p:nvSpPr>
        <p:spPr>
          <a:xfrm>
            <a:off x="974998" y="2783086"/>
            <a:ext cx="1660483"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Origen</a:t>
            </a:r>
            <a:endParaRPr lang="en-US" sz="1300" dirty="0"/>
          </a:p>
        </p:txBody>
      </p:sp>
      <p:sp>
        <p:nvSpPr>
          <p:cNvPr id="8" name="Text 6"/>
          <p:cNvSpPr/>
          <p:nvPr/>
        </p:nvSpPr>
        <p:spPr>
          <a:xfrm>
            <a:off x="974998" y="3058517"/>
            <a:ext cx="4894239" cy="42267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Hero (brilliant biblical scholar) but also "Villain" for some (he may have castrated himself to avoid temptation — this always gets a reaction!).</a:t>
            </a:r>
            <a:endParaRPr lang="en-US" sz="1150" dirty="0"/>
          </a:p>
        </p:txBody>
      </p:sp>
      <p:sp>
        <p:nvSpPr>
          <p:cNvPr id="9" name="Shape 7"/>
          <p:cNvSpPr/>
          <p:nvPr/>
        </p:nvSpPr>
        <p:spPr>
          <a:xfrm>
            <a:off x="6152401" y="2613124"/>
            <a:ext cx="5234253" cy="1038027"/>
          </a:xfrm>
          <a:prstGeom prst="roundRect">
            <a:avLst>
              <a:gd name="adj" fmla="val 6108"/>
            </a:avLst>
          </a:prstGeom>
          <a:solidFill>
            <a:srgbClr val="B98D34"/>
          </a:solidFill>
          <a:ln w="19050">
            <a:solidFill>
              <a:srgbClr val="E5CCB2"/>
            </a:solidFill>
            <a:prstDash val="solid"/>
          </a:ln>
        </p:spPr>
      </p:sp>
      <p:sp>
        <p:nvSpPr>
          <p:cNvPr id="10" name="Text 8"/>
          <p:cNvSpPr/>
          <p:nvPr/>
        </p:nvSpPr>
        <p:spPr>
          <a:xfrm>
            <a:off x="6322358" y="2783086"/>
            <a:ext cx="1660483"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Galileo</a:t>
            </a:r>
            <a:endParaRPr lang="en-US" sz="1300" dirty="0"/>
          </a:p>
        </p:txBody>
      </p:sp>
      <p:sp>
        <p:nvSpPr>
          <p:cNvPr id="11" name="Text 9"/>
          <p:cNvSpPr/>
          <p:nvPr/>
        </p:nvSpPr>
        <p:spPr>
          <a:xfrm>
            <a:off x="6322358" y="3058517"/>
            <a:ext cx="4894338" cy="42267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"Villain" according to the Inquisition in 1633 — "Hero" according to every physics textbook. </a:t>
            </a:r>
            <a:pPr algn="l" indent="0" marL="0">
              <a:lnSpc>
                <a:spcPct val="117000"/>
              </a:lnSpc>
              <a:buNone/>
            </a:pPr>
            <a:r>
              <a:rPr lang="en-US" sz="1150" b="1" dirty="0">
                <a:solidFill>
                  <a:srgbClr val="000000"/>
                </a:solidFill>
                <a:latin typeface="Fira Sans Bold" pitchFamily="34" charset="0"/>
                <a:ea typeface="Fira Sans Bold" pitchFamily="34" charset="-122"/>
                <a:cs typeface="Fira Sans Bold" pitchFamily="34" charset="-120"/>
              </a:rPr>
              <a:t>Lesson:</a:t>
            </a:r>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 Theology and science must talk.</a:t>
            </a:r>
            <a:endParaRPr lang="en-US" sz="1150" dirty="0"/>
          </a:p>
        </p:txBody>
      </p:sp>
      <p:sp>
        <p:nvSpPr>
          <p:cNvPr id="12" name="Shape 10"/>
          <p:cNvSpPr/>
          <p:nvPr/>
        </p:nvSpPr>
        <p:spPr>
          <a:xfrm>
            <a:off x="805041" y="3764359"/>
            <a:ext cx="5234154" cy="1249362"/>
          </a:xfrm>
          <a:prstGeom prst="roundRect">
            <a:avLst>
              <a:gd name="adj" fmla="val 5075"/>
            </a:avLst>
          </a:prstGeom>
          <a:solidFill>
            <a:srgbClr val="B98D34"/>
          </a:solidFill>
          <a:ln w="19050">
            <a:solidFill>
              <a:srgbClr val="E5CCB2"/>
            </a:solidFill>
            <a:prstDash val="solid"/>
          </a:ln>
        </p:spPr>
      </p:sp>
      <p:sp>
        <p:nvSpPr>
          <p:cNvPr id="13" name="Text 11"/>
          <p:cNvSpPr/>
          <p:nvPr/>
        </p:nvSpPr>
        <p:spPr>
          <a:xfrm>
            <a:off x="974998" y="3934321"/>
            <a:ext cx="1660483"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Thomas Aquinas</a:t>
            </a:r>
            <a:endParaRPr lang="en-US" sz="1300" dirty="0"/>
          </a:p>
        </p:txBody>
      </p:sp>
      <p:sp>
        <p:nvSpPr>
          <p:cNvPr id="14" name="Text 12"/>
          <p:cNvSpPr/>
          <p:nvPr/>
        </p:nvSpPr>
        <p:spPr>
          <a:xfrm>
            <a:off x="974998" y="4209752"/>
            <a:ext cx="4894239" cy="634008"/>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"Villain" according to the Bishop of Paris in 1277 who condemned 219 of his theses. "Hero" according to Pope Leo XIII who made him the official theologian of the Church in 1879. </a:t>
            </a:r>
            <a:pPr algn="l" indent="0" marL="0">
              <a:lnSpc>
                <a:spcPct val="117000"/>
              </a:lnSpc>
              <a:buNone/>
            </a:pPr>
            <a:r>
              <a:rPr lang="en-US" sz="1150" b="1" dirty="0">
                <a:solidFill>
                  <a:srgbClr val="000000"/>
                </a:solidFill>
                <a:latin typeface="Fira Sans Bold" pitchFamily="34" charset="0"/>
                <a:ea typeface="Fira Sans Bold" pitchFamily="34" charset="-122"/>
                <a:cs typeface="Fira Sans Bold" pitchFamily="34" charset="-120"/>
              </a:rPr>
              <a:t>Lesson:</a:t>
            </a:r>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 Context changes everything.</a:t>
            </a:r>
            <a:endParaRPr lang="en-US" sz="1150" dirty="0"/>
          </a:p>
        </p:txBody>
      </p:sp>
      <p:sp>
        <p:nvSpPr>
          <p:cNvPr id="15" name="Shape 13"/>
          <p:cNvSpPr/>
          <p:nvPr/>
        </p:nvSpPr>
        <p:spPr>
          <a:xfrm>
            <a:off x="6152401" y="3764359"/>
            <a:ext cx="5234253" cy="1249362"/>
          </a:xfrm>
          <a:prstGeom prst="roundRect">
            <a:avLst>
              <a:gd name="adj" fmla="val 5075"/>
            </a:avLst>
          </a:prstGeom>
          <a:solidFill>
            <a:srgbClr val="B98D34"/>
          </a:solidFill>
          <a:ln w="19050">
            <a:solidFill>
              <a:srgbClr val="E5CCB2"/>
            </a:solidFill>
            <a:prstDash val="solid"/>
          </a:ln>
        </p:spPr>
      </p:sp>
      <p:sp>
        <p:nvSpPr>
          <p:cNvPr id="16" name="Text 14"/>
          <p:cNvSpPr/>
          <p:nvPr/>
        </p:nvSpPr>
        <p:spPr>
          <a:xfrm>
            <a:off x="6322358" y="3934321"/>
            <a:ext cx="2187917"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George Soares-Prabhu SJ</a:t>
            </a:r>
            <a:endParaRPr lang="en-US" sz="1300" dirty="0"/>
          </a:p>
        </p:txBody>
      </p:sp>
      <p:sp>
        <p:nvSpPr>
          <p:cNvPr id="17" name="Text 15"/>
          <p:cNvSpPr/>
          <p:nvPr/>
        </p:nvSpPr>
        <p:spPr>
          <a:xfrm>
            <a:off x="6322358" y="4209752"/>
            <a:ext cx="4894338" cy="42267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"Hero" to Indian contextual theology; his work on the Sermon on the Mount opened new horizons for the Church in India.</a:t>
            </a:r>
            <a:endParaRPr lang="en-US" sz="1150" dirty="0"/>
          </a:p>
        </p:txBody>
      </p:sp>
      <p:sp>
        <p:nvSpPr>
          <p:cNvPr id="18" name="Shape 16"/>
          <p:cNvSpPr/>
          <p:nvPr/>
        </p:nvSpPr>
        <p:spPr>
          <a:xfrm>
            <a:off x="805041" y="5141020"/>
            <a:ext cx="10581613" cy="501848"/>
          </a:xfrm>
          <a:prstGeom prst="roundRect">
            <a:avLst>
              <a:gd name="adj" fmla="val 12634"/>
            </a:avLst>
          </a:prstGeom>
          <a:solidFill>
            <a:srgbClr val="FFE6CC"/>
          </a:solidFill>
          <a:ln/>
        </p:spPr>
      </p:sp>
      <p:pic>
        <p:nvPicPr>
          <p:cNvPr id="19" name="Image 0" descr="preencoded.png">    </p:cNvPr>
          <p:cNvPicPr>
            <a:picLocks noChangeAspect="1"/>
          </p:cNvPicPr>
          <p:nvPr/>
        </p:nvPicPr>
        <p:blipFill>
          <a:blip r:embed="rId1"/>
          <a:stretch>
            <a:fillRect/>
          </a:stretch>
        </p:blipFill>
        <p:spPr>
          <a:xfrm>
            <a:off x="955949" y="5343624"/>
            <a:ext cx="188610" cy="150912"/>
          </a:xfrm>
          <a:prstGeom prst="rect">
            <a:avLst/>
          </a:prstGeom>
        </p:spPr>
      </p:pic>
      <p:sp>
        <p:nvSpPr>
          <p:cNvPr id="20" name="Text 17"/>
          <p:cNvSpPr/>
          <p:nvPr/>
        </p:nvSpPr>
        <p:spPr>
          <a:xfrm>
            <a:off x="1295467" y="5291931"/>
            <a:ext cx="10549864" cy="211336"/>
          </a:xfrm>
          <a:prstGeom prst="rect">
            <a:avLst/>
          </a:prstGeom>
          <a:noFill/>
          <a:ln/>
        </p:spPr>
        <p:txBody>
          <a:bodyPr wrap="none" lIns="0" tIns="0" rIns="0" bIns="0" rtlCol="0" anchor="t"/>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a:t>
            </a:r>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 </a:t>
            </a:r>
            <a:pPr algn="l" indent="0" marL="0">
              <a:lnSpc>
                <a:spcPct val="117000"/>
              </a:lnSpc>
              <a:buNone/>
            </a:pPr>
            <a:r>
              <a:rPr lang="en-US" sz="1150" b="1" dirty="0">
                <a:solidFill>
                  <a:srgbClr val="000000"/>
                </a:solidFill>
                <a:latin typeface="Fira Sans Bold" pitchFamily="34" charset="0"/>
                <a:ea typeface="Fira Sans Bold" pitchFamily="34" charset="-122"/>
                <a:cs typeface="Fira Sans Bold" pitchFamily="34" charset="-120"/>
              </a:rPr>
              <a:t>Punchline:</a:t>
            </a:r>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 "If a theologian has never been called a villain by someone, he has probably never said anything important."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05041" y="1157288"/>
            <a:ext cx="9634197" cy="415032"/>
          </a:xfrm>
          <a:prstGeom prst="rect">
            <a:avLst/>
          </a:prstGeom>
          <a:noFill/>
          <a:ln/>
        </p:spPr>
        <p:txBody>
          <a:bodyPr wrap="none" lIns="0" tIns="0" rIns="0" bIns="0" rtlCol="0" anchor="t"/>
          <a:lstStyle/>
          <a:p>
            <a:pPr algn="l" indent="0" marL="0">
              <a:lnSpc>
                <a:spcPct val="104000"/>
              </a:lnSpc>
              <a:buNone/>
            </a:pPr>
            <a:r>
              <a:rPr lang="en-US" sz="2600" b="1" dirty="0">
                <a:solidFill>
                  <a:srgbClr val="000000"/>
                </a:solidFill>
                <a:latin typeface="Libre Baskerville Bold" pitchFamily="34" charset="0"/>
                <a:ea typeface="Libre Baskerville Bold" pitchFamily="34" charset="-122"/>
                <a:cs typeface="Libre Baskerville Bold" pitchFamily="34" charset="-120"/>
              </a:rPr>
              <a:t>CORE CONTENT: PART A — Who Is a Theologian?</a:t>
            </a:r>
            <a:endParaRPr lang="en-US" sz="2600" dirty="0"/>
          </a:p>
        </p:txBody>
      </p:sp>
      <p:sp>
        <p:nvSpPr>
          <p:cNvPr id="3" name="Text 1"/>
          <p:cNvSpPr/>
          <p:nvPr/>
        </p:nvSpPr>
        <p:spPr>
          <a:xfrm>
            <a:off x="805041" y="1617563"/>
            <a:ext cx="5599072"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Five Dimensions of the Theologian (from ITC and FABC)</a:t>
            </a:r>
            <a:endParaRPr lang="en-US" sz="1300" dirty="0"/>
          </a:p>
        </p:txBody>
      </p:sp>
      <p:sp>
        <p:nvSpPr>
          <p:cNvPr id="4" name="Text 2"/>
          <p:cNvSpPr/>
          <p:nvPr/>
        </p:nvSpPr>
        <p:spPr>
          <a:xfrm>
            <a:off x="805041" y="1994892"/>
            <a:ext cx="301915" cy="188615"/>
          </a:xfrm>
          <a:prstGeom prst="rect">
            <a:avLst/>
          </a:prstGeom>
          <a:noFill/>
          <a:ln/>
        </p:spPr>
        <p:txBody>
          <a:bodyPr wrap="none" lIns="0" tIns="0" rIns="0" bIns="0" rtlCol="0" anchor="ctr"/>
          <a:lstStyle/>
          <a:p>
            <a:pPr algn="l" indent="0" marL="0">
              <a:lnSpc>
                <a:spcPct val="100000"/>
              </a:lnSpc>
              <a:buNone/>
            </a:pPr>
            <a:r>
              <a:rPr lang="en-US" sz="1150" dirty="0">
                <a:solidFill>
                  <a:srgbClr val="000000"/>
                </a:solidFill>
                <a:latin typeface="Libre Baskerville Light" pitchFamily="34" charset="0"/>
                <a:ea typeface="Libre Baskerville Light" pitchFamily="34" charset="-122"/>
                <a:cs typeface="Libre Baskerville Light" pitchFamily="34" charset="-120"/>
              </a:rPr>
              <a:t>01</a:t>
            </a:r>
            <a:endParaRPr lang="en-US" sz="1150" dirty="0"/>
          </a:p>
        </p:txBody>
      </p:sp>
      <p:sp>
        <p:nvSpPr>
          <p:cNvPr id="5" name="Shape 3"/>
          <p:cNvSpPr/>
          <p:nvPr/>
        </p:nvSpPr>
        <p:spPr>
          <a:xfrm>
            <a:off x="805041" y="2232323"/>
            <a:ext cx="3451734" cy="19050"/>
          </a:xfrm>
          <a:prstGeom prst="rect">
            <a:avLst/>
          </a:prstGeom>
          <a:solidFill>
            <a:srgbClr val="020100"/>
          </a:solidFill>
          <a:ln/>
        </p:spPr>
      </p:sp>
      <p:sp>
        <p:nvSpPr>
          <p:cNvPr id="6" name="Text 4"/>
          <p:cNvSpPr/>
          <p:nvPr/>
        </p:nvSpPr>
        <p:spPr>
          <a:xfrm>
            <a:off x="805041" y="2345829"/>
            <a:ext cx="1660483"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Baptised Believer</a:t>
            </a:r>
            <a:endParaRPr lang="en-US" sz="1300" dirty="0"/>
          </a:p>
        </p:txBody>
      </p:sp>
      <p:sp>
        <p:nvSpPr>
          <p:cNvPr id="7" name="Text 5"/>
          <p:cNvSpPr/>
          <p:nvPr/>
        </p:nvSpPr>
        <p:spPr>
          <a:xfrm>
            <a:off x="805041" y="2621260"/>
            <a:ext cx="3451734" cy="1268016"/>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The theologian is first a Christian — a member of the Body of Christ. Theology is not a profession first; it is a vocation. Pope Benedict XVI: "The theologian is called to make his own the 'mind' of the Church (sensus fidei)" (Verbum Domini, 2010, §35).</a:t>
            </a:r>
            <a:endParaRPr lang="en-US" sz="1150" dirty="0"/>
          </a:p>
        </p:txBody>
      </p:sp>
      <p:sp>
        <p:nvSpPr>
          <p:cNvPr id="8" name="Text 6"/>
          <p:cNvSpPr/>
          <p:nvPr/>
        </p:nvSpPr>
        <p:spPr>
          <a:xfrm>
            <a:off x="4369981" y="1994892"/>
            <a:ext cx="301915" cy="188615"/>
          </a:xfrm>
          <a:prstGeom prst="rect">
            <a:avLst/>
          </a:prstGeom>
          <a:noFill/>
          <a:ln/>
        </p:spPr>
        <p:txBody>
          <a:bodyPr wrap="none" lIns="0" tIns="0" rIns="0" bIns="0" rtlCol="0" anchor="ctr"/>
          <a:lstStyle/>
          <a:p>
            <a:pPr algn="l" indent="0" marL="0">
              <a:lnSpc>
                <a:spcPct val="100000"/>
              </a:lnSpc>
              <a:buNone/>
            </a:pPr>
            <a:r>
              <a:rPr lang="en-US" sz="1150" dirty="0">
                <a:solidFill>
                  <a:srgbClr val="000000"/>
                </a:solidFill>
                <a:latin typeface="Libre Baskerville Light" pitchFamily="34" charset="0"/>
                <a:ea typeface="Libre Baskerville Light" pitchFamily="34" charset="-122"/>
                <a:cs typeface="Libre Baskerville Light" pitchFamily="34" charset="-120"/>
              </a:rPr>
              <a:t>02</a:t>
            </a:r>
            <a:endParaRPr lang="en-US" sz="1150" dirty="0"/>
          </a:p>
        </p:txBody>
      </p:sp>
      <p:sp>
        <p:nvSpPr>
          <p:cNvPr id="9" name="Shape 7"/>
          <p:cNvSpPr/>
          <p:nvPr/>
        </p:nvSpPr>
        <p:spPr>
          <a:xfrm>
            <a:off x="4369981" y="2232323"/>
            <a:ext cx="3451734" cy="19050"/>
          </a:xfrm>
          <a:prstGeom prst="rect">
            <a:avLst/>
          </a:prstGeom>
          <a:solidFill>
            <a:srgbClr val="020100"/>
          </a:solidFill>
          <a:ln/>
        </p:spPr>
      </p:sp>
      <p:sp>
        <p:nvSpPr>
          <p:cNvPr id="10" name="Text 8"/>
          <p:cNvSpPr/>
          <p:nvPr/>
        </p:nvSpPr>
        <p:spPr>
          <a:xfrm>
            <a:off x="4369981" y="2345829"/>
            <a:ext cx="1660483"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Intellectual</a:t>
            </a:r>
            <a:endParaRPr lang="en-US" sz="1300" dirty="0"/>
          </a:p>
        </p:txBody>
      </p:sp>
      <p:sp>
        <p:nvSpPr>
          <p:cNvPr id="11" name="Text 9"/>
          <p:cNvSpPr/>
          <p:nvPr/>
        </p:nvSpPr>
        <p:spPr>
          <a:xfrm>
            <a:off x="4369981" y="2621260"/>
            <a:ext cx="3451734" cy="1056680"/>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Rigorous, critical, systematic. The theologian must be able to read, argue, analyse, and synthesise. This means genuine academic discipline — bibliography, footnotes, engagement with sources, honest argument.</a:t>
            </a:r>
            <a:endParaRPr lang="en-US" sz="1150" dirty="0"/>
          </a:p>
        </p:txBody>
      </p:sp>
      <p:sp>
        <p:nvSpPr>
          <p:cNvPr id="12" name="Text 10"/>
          <p:cNvSpPr/>
          <p:nvPr/>
        </p:nvSpPr>
        <p:spPr>
          <a:xfrm>
            <a:off x="7934920" y="1994892"/>
            <a:ext cx="301915" cy="188615"/>
          </a:xfrm>
          <a:prstGeom prst="rect">
            <a:avLst/>
          </a:prstGeom>
          <a:noFill/>
          <a:ln/>
        </p:spPr>
        <p:txBody>
          <a:bodyPr wrap="none" lIns="0" tIns="0" rIns="0" bIns="0" rtlCol="0" anchor="ctr"/>
          <a:lstStyle/>
          <a:p>
            <a:pPr algn="l" indent="0" marL="0">
              <a:lnSpc>
                <a:spcPct val="100000"/>
              </a:lnSpc>
              <a:buNone/>
            </a:pPr>
            <a:r>
              <a:rPr lang="en-US" sz="1150" dirty="0">
                <a:solidFill>
                  <a:srgbClr val="000000"/>
                </a:solidFill>
                <a:latin typeface="Libre Baskerville Light" pitchFamily="34" charset="0"/>
                <a:ea typeface="Libre Baskerville Light" pitchFamily="34" charset="-122"/>
                <a:cs typeface="Libre Baskerville Light" pitchFamily="34" charset="-120"/>
              </a:rPr>
              <a:t>03</a:t>
            </a:r>
            <a:endParaRPr lang="en-US" sz="1150" dirty="0"/>
          </a:p>
        </p:txBody>
      </p:sp>
      <p:sp>
        <p:nvSpPr>
          <p:cNvPr id="13" name="Shape 11"/>
          <p:cNvSpPr/>
          <p:nvPr/>
        </p:nvSpPr>
        <p:spPr>
          <a:xfrm>
            <a:off x="7934920" y="2232323"/>
            <a:ext cx="3451734" cy="19050"/>
          </a:xfrm>
          <a:prstGeom prst="rect">
            <a:avLst/>
          </a:prstGeom>
          <a:solidFill>
            <a:srgbClr val="020100"/>
          </a:solidFill>
          <a:ln/>
        </p:spPr>
      </p:sp>
      <p:sp>
        <p:nvSpPr>
          <p:cNvPr id="14" name="Text 12"/>
          <p:cNvSpPr/>
          <p:nvPr/>
        </p:nvSpPr>
        <p:spPr>
          <a:xfrm>
            <a:off x="7934920" y="2345829"/>
            <a:ext cx="1660483"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Ecclesial</a:t>
            </a:r>
            <a:endParaRPr lang="en-US" sz="1300" dirty="0"/>
          </a:p>
        </p:txBody>
      </p:sp>
      <p:sp>
        <p:nvSpPr>
          <p:cNvPr id="15" name="Text 13"/>
          <p:cNvSpPr/>
          <p:nvPr/>
        </p:nvSpPr>
        <p:spPr>
          <a:xfrm>
            <a:off x="7934920" y="2621260"/>
            <a:ext cx="3451734" cy="1479352"/>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The theologian works within and for the Church. He is accountable to the Magisterium — not as a police state, but as a family. The Congregation for the Doctrine of the Faith document Donum Veritatis (1990) explains this balance: the theologian serves the People of God by thinking clearly about their faith.</a:t>
            </a:r>
            <a:endParaRPr lang="en-US" sz="1150" dirty="0"/>
          </a:p>
        </p:txBody>
      </p:sp>
      <p:sp>
        <p:nvSpPr>
          <p:cNvPr id="16" name="Text 14"/>
          <p:cNvSpPr/>
          <p:nvPr/>
        </p:nvSpPr>
        <p:spPr>
          <a:xfrm>
            <a:off x="805041" y="4327029"/>
            <a:ext cx="301915" cy="188615"/>
          </a:xfrm>
          <a:prstGeom prst="rect">
            <a:avLst/>
          </a:prstGeom>
          <a:noFill/>
          <a:ln/>
        </p:spPr>
        <p:txBody>
          <a:bodyPr wrap="none" lIns="0" tIns="0" rIns="0" bIns="0" rtlCol="0" anchor="ctr"/>
          <a:lstStyle/>
          <a:p>
            <a:pPr algn="l" indent="0" marL="0">
              <a:lnSpc>
                <a:spcPct val="100000"/>
              </a:lnSpc>
              <a:buNone/>
            </a:pPr>
            <a:r>
              <a:rPr lang="en-US" sz="1150" dirty="0">
                <a:solidFill>
                  <a:srgbClr val="000000"/>
                </a:solidFill>
                <a:latin typeface="Libre Baskerville Light" pitchFamily="34" charset="0"/>
                <a:ea typeface="Libre Baskerville Light" pitchFamily="34" charset="-122"/>
                <a:cs typeface="Libre Baskerville Light" pitchFamily="34" charset="-120"/>
              </a:rPr>
              <a:t>04</a:t>
            </a:r>
            <a:endParaRPr lang="en-US" sz="1150" dirty="0"/>
          </a:p>
        </p:txBody>
      </p:sp>
      <p:sp>
        <p:nvSpPr>
          <p:cNvPr id="17" name="Shape 15"/>
          <p:cNvSpPr/>
          <p:nvPr/>
        </p:nvSpPr>
        <p:spPr>
          <a:xfrm>
            <a:off x="805041" y="4564459"/>
            <a:ext cx="5234154" cy="19050"/>
          </a:xfrm>
          <a:prstGeom prst="rect">
            <a:avLst/>
          </a:prstGeom>
          <a:solidFill>
            <a:srgbClr val="020100"/>
          </a:solidFill>
          <a:ln/>
        </p:spPr>
      </p:sp>
      <p:sp>
        <p:nvSpPr>
          <p:cNvPr id="18" name="Text 16"/>
          <p:cNvSpPr/>
          <p:nvPr/>
        </p:nvSpPr>
        <p:spPr>
          <a:xfrm>
            <a:off x="805041" y="4677966"/>
            <a:ext cx="1660483"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Pastoral</a:t>
            </a:r>
            <a:endParaRPr lang="en-US" sz="1300" dirty="0"/>
          </a:p>
        </p:txBody>
      </p:sp>
      <p:sp>
        <p:nvSpPr>
          <p:cNvPr id="19" name="Text 17"/>
          <p:cNvSpPr/>
          <p:nvPr/>
        </p:nvSpPr>
        <p:spPr>
          <a:xfrm>
            <a:off x="805041" y="4953397"/>
            <a:ext cx="5234154" cy="634008"/>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Theology must have a pastoral edge — it must serve the mission of the Church. Karl Rahner SJ said: "The Christian of the future will be a mystic or will not be at all." The theologian helps that mystic find words.</a:t>
            </a:r>
            <a:endParaRPr lang="en-US" sz="1150" dirty="0"/>
          </a:p>
        </p:txBody>
      </p:sp>
      <p:sp>
        <p:nvSpPr>
          <p:cNvPr id="20" name="Text 18"/>
          <p:cNvSpPr/>
          <p:nvPr/>
        </p:nvSpPr>
        <p:spPr>
          <a:xfrm>
            <a:off x="6152401" y="4327029"/>
            <a:ext cx="301915" cy="188615"/>
          </a:xfrm>
          <a:prstGeom prst="rect">
            <a:avLst/>
          </a:prstGeom>
          <a:noFill/>
          <a:ln/>
        </p:spPr>
        <p:txBody>
          <a:bodyPr wrap="none" lIns="0" tIns="0" rIns="0" bIns="0" rtlCol="0" anchor="ctr"/>
          <a:lstStyle/>
          <a:p>
            <a:pPr algn="l" indent="0" marL="0">
              <a:lnSpc>
                <a:spcPct val="100000"/>
              </a:lnSpc>
              <a:buNone/>
            </a:pPr>
            <a:r>
              <a:rPr lang="en-US" sz="1150" dirty="0">
                <a:solidFill>
                  <a:srgbClr val="000000"/>
                </a:solidFill>
                <a:latin typeface="Libre Baskerville Light" pitchFamily="34" charset="0"/>
                <a:ea typeface="Libre Baskerville Light" pitchFamily="34" charset="-122"/>
                <a:cs typeface="Libre Baskerville Light" pitchFamily="34" charset="-120"/>
              </a:rPr>
              <a:t>05</a:t>
            </a:r>
            <a:endParaRPr lang="en-US" sz="1150" dirty="0"/>
          </a:p>
        </p:txBody>
      </p:sp>
      <p:sp>
        <p:nvSpPr>
          <p:cNvPr id="21" name="Shape 19"/>
          <p:cNvSpPr/>
          <p:nvPr/>
        </p:nvSpPr>
        <p:spPr>
          <a:xfrm>
            <a:off x="6152401" y="4564459"/>
            <a:ext cx="5234253" cy="19050"/>
          </a:xfrm>
          <a:prstGeom prst="rect">
            <a:avLst/>
          </a:prstGeom>
          <a:solidFill>
            <a:srgbClr val="020100"/>
          </a:solidFill>
          <a:ln/>
        </p:spPr>
      </p:sp>
      <p:sp>
        <p:nvSpPr>
          <p:cNvPr id="22" name="Text 20"/>
          <p:cNvSpPr/>
          <p:nvPr/>
        </p:nvSpPr>
        <p:spPr>
          <a:xfrm>
            <a:off x="6152401" y="4677966"/>
            <a:ext cx="1660483" cy="207566"/>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Libre Baskerville Bold" pitchFamily="34" charset="0"/>
                <a:ea typeface="Libre Baskerville Bold" pitchFamily="34" charset="-122"/>
                <a:cs typeface="Libre Baskerville Bold" pitchFamily="34" charset="-120"/>
              </a:rPr>
              <a:t>Prophetic</a:t>
            </a:r>
            <a:endParaRPr lang="en-US" sz="1300" dirty="0"/>
          </a:p>
        </p:txBody>
      </p:sp>
      <p:sp>
        <p:nvSpPr>
          <p:cNvPr id="23" name="Text 21"/>
          <p:cNvSpPr/>
          <p:nvPr/>
        </p:nvSpPr>
        <p:spPr>
          <a:xfrm>
            <a:off x="6152401" y="4953397"/>
            <a:ext cx="5234253" cy="634008"/>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Fira Sans" pitchFamily="34" charset="0"/>
                <a:ea typeface="Fira Sans" pitchFamily="34" charset="-122"/>
                <a:cs typeface="Fira Sans" pitchFamily="34" charset="-120"/>
              </a:rPr>
              <a:t>The theologian speaks truth to power. He names injustice, reads signs of the times, and calls the Church to conversion. This is dangerous work — prophets are rarely popular.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5041" y="661491"/>
            <a:ext cx="10581613" cy="1051719"/>
          </a:xfrm>
          <a:prstGeom prst="rect">
            <a:avLst/>
          </a:prstGeom>
          <a:noFill/>
          <a:ln/>
        </p:spPr>
        <p:txBody>
          <a:bodyPr wrap="square" lIns="0" tIns="0" rIns="0" bIns="0" rtlCol="0" anchor="t">
            <a:normAutofit/>
          </a:bodyPr>
          <a:lstStyle/>
          <a:p>
            <a:pPr algn="l" indent="0" marL="0">
              <a:lnSpc>
                <a:spcPct val="104000"/>
              </a:lnSpc>
              <a:buNone/>
            </a:pPr>
            <a:r>
              <a:rPr lang="en-US" sz="3300" b="1" dirty="0">
                <a:solidFill>
                  <a:srgbClr val="000000"/>
                </a:solidFill>
                <a:latin typeface="Libre Baskerville Bold" pitchFamily="34" charset="0"/>
                <a:ea typeface="Libre Baskerville Bold" pitchFamily="34" charset="-122"/>
                <a:cs typeface="Libre Baskerville Bold" pitchFamily="34" charset="-120"/>
              </a:rPr>
              <a:t>CORE CONTENT: PART B — Four Tasks of the Theologian</a:t>
            </a:r>
            <a:endParaRPr lang="en-US" sz="3300" dirty="0"/>
          </a:p>
        </p:txBody>
      </p:sp>
      <p:sp>
        <p:nvSpPr>
          <p:cNvPr id="3" name="Text 1"/>
          <p:cNvSpPr/>
          <p:nvPr/>
        </p:nvSpPr>
        <p:spPr>
          <a:xfrm>
            <a:off x="805041" y="1785838"/>
            <a:ext cx="2712870" cy="262930"/>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Libre Baskerville Bold" pitchFamily="34" charset="0"/>
                <a:ea typeface="Libre Baskerville Bold" pitchFamily="34" charset="-122"/>
                <a:cs typeface="Libre Baskerville Bold" pitchFamily="34" charset="-120"/>
              </a:rPr>
              <a:t>ITC, 1989</a:t>
            </a:r>
            <a:endParaRPr lang="en-US" sz="1650" dirty="0"/>
          </a:p>
        </p:txBody>
      </p:sp>
      <p:sp>
        <p:nvSpPr>
          <p:cNvPr id="4" name="Shape 2"/>
          <p:cNvSpPr/>
          <p:nvPr/>
        </p:nvSpPr>
        <p:spPr>
          <a:xfrm>
            <a:off x="805041" y="2321223"/>
            <a:ext cx="10581613" cy="3875286"/>
          </a:xfrm>
          <a:prstGeom prst="roundRect">
            <a:avLst>
              <a:gd name="adj" fmla="val 2072"/>
            </a:avLst>
          </a:prstGeom>
          <a:noFill/>
          <a:ln w="6350">
            <a:solidFill>
              <a:srgbClr val="000000">
                <a:alpha val="8000"/>
              </a:srgbClr>
            </a:solidFill>
            <a:prstDash val="solid"/>
          </a:ln>
        </p:spPr>
      </p:sp>
      <p:sp>
        <p:nvSpPr>
          <p:cNvPr id="5" name="Shape 3"/>
          <p:cNvSpPr/>
          <p:nvPr/>
        </p:nvSpPr>
        <p:spPr>
          <a:xfrm>
            <a:off x="811589" y="2327573"/>
            <a:ext cx="2113703" cy="532011"/>
          </a:xfrm>
          <a:prstGeom prst="rect">
            <a:avLst/>
          </a:prstGeom>
          <a:solidFill>
            <a:srgbClr val="493F36"/>
          </a:solidFill>
          <a:ln/>
        </p:spPr>
      </p:sp>
      <p:sp>
        <p:nvSpPr>
          <p:cNvPr id="6" name="Text 4"/>
          <p:cNvSpPr/>
          <p:nvPr/>
        </p:nvSpPr>
        <p:spPr>
          <a:xfrm>
            <a:off x="1002779" y="2442865"/>
            <a:ext cx="2340909" cy="298252"/>
          </a:xfrm>
          <a:prstGeom prst="rect">
            <a:avLst/>
          </a:prstGeom>
          <a:noFill/>
          <a:ln/>
        </p:spPr>
        <p:txBody>
          <a:bodyPr wrap="none" lIns="0" tIns="0" rIns="0" bIns="0" rtlCol="0" anchor="t"/>
          <a:lstStyle/>
          <a:p>
            <a:pPr algn="l" indent="0" marL="0">
              <a:lnSpc>
                <a:spcPct val="130000"/>
              </a:lnSpc>
              <a:buNone/>
            </a:pPr>
            <a:r>
              <a:rPr lang="en-US" sz="1500" b="1" dirty="0">
                <a:solidFill>
                  <a:srgbClr val="000000"/>
                </a:solidFill>
                <a:latin typeface="Fira Sans Bold" pitchFamily="34" charset="0"/>
                <a:ea typeface="Fira Sans Bold" pitchFamily="34" charset="-122"/>
                <a:cs typeface="Fira Sans Bold" pitchFamily="34" charset="-120"/>
              </a:rPr>
              <a:t>Task</a:t>
            </a:r>
            <a:endParaRPr lang="en-US" sz="1500" dirty="0"/>
          </a:p>
        </p:txBody>
      </p:sp>
      <p:sp>
        <p:nvSpPr>
          <p:cNvPr id="7" name="Shape 5"/>
          <p:cNvSpPr/>
          <p:nvPr/>
        </p:nvSpPr>
        <p:spPr>
          <a:xfrm>
            <a:off x="2925292" y="2327573"/>
            <a:ext cx="4227506" cy="532011"/>
          </a:xfrm>
          <a:prstGeom prst="rect">
            <a:avLst/>
          </a:prstGeom>
          <a:solidFill>
            <a:srgbClr val="493F36"/>
          </a:solidFill>
          <a:ln/>
        </p:spPr>
      </p:sp>
      <p:sp>
        <p:nvSpPr>
          <p:cNvPr id="8" name="Text 6"/>
          <p:cNvSpPr/>
          <p:nvPr/>
        </p:nvSpPr>
        <p:spPr>
          <a:xfrm>
            <a:off x="3116482" y="2442865"/>
            <a:ext cx="4454711" cy="298252"/>
          </a:xfrm>
          <a:prstGeom prst="rect">
            <a:avLst/>
          </a:prstGeom>
          <a:noFill/>
          <a:ln/>
        </p:spPr>
        <p:txBody>
          <a:bodyPr wrap="none" lIns="0" tIns="0" rIns="0" bIns="0" rtlCol="0" anchor="t"/>
          <a:lstStyle/>
          <a:p>
            <a:pPr algn="l" indent="0" marL="0">
              <a:lnSpc>
                <a:spcPct val="130000"/>
              </a:lnSpc>
              <a:buNone/>
            </a:pPr>
            <a:r>
              <a:rPr lang="en-US" sz="1500" b="1" dirty="0">
                <a:solidFill>
                  <a:srgbClr val="000000"/>
                </a:solidFill>
                <a:latin typeface="Fira Sans Bold" pitchFamily="34" charset="0"/>
                <a:ea typeface="Fira Sans Bold" pitchFamily="34" charset="-122"/>
                <a:cs typeface="Fira Sans Bold" pitchFamily="34" charset="-120"/>
              </a:rPr>
              <a:t>Description</a:t>
            </a:r>
            <a:endParaRPr lang="en-US" sz="1500" dirty="0"/>
          </a:p>
        </p:txBody>
      </p:sp>
      <p:sp>
        <p:nvSpPr>
          <p:cNvPr id="9" name="Shape 7"/>
          <p:cNvSpPr/>
          <p:nvPr/>
        </p:nvSpPr>
        <p:spPr>
          <a:xfrm>
            <a:off x="7152798" y="2327573"/>
            <a:ext cx="4227506" cy="532011"/>
          </a:xfrm>
          <a:prstGeom prst="rect">
            <a:avLst/>
          </a:prstGeom>
          <a:solidFill>
            <a:srgbClr val="493F36"/>
          </a:solidFill>
          <a:ln/>
        </p:spPr>
      </p:sp>
      <p:sp>
        <p:nvSpPr>
          <p:cNvPr id="10" name="Text 8"/>
          <p:cNvSpPr/>
          <p:nvPr/>
        </p:nvSpPr>
        <p:spPr>
          <a:xfrm>
            <a:off x="7343988" y="2442865"/>
            <a:ext cx="4454711" cy="298252"/>
          </a:xfrm>
          <a:prstGeom prst="rect">
            <a:avLst/>
          </a:prstGeom>
          <a:noFill/>
          <a:ln/>
        </p:spPr>
        <p:txBody>
          <a:bodyPr wrap="none" lIns="0" tIns="0" rIns="0" bIns="0" rtlCol="0" anchor="t"/>
          <a:lstStyle/>
          <a:p>
            <a:pPr algn="l" indent="0" marL="0">
              <a:lnSpc>
                <a:spcPct val="130000"/>
              </a:lnSpc>
              <a:buNone/>
            </a:pPr>
            <a:r>
              <a:rPr lang="en-US" sz="1500" b="1" dirty="0">
                <a:solidFill>
                  <a:srgbClr val="000000"/>
                </a:solidFill>
                <a:latin typeface="Fira Sans Bold" pitchFamily="34" charset="0"/>
                <a:ea typeface="Fira Sans Bold" pitchFamily="34" charset="-122"/>
                <a:cs typeface="Fira Sans Bold" pitchFamily="34" charset="-120"/>
              </a:rPr>
              <a:t>Example</a:t>
            </a:r>
            <a:endParaRPr lang="en-US" sz="1500" dirty="0"/>
          </a:p>
        </p:txBody>
      </p:sp>
      <p:sp>
        <p:nvSpPr>
          <p:cNvPr id="11" name="Text 9"/>
          <p:cNvSpPr/>
          <p:nvPr/>
        </p:nvSpPr>
        <p:spPr>
          <a:xfrm>
            <a:off x="1002779" y="2978051"/>
            <a:ext cx="2340909" cy="298252"/>
          </a:xfrm>
          <a:prstGeom prst="rect">
            <a:avLst/>
          </a:prstGeom>
          <a:noFill/>
          <a:ln/>
        </p:spPr>
        <p:txBody>
          <a:bodyPr wrap="none" lIns="0" tIns="0" rIns="0" bIns="0" rtlCol="0" anchor="t"/>
          <a:lstStyle/>
          <a:p>
            <a:pPr algn="l" indent="0" marL="0">
              <a:lnSpc>
                <a:spcPct val="130000"/>
              </a:lnSpc>
              <a:buNone/>
            </a:pPr>
            <a:r>
              <a:rPr lang="en-US" sz="1500" b="1" dirty="0">
                <a:solidFill>
                  <a:srgbClr val="000000"/>
                </a:solidFill>
                <a:latin typeface="Fira Sans Bold" pitchFamily="34" charset="0"/>
                <a:ea typeface="Fira Sans Bold" pitchFamily="34" charset="-122"/>
                <a:cs typeface="Fira Sans Bold" pitchFamily="34" charset="-120"/>
              </a:rPr>
              <a:t>Criticism</a:t>
            </a:r>
            <a:endParaRPr lang="en-US" sz="1500" dirty="0"/>
          </a:p>
        </p:txBody>
      </p:sp>
      <p:sp>
        <p:nvSpPr>
          <p:cNvPr id="12" name="Text 10"/>
          <p:cNvSpPr/>
          <p:nvPr/>
        </p:nvSpPr>
        <p:spPr>
          <a:xfrm>
            <a:off x="3116482" y="2978051"/>
            <a:ext cx="3845126" cy="596503"/>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Testing the authenticity of expressions of faith</a:t>
            </a:r>
            <a:endParaRPr lang="en-US" sz="1500" dirty="0"/>
          </a:p>
        </p:txBody>
      </p:sp>
      <p:sp>
        <p:nvSpPr>
          <p:cNvPr id="13" name="Text 11"/>
          <p:cNvSpPr/>
          <p:nvPr/>
        </p:nvSpPr>
        <p:spPr>
          <a:xfrm>
            <a:off x="7343988" y="2978051"/>
            <a:ext cx="3845126" cy="596503"/>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Examining whether a popular devotion is biblically grounded</a:t>
            </a:r>
            <a:endParaRPr lang="en-US" sz="1500" dirty="0"/>
          </a:p>
        </p:txBody>
      </p:sp>
      <p:sp>
        <p:nvSpPr>
          <p:cNvPr id="14" name="Text 12"/>
          <p:cNvSpPr/>
          <p:nvPr/>
        </p:nvSpPr>
        <p:spPr>
          <a:xfrm>
            <a:off x="1002779" y="3811488"/>
            <a:ext cx="2340909" cy="298252"/>
          </a:xfrm>
          <a:prstGeom prst="rect">
            <a:avLst/>
          </a:prstGeom>
          <a:noFill/>
          <a:ln/>
        </p:spPr>
        <p:txBody>
          <a:bodyPr wrap="none" lIns="0" tIns="0" rIns="0" bIns="0" rtlCol="0" anchor="t"/>
          <a:lstStyle/>
          <a:p>
            <a:pPr algn="l" indent="0" marL="0">
              <a:lnSpc>
                <a:spcPct val="130000"/>
              </a:lnSpc>
              <a:buNone/>
            </a:pPr>
            <a:r>
              <a:rPr lang="en-US" sz="1500" b="1" dirty="0">
                <a:solidFill>
                  <a:srgbClr val="000000"/>
                </a:solidFill>
                <a:latin typeface="Fira Sans Bold" pitchFamily="34" charset="0"/>
                <a:ea typeface="Fira Sans Bold" pitchFamily="34" charset="-122"/>
                <a:cs typeface="Fira Sans Bold" pitchFamily="34" charset="-120"/>
              </a:rPr>
              <a:t>Explanation</a:t>
            </a:r>
            <a:endParaRPr lang="en-US" sz="1500" dirty="0"/>
          </a:p>
        </p:txBody>
      </p:sp>
      <p:sp>
        <p:nvSpPr>
          <p:cNvPr id="15" name="Text 13"/>
          <p:cNvSpPr/>
          <p:nvPr/>
        </p:nvSpPr>
        <p:spPr>
          <a:xfrm>
            <a:off x="3116482" y="3811488"/>
            <a:ext cx="3845126" cy="596503"/>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Making faith intelligible to the contemporary mind</a:t>
            </a:r>
            <a:endParaRPr lang="en-US" sz="1500" dirty="0"/>
          </a:p>
        </p:txBody>
      </p:sp>
      <p:sp>
        <p:nvSpPr>
          <p:cNvPr id="16" name="Text 14"/>
          <p:cNvSpPr/>
          <p:nvPr/>
        </p:nvSpPr>
        <p:spPr>
          <a:xfrm>
            <a:off x="7343988" y="3811488"/>
            <a:ext cx="3845126" cy="596503"/>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Explaining the Resurrection to a university student</a:t>
            </a:r>
            <a:endParaRPr lang="en-US" sz="1500" dirty="0"/>
          </a:p>
        </p:txBody>
      </p:sp>
      <p:sp>
        <p:nvSpPr>
          <p:cNvPr id="17" name="Text 15"/>
          <p:cNvSpPr/>
          <p:nvPr/>
        </p:nvSpPr>
        <p:spPr>
          <a:xfrm>
            <a:off x="1002779" y="4644926"/>
            <a:ext cx="2340909" cy="298252"/>
          </a:xfrm>
          <a:prstGeom prst="rect">
            <a:avLst/>
          </a:prstGeom>
          <a:noFill/>
          <a:ln/>
        </p:spPr>
        <p:txBody>
          <a:bodyPr wrap="none" lIns="0" tIns="0" rIns="0" bIns="0" rtlCol="0" anchor="t"/>
          <a:lstStyle/>
          <a:p>
            <a:pPr algn="l" indent="0" marL="0">
              <a:lnSpc>
                <a:spcPct val="130000"/>
              </a:lnSpc>
              <a:buNone/>
            </a:pPr>
            <a:r>
              <a:rPr lang="en-US" sz="1500" b="1" dirty="0">
                <a:solidFill>
                  <a:srgbClr val="000000"/>
                </a:solidFill>
                <a:latin typeface="Fira Sans Bold" pitchFamily="34" charset="0"/>
                <a:ea typeface="Fira Sans Bold" pitchFamily="34" charset="-122"/>
                <a:cs typeface="Fira Sans Bold" pitchFamily="34" charset="-120"/>
              </a:rPr>
              <a:t>Integration</a:t>
            </a:r>
            <a:endParaRPr lang="en-US" sz="1500" dirty="0"/>
          </a:p>
        </p:txBody>
      </p:sp>
      <p:sp>
        <p:nvSpPr>
          <p:cNvPr id="18" name="Text 16"/>
          <p:cNvSpPr/>
          <p:nvPr/>
        </p:nvSpPr>
        <p:spPr>
          <a:xfrm>
            <a:off x="3116482" y="4644926"/>
            <a:ext cx="3845126" cy="596503"/>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Unifying diverse theological disciplines into a coherent vision</a:t>
            </a:r>
            <a:endParaRPr lang="en-US" sz="1500" dirty="0"/>
          </a:p>
        </p:txBody>
      </p:sp>
      <p:sp>
        <p:nvSpPr>
          <p:cNvPr id="19" name="Text 17"/>
          <p:cNvSpPr/>
          <p:nvPr/>
        </p:nvSpPr>
        <p:spPr>
          <a:xfrm>
            <a:off x="7343988" y="4644926"/>
            <a:ext cx="3845126" cy="596503"/>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Showing how liturgy and social justice are inseparable</a:t>
            </a:r>
            <a:endParaRPr lang="en-US" sz="1500" dirty="0"/>
          </a:p>
        </p:txBody>
      </p:sp>
      <p:sp>
        <p:nvSpPr>
          <p:cNvPr id="20" name="Text 18"/>
          <p:cNvSpPr/>
          <p:nvPr/>
        </p:nvSpPr>
        <p:spPr>
          <a:xfrm>
            <a:off x="1002779" y="5478363"/>
            <a:ext cx="2340909" cy="298252"/>
          </a:xfrm>
          <a:prstGeom prst="rect">
            <a:avLst/>
          </a:prstGeom>
          <a:noFill/>
          <a:ln/>
        </p:spPr>
        <p:txBody>
          <a:bodyPr wrap="none" lIns="0" tIns="0" rIns="0" bIns="0" rtlCol="0" anchor="t"/>
          <a:lstStyle/>
          <a:p>
            <a:pPr algn="l" indent="0" marL="0">
              <a:lnSpc>
                <a:spcPct val="130000"/>
              </a:lnSpc>
              <a:buNone/>
            </a:pPr>
            <a:r>
              <a:rPr lang="en-US" sz="1500" b="1" dirty="0">
                <a:solidFill>
                  <a:srgbClr val="000000"/>
                </a:solidFill>
                <a:latin typeface="Fira Sans Bold" pitchFamily="34" charset="0"/>
                <a:ea typeface="Fira Sans Bold" pitchFamily="34" charset="-122"/>
                <a:cs typeface="Fira Sans Bold" pitchFamily="34" charset="-120"/>
              </a:rPr>
              <a:t>Communication</a:t>
            </a:r>
            <a:endParaRPr lang="en-US" sz="1500" dirty="0"/>
          </a:p>
        </p:txBody>
      </p:sp>
      <p:sp>
        <p:nvSpPr>
          <p:cNvPr id="21" name="Text 19"/>
          <p:cNvSpPr/>
          <p:nvPr/>
        </p:nvSpPr>
        <p:spPr>
          <a:xfrm>
            <a:off x="3116482" y="5478363"/>
            <a:ext cx="4454711" cy="298252"/>
          </a:xfrm>
          <a:prstGeom prst="rect">
            <a:avLst/>
          </a:prstGeom>
          <a:noFill/>
          <a:ln/>
        </p:spPr>
        <p:txBody>
          <a:bodyPr wrap="none" lIns="0" tIns="0" rIns="0" bIns="0" rtlCol="0" anchor="t"/>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Proclaiming faith to the contemporary world</a:t>
            </a:r>
            <a:endParaRPr lang="en-US" sz="1500" dirty="0"/>
          </a:p>
        </p:txBody>
      </p:sp>
      <p:sp>
        <p:nvSpPr>
          <p:cNvPr id="22" name="Text 20"/>
          <p:cNvSpPr/>
          <p:nvPr/>
        </p:nvSpPr>
        <p:spPr>
          <a:xfrm>
            <a:off x="7343988" y="5478363"/>
            <a:ext cx="3845126" cy="596503"/>
          </a:xfrm>
          <a:prstGeom prst="rect">
            <a:avLst/>
          </a:prstGeom>
          <a:noFill/>
          <a:ln/>
        </p:spPr>
        <p:txBody>
          <a:bodyPr wrap="square" lIns="0" tIns="0" rIns="0" bIns="0" rtlCol="0" anchor="t">
            <a:normAutofit/>
          </a:bodyPr>
          <a:lstStyle/>
          <a:p>
            <a:pPr algn="l" indent="0" marL="0">
              <a:lnSpc>
                <a:spcPct val="130000"/>
              </a:lnSpc>
              <a:buNone/>
            </a:pPr>
            <a:r>
              <a:rPr lang="en-US" sz="1500" dirty="0">
                <a:solidFill>
                  <a:srgbClr val="000000"/>
                </a:solidFill>
                <a:latin typeface="Fira Sans" pitchFamily="34" charset="0"/>
                <a:ea typeface="Fira Sans" pitchFamily="34" charset="-122"/>
                <a:cs typeface="Fira Sans" pitchFamily="34" charset="-120"/>
              </a:rPr>
              <a:t>Writing theology for newspapers, social media, homilies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05041" y="886718"/>
            <a:ext cx="10581613" cy="996355"/>
          </a:xfrm>
          <a:prstGeom prst="rect">
            <a:avLst/>
          </a:prstGeom>
          <a:noFill/>
          <a:ln/>
        </p:spPr>
        <p:txBody>
          <a:bodyPr wrap="square" lIns="0" tIns="0" rIns="0" bIns="0" rtlCol="0" anchor="t">
            <a:normAutofit/>
          </a:bodyPr>
          <a:lstStyle/>
          <a:p>
            <a:pPr algn="l" indent="0" marL="0">
              <a:lnSpc>
                <a:spcPct val="104000"/>
              </a:lnSpc>
              <a:buNone/>
            </a:pPr>
            <a:r>
              <a:rPr lang="en-US" sz="3100" b="1" dirty="0">
                <a:solidFill>
                  <a:srgbClr val="000000"/>
                </a:solidFill>
                <a:latin typeface="Libre Baskerville Bold" pitchFamily="34" charset="0"/>
                <a:ea typeface="Libre Baskerville Bold" pitchFamily="34" charset="-122"/>
                <a:cs typeface="Libre Baskerville Bold" pitchFamily="34" charset="-120"/>
              </a:rPr>
              <a:t>CORE CONTENT: PART C — The Indian Theologian</a:t>
            </a:r>
            <a:endParaRPr lang="en-US" sz="31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5041" y="2209105"/>
            <a:ext cx="3418497" cy="3762077"/>
          </a:xfrm>
          <a:prstGeom prst="rect">
            <a:avLst/>
          </a:prstGeom>
        </p:spPr>
      </p:pic>
      <p:sp>
        <p:nvSpPr>
          <p:cNvPr id="4" name="Text 1"/>
          <p:cNvSpPr/>
          <p:nvPr/>
        </p:nvSpPr>
        <p:spPr>
          <a:xfrm>
            <a:off x="1113107" y="2415580"/>
            <a:ext cx="2293285" cy="249039"/>
          </a:xfrm>
          <a:prstGeom prst="rect">
            <a:avLst/>
          </a:prstGeom>
          <a:noFill/>
          <a:ln/>
        </p:spPr>
        <p:txBody>
          <a:bodyPr wrap="none" lIns="0" tIns="0" rIns="0" bIns="0" rtlCol="0" anchor="t"/>
          <a:lstStyle/>
          <a:p>
            <a:pPr algn="l" indent="0" marL="0">
              <a:lnSpc>
                <a:spcPct val="104000"/>
              </a:lnSpc>
              <a:buNone/>
            </a:pPr>
            <a:r>
              <a:rPr lang="en-US" sz="1550" b="1" dirty="0">
                <a:solidFill>
                  <a:srgbClr val="000000"/>
                </a:solidFill>
                <a:latin typeface="Libre Baskerville Bold" pitchFamily="34" charset="0"/>
                <a:ea typeface="Libre Baskerville Bold" pitchFamily="34" charset="-122"/>
                <a:cs typeface="Libre Baskerville Bold" pitchFamily="34" charset="-120"/>
              </a:rPr>
              <a:t>Félix Wilfred (b. 1948)</a:t>
            </a:r>
            <a:endParaRPr lang="en-US" sz="1550" dirty="0"/>
          </a:p>
        </p:txBody>
      </p:sp>
      <p:sp>
        <p:nvSpPr>
          <p:cNvPr id="5" name="Text 2"/>
          <p:cNvSpPr/>
          <p:nvPr/>
        </p:nvSpPr>
        <p:spPr>
          <a:xfrm>
            <a:off x="1113107" y="2762349"/>
            <a:ext cx="2903961" cy="1101328"/>
          </a:xfrm>
          <a:prstGeom prst="rect">
            <a:avLst/>
          </a:prstGeom>
          <a:noFill/>
          <a:ln/>
        </p:spPr>
        <p:txBody>
          <a:bodyPr wrap="square" lIns="0" tIns="0" rIns="0" bIns="0" rtlCol="0" anchor="t">
            <a:normAutofit/>
          </a:bodyPr>
          <a:lstStyle/>
          <a:p>
            <a:pPr algn="l" indent="0" marL="0">
              <a:lnSpc>
                <a:spcPct val="127000"/>
              </a:lnSpc>
              <a:buNone/>
            </a:pPr>
            <a:r>
              <a:rPr lang="en-US" sz="1400" dirty="0">
                <a:solidFill>
                  <a:srgbClr val="000000"/>
                </a:solidFill>
                <a:latin typeface="Fira Sans" pitchFamily="34" charset="0"/>
                <a:ea typeface="Fira Sans" pitchFamily="34" charset="-122"/>
                <a:cs typeface="Fira Sans" pitchFamily="34" charset="-120"/>
              </a:rPr>
              <a:t>"Asian theology is an attempt to read the signs of the times in Asia in the light of the Gospel" (Asian Dreams and Christian Hope, 1988).</a:t>
            </a:r>
            <a:endParaRPr lang="en-US" sz="14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86550" y="2209105"/>
            <a:ext cx="3418497" cy="3762077"/>
          </a:xfrm>
          <a:prstGeom prst="rect">
            <a:avLst/>
          </a:prstGeom>
        </p:spPr>
      </p:pic>
      <p:sp>
        <p:nvSpPr>
          <p:cNvPr id="7" name="Text 3"/>
          <p:cNvSpPr/>
          <p:nvPr/>
        </p:nvSpPr>
        <p:spPr>
          <a:xfrm>
            <a:off x="4694616" y="2415580"/>
            <a:ext cx="2903961" cy="498078"/>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000000"/>
                </a:solidFill>
                <a:latin typeface="Libre Baskerville Bold" pitchFamily="34" charset="0"/>
                <a:ea typeface="Libre Baskerville Bold" pitchFamily="34" charset="-122"/>
                <a:cs typeface="Libre Baskerville Bold" pitchFamily="34" charset="-120"/>
              </a:rPr>
              <a:t>George Soares-Prabhu SJ (1929–1996)</a:t>
            </a:r>
            <a:endParaRPr lang="en-US" sz="1550" dirty="0"/>
          </a:p>
        </p:txBody>
      </p:sp>
      <p:sp>
        <p:nvSpPr>
          <p:cNvPr id="8" name="Text 4"/>
          <p:cNvSpPr/>
          <p:nvPr/>
        </p:nvSpPr>
        <p:spPr>
          <a:xfrm>
            <a:off x="4694616" y="3011388"/>
            <a:ext cx="2903961" cy="2753320"/>
          </a:xfrm>
          <a:prstGeom prst="rect">
            <a:avLst/>
          </a:prstGeom>
          <a:noFill/>
          <a:ln/>
        </p:spPr>
        <p:txBody>
          <a:bodyPr wrap="square" lIns="0" tIns="0" rIns="0" bIns="0" rtlCol="0" anchor="t">
            <a:normAutofit/>
          </a:bodyPr>
          <a:lstStyle/>
          <a:p>
            <a:pPr algn="l" indent="0" marL="0">
              <a:lnSpc>
                <a:spcPct val="127000"/>
              </a:lnSpc>
              <a:buNone/>
            </a:pPr>
            <a:r>
              <a:rPr lang="en-US" sz="1400" dirty="0">
                <a:solidFill>
                  <a:srgbClr val="000000"/>
                </a:solidFill>
                <a:latin typeface="Fira Sans" pitchFamily="34" charset="0"/>
                <a:ea typeface="Fira Sans" pitchFamily="34" charset="-122"/>
                <a:cs typeface="Fira Sans" pitchFamily="34" charset="-120"/>
              </a:rPr>
              <a:t>Combined rigorous historical-critical exegesis with an unflinching commitment to the poor of India. His reading of the Beatitudes showed that the "poor in spirit" of Matthew 5:3 are not people with a spiritual attitude but actually the materially poor — those who have no earthly anchor and so lean entirely on God.</a:t>
            </a:r>
            <a:endParaRPr lang="en-US" sz="14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68058" y="2209105"/>
            <a:ext cx="3418497" cy="3762077"/>
          </a:xfrm>
          <a:prstGeom prst="rect">
            <a:avLst/>
          </a:prstGeom>
        </p:spPr>
      </p:pic>
      <p:sp>
        <p:nvSpPr>
          <p:cNvPr id="10" name="Text 5"/>
          <p:cNvSpPr/>
          <p:nvPr/>
        </p:nvSpPr>
        <p:spPr>
          <a:xfrm>
            <a:off x="8276125" y="2415580"/>
            <a:ext cx="2903961" cy="498078"/>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000000"/>
                </a:solidFill>
                <a:latin typeface="Libre Baskerville Bold" pitchFamily="34" charset="0"/>
                <a:ea typeface="Libre Baskerville Bold" pitchFamily="34" charset="-122"/>
                <a:cs typeface="Libre Baskerville Bold" pitchFamily="34" charset="-120"/>
              </a:rPr>
              <a:t>Samuel Rayan SJ (1920–2019)</a:t>
            </a:r>
            <a:endParaRPr lang="en-US" sz="1550" dirty="0"/>
          </a:p>
        </p:txBody>
      </p:sp>
      <p:sp>
        <p:nvSpPr>
          <p:cNvPr id="11" name="Text 6"/>
          <p:cNvSpPr/>
          <p:nvPr/>
        </p:nvSpPr>
        <p:spPr>
          <a:xfrm>
            <a:off x="8276125" y="3011388"/>
            <a:ext cx="2903961" cy="1651992"/>
          </a:xfrm>
          <a:prstGeom prst="rect">
            <a:avLst/>
          </a:prstGeom>
          <a:noFill/>
          <a:ln/>
        </p:spPr>
        <p:txBody>
          <a:bodyPr wrap="square" lIns="0" tIns="0" rIns="0" bIns="0" rtlCol="0" anchor="t">
            <a:normAutofit/>
          </a:bodyPr>
          <a:lstStyle/>
          <a:p>
            <a:pPr algn="l" indent="0" marL="0">
              <a:lnSpc>
                <a:spcPct val="127000"/>
              </a:lnSpc>
              <a:buNone/>
            </a:pPr>
            <a:r>
              <a:rPr lang="en-US" sz="1400" dirty="0">
                <a:solidFill>
                  <a:srgbClr val="000000"/>
                </a:solidFill>
                <a:latin typeface="Fira Sans" pitchFamily="34" charset="0"/>
                <a:ea typeface="Fira Sans" pitchFamily="34" charset="-122"/>
                <a:cs typeface="Fira Sans" pitchFamily="34" charset="-120"/>
              </a:rPr>
              <a:t>Wrote that the Spirit of God is present in every struggle for justice and liberation — not only in the Church. This is a bold and necessary claim in a country of 80% Hindus.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05041" y="1952129"/>
            <a:ext cx="5598873" cy="553442"/>
          </a:xfrm>
          <a:prstGeom prst="rect">
            <a:avLst/>
          </a:prstGeom>
          <a:noFill/>
          <a:ln/>
        </p:spPr>
        <p:txBody>
          <a:bodyPr wrap="none" lIns="0" tIns="0" rIns="0" bIns="0" rtlCol="0" anchor="t"/>
          <a:lstStyle/>
          <a:p>
            <a:pPr algn="l"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Discussion Questions</a:t>
            </a:r>
            <a:endParaRPr lang="en-US" sz="3450" dirty="0"/>
          </a:p>
        </p:txBody>
      </p:sp>
      <p:sp>
        <p:nvSpPr>
          <p:cNvPr id="3" name="Shape 1"/>
          <p:cNvSpPr/>
          <p:nvPr/>
        </p:nvSpPr>
        <p:spPr>
          <a:xfrm>
            <a:off x="805041" y="2908102"/>
            <a:ext cx="452823" cy="452834"/>
          </a:xfrm>
          <a:prstGeom prst="roundRect">
            <a:avLst>
              <a:gd name="adj" fmla="val 18669"/>
            </a:avLst>
          </a:prstGeom>
          <a:solidFill>
            <a:srgbClr val="FFE6CC"/>
          </a:solidFill>
          <a:ln w="6350">
            <a:solidFill>
              <a:srgbClr val="E5CCB2"/>
            </a:solidFill>
            <a:prstDash val="solid"/>
          </a:ln>
        </p:spPr>
      </p:sp>
      <p:sp>
        <p:nvSpPr>
          <p:cNvPr id="4" name="Text 2"/>
          <p:cNvSpPr/>
          <p:nvPr/>
        </p:nvSpPr>
        <p:spPr>
          <a:xfrm>
            <a:off x="1459074" y="2973487"/>
            <a:ext cx="2705429" cy="1610320"/>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Which of the five dimensions of the theologian do you find most natural for you? Which do you find most challenging?</a:t>
            </a:r>
            <a:endParaRPr lang="en-US" sz="1550" dirty="0"/>
          </a:p>
        </p:txBody>
      </p:sp>
      <p:sp>
        <p:nvSpPr>
          <p:cNvPr id="5" name="Shape 3"/>
          <p:cNvSpPr/>
          <p:nvPr/>
        </p:nvSpPr>
        <p:spPr>
          <a:xfrm>
            <a:off x="4416017" y="2908102"/>
            <a:ext cx="452823" cy="452834"/>
          </a:xfrm>
          <a:prstGeom prst="roundRect">
            <a:avLst>
              <a:gd name="adj" fmla="val 18669"/>
            </a:avLst>
          </a:prstGeom>
          <a:solidFill>
            <a:srgbClr val="FFE6CC"/>
          </a:solidFill>
          <a:ln w="6350">
            <a:solidFill>
              <a:srgbClr val="E5CCB2"/>
            </a:solidFill>
            <a:prstDash val="solid"/>
          </a:ln>
        </p:spPr>
      </p:sp>
      <p:sp>
        <p:nvSpPr>
          <p:cNvPr id="6" name="Text 4"/>
          <p:cNvSpPr/>
          <p:nvPr/>
        </p:nvSpPr>
        <p:spPr>
          <a:xfrm>
            <a:off x="5070051" y="2973487"/>
            <a:ext cx="2705528" cy="1288256"/>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Can you name a theologian from your own community or region? What made them significant?</a:t>
            </a:r>
            <a:endParaRPr lang="en-US" sz="1550" dirty="0"/>
          </a:p>
        </p:txBody>
      </p:sp>
      <p:sp>
        <p:nvSpPr>
          <p:cNvPr id="7" name="Shape 5"/>
          <p:cNvSpPr/>
          <p:nvPr/>
        </p:nvSpPr>
        <p:spPr>
          <a:xfrm>
            <a:off x="8027092" y="2908102"/>
            <a:ext cx="452823" cy="452834"/>
          </a:xfrm>
          <a:prstGeom prst="roundRect">
            <a:avLst>
              <a:gd name="adj" fmla="val 18669"/>
            </a:avLst>
          </a:prstGeom>
          <a:solidFill>
            <a:srgbClr val="FFE6CC"/>
          </a:solidFill>
          <a:ln w="6350">
            <a:solidFill>
              <a:srgbClr val="E5CCB2"/>
            </a:solidFill>
            <a:prstDash val="solid"/>
          </a:ln>
        </p:spPr>
      </p:sp>
      <p:sp>
        <p:nvSpPr>
          <p:cNvPr id="8" name="Text 6"/>
          <p:cNvSpPr/>
          <p:nvPr/>
        </p:nvSpPr>
        <p:spPr>
          <a:xfrm>
            <a:off x="8681126" y="2973487"/>
            <a:ext cx="2705429" cy="1932384"/>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Pope Francis says the theologian must be a servant of the People of God. What does that look like in a Santhali village or a Dalit colony?</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577044" y="2402483"/>
            <a:ext cx="5037607" cy="553442"/>
          </a:xfrm>
          <a:prstGeom prst="rect">
            <a:avLst/>
          </a:prstGeom>
          <a:noFill/>
          <a:ln/>
        </p:spPr>
        <p:txBody>
          <a:bodyPr wrap="none" lIns="0" tIns="0" rIns="0" bIns="0" rtlCol="0" anchor="t"/>
          <a:lstStyle/>
          <a:p>
            <a:pPr algn="ctr" indent="0" marL="0">
              <a:lnSpc>
                <a:spcPct val="104000"/>
              </a:lnSpc>
              <a:buNone/>
            </a:pPr>
            <a:r>
              <a:rPr lang="en-US" sz="3450" b="1" dirty="0">
                <a:solidFill>
                  <a:srgbClr val="000000"/>
                </a:solidFill>
                <a:latin typeface="Libre Baskerville Bold" pitchFamily="34" charset="0"/>
                <a:ea typeface="Libre Baskerville Bold" pitchFamily="34" charset="-122"/>
                <a:cs typeface="Libre Baskerville Bold" pitchFamily="34" charset="-120"/>
              </a:rPr>
              <a:t>Closing Pledge</a:t>
            </a:r>
            <a:endParaRPr lang="en-US" sz="3450" dirty="0"/>
          </a:p>
        </p:txBody>
      </p:sp>
      <p:sp>
        <p:nvSpPr>
          <p:cNvPr id="3" name="Shape 1"/>
          <p:cNvSpPr/>
          <p:nvPr/>
        </p:nvSpPr>
        <p:spPr>
          <a:xfrm>
            <a:off x="805041" y="3358455"/>
            <a:ext cx="25399" cy="1096963"/>
          </a:xfrm>
          <a:prstGeom prst="roundRect">
            <a:avLst>
              <a:gd name="adj" fmla="val 60001"/>
            </a:avLst>
          </a:prstGeom>
          <a:solidFill>
            <a:srgbClr val="020100"/>
          </a:solidFill>
          <a:ln/>
        </p:spPr>
      </p:sp>
      <p:sp>
        <p:nvSpPr>
          <p:cNvPr id="4" name="Text 2"/>
          <p:cNvSpPr/>
          <p:nvPr/>
        </p:nvSpPr>
        <p:spPr>
          <a:xfrm>
            <a:off x="1106956" y="3584873"/>
            <a:ext cx="10279698" cy="64412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000000"/>
                </a:solidFill>
                <a:latin typeface="Fira Sans" pitchFamily="34" charset="0"/>
                <a:ea typeface="Fira Sans" pitchFamily="34" charset="-122"/>
                <a:cs typeface="Fira Sans" pitchFamily="34" charset="-120"/>
              </a:rPr>
              <a:t>"I commit myself to the life of a theologian — to think carefully, to believe honestly, to serve the Church faithfully, and to hear always the voice of the poor as the voice of God. Amen."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2026-07-01T16:58:40Z</dcterms:created>
  <dcterms:modified xsi:type="dcterms:W3CDTF">2026-07-01T16:58:40Z</dcterms:modified>
</cp:coreProperties>
</file>