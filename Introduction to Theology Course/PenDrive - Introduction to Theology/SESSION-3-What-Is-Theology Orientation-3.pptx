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Fira Sans Thin"/>
      <p:regular r:id="rId201314"/>
    </p:embeddedFont>
    <p:embeddedFont>
      <p:font typeface="Fira Sans ExtraLight"/>
      <p:regular r:id="rId201315"/>
    </p:embeddedFont>
    <p:embeddedFont>
      <p:font typeface="Fira Sans Light"/>
      <p:regular r:id="rId201316"/>
    </p:embeddedFont>
    <p:embeddedFont>
      <p:font typeface="Fira Sans"/>
      <p:regular r:id="rId201317"/>
    </p:embeddedFont>
    <p:embeddedFont>
      <p:font typeface="Fira Sans Medium"/>
      <p:regular r:id="rId201318"/>
    </p:embeddedFont>
    <p:embeddedFont>
      <p:font typeface="Fira Sans SemiBold"/>
      <p:regular r:id="rId201319"/>
    </p:embeddedFont>
    <p:embeddedFont>
      <p:font typeface="Fira Sans Bold"/>
      <p:regular r:id="rId201320"/>
    </p:embeddedFont>
    <p:embeddedFont>
      <p:font typeface="Fira Sans ExtraBold"/>
      <p:regular r:id="rId201321"/>
    </p:embeddedFont>
    <p:embeddedFont>
      <p:font typeface="Fira Sans Black"/>
      <p:regular r:id="rId201322"/>
    </p:embeddedFont>
    <p:embeddedFont>
      <p:font typeface="Libre Baskerville"/>
      <p:regular r:id="rId201323"/>
    </p:embeddedFont>
    <p:embeddedFont>
      <p:font typeface="Libre Baskerville Bold"/>
      <p:regular r:id="rId2013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916F29"/>
          </a:solidFill>
          <a:ln/>
        </p:spPr>
      </p:sp>
      <p:sp>
        <p:nvSpPr>
          <p:cNvPr id="3" name="Shape 1"/>
          <p:cNvSpPr/>
          <p:nvPr/>
        </p:nvSpPr>
        <p:spPr>
          <a:xfrm>
            <a:off x="0" y="0"/>
            <a:ext cx="12191695" cy="6858000"/>
          </a:xfrm>
          <a:prstGeom prst="rect">
            <a:avLst/>
          </a:prstGeom>
          <a:solidFill>
            <a:srgbClr val="B98D34"/>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image" Target="../media/image-4-1.png"/><Relationship Id="rId10" Type="http://schemas.openxmlformats.org/officeDocument/2006/relationships/image" Target="../media/image-4-2.sv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1.png"/><Relationship Id="rId4" Type="http://schemas.openxmlformats.org/officeDocument/2006/relationships/image" Target="../media/image-11-2.svg"/><Relationship Id="rId5" Type="http://schemas.openxmlformats.org/officeDocument/2006/relationships/image" Target="../media/image-11-1.png"/><Relationship Id="rId6" Type="http://schemas.openxmlformats.org/officeDocument/2006/relationships/image" Target="../media/image-11-2.sv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05041" y="1336873"/>
            <a:ext cx="7796910"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SESSION 3: What Is Theology?</a:t>
            </a:r>
            <a:endParaRPr lang="en-US" sz="3450" dirty="0"/>
          </a:p>
        </p:txBody>
      </p:sp>
      <p:sp>
        <p:nvSpPr>
          <p:cNvPr id="3" name="Text 1"/>
          <p:cNvSpPr/>
          <p:nvPr/>
        </p:nvSpPr>
        <p:spPr>
          <a:xfrm>
            <a:off x="805041" y="2292846"/>
            <a:ext cx="10581613" cy="870545"/>
          </a:xfrm>
          <a:prstGeom prst="rect">
            <a:avLst/>
          </a:prstGeom>
          <a:noFill/>
          <a:ln/>
        </p:spPr>
        <p:txBody>
          <a:bodyPr wrap="square" lIns="0" tIns="0" rIns="0" bIns="0" rtlCol="0" anchor="t"/>
          <a:lstStyle/>
          <a:p>
            <a:pPr algn="l" indent="0" marL="0">
              <a:lnSpc>
                <a:spcPct val="133000"/>
              </a:lnSpc>
              <a:spcAft>
                <a:spcPts val="1750"/>
              </a:spcAft>
              <a:buNone/>
            </a:pPr>
            <a:r>
              <a:rPr lang="en-US" sz="1550" dirty="0">
                <a:solidFill>
                  <a:srgbClr val="000000"/>
                </a:solidFill>
                <a:latin typeface="Fira Sans" pitchFamily="34" charset="0"/>
                <a:ea typeface="Fira Sans" pitchFamily="34" charset="-122"/>
                <a:cs typeface="Fira Sans" pitchFamily="34" charset="-120"/>
              </a:rPr>
              <a:t>Definition, History, and Significance</a:t>
            </a:r>
            <a:endParaRPr lang="en-US" sz="1550" dirty="0"/>
          </a:p>
          <a:p>
            <a:pPr algn="l" indent="0" marL="0">
              <a:lnSpc>
                <a:spcPct val="133000"/>
              </a:lnSpc>
              <a:buNone/>
            </a:pPr>
            <a:r>
              <a:rPr lang="en-US" sz="1550" b="1" dirty="0">
                <a:solidFill>
                  <a:srgbClr val="000000"/>
                </a:solidFill>
                <a:latin typeface="Fira Sans Bold" pitchFamily="34" charset="0"/>
                <a:ea typeface="Fira Sans Bold" pitchFamily="34" charset="-122"/>
                <a:cs typeface="Fira Sans Bold" pitchFamily="34" charset="-120"/>
              </a:rPr>
              <a:t>Duration:</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45 minutes</a:t>
            </a:r>
            <a:endParaRPr lang="en-US" sz="1550" dirty="0"/>
          </a:p>
        </p:txBody>
      </p:sp>
      <p:sp>
        <p:nvSpPr>
          <p:cNvPr id="4" name="Shape 2"/>
          <p:cNvSpPr/>
          <p:nvPr/>
        </p:nvSpPr>
        <p:spPr>
          <a:xfrm>
            <a:off x="805041" y="3440112"/>
            <a:ext cx="10581613" cy="25400"/>
          </a:xfrm>
          <a:prstGeom prst="roundRect">
            <a:avLst>
              <a:gd name="adj" fmla="val 59999"/>
            </a:avLst>
          </a:prstGeom>
          <a:solidFill>
            <a:srgbClr val="000000">
              <a:alpha val="50000"/>
            </a:srgbClr>
          </a:solidFill>
          <a:ln/>
        </p:spPr>
      </p:sp>
      <p:sp>
        <p:nvSpPr>
          <p:cNvPr id="5" name="Shape 3"/>
          <p:cNvSpPr/>
          <p:nvPr/>
        </p:nvSpPr>
        <p:spPr>
          <a:xfrm>
            <a:off x="805041" y="3742234"/>
            <a:ext cx="3392998" cy="1778893"/>
          </a:xfrm>
          <a:prstGeom prst="roundRect">
            <a:avLst>
              <a:gd name="adj" fmla="val 4752"/>
            </a:avLst>
          </a:prstGeom>
          <a:solidFill>
            <a:srgbClr val="FFE6CC"/>
          </a:solidFill>
          <a:ln w="6350">
            <a:solidFill>
              <a:srgbClr val="E5CCB2"/>
            </a:solidFill>
            <a:prstDash val="solid"/>
          </a:ln>
        </p:spPr>
      </p:sp>
      <p:sp>
        <p:nvSpPr>
          <p:cNvPr id="6" name="Text 4"/>
          <p:cNvSpPr/>
          <p:nvPr/>
        </p:nvSpPr>
        <p:spPr>
          <a:xfrm>
            <a:off x="1012601" y="3949799"/>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Objective 1</a:t>
            </a:r>
            <a:endParaRPr lang="en-US" sz="1700" dirty="0"/>
          </a:p>
        </p:txBody>
      </p:sp>
      <p:sp>
        <p:nvSpPr>
          <p:cNvPr id="7" name="Text 5"/>
          <p:cNvSpPr/>
          <p:nvPr/>
        </p:nvSpPr>
        <p:spPr>
          <a:xfrm>
            <a:off x="1012601" y="4347369"/>
            <a:ext cx="2977877" cy="966192"/>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Give multiple, layered definitions of theology — classical and contextual</a:t>
            </a:r>
            <a:endParaRPr lang="en-US" sz="1550" dirty="0"/>
          </a:p>
        </p:txBody>
      </p:sp>
      <p:sp>
        <p:nvSpPr>
          <p:cNvPr id="8" name="Shape 6"/>
          <p:cNvSpPr/>
          <p:nvPr/>
        </p:nvSpPr>
        <p:spPr>
          <a:xfrm>
            <a:off x="4399249" y="3742234"/>
            <a:ext cx="3393097" cy="1778893"/>
          </a:xfrm>
          <a:prstGeom prst="roundRect">
            <a:avLst>
              <a:gd name="adj" fmla="val 4752"/>
            </a:avLst>
          </a:prstGeom>
          <a:solidFill>
            <a:srgbClr val="FFE6CC"/>
          </a:solidFill>
          <a:ln w="6350">
            <a:solidFill>
              <a:srgbClr val="E5CCB2"/>
            </a:solidFill>
            <a:prstDash val="solid"/>
          </a:ln>
        </p:spPr>
      </p:sp>
      <p:sp>
        <p:nvSpPr>
          <p:cNvPr id="9" name="Text 7"/>
          <p:cNvSpPr/>
          <p:nvPr/>
        </p:nvSpPr>
        <p:spPr>
          <a:xfrm>
            <a:off x="4606810" y="3949799"/>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Objective 2</a:t>
            </a:r>
            <a:endParaRPr lang="en-US" sz="1700" dirty="0"/>
          </a:p>
        </p:txBody>
      </p:sp>
      <p:sp>
        <p:nvSpPr>
          <p:cNvPr id="10" name="Text 8"/>
          <p:cNvSpPr/>
          <p:nvPr/>
        </p:nvSpPr>
        <p:spPr>
          <a:xfrm>
            <a:off x="4606810" y="4347369"/>
            <a:ext cx="2977976"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Sketch the history of theology in four broad movements</a:t>
            </a:r>
            <a:endParaRPr lang="en-US" sz="1550" dirty="0"/>
          </a:p>
        </p:txBody>
      </p:sp>
      <p:sp>
        <p:nvSpPr>
          <p:cNvPr id="11" name="Shape 9"/>
          <p:cNvSpPr/>
          <p:nvPr/>
        </p:nvSpPr>
        <p:spPr>
          <a:xfrm>
            <a:off x="7993557" y="3742234"/>
            <a:ext cx="3393097" cy="1778893"/>
          </a:xfrm>
          <a:prstGeom prst="roundRect">
            <a:avLst>
              <a:gd name="adj" fmla="val 4752"/>
            </a:avLst>
          </a:prstGeom>
          <a:solidFill>
            <a:srgbClr val="FFE6CC"/>
          </a:solidFill>
          <a:ln w="6350">
            <a:solidFill>
              <a:srgbClr val="E5CCB2"/>
            </a:solidFill>
            <a:prstDash val="solid"/>
          </a:ln>
        </p:spPr>
      </p:sp>
      <p:sp>
        <p:nvSpPr>
          <p:cNvPr id="12" name="Text 10"/>
          <p:cNvSpPr/>
          <p:nvPr/>
        </p:nvSpPr>
        <p:spPr>
          <a:xfrm>
            <a:off x="8201117" y="3949799"/>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Objective 3</a:t>
            </a:r>
            <a:endParaRPr lang="en-US" sz="1700" dirty="0"/>
          </a:p>
        </p:txBody>
      </p:sp>
      <p:sp>
        <p:nvSpPr>
          <p:cNvPr id="13" name="Text 11"/>
          <p:cNvSpPr/>
          <p:nvPr/>
        </p:nvSpPr>
        <p:spPr>
          <a:xfrm>
            <a:off x="8201117" y="4347369"/>
            <a:ext cx="2977976" cy="966192"/>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Establish why theology is necessary and urgent in India today</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05041" y="1347589"/>
            <a:ext cx="5037607"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Time Breakdown</a:t>
            </a:r>
            <a:endParaRPr lang="en-US" sz="3450" dirty="0"/>
          </a:p>
        </p:txBody>
      </p:sp>
      <p:sp>
        <p:nvSpPr>
          <p:cNvPr id="3" name="Text 1"/>
          <p:cNvSpPr/>
          <p:nvPr/>
        </p:nvSpPr>
        <p:spPr>
          <a:xfrm>
            <a:off x="805041" y="2303562"/>
            <a:ext cx="402520" cy="251520"/>
          </a:xfrm>
          <a:prstGeom prst="rect">
            <a:avLst/>
          </a:prstGeom>
          <a:noFill/>
          <a:ln/>
        </p:spPr>
        <p:txBody>
          <a:bodyPr wrap="none" lIns="0" tIns="0" rIns="0" bIns="0" rtlCol="0" anchor="ctr"/>
          <a:lstStyle/>
          <a:p>
            <a:pPr algn="l" indent="0" marL="0">
              <a:lnSpc>
                <a:spcPct val="100000"/>
              </a:lnSpc>
              <a:buNone/>
            </a:pPr>
            <a:r>
              <a:rPr lang="en-US" sz="1550" dirty="0">
                <a:solidFill>
                  <a:srgbClr val="000000"/>
                </a:solidFill>
                <a:latin typeface="Libre Baskerville Light" pitchFamily="34" charset="0"/>
                <a:ea typeface="Libre Baskerville Light" pitchFamily="34" charset="-122"/>
                <a:cs typeface="Libre Baskerville Light" pitchFamily="34" charset="-120"/>
              </a:rPr>
              <a:t>01</a:t>
            </a:r>
            <a:endParaRPr lang="en-US" sz="1550" dirty="0"/>
          </a:p>
        </p:txBody>
      </p:sp>
      <p:sp>
        <p:nvSpPr>
          <p:cNvPr id="4" name="Shape 2"/>
          <p:cNvSpPr/>
          <p:nvPr/>
        </p:nvSpPr>
        <p:spPr>
          <a:xfrm>
            <a:off x="805041" y="2620169"/>
            <a:ext cx="3392998" cy="25400"/>
          </a:xfrm>
          <a:prstGeom prst="rect">
            <a:avLst/>
          </a:prstGeom>
          <a:solidFill>
            <a:srgbClr val="020100"/>
          </a:solidFill>
          <a:ln/>
        </p:spPr>
      </p:sp>
      <p:sp>
        <p:nvSpPr>
          <p:cNvPr id="5" name="Text 3"/>
          <p:cNvSpPr/>
          <p:nvPr/>
        </p:nvSpPr>
        <p:spPr>
          <a:xfrm>
            <a:off x="805041" y="2771577"/>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0:00 – 0:07</a:t>
            </a:r>
            <a:endParaRPr lang="en-US" sz="1700" dirty="0"/>
          </a:p>
        </p:txBody>
      </p:sp>
      <p:sp>
        <p:nvSpPr>
          <p:cNvPr id="6" name="Text 4"/>
          <p:cNvSpPr/>
          <p:nvPr/>
        </p:nvSpPr>
        <p:spPr>
          <a:xfrm>
            <a:off x="805041" y="3169146"/>
            <a:ext cx="3392998" cy="65047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"What Do You Think Theology Is?" — quick word association</a:t>
            </a:r>
            <a:endParaRPr lang="en-US" sz="1550" dirty="0"/>
          </a:p>
        </p:txBody>
      </p:sp>
      <p:sp>
        <p:nvSpPr>
          <p:cNvPr id="7" name="Text 5"/>
          <p:cNvSpPr/>
          <p:nvPr/>
        </p:nvSpPr>
        <p:spPr>
          <a:xfrm>
            <a:off x="4399249" y="2303562"/>
            <a:ext cx="402520" cy="251520"/>
          </a:xfrm>
          <a:prstGeom prst="rect">
            <a:avLst/>
          </a:prstGeom>
          <a:noFill/>
          <a:ln/>
        </p:spPr>
        <p:txBody>
          <a:bodyPr wrap="none" lIns="0" tIns="0" rIns="0" bIns="0" rtlCol="0" anchor="ctr"/>
          <a:lstStyle/>
          <a:p>
            <a:pPr algn="l" indent="0" marL="0">
              <a:lnSpc>
                <a:spcPct val="100000"/>
              </a:lnSpc>
              <a:buNone/>
            </a:pPr>
            <a:r>
              <a:rPr lang="en-US" sz="1550" dirty="0">
                <a:solidFill>
                  <a:srgbClr val="000000"/>
                </a:solidFill>
                <a:latin typeface="Libre Baskerville Light" pitchFamily="34" charset="0"/>
                <a:ea typeface="Libre Baskerville Light" pitchFamily="34" charset="-122"/>
                <a:cs typeface="Libre Baskerville Light" pitchFamily="34" charset="-120"/>
              </a:rPr>
              <a:t>02</a:t>
            </a:r>
            <a:endParaRPr lang="en-US" sz="1550" dirty="0"/>
          </a:p>
        </p:txBody>
      </p:sp>
      <p:sp>
        <p:nvSpPr>
          <p:cNvPr id="8" name="Shape 6"/>
          <p:cNvSpPr/>
          <p:nvPr/>
        </p:nvSpPr>
        <p:spPr>
          <a:xfrm>
            <a:off x="4399249" y="2620169"/>
            <a:ext cx="3393097" cy="25400"/>
          </a:xfrm>
          <a:prstGeom prst="rect">
            <a:avLst/>
          </a:prstGeom>
          <a:solidFill>
            <a:srgbClr val="020100"/>
          </a:solidFill>
          <a:ln/>
        </p:spPr>
      </p:sp>
      <p:sp>
        <p:nvSpPr>
          <p:cNvPr id="9" name="Text 7"/>
          <p:cNvSpPr/>
          <p:nvPr/>
        </p:nvSpPr>
        <p:spPr>
          <a:xfrm>
            <a:off x="4399249" y="2771577"/>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0:07 – 0:20</a:t>
            </a:r>
            <a:endParaRPr lang="en-US" sz="1700" dirty="0"/>
          </a:p>
        </p:txBody>
      </p:sp>
      <p:sp>
        <p:nvSpPr>
          <p:cNvPr id="10" name="Text 8"/>
          <p:cNvSpPr/>
          <p:nvPr/>
        </p:nvSpPr>
        <p:spPr>
          <a:xfrm>
            <a:off x="4399249" y="3169146"/>
            <a:ext cx="3393097"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Definitions of theology — classical to contemporary</a:t>
            </a:r>
            <a:endParaRPr lang="en-US" sz="1550" dirty="0"/>
          </a:p>
        </p:txBody>
      </p:sp>
      <p:sp>
        <p:nvSpPr>
          <p:cNvPr id="11" name="Text 9"/>
          <p:cNvSpPr/>
          <p:nvPr/>
        </p:nvSpPr>
        <p:spPr>
          <a:xfrm>
            <a:off x="7993557" y="2303562"/>
            <a:ext cx="402520" cy="251520"/>
          </a:xfrm>
          <a:prstGeom prst="rect">
            <a:avLst/>
          </a:prstGeom>
          <a:noFill/>
          <a:ln/>
        </p:spPr>
        <p:txBody>
          <a:bodyPr wrap="none" lIns="0" tIns="0" rIns="0" bIns="0" rtlCol="0" anchor="ctr"/>
          <a:lstStyle/>
          <a:p>
            <a:pPr algn="l" indent="0" marL="0">
              <a:lnSpc>
                <a:spcPct val="100000"/>
              </a:lnSpc>
              <a:buNone/>
            </a:pPr>
            <a:r>
              <a:rPr lang="en-US" sz="1550" dirty="0">
                <a:solidFill>
                  <a:srgbClr val="000000"/>
                </a:solidFill>
                <a:latin typeface="Libre Baskerville Light" pitchFamily="34" charset="0"/>
                <a:ea typeface="Libre Baskerville Light" pitchFamily="34" charset="-122"/>
                <a:cs typeface="Libre Baskerville Light" pitchFamily="34" charset="-120"/>
              </a:rPr>
              <a:t>03</a:t>
            </a:r>
            <a:endParaRPr lang="en-US" sz="1550" dirty="0"/>
          </a:p>
        </p:txBody>
      </p:sp>
      <p:sp>
        <p:nvSpPr>
          <p:cNvPr id="12" name="Shape 10"/>
          <p:cNvSpPr/>
          <p:nvPr/>
        </p:nvSpPr>
        <p:spPr>
          <a:xfrm>
            <a:off x="7993557" y="2620169"/>
            <a:ext cx="3393097" cy="25400"/>
          </a:xfrm>
          <a:prstGeom prst="rect">
            <a:avLst/>
          </a:prstGeom>
          <a:solidFill>
            <a:srgbClr val="020100"/>
          </a:solidFill>
          <a:ln/>
        </p:spPr>
      </p:sp>
      <p:sp>
        <p:nvSpPr>
          <p:cNvPr id="13" name="Text 11"/>
          <p:cNvSpPr/>
          <p:nvPr/>
        </p:nvSpPr>
        <p:spPr>
          <a:xfrm>
            <a:off x="7993557" y="2771577"/>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0:20 – 0:32</a:t>
            </a:r>
            <a:endParaRPr lang="en-US" sz="1700" dirty="0"/>
          </a:p>
        </p:txBody>
      </p:sp>
      <p:sp>
        <p:nvSpPr>
          <p:cNvPr id="14" name="Text 12"/>
          <p:cNvSpPr/>
          <p:nvPr/>
        </p:nvSpPr>
        <p:spPr>
          <a:xfrm>
            <a:off x="7993557" y="3169146"/>
            <a:ext cx="3393097" cy="322064"/>
          </a:xfrm>
          <a:prstGeom prst="rect">
            <a:avLst/>
          </a:prstGeom>
          <a:noFill/>
          <a:ln/>
        </p:spPr>
        <p:txBody>
          <a:bodyPr wrap="none" lIns="0" tIns="0" rIns="0" bIns="0" rtlCol="0" anchor="t"/>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 brief history — four movements</a:t>
            </a:r>
            <a:endParaRPr lang="en-US" sz="1550" dirty="0"/>
          </a:p>
        </p:txBody>
      </p:sp>
      <p:sp>
        <p:nvSpPr>
          <p:cNvPr id="15" name="Text 13"/>
          <p:cNvSpPr/>
          <p:nvPr/>
        </p:nvSpPr>
        <p:spPr>
          <a:xfrm>
            <a:off x="805041" y="4171752"/>
            <a:ext cx="402520" cy="251520"/>
          </a:xfrm>
          <a:prstGeom prst="rect">
            <a:avLst/>
          </a:prstGeom>
          <a:noFill/>
          <a:ln/>
        </p:spPr>
        <p:txBody>
          <a:bodyPr wrap="none" lIns="0" tIns="0" rIns="0" bIns="0" rtlCol="0" anchor="ctr"/>
          <a:lstStyle/>
          <a:p>
            <a:pPr algn="l" indent="0" marL="0">
              <a:lnSpc>
                <a:spcPct val="100000"/>
              </a:lnSpc>
              <a:buNone/>
            </a:pPr>
            <a:r>
              <a:rPr lang="en-US" sz="1550" dirty="0">
                <a:solidFill>
                  <a:srgbClr val="000000"/>
                </a:solidFill>
                <a:latin typeface="Libre Baskerville Light" pitchFamily="34" charset="0"/>
                <a:ea typeface="Libre Baskerville Light" pitchFamily="34" charset="-122"/>
                <a:cs typeface="Libre Baskerville Light" pitchFamily="34" charset="-120"/>
              </a:rPr>
              <a:t>04</a:t>
            </a:r>
            <a:endParaRPr lang="en-US" sz="1550" dirty="0"/>
          </a:p>
        </p:txBody>
      </p:sp>
      <p:sp>
        <p:nvSpPr>
          <p:cNvPr id="16" name="Shape 14"/>
          <p:cNvSpPr/>
          <p:nvPr/>
        </p:nvSpPr>
        <p:spPr>
          <a:xfrm>
            <a:off x="805041" y="4488359"/>
            <a:ext cx="5190201" cy="25400"/>
          </a:xfrm>
          <a:prstGeom prst="rect">
            <a:avLst/>
          </a:prstGeom>
          <a:solidFill>
            <a:srgbClr val="020100"/>
          </a:solidFill>
          <a:ln/>
        </p:spPr>
      </p:sp>
      <p:sp>
        <p:nvSpPr>
          <p:cNvPr id="17" name="Text 15"/>
          <p:cNvSpPr/>
          <p:nvPr/>
        </p:nvSpPr>
        <p:spPr>
          <a:xfrm>
            <a:off x="805041" y="4639766"/>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0:32 – 0:42</a:t>
            </a:r>
            <a:endParaRPr lang="en-US" sz="1700" dirty="0"/>
          </a:p>
        </p:txBody>
      </p:sp>
      <p:sp>
        <p:nvSpPr>
          <p:cNvPr id="18" name="Text 16"/>
          <p:cNvSpPr/>
          <p:nvPr/>
        </p:nvSpPr>
        <p:spPr>
          <a:xfrm>
            <a:off x="805041" y="5037336"/>
            <a:ext cx="5190201" cy="322064"/>
          </a:xfrm>
          <a:prstGeom prst="rect">
            <a:avLst/>
          </a:prstGeom>
          <a:noFill/>
          <a:ln/>
        </p:spPr>
        <p:txBody>
          <a:bodyPr wrap="none" lIns="0" tIns="0" rIns="0" bIns="0" rtlCol="0" anchor="t"/>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Why theology matters in India today</a:t>
            </a:r>
            <a:endParaRPr lang="en-US" sz="1550" dirty="0"/>
          </a:p>
        </p:txBody>
      </p:sp>
      <p:sp>
        <p:nvSpPr>
          <p:cNvPr id="19" name="Text 17"/>
          <p:cNvSpPr/>
          <p:nvPr/>
        </p:nvSpPr>
        <p:spPr>
          <a:xfrm>
            <a:off x="6196453" y="4171752"/>
            <a:ext cx="402520" cy="251520"/>
          </a:xfrm>
          <a:prstGeom prst="rect">
            <a:avLst/>
          </a:prstGeom>
          <a:noFill/>
          <a:ln/>
        </p:spPr>
        <p:txBody>
          <a:bodyPr wrap="none" lIns="0" tIns="0" rIns="0" bIns="0" rtlCol="0" anchor="ctr"/>
          <a:lstStyle/>
          <a:p>
            <a:pPr algn="l" indent="0" marL="0">
              <a:lnSpc>
                <a:spcPct val="100000"/>
              </a:lnSpc>
              <a:buNone/>
            </a:pPr>
            <a:r>
              <a:rPr lang="en-US" sz="1550" dirty="0">
                <a:solidFill>
                  <a:srgbClr val="000000"/>
                </a:solidFill>
                <a:latin typeface="Libre Baskerville Light" pitchFamily="34" charset="0"/>
                <a:ea typeface="Libre Baskerville Light" pitchFamily="34" charset="-122"/>
                <a:cs typeface="Libre Baskerville Light" pitchFamily="34" charset="-120"/>
              </a:rPr>
              <a:t>05</a:t>
            </a:r>
            <a:endParaRPr lang="en-US" sz="1550" dirty="0"/>
          </a:p>
        </p:txBody>
      </p:sp>
      <p:sp>
        <p:nvSpPr>
          <p:cNvPr id="20" name="Shape 18"/>
          <p:cNvSpPr/>
          <p:nvPr/>
        </p:nvSpPr>
        <p:spPr>
          <a:xfrm>
            <a:off x="6196453" y="4488359"/>
            <a:ext cx="5190201" cy="25400"/>
          </a:xfrm>
          <a:prstGeom prst="rect">
            <a:avLst/>
          </a:prstGeom>
          <a:solidFill>
            <a:srgbClr val="020100"/>
          </a:solidFill>
          <a:ln/>
        </p:spPr>
      </p:sp>
      <p:sp>
        <p:nvSpPr>
          <p:cNvPr id="21" name="Text 19"/>
          <p:cNvSpPr/>
          <p:nvPr/>
        </p:nvSpPr>
        <p:spPr>
          <a:xfrm>
            <a:off x="6196453" y="4639766"/>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0:42 – 0:45</a:t>
            </a:r>
            <a:endParaRPr lang="en-US" sz="1700" dirty="0"/>
          </a:p>
        </p:txBody>
      </p:sp>
      <p:sp>
        <p:nvSpPr>
          <p:cNvPr id="22" name="Text 20"/>
          <p:cNvSpPr/>
          <p:nvPr/>
        </p:nvSpPr>
        <p:spPr>
          <a:xfrm>
            <a:off x="6196453" y="5037336"/>
            <a:ext cx="5190201" cy="322064"/>
          </a:xfrm>
          <a:prstGeom prst="rect">
            <a:avLst/>
          </a:prstGeom>
          <a:noFill/>
          <a:ln/>
        </p:spPr>
        <p:txBody>
          <a:bodyPr wrap="none" lIns="0" tIns="0" rIns="0" bIns="0" rtlCol="0" anchor="t"/>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Closing Prayer</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05041" y="738684"/>
            <a:ext cx="7662373"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Ice-Breaker: Word Association</a:t>
            </a:r>
            <a:endParaRPr lang="en-US" sz="3450" dirty="0"/>
          </a:p>
        </p:txBody>
      </p:sp>
      <p:sp>
        <p:nvSpPr>
          <p:cNvPr id="3" name="Text 1"/>
          <p:cNvSpPr/>
          <p:nvPr/>
        </p:nvSpPr>
        <p:spPr>
          <a:xfrm>
            <a:off x="805041" y="1694656"/>
            <a:ext cx="10581613" cy="1741091"/>
          </a:xfrm>
          <a:prstGeom prst="rect">
            <a:avLst/>
          </a:prstGeom>
          <a:noFill/>
          <a:ln/>
        </p:spPr>
        <p:txBody>
          <a:bodyPr wrap="square" lIns="0" tIns="0" rIns="0" bIns="0" rtlCol="0" anchor="t"/>
          <a:lstStyle/>
          <a:p>
            <a:pPr algn="l" indent="0" marL="0">
              <a:lnSpc>
                <a:spcPct val="133000"/>
              </a:lnSpc>
              <a:spcAft>
                <a:spcPts val="1750"/>
              </a:spcAft>
              <a:buNone/>
            </a:pPr>
            <a:r>
              <a:rPr lang="en-US" sz="1550" b="1" dirty="0">
                <a:solidFill>
                  <a:srgbClr val="000000"/>
                </a:solidFill>
                <a:latin typeface="Fira Sans Bold" pitchFamily="34" charset="0"/>
                <a:ea typeface="Fira Sans Bold" pitchFamily="34" charset="-122"/>
                <a:cs typeface="Fira Sans Bold" pitchFamily="34" charset="-120"/>
              </a:rPr>
              <a:t>(7 minutes)</a:t>
            </a:r>
            <a:endParaRPr lang="en-US" sz="1550" dirty="0"/>
          </a:p>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Ask: "I say the word </a:t>
            </a:r>
            <a:pPr algn="l" indent="0" marL="0">
              <a:lnSpc>
                <a:spcPct val="133000"/>
              </a:lnSpc>
              <a:buNone/>
            </a:pPr>
            <a:r>
              <a:rPr lang="en-US" sz="1550" b="1" dirty="0">
                <a:solidFill>
                  <a:srgbClr val="000000"/>
                </a:solidFill>
                <a:latin typeface="Fira Sans Bold" pitchFamily="34" charset="0"/>
                <a:ea typeface="Fira Sans Bold" pitchFamily="34" charset="-122"/>
                <a:cs typeface="Fira Sans Bold" pitchFamily="34" charset="-120"/>
              </a:rPr>
              <a:t>THEOLOGY</a:t>
            </a:r>
            <a:pPr algn="l" indent="0" marL="0">
              <a:lnSpc>
                <a:spcPct val="133000"/>
              </a:lnSpc>
              <a:spcAft>
                <a:spcPts val="1750"/>
              </a:spcAft>
              <a:buNone/>
            </a:pPr>
            <a:r>
              <a:rPr lang="en-US" sz="1550" dirty="0">
                <a:solidFill>
                  <a:srgbClr val="000000"/>
                </a:solidFill>
                <a:latin typeface="Fira Sans" pitchFamily="34" charset="0"/>
                <a:ea typeface="Fira Sans" pitchFamily="34" charset="-122"/>
                <a:cs typeface="Fira Sans" pitchFamily="34" charset="-120"/>
              </a:rPr>
              <a:t> — you give me one word that comes to your mind immediately." Go around the room. Write the words on the board.</a:t>
            </a:r>
            <a:endParaRPr lang="en-US" sz="1550" dirty="0"/>
          </a:p>
          <a:p>
            <a:pPr algn="l" indent="0" marL="0">
              <a:lnSpc>
                <a:spcPct val="133000"/>
              </a:lnSpc>
              <a:buNone/>
            </a:pPr>
            <a:r>
              <a:rPr lang="en-US" sz="1550" b="1" dirty="0">
                <a:solidFill>
                  <a:srgbClr val="000000"/>
                </a:solidFill>
                <a:latin typeface="Fira Sans Bold" pitchFamily="34" charset="0"/>
                <a:ea typeface="Fira Sans Bold" pitchFamily="34" charset="-122"/>
                <a:cs typeface="Fira Sans Bold" pitchFamily="34" charset="-120"/>
              </a:rPr>
              <a:t>Expected responses:</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God, boring, books, Rome, Latin, exams, church, prayer...</a:t>
            </a:r>
            <a:endParaRPr lang="en-US" sz="1550" dirty="0"/>
          </a:p>
        </p:txBody>
      </p:sp>
      <p:sp>
        <p:nvSpPr>
          <p:cNvPr id="4" name="Shape 2"/>
          <p:cNvSpPr/>
          <p:nvPr/>
        </p:nvSpPr>
        <p:spPr>
          <a:xfrm>
            <a:off x="805041" y="3712468"/>
            <a:ext cx="10581613" cy="25400"/>
          </a:xfrm>
          <a:prstGeom prst="roundRect">
            <a:avLst>
              <a:gd name="adj" fmla="val 59999"/>
            </a:avLst>
          </a:prstGeom>
          <a:solidFill>
            <a:srgbClr val="000000">
              <a:alpha val="50000"/>
            </a:srgbClr>
          </a:solidFill>
          <a:ln/>
        </p:spPr>
      </p:sp>
      <p:sp>
        <p:nvSpPr>
          <p:cNvPr id="5" name="Shape 3"/>
          <p:cNvSpPr/>
          <p:nvPr/>
        </p:nvSpPr>
        <p:spPr>
          <a:xfrm>
            <a:off x="805041" y="4014589"/>
            <a:ext cx="25399" cy="1103313"/>
          </a:xfrm>
          <a:prstGeom prst="roundRect">
            <a:avLst>
              <a:gd name="adj" fmla="val 60001"/>
            </a:avLst>
          </a:prstGeom>
          <a:solidFill>
            <a:srgbClr val="020100"/>
          </a:solidFill>
          <a:ln/>
        </p:spPr>
      </p:sp>
      <p:sp>
        <p:nvSpPr>
          <p:cNvPr id="6" name="Text 4"/>
          <p:cNvSpPr/>
          <p:nvPr/>
        </p:nvSpPr>
        <p:spPr>
          <a:xfrm>
            <a:off x="1106956" y="4241006"/>
            <a:ext cx="10279698" cy="65047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"If someone said 'exams,' don't worry — that proves you are paying attention to reality. If someone said 'God,' that's perfect. If someone said 'sleep' — we need to talk about your regency assignment grades."</a:t>
            </a:r>
            <a:endParaRPr lang="en-US" sz="1550" dirty="0"/>
          </a:p>
        </p:txBody>
      </p:sp>
      <p:sp>
        <p:nvSpPr>
          <p:cNvPr id="7" name="Shape 5"/>
          <p:cNvSpPr/>
          <p:nvPr/>
        </p:nvSpPr>
        <p:spPr>
          <a:xfrm>
            <a:off x="805041" y="5344319"/>
            <a:ext cx="25399" cy="774799"/>
          </a:xfrm>
          <a:prstGeom prst="roundRect">
            <a:avLst>
              <a:gd name="adj" fmla="val 60001"/>
            </a:avLst>
          </a:prstGeom>
          <a:solidFill>
            <a:srgbClr val="020100"/>
          </a:solidFill>
          <a:ln/>
        </p:spPr>
      </p:sp>
      <p:sp>
        <p:nvSpPr>
          <p:cNvPr id="8" name="Text 6"/>
          <p:cNvSpPr/>
          <p:nvPr/>
        </p:nvSpPr>
        <p:spPr>
          <a:xfrm>
            <a:off x="1106956" y="5570736"/>
            <a:ext cx="10889283" cy="322064"/>
          </a:xfrm>
          <a:prstGeom prst="rect">
            <a:avLst/>
          </a:prstGeom>
          <a:noFill/>
          <a:ln/>
        </p:spPr>
        <p:txBody>
          <a:bodyPr wrap="none" lIns="0" tIns="0" rIns="0" bIns="0" rtlCol="0" anchor="t"/>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"Look at this board. All of these words are partly true. Our task today is to find the whole picture."</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05041" y="628352"/>
            <a:ext cx="4539045" cy="337344"/>
          </a:xfrm>
          <a:prstGeom prst="rect">
            <a:avLst/>
          </a:prstGeom>
          <a:noFill/>
          <a:ln/>
        </p:spPr>
        <p:txBody>
          <a:bodyPr wrap="none" lIns="0" tIns="0" rIns="0" bIns="0" rtlCol="0" anchor="t"/>
          <a:lstStyle/>
          <a:p>
            <a:pPr algn="l" indent="0" marL="0">
              <a:lnSpc>
                <a:spcPct val="104000"/>
              </a:lnSpc>
              <a:buNone/>
            </a:pPr>
            <a:r>
              <a:rPr lang="en-US" sz="2100" b="1" dirty="0">
                <a:solidFill>
                  <a:srgbClr val="000000"/>
                </a:solidFill>
                <a:latin typeface="Libre Baskerville Bold" pitchFamily="34" charset="0"/>
                <a:ea typeface="Libre Baskerville Bold" pitchFamily="34" charset="-122"/>
                <a:cs typeface="Libre Baskerville Bold" pitchFamily="34" charset="-120"/>
              </a:rPr>
              <a:t>Part A — What Is Theology?</a:t>
            </a:r>
            <a:endParaRPr lang="en-US" sz="2100" dirty="0"/>
          </a:p>
        </p:txBody>
      </p:sp>
      <p:sp>
        <p:nvSpPr>
          <p:cNvPr id="3" name="Text 1"/>
          <p:cNvSpPr/>
          <p:nvPr/>
        </p:nvSpPr>
        <p:spPr>
          <a:xfrm>
            <a:off x="805041" y="995561"/>
            <a:ext cx="2768233" cy="269875"/>
          </a:xfrm>
          <a:prstGeom prst="rect">
            <a:avLst/>
          </a:prstGeom>
          <a:noFill/>
          <a:ln/>
        </p:spPr>
        <p:txBody>
          <a:bodyPr wrap="none" lIns="0" tIns="0" rIns="0" bIns="0" rtlCol="0" anchor="t"/>
          <a:lstStyle/>
          <a:p>
            <a:pPr algn="l" indent="0" marL="0">
              <a:lnSpc>
                <a:spcPct val="104000"/>
              </a:lnSpc>
              <a:buNone/>
            </a:pPr>
            <a:r>
              <a:rPr lang="en-US" sz="1650" b="1" dirty="0">
                <a:solidFill>
                  <a:srgbClr val="000000"/>
                </a:solidFill>
                <a:latin typeface="Libre Baskerville Bold" pitchFamily="34" charset="0"/>
                <a:ea typeface="Libre Baskerville Bold" pitchFamily="34" charset="-122"/>
                <a:cs typeface="Libre Baskerville Bold" pitchFamily="34" charset="-120"/>
              </a:rPr>
              <a:t>Etymology</a:t>
            </a:r>
            <a:endParaRPr lang="en-US" sz="1650" dirty="0"/>
          </a:p>
        </p:txBody>
      </p:sp>
      <p:sp>
        <p:nvSpPr>
          <p:cNvPr id="4" name="Text 2"/>
          <p:cNvSpPr/>
          <p:nvPr/>
        </p:nvSpPr>
        <p:spPr>
          <a:xfrm>
            <a:off x="805041" y="1377454"/>
            <a:ext cx="11191198" cy="157857"/>
          </a:xfrm>
          <a:prstGeom prst="rect">
            <a:avLst/>
          </a:prstGeom>
          <a:noFill/>
          <a:ln/>
        </p:spPr>
        <p:txBody>
          <a:bodyPr wrap="none" lIns="0" tIns="0" rIns="0" bIns="0" rtlCol="0" anchor="t"/>
          <a:lstStyle/>
          <a:p>
            <a:pPr algn="l" indent="0" marL="0">
              <a:lnSpc>
                <a:spcPct val="107000"/>
              </a:lnSpc>
              <a:buNone/>
            </a:pPr>
            <a:r>
              <a:rPr lang="en-US" sz="950" dirty="0">
                <a:solidFill>
                  <a:srgbClr val="000000"/>
                </a:solidFill>
                <a:latin typeface="Fira Sans" pitchFamily="34" charset="0"/>
                <a:ea typeface="Fira Sans" pitchFamily="34" charset="-122"/>
                <a:cs typeface="Fira Sans" pitchFamily="34" charset="-120"/>
              </a:rPr>
              <a:t>The word comes from two Greek words: </a:t>
            </a:r>
            <a:pPr algn="l" indent="0" marL="0">
              <a:lnSpc>
                <a:spcPct val="107000"/>
              </a:lnSpc>
              <a:buNone/>
            </a:pPr>
            <a:r>
              <a:rPr lang="en-US" sz="950" b="1" dirty="0">
                <a:solidFill>
                  <a:srgbClr val="000000"/>
                </a:solidFill>
                <a:latin typeface="Fira Sans Bold" pitchFamily="34" charset="0"/>
                <a:ea typeface="Fira Sans Bold" pitchFamily="34" charset="-122"/>
                <a:cs typeface="Fira Sans Bold" pitchFamily="34" charset="-120"/>
              </a:rPr>
              <a:t>theos</a:t>
            </a:r>
            <a:pPr algn="l" indent="0" marL="0">
              <a:lnSpc>
                <a:spcPct val="107000"/>
              </a:lnSpc>
              <a:buNone/>
            </a:pPr>
            <a:r>
              <a:rPr lang="en-US" sz="950" dirty="0">
                <a:solidFill>
                  <a:srgbClr val="000000"/>
                </a:solidFill>
                <a:latin typeface="Fira Sans" pitchFamily="34" charset="0"/>
                <a:ea typeface="Fira Sans" pitchFamily="34" charset="-122"/>
                <a:cs typeface="Fira Sans" pitchFamily="34" charset="-120"/>
              </a:rPr>
              <a:t> (God) + </a:t>
            </a:r>
            <a:pPr algn="l" indent="0" marL="0">
              <a:lnSpc>
                <a:spcPct val="107000"/>
              </a:lnSpc>
              <a:buNone/>
            </a:pPr>
            <a:r>
              <a:rPr lang="en-US" sz="950" b="1" dirty="0">
                <a:solidFill>
                  <a:srgbClr val="000000"/>
                </a:solidFill>
                <a:latin typeface="Fira Sans Bold" pitchFamily="34" charset="0"/>
                <a:ea typeface="Fira Sans Bold" pitchFamily="34" charset="-122"/>
                <a:cs typeface="Fira Sans Bold" pitchFamily="34" charset="-120"/>
              </a:rPr>
              <a:t>logos</a:t>
            </a:r>
            <a:pPr algn="l" indent="0" marL="0">
              <a:lnSpc>
                <a:spcPct val="107000"/>
              </a:lnSpc>
              <a:buNone/>
            </a:pPr>
            <a:r>
              <a:rPr lang="en-US" sz="950" dirty="0">
                <a:solidFill>
                  <a:srgbClr val="000000"/>
                </a:solidFill>
                <a:latin typeface="Fira Sans" pitchFamily="34" charset="0"/>
                <a:ea typeface="Fira Sans" pitchFamily="34" charset="-122"/>
                <a:cs typeface="Fira Sans" pitchFamily="34" charset="-120"/>
              </a:rPr>
              <a:t> (word, reason, account). Theology is, literally, "reasoned speech about God." But there is far more to it than that.</a:t>
            </a:r>
            <a:endParaRPr lang="en-US" sz="950" dirty="0"/>
          </a:p>
        </p:txBody>
      </p:sp>
      <p:sp>
        <p:nvSpPr>
          <p:cNvPr id="5" name="Shape 3"/>
          <p:cNvSpPr/>
          <p:nvPr/>
        </p:nvSpPr>
        <p:spPr>
          <a:xfrm>
            <a:off x="805041" y="1650008"/>
            <a:ext cx="10581613" cy="12700"/>
          </a:xfrm>
          <a:prstGeom prst="roundRect">
            <a:avLst>
              <a:gd name="adj" fmla="val 59999"/>
            </a:avLst>
          </a:prstGeom>
          <a:solidFill>
            <a:srgbClr val="000000">
              <a:alpha val="50000"/>
            </a:srgbClr>
          </a:solidFill>
          <a:ln/>
        </p:spPr>
      </p:sp>
      <p:sp>
        <p:nvSpPr>
          <p:cNvPr id="6" name="Text 4"/>
          <p:cNvSpPr/>
          <p:nvPr/>
        </p:nvSpPr>
        <p:spPr>
          <a:xfrm>
            <a:off x="805041" y="1805384"/>
            <a:ext cx="3881340" cy="269875"/>
          </a:xfrm>
          <a:prstGeom prst="rect">
            <a:avLst/>
          </a:prstGeom>
          <a:noFill/>
          <a:ln/>
        </p:spPr>
        <p:txBody>
          <a:bodyPr wrap="none" lIns="0" tIns="0" rIns="0" bIns="0" rtlCol="0" anchor="t"/>
          <a:lstStyle/>
          <a:p>
            <a:pPr algn="l" indent="0" marL="0">
              <a:lnSpc>
                <a:spcPct val="104000"/>
              </a:lnSpc>
              <a:buNone/>
            </a:pPr>
            <a:r>
              <a:rPr lang="en-US" sz="1650" b="1" dirty="0">
                <a:solidFill>
                  <a:srgbClr val="000000"/>
                </a:solidFill>
                <a:latin typeface="Libre Baskerville Bold" pitchFamily="34" charset="0"/>
                <a:ea typeface="Libre Baskerville Bold" pitchFamily="34" charset="-122"/>
                <a:cs typeface="Libre Baskerville Bold" pitchFamily="34" charset="-120"/>
              </a:rPr>
              <a:t>Key Definitions (Five Layers)</a:t>
            </a:r>
            <a:endParaRPr lang="en-US" sz="165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5041" y="2187277"/>
            <a:ext cx="10581613" cy="735905"/>
          </a:xfrm>
          <a:prstGeom prst="rect">
            <a:avLst/>
          </a:prstGeom>
        </p:spPr>
      </p:pic>
      <p:sp>
        <p:nvSpPr>
          <p:cNvPr id="8" name="Text 5"/>
          <p:cNvSpPr/>
          <p:nvPr/>
        </p:nvSpPr>
        <p:spPr>
          <a:xfrm>
            <a:off x="967855" y="2440285"/>
            <a:ext cx="183947" cy="229890"/>
          </a:xfrm>
          <a:prstGeom prst="rect">
            <a:avLst/>
          </a:prstGeom>
          <a:noFill/>
          <a:ln/>
        </p:spPr>
        <p:txBody>
          <a:bodyPr wrap="none" lIns="0" tIns="0" rIns="0" bIns="0" rtlCol="0" anchor="ctr"/>
          <a:lstStyle/>
          <a:p>
            <a:pPr algn="ctr" indent="0" marL="0">
              <a:lnSpc>
                <a:spcPct val="100000"/>
              </a:lnSpc>
              <a:buNone/>
            </a:pPr>
            <a:r>
              <a:rPr lang="en-US" sz="1400" b="1" dirty="0">
                <a:solidFill>
                  <a:srgbClr val="000000"/>
                </a:solidFill>
                <a:latin typeface="Libre Baskerville Bold" pitchFamily="34" charset="0"/>
                <a:ea typeface="Libre Baskerville Bold" pitchFamily="34" charset="-122"/>
                <a:cs typeface="Libre Baskerville Bold" pitchFamily="34" charset="-120"/>
              </a:rPr>
              <a:t>1</a:t>
            </a:r>
            <a:endParaRPr lang="en-US" sz="1400" dirty="0"/>
          </a:p>
        </p:txBody>
      </p:sp>
      <p:sp>
        <p:nvSpPr>
          <p:cNvPr id="9" name="Text 6"/>
          <p:cNvSpPr/>
          <p:nvPr/>
        </p:nvSpPr>
        <p:spPr>
          <a:xfrm>
            <a:off x="1382976" y="2322612"/>
            <a:ext cx="1349143" cy="168672"/>
          </a:xfrm>
          <a:prstGeom prst="rect">
            <a:avLst/>
          </a:prstGeom>
          <a:noFill/>
          <a:ln/>
        </p:spPr>
        <p:txBody>
          <a:bodyPr wrap="none" lIns="0" tIns="0" rIns="0" bIns="0" rtlCol="0" anchor="t"/>
          <a:lstStyle/>
          <a:p>
            <a:pPr algn="l" indent="0" marL="0">
              <a:lnSpc>
                <a:spcPct val="104000"/>
              </a:lnSpc>
              <a:buNone/>
            </a:pPr>
            <a:r>
              <a:rPr lang="en-US" sz="1050" b="1" dirty="0">
                <a:solidFill>
                  <a:srgbClr val="000000"/>
                </a:solidFill>
                <a:latin typeface="Libre Baskerville Bold" pitchFamily="34" charset="0"/>
                <a:ea typeface="Libre Baskerville Bold" pitchFamily="34" charset="-122"/>
                <a:cs typeface="Libre Baskerville Bold" pitchFamily="34" charset="-120"/>
              </a:rPr>
              <a:t>Classical</a:t>
            </a:r>
            <a:endParaRPr lang="en-US" sz="1050" dirty="0"/>
          </a:p>
        </p:txBody>
      </p:sp>
      <p:sp>
        <p:nvSpPr>
          <p:cNvPr id="10" name="Text 7"/>
          <p:cNvSpPr/>
          <p:nvPr/>
        </p:nvSpPr>
        <p:spPr>
          <a:xfrm>
            <a:off x="1382976" y="2536031"/>
            <a:ext cx="9868348" cy="157857"/>
          </a:xfrm>
          <a:prstGeom prst="rect">
            <a:avLst/>
          </a:prstGeom>
          <a:noFill/>
          <a:ln/>
        </p:spPr>
        <p:txBody>
          <a:bodyPr wrap="none" lIns="0" tIns="0" rIns="0" bIns="0" rtlCol="0" anchor="t"/>
          <a:lstStyle/>
          <a:p>
            <a:pPr algn="l" indent="0" marL="0">
              <a:lnSpc>
                <a:spcPct val="107000"/>
              </a:lnSpc>
              <a:buNone/>
            </a:pPr>
            <a:r>
              <a:rPr lang="en-US" sz="950" dirty="0">
                <a:solidFill>
                  <a:srgbClr val="000000"/>
                </a:solidFill>
                <a:latin typeface="Fira Sans" pitchFamily="34" charset="0"/>
                <a:ea typeface="Fira Sans" pitchFamily="34" charset="-122"/>
                <a:cs typeface="Fira Sans" pitchFamily="34" charset="-120"/>
              </a:rPr>
              <a:t>"Fides quaerens intellectum" — "Faith seeking understanding" (Anselm, </a:t>
            </a:r>
            <a:pPr algn="l" indent="0" marL="0">
              <a:lnSpc>
                <a:spcPct val="107000"/>
              </a:lnSpc>
              <a:buNone/>
            </a:pPr>
            <a:r>
              <a:rPr lang="en-US" sz="950" i="1" dirty="0">
                <a:solidFill>
                  <a:srgbClr val="000000"/>
                </a:solidFill>
                <a:latin typeface="Fira Sans" pitchFamily="34" charset="0"/>
                <a:ea typeface="Fira Sans" pitchFamily="34" charset="-122"/>
                <a:cs typeface="Fira Sans" pitchFamily="34" charset="-120"/>
              </a:rPr>
              <a:t>Proslogion</a:t>
            </a:r>
            <a:pPr algn="l" indent="0" marL="0">
              <a:lnSpc>
                <a:spcPct val="107000"/>
              </a:lnSpc>
              <a:buNone/>
            </a:pPr>
            <a:r>
              <a:rPr lang="en-US" sz="950" dirty="0">
                <a:solidFill>
                  <a:srgbClr val="000000"/>
                </a:solidFill>
                <a:latin typeface="Fira Sans" pitchFamily="34" charset="0"/>
                <a:ea typeface="Fira Sans" pitchFamily="34" charset="-122"/>
                <a:cs typeface="Fira Sans" pitchFamily="34" charset="-120"/>
              </a:rPr>
              <a:t>, 1078). Faith first, reason second — but reason genuinely engaged.</a:t>
            </a:r>
            <a:endParaRPr lang="en-US" sz="950" dirty="0"/>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5041" y="2997895"/>
            <a:ext cx="10581613" cy="799802"/>
          </a:xfrm>
          <a:prstGeom prst="rect">
            <a:avLst/>
          </a:prstGeom>
        </p:spPr>
      </p:pic>
      <p:sp>
        <p:nvSpPr>
          <p:cNvPr id="12" name="Text 8"/>
          <p:cNvSpPr/>
          <p:nvPr/>
        </p:nvSpPr>
        <p:spPr>
          <a:xfrm>
            <a:off x="967855" y="3282851"/>
            <a:ext cx="183947" cy="229890"/>
          </a:xfrm>
          <a:prstGeom prst="rect">
            <a:avLst/>
          </a:prstGeom>
          <a:noFill/>
          <a:ln/>
        </p:spPr>
        <p:txBody>
          <a:bodyPr wrap="none" lIns="0" tIns="0" rIns="0" bIns="0" rtlCol="0" anchor="ctr"/>
          <a:lstStyle/>
          <a:p>
            <a:pPr algn="ctr" indent="0" marL="0">
              <a:lnSpc>
                <a:spcPct val="100000"/>
              </a:lnSpc>
              <a:buNone/>
            </a:pPr>
            <a:r>
              <a:rPr lang="en-US" sz="1400" b="1" dirty="0">
                <a:solidFill>
                  <a:srgbClr val="000000"/>
                </a:solidFill>
                <a:latin typeface="Libre Baskerville Bold" pitchFamily="34" charset="0"/>
                <a:ea typeface="Libre Baskerville Bold" pitchFamily="34" charset="-122"/>
                <a:cs typeface="Libre Baskerville Bold" pitchFamily="34" charset="-120"/>
              </a:rPr>
              <a:t>2</a:t>
            </a:r>
            <a:endParaRPr lang="en-US" sz="1400" dirty="0"/>
          </a:p>
        </p:txBody>
      </p:sp>
      <p:sp>
        <p:nvSpPr>
          <p:cNvPr id="13" name="Text 9"/>
          <p:cNvSpPr/>
          <p:nvPr/>
        </p:nvSpPr>
        <p:spPr>
          <a:xfrm>
            <a:off x="1382976" y="3133229"/>
            <a:ext cx="1349143" cy="168672"/>
          </a:xfrm>
          <a:prstGeom prst="rect">
            <a:avLst/>
          </a:prstGeom>
          <a:noFill/>
          <a:ln/>
        </p:spPr>
        <p:txBody>
          <a:bodyPr wrap="none" lIns="0" tIns="0" rIns="0" bIns="0" rtlCol="0" anchor="t"/>
          <a:lstStyle/>
          <a:p>
            <a:pPr algn="l" indent="0" marL="0">
              <a:lnSpc>
                <a:spcPct val="104000"/>
              </a:lnSpc>
              <a:buNone/>
            </a:pPr>
            <a:r>
              <a:rPr lang="en-US" sz="1050" b="1" dirty="0">
                <a:solidFill>
                  <a:srgbClr val="000000"/>
                </a:solidFill>
                <a:latin typeface="Libre Baskerville Bold" pitchFamily="34" charset="0"/>
                <a:ea typeface="Libre Baskerville Bold" pitchFamily="34" charset="-122"/>
                <a:cs typeface="Libre Baskerville Bold" pitchFamily="34" charset="-120"/>
              </a:rPr>
              <a:t>Scholastic</a:t>
            </a:r>
            <a:endParaRPr lang="en-US" sz="1050" dirty="0"/>
          </a:p>
        </p:txBody>
      </p:sp>
      <p:sp>
        <p:nvSpPr>
          <p:cNvPr id="14" name="Text 10"/>
          <p:cNvSpPr/>
          <p:nvPr/>
        </p:nvSpPr>
        <p:spPr>
          <a:xfrm>
            <a:off x="1382976" y="3346648"/>
            <a:ext cx="9868348" cy="315714"/>
          </a:xfrm>
          <a:prstGeom prst="rect">
            <a:avLst/>
          </a:prstGeom>
          <a:noFill/>
          <a:ln/>
        </p:spPr>
        <p:txBody>
          <a:bodyPr wrap="square" lIns="0" tIns="0" rIns="0" bIns="0" rtlCol="0" anchor="t">
            <a:normAutofit/>
          </a:bodyPr>
          <a:lstStyle/>
          <a:p>
            <a:pPr algn="l" indent="0" marL="0">
              <a:lnSpc>
                <a:spcPct val="107000"/>
              </a:lnSpc>
              <a:buNone/>
            </a:pPr>
            <a:r>
              <a:rPr lang="en-US" sz="950" dirty="0">
                <a:solidFill>
                  <a:srgbClr val="000000"/>
                </a:solidFill>
                <a:latin typeface="Fira Sans" pitchFamily="34" charset="0"/>
                <a:ea typeface="Fira Sans" pitchFamily="34" charset="-122"/>
                <a:cs typeface="Fira Sans" pitchFamily="34" charset="-120"/>
              </a:rPr>
              <a:t>Aquinas calls theology </a:t>
            </a:r>
            <a:pPr algn="l" indent="0" marL="0">
              <a:lnSpc>
                <a:spcPct val="107000"/>
              </a:lnSpc>
              <a:buNone/>
            </a:pPr>
            <a:r>
              <a:rPr lang="en-US" sz="950" i="1" dirty="0">
                <a:solidFill>
                  <a:srgbClr val="000000"/>
                </a:solidFill>
                <a:latin typeface="Fira Sans" pitchFamily="34" charset="0"/>
                <a:ea typeface="Fira Sans" pitchFamily="34" charset="-122"/>
                <a:cs typeface="Fira Sans" pitchFamily="34" charset="-120"/>
              </a:rPr>
              <a:t>scientia</a:t>
            </a:r>
            <a:pPr algn="l" indent="0" marL="0">
              <a:lnSpc>
                <a:spcPct val="107000"/>
              </a:lnSpc>
              <a:buNone/>
            </a:pPr>
            <a:r>
              <a:rPr lang="en-US" sz="950" dirty="0">
                <a:solidFill>
                  <a:srgbClr val="000000"/>
                </a:solidFill>
                <a:latin typeface="Fira Sans" pitchFamily="34" charset="0"/>
                <a:ea typeface="Fira Sans" pitchFamily="34" charset="-122"/>
                <a:cs typeface="Fira Sans" pitchFamily="34" charset="-120"/>
              </a:rPr>
              <a:t> — a science — because it draws conclusions from first principles (Scripture and Tradition) by way of rigorous reasoning (</a:t>
            </a:r>
            <a:pPr algn="l" indent="0" marL="0">
              <a:lnSpc>
                <a:spcPct val="107000"/>
              </a:lnSpc>
              <a:buNone/>
            </a:pPr>
            <a:r>
              <a:rPr lang="en-US" sz="950" i="1" dirty="0">
                <a:solidFill>
                  <a:srgbClr val="000000"/>
                </a:solidFill>
                <a:latin typeface="Fira Sans" pitchFamily="34" charset="0"/>
                <a:ea typeface="Fira Sans" pitchFamily="34" charset="-122"/>
                <a:cs typeface="Fira Sans" pitchFamily="34" charset="-120"/>
              </a:rPr>
              <a:t>Summa Theologiae</a:t>
            </a:r>
            <a:pPr algn="l" indent="0" marL="0">
              <a:lnSpc>
                <a:spcPct val="107000"/>
              </a:lnSpc>
              <a:buNone/>
            </a:pPr>
            <a:r>
              <a:rPr lang="en-US" sz="950" dirty="0">
                <a:solidFill>
                  <a:srgbClr val="000000"/>
                </a:solidFill>
                <a:latin typeface="Fira Sans" pitchFamily="34" charset="0"/>
                <a:ea typeface="Fira Sans" pitchFamily="34" charset="-122"/>
                <a:cs typeface="Fira Sans" pitchFamily="34" charset="-120"/>
              </a:rPr>
              <a:t>, I, q.1, a.2).</a:t>
            </a:r>
            <a:endParaRPr lang="en-US" sz="950" dirty="0"/>
          </a:p>
        </p:txBody>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5041" y="3872409"/>
            <a:ext cx="10581613" cy="735905"/>
          </a:xfrm>
          <a:prstGeom prst="rect">
            <a:avLst/>
          </a:prstGeom>
        </p:spPr>
      </p:pic>
      <p:sp>
        <p:nvSpPr>
          <p:cNvPr id="16" name="Text 11"/>
          <p:cNvSpPr/>
          <p:nvPr/>
        </p:nvSpPr>
        <p:spPr>
          <a:xfrm>
            <a:off x="967855" y="4125416"/>
            <a:ext cx="183947" cy="229890"/>
          </a:xfrm>
          <a:prstGeom prst="rect">
            <a:avLst/>
          </a:prstGeom>
          <a:noFill/>
          <a:ln/>
        </p:spPr>
        <p:txBody>
          <a:bodyPr wrap="none" lIns="0" tIns="0" rIns="0" bIns="0" rtlCol="0" anchor="ctr"/>
          <a:lstStyle/>
          <a:p>
            <a:pPr algn="ctr" indent="0" marL="0">
              <a:lnSpc>
                <a:spcPct val="100000"/>
              </a:lnSpc>
              <a:buNone/>
            </a:pPr>
            <a:r>
              <a:rPr lang="en-US" sz="1400" b="1" dirty="0">
                <a:solidFill>
                  <a:srgbClr val="000000"/>
                </a:solidFill>
                <a:latin typeface="Libre Baskerville Bold" pitchFamily="34" charset="0"/>
                <a:ea typeface="Libre Baskerville Bold" pitchFamily="34" charset="-122"/>
                <a:cs typeface="Libre Baskerville Bold" pitchFamily="34" charset="-120"/>
              </a:rPr>
              <a:t>3</a:t>
            </a:r>
            <a:endParaRPr lang="en-US" sz="1400" dirty="0"/>
          </a:p>
        </p:txBody>
      </p:sp>
      <p:sp>
        <p:nvSpPr>
          <p:cNvPr id="17" name="Text 12"/>
          <p:cNvSpPr/>
          <p:nvPr/>
        </p:nvSpPr>
        <p:spPr>
          <a:xfrm>
            <a:off x="1382976" y="4007743"/>
            <a:ext cx="1349143" cy="168672"/>
          </a:xfrm>
          <a:prstGeom prst="rect">
            <a:avLst/>
          </a:prstGeom>
          <a:noFill/>
          <a:ln/>
        </p:spPr>
        <p:txBody>
          <a:bodyPr wrap="none" lIns="0" tIns="0" rIns="0" bIns="0" rtlCol="0" anchor="t"/>
          <a:lstStyle/>
          <a:p>
            <a:pPr algn="l" indent="0" marL="0">
              <a:lnSpc>
                <a:spcPct val="104000"/>
              </a:lnSpc>
              <a:buNone/>
            </a:pPr>
            <a:r>
              <a:rPr lang="en-US" sz="1050" b="1" dirty="0">
                <a:solidFill>
                  <a:srgbClr val="000000"/>
                </a:solidFill>
                <a:latin typeface="Libre Baskerville Bold" pitchFamily="34" charset="0"/>
                <a:ea typeface="Libre Baskerville Bold" pitchFamily="34" charset="-122"/>
                <a:cs typeface="Libre Baskerville Bold" pitchFamily="34" charset="-120"/>
              </a:rPr>
              <a:t>Vatican II</a:t>
            </a:r>
            <a:endParaRPr lang="en-US" sz="1050" dirty="0"/>
          </a:p>
        </p:txBody>
      </p:sp>
      <p:sp>
        <p:nvSpPr>
          <p:cNvPr id="18" name="Text 13"/>
          <p:cNvSpPr/>
          <p:nvPr/>
        </p:nvSpPr>
        <p:spPr>
          <a:xfrm>
            <a:off x="1382976" y="4221163"/>
            <a:ext cx="9868348" cy="157857"/>
          </a:xfrm>
          <a:prstGeom prst="rect">
            <a:avLst/>
          </a:prstGeom>
          <a:noFill/>
          <a:ln/>
        </p:spPr>
        <p:txBody>
          <a:bodyPr wrap="none" lIns="0" tIns="0" rIns="0" bIns="0" rtlCol="0" anchor="t"/>
          <a:lstStyle/>
          <a:p>
            <a:pPr algn="l" indent="0" marL="0">
              <a:lnSpc>
                <a:spcPct val="107000"/>
              </a:lnSpc>
              <a:buNone/>
            </a:pPr>
            <a:r>
              <a:rPr lang="en-US" sz="950" dirty="0">
                <a:solidFill>
                  <a:srgbClr val="000000"/>
                </a:solidFill>
                <a:latin typeface="Fira Sans" pitchFamily="34" charset="0"/>
                <a:ea typeface="Fira Sans" pitchFamily="34" charset="-122"/>
                <a:cs typeface="Fira Sans" pitchFamily="34" charset="-120"/>
              </a:rPr>
              <a:t>"Theological disciplines should be renewed by livelier contact with the mystery of Christ and the history of salvation" (</a:t>
            </a:r>
            <a:pPr algn="l" indent="0" marL="0">
              <a:lnSpc>
                <a:spcPct val="107000"/>
              </a:lnSpc>
              <a:buNone/>
            </a:pPr>
            <a:r>
              <a:rPr lang="en-US" sz="950" i="1" dirty="0">
                <a:solidFill>
                  <a:srgbClr val="000000"/>
                </a:solidFill>
                <a:latin typeface="Fira Sans" pitchFamily="34" charset="0"/>
                <a:ea typeface="Fira Sans" pitchFamily="34" charset="-122"/>
                <a:cs typeface="Fira Sans" pitchFamily="34" charset="-120"/>
              </a:rPr>
              <a:t>Optatam Totius</a:t>
            </a:r>
            <a:pPr algn="l" indent="0" marL="0">
              <a:lnSpc>
                <a:spcPct val="107000"/>
              </a:lnSpc>
              <a:buNone/>
            </a:pPr>
            <a:r>
              <a:rPr lang="en-US" sz="950" dirty="0">
                <a:solidFill>
                  <a:srgbClr val="000000"/>
                </a:solidFill>
                <a:latin typeface="Fira Sans" pitchFamily="34" charset="0"/>
                <a:ea typeface="Fira Sans" pitchFamily="34" charset="-122"/>
                <a:cs typeface="Fira Sans" pitchFamily="34" charset="-120"/>
              </a:rPr>
              <a:t>, 16).</a:t>
            </a:r>
            <a:endParaRPr lang="en-US" sz="950" dirty="0"/>
          </a:p>
        </p:txBody>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5041" y="4683026"/>
            <a:ext cx="10581613" cy="735905"/>
          </a:xfrm>
          <a:prstGeom prst="rect">
            <a:avLst/>
          </a:prstGeom>
        </p:spPr>
      </p:pic>
      <p:sp>
        <p:nvSpPr>
          <p:cNvPr id="20" name="Text 14"/>
          <p:cNvSpPr/>
          <p:nvPr/>
        </p:nvSpPr>
        <p:spPr>
          <a:xfrm>
            <a:off x="967855" y="4936034"/>
            <a:ext cx="183947" cy="229890"/>
          </a:xfrm>
          <a:prstGeom prst="rect">
            <a:avLst/>
          </a:prstGeom>
          <a:noFill/>
          <a:ln/>
        </p:spPr>
        <p:txBody>
          <a:bodyPr wrap="none" lIns="0" tIns="0" rIns="0" bIns="0" rtlCol="0" anchor="ctr"/>
          <a:lstStyle/>
          <a:p>
            <a:pPr algn="ctr" indent="0" marL="0">
              <a:lnSpc>
                <a:spcPct val="100000"/>
              </a:lnSpc>
              <a:buNone/>
            </a:pPr>
            <a:r>
              <a:rPr lang="en-US" sz="1400" b="1" dirty="0">
                <a:solidFill>
                  <a:srgbClr val="000000"/>
                </a:solidFill>
                <a:latin typeface="Libre Baskerville Bold" pitchFamily="34" charset="0"/>
                <a:ea typeface="Libre Baskerville Bold" pitchFamily="34" charset="-122"/>
                <a:cs typeface="Libre Baskerville Bold" pitchFamily="34" charset="-120"/>
              </a:rPr>
              <a:t>4</a:t>
            </a:r>
            <a:endParaRPr lang="en-US" sz="1400" dirty="0"/>
          </a:p>
        </p:txBody>
      </p:sp>
      <p:sp>
        <p:nvSpPr>
          <p:cNvPr id="21" name="Text 15"/>
          <p:cNvSpPr/>
          <p:nvPr/>
        </p:nvSpPr>
        <p:spPr>
          <a:xfrm>
            <a:off x="1382976" y="4818360"/>
            <a:ext cx="1349143" cy="168672"/>
          </a:xfrm>
          <a:prstGeom prst="rect">
            <a:avLst/>
          </a:prstGeom>
          <a:noFill/>
          <a:ln/>
        </p:spPr>
        <p:txBody>
          <a:bodyPr wrap="none" lIns="0" tIns="0" rIns="0" bIns="0" rtlCol="0" anchor="t"/>
          <a:lstStyle/>
          <a:p>
            <a:pPr algn="l" indent="0" marL="0">
              <a:lnSpc>
                <a:spcPct val="104000"/>
              </a:lnSpc>
              <a:buNone/>
            </a:pPr>
            <a:r>
              <a:rPr lang="en-US" sz="1050" b="1" dirty="0">
                <a:solidFill>
                  <a:srgbClr val="000000"/>
                </a:solidFill>
                <a:latin typeface="Libre Baskerville Bold" pitchFamily="34" charset="0"/>
                <a:ea typeface="Libre Baskerville Bold" pitchFamily="34" charset="-122"/>
                <a:cs typeface="Libre Baskerville Bold" pitchFamily="34" charset="-120"/>
              </a:rPr>
              <a:t>Contextual</a:t>
            </a:r>
            <a:endParaRPr lang="en-US" sz="1050" dirty="0"/>
          </a:p>
        </p:txBody>
      </p:sp>
      <p:sp>
        <p:nvSpPr>
          <p:cNvPr id="22" name="Text 16"/>
          <p:cNvSpPr/>
          <p:nvPr/>
        </p:nvSpPr>
        <p:spPr>
          <a:xfrm>
            <a:off x="1382976" y="5031780"/>
            <a:ext cx="9868348" cy="157857"/>
          </a:xfrm>
          <a:prstGeom prst="rect">
            <a:avLst/>
          </a:prstGeom>
          <a:noFill/>
          <a:ln/>
        </p:spPr>
        <p:txBody>
          <a:bodyPr wrap="none" lIns="0" tIns="0" rIns="0" bIns="0" rtlCol="0" anchor="t"/>
          <a:lstStyle/>
          <a:p>
            <a:pPr algn="l" indent="0" marL="0">
              <a:lnSpc>
                <a:spcPct val="107000"/>
              </a:lnSpc>
              <a:buNone/>
            </a:pPr>
            <a:r>
              <a:rPr lang="en-US" sz="950" dirty="0">
                <a:solidFill>
                  <a:srgbClr val="000000"/>
                </a:solidFill>
                <a:latin typeface="Fira Sans" pitchFamily="34" charset="0"/>
                <a:ea typeface="Fira Sans" pitchFamily="34" charset="-122"/>
                <a:cs typeface="Fira Sans" pitchFamily="34" charset="-120"/>
              </a:rPr>
              <a:t>Gustavo Gutierrez: "Theology is critical reflection on historical praxis in the light of the Word of God." (</a:t>
            </a:r>
            <a:pPr algn="l" indent="0" marL="0">
              <a:lnSpc>
                <a:spcPct val="107000"/>
              </a:lnSpc>
              <a:buNone/>
            </a:pPr>
            <a:r>
              <a:rPr lang="en-US" sz="950" i="1" dirty="0">
                <a:solidFill>
                  <a:srgbClr val="000000"/>
                </a:solidFill>
                <a:latin typeface="Fira Sans" pitchFamily="34" charset="0"/>
                <a:ea typeface="Fira Sans" pitchFamily="34" charset="-122"/>
                <a:cs typeface="Fira Sans" pitchFamily="34" charset="-120"/>
              </a:rPr>
              <a:t>A Theology of Liberation</a:t>
            </a:r>
            <a:pPr algn="l" indent="0" marL="0">
              <a:lnSpc>
                <a:spcPct val="107000"/>
              </a:lnSpc>
              <a:buNone/>
            </a:pPr>
            <a:r>
              <a:rPr lang="en-US" sz="950" dirty="0">
                <a:solidFill>
                  <a:srgbClr val="000000"/>
                </a:solidFill>
                <a:latin typeface="Fira Sans" pitchFamily="34" charset="0"/>
                <a:ea typeface="Fira Sans" pitchFamily="34" charset="-122"/>
                <a:cs typeface="Fira Sans" pitchFamily="34" charset="-120"/>
              </a:rPr>
              <a:t>, 1971, p. 6). Theology must engage the real world.</a:t>
            </a:r>
            <a:endParaRPr lang="en-US" sz="950" dirty="0"/>
          </a:p>
        </p:txBody>
      </p:sp>
      <p:pic>
        <p:nvPicPr>
          <p:cNvPr id="2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5041" y="5493643"/>
            <a:ext cx="10581613" cy="735905"/>
          </a:xfrm>
          <a:prstGeom prst="rect">
            <a:avLst/>
          </a:prstGeom>
        </p:spPr>
      </p:pic>
      <p:sp>
        <p:nvSpPr>
          <p:cNvPr id="24" name="Text 17"/>
          <p:cNvSpPr/>
          <p:nvPr/>
        </p:nvSpPr>
        <p:spPr>
          <a:xfrm>
            <a:off x="967855" y="5746651"/>
            <a:ext cx="183947" cy="229890"/>
          </a:xfrm>
          <a:prstGeom prst="rect">
            <a:avLst/>
          </a:prstGeom>
          <a:noFill/>
          <a:ln/>
        </p:spPr>
        <p:txBody>
          <a:bodyPr wrap="none" lIns="0" tIns="0" rIns="0" bIns="0" rtlCol="0" anchor="ctr"/>
          <a:lstStyle/>
          <a:p>
            <a:pPr algn="ctr" indent="0" marL="0">
              <a:lnSpc>
                <a:spcPct val="100000"/>
              </a:lnSpc>
              <a:buNone/>
            </a:pPr>
            <a:r>
              <a:rPr lang="en-US" sz="1400" b="1" dirty="0">
                <a:solidFill>
                  <a:srgbClr val="000000"/>
                </a:solidFill>
                <a:latin typeface="Libre Baskerville Bold" pitchFamily="34" charset="0"/>
                <a:ea typeface="Libre Baskerville Bold" pitchFamily="34" charset="-122"/>
                <a:cs typeface="Libre Baskerville Bold" pitchFamily="34" charset="-120"/>
              </a:rPr>
              <a:t>5</a:t>
            </a:r>
            <a:endParaRPr lang="en-US" sz="1400" dirty="0"/>
          </a:p>
        </p:txBody>
      </p:sp>
      <p:sp>
        <p:nvSpPr>
          <p:cNvPr id="25" name="Text 18"/>
          <p:cNvSpPr/>
          <p:nvPr/>
        </p:nvSpPr>
        <p:spPr>
          <a:xfrm>
            <a:off x="1382976" y="5628977"/>
            <a:ext cx="1349143" cy="168672"/>
          </a:xfrm>
          <a:prstGeom prst="rect">
            <a:avLst/>
          </a:prstGeom>
          <a:noFill/>
          <a:ln/>
        </p:spPr>
        <p:txBody>
          <a:bodyPr wrap="none" lIns="0" tIns="0" rIns="0" bIns="0" rtlCol="0" anchor="t"/>
          <a:lstStyle/>
          <a:p>
            <a:pPr algn="l" indent="0" marL="0">
              <a:lnSpc>
                <a:spcPct val="104000"/>
              </a:lnSpc>
              <a:buNone/>
            </a:pPr>
            <a:r>
              <a:rPr lang="en-US" sz="1050" b="1" dirty="0">
                <a:solidFill>
                  <a:srgbClr val="000000"/>
                </a:solidFill>
                <a:latin typeface="Libre Baskerville Bold" pitchFamily="34" charset="0"/>
                <a:ea typeface="Libre Baskerville Bold" pitchFamily="34" charset="-122"/>
                <a:cs typeface="Libre Baskerville Bold" pitchFamily="34" charset="-120"/>
              </a:rPr>
              <a:t>Indian</a:t>
            </a:r>
            <a:endParaRPr lang="en-US" sz="1050" dirty="0"/>
          </a:p>
        </p:txBody>
      </p:sp>
      <p:sp>
        <p:nvSpPr>
          <p:cNvPr id="26" name="Text 19"/>
          <p:cNvSpPr/>
          <p:nvPr/>
        </p:nvSpPr>
        <p:spPr>
          <a:xfrm>
            <a:off x="1382976" y="5842397"/>
            <a:ext cx="9868348" cy="157857"/>
          </a:xfrm>
          <a:prstGeom prst="rect">
            <a:avLst/>
          </a:prstGeom>
          <a:noFill/>
          <a:ln/>
        </p:spPr>
        <p:txBody>
          <a:bodyPr wrap="none" lIns="0" tIns="0" rIns="0" bIns="0" rtlCol="0" anchor="t"/>
          <a:lstStyle/>
          <a:p>
            <a:pPr algn="l" indent="0" marL="0">
              <a:lnSpc>
                <a:spcPct val="107000"/>
              </a:lnSpc>
              <a:buNone/>
            </a:pPr>
            <a:r>
              <a:rPr lang="en-US" sz="950" dirty="0">
                <a:solidFill>
                  <a:srgbClr val="000000"/>
                </a:solidFill>
                <a:latin typeface="Fira Sans" pitchFamily="34" charset="0"/>
                <a:ea typeface="Fira Sans" pitchFamily="34" charset="-122"/>
                <a:cs typeface="Fira Sans" pitchFamily="34" charset="-120"/>
              </a:rPr>
              <a:t>George Soares-Prabhu SJ: "To theologize is to read the signs of the times in the light of the Gospel, with the poor as your privileged hermeneutical key."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05041" y="1076623"/>
            <a:ext cx="9210445"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Part B — A Brief History of Theology</a:t>
            </a:r>
            <a:endParaRPr lang="en-US" sz="3450" dirty="0"/>
          </a:p>
        </p:txBody>
      </p:sp>
      <p:sp>
        <p:nvSpPr>
          <p:cNvPr id="3" name="Text 1"/>
          <p:cNvSpPr/>
          <p:nvPr/>
        </p:nvSpPr>
        <p:spPr>
          <a:xfrm>
            <a:off x="805041" y="1710531"/>
            <a:ext cx="9195562" cy="442714"/>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Libre Baskerville Bold" pitchFamily="34" charset="0"/>
                <a:ea typeface="Libre Baskerville Bold" pitchFamily="34" charset="-122"/>
                <a:cs typeface="Libre Baskerville Bold" pitchFamily="34" charset="-120"/>
              </a:rPr>
              <a:t>Four Great Movements of Theological History</a:t>
            </a:r>
            <a:endParaRPr lang="en-US" sz="2750" dirty="0"/>
          </a:p>
        </p:txBody>
      </p:sp>
      <p:sp>
        <p:nvSpPr>
          <p:cNvPr id="4" name="Shape 2"/>
          <p:cNvSpPr/>
          <p:nvPr/>
        </p:nvSpPr>
        <p:spPr>
          <a:xfrm>
            <a:off x="805041" y="4256683"/>
            <a:ext cx="10581613" cy="25400"/>
          </a:xfrm>
          <a:prstGeom prst="roundRect">
            <a:avLst>
              <a:gd name="adj" fmla="val 332821"/>
            </a:avLst>
          </a:prstGeom>
          <a:solidFill>
            <a:srgbClr val="E5CCB2"/>
          </a:solidFill>
          <a:ln/>
        </p:spPr>
      </p:sp>
      <p:sp>
        <p:nvSpPr>
          <p:cNvPr id="5" name="Shape 3"/>
          <p:cNvSpPr/>
          <p:nvPr/>
        </p:nvSpPr>
        <p:spPr>
          <a:xfrm>
            <a:off x="2833121" y="3652838"/>
            <a:ext cx="25399" cy="603845"/>
          </a:xfrm>
          <a:prstGeom prst="roundRect">
            <a:avLst>
              <a:gd name="adj" fmla="val 332834"/>
            </a:avLst>
          </a:prstGeom>
          <a:solidFill>
            <a:srgbClr val="E5CCB2"/>
          </a:solidFill>
          <a:ln/>
        </p:spPr>
      </p:sp>
      <p:sp>
        <p:nvSpPr>
          <p:cNvPr id="6" name="Shape 4"/>
          <p:cNvSpPr/>
          <p:nvPr/>
        </p:nvSpPr>
        <p:spPr>
          <a:xfrm>
            <a:off x="2619409" y="4030266"/>
            <a:ext cx="452823" cy="452834"/>
          </a:xfrm>
          <a:prstGeom prst="roundRect">
            <a:avLst>
              <a:gd name="adj" fmla="val 18669"/>
            </a:avLst>
          </a:prstGeom>
          <a:solidFill>
            <a:srgbClr val="FFE6CC"/>
          </a:solidFill>
          <a:ln w="6350">
            <a:solidFill>
              <a:srgbClr val="E5CCB2"/>
            </a:solidFill>
            <a:prstDash val="solid"/>
          </a:ln>
        </p:spPr>
      </p:sp>
      <p:sp>
        <p:nvSpPr>
          <p:cNvPr id="7" name="Text 5"/>
          <p:cNvSpPr/>
          <p:nvPr/>
        </p:nvSpPr>
        <p:spPr>
          <a:xfrm>
            <a:off x="2713019" y="4090640"/>
            <a:ext cx="265602" cy="332085"/>
          </a:xfrm>
          <a:prstGeom prst="rect">
            <a:avLst/>
          </a:prstGeom>
          <a:noFill/>
          <a:ln/>
        </p:spPr>
        <p:txBody>
          <a:bodyPr wrap="none" lIns="0" tIns="0" rIns="0" bIns="0" rtlCol="0" anchor="ctr"/>
          <a:lstStyle/>
          <a:p>
            <a:pPr algn="ctr" indent="0" marL="0">
              <a:lnSpc>
                <a:spcPct val="100000"/>
              </a:lnSpc>
              <a:buNone/>
            </a:pPr>
            <a:r>
              <a:rPr lang="en-US" sz="2050" b="1" dirty="0">
                <a:solidFill>
                  <a:srgbClr val="000000"/>
                </a:solidFill>
                <a:latin typeface="Libre Baskerville Bold" pitchFamily="34" charset="0"/>
                <a:ea typeface="Libre Baskerville Bold" pitchFamily="34" charset="-122"/>
                <a:cs typeface="Libre Baskerville Bold" pitchFamily="34" charset="-120"/>
              </a:rPr>
              <a:t>1</a:t>
            </a:r>
            <a:endParaRPr lang="en-US" sz="2050" dirty="0"/>
          </a:p>
        </p:txBody>
      </p:sp>
      <p:sp>
        <p:nvSpPr>
          <p:cNvPr id="8" name="Text 6"/>
          <p:cNvSpPr/>
          <p:nvPr/>
        </p:nvSpPr>
        <p:spPr>
          <a:xfrm>
            <a:off x="1738864" y="2455168"/>
            <a:ext cx="2214011" cy="276820"/>
          </a:xfrm>
          <a:prstGeom prst="rect">
            <a:avLst/>
          </a:prstGeom>
          <a:noFill/>
          <a:ln/>
        </p:spPr>
        <p:txBody>
          <a:bodyPr wrap="none" lIns="0" tIns="0" rIns="0" bIns="0" rtlCol="0" anchor="t"/>
          <a:lstStyle/>
          <a:p>
            <a:pPr algn="ctr"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Patristic Period</a:t>
            </a:r>
            <a:endParaRPr lang="en-US" sz="1700" dirty="0"/>
          </a:p>
        </p:txBody>
      </p:sp>
      <p:sp>
        <p:nvSpPr>
          <p:cNvPr id="9" name="Text 7"/>
          <p:cNvSpPr/>
          <p:nvPr/>
        </p:nvSpPr>
        <p:spPr>
          <a:xfrm>
            <a:off x="1006251" y="2852737"/>
            <a:ext cx="3679237" cy="322064"/>
          </a:xfrm>
          <a:prstGeom prst="rect">
            <a:avLst/>
          </a:prstGeom>
          <a:noFill/>
          <a:ln/>
        </p:spPr>
        <p:txBody>
          <a:bodyPr wrap="none" lIns="0" tIns="0" rIns="0" bIns="0" rtlCol="0" anchor="t"/>
          <a:lstStyle/>
          <a:p>
            <a:pPr algn="ctr"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100–700 AD</a:t>
            </a:r>
            <a:endParaRPr lang="en-US" sz="1550" dirty="0"/>
          </a:p>
        </p:txBody>
      </p:sp>
      <p:sp>
        <p:nvSpPr>
          <p:cNvPr id="10" name="Shape 8"/>
          <p:cNvSpPr/>
          <p:nvPr/>
        </p:nvSpPr>
        <p:spPr>
          <a:xfrm>
            <a:off x="4999805" y="4256683"/>
            <a:ext cx="25399" cy="603845"/>
          </a:xfrm>
          <a:prstGeom prst="roundRect">
            <a:avLst>
              <a:gd name="adj" fmla="val 332834"/>
            </a:avLst>
          </a:prstGeom>
          <a:solidFill>
            <a:srgbClr val="E5CCB2"/>
          </a:solidFill>
          <a:ln/>
        </p:spPr>
      </p:sp>
      <p:sp>
        <p:nvSpPr>
          <p:cNvPr id="11" name="Shape 9"/>
          <p:cNvSpPr/>
          <p:nvPr/>
        </p:nvSpPr>
        <p:spPr>
          <a:xfrm>
            <a:off x="4786094" y="4030266"/>
            <a:ext cx="452823" cy="452834"/>
          </a:xfrm>
          <a:prstGeom prst="roundRect">
            <a:avLst>
              <a:gd name="adj" fmla="val 18669"/>
            </a:avLst>
          </a:prstGeom>
          <a:solidFill>
            <a:srgbClr val="FFE6CC"/>
          </a:solidFill>
          <a:ln w="6350">
            <a:solidFill>
              <a:srgbClr val="E5CCB2"/>
            </a:solidFill>
            <a:prstDash val="solid"/>
          </a:ln>
        </p:spPr>
      </p:sp>
      <p:sp>
        <p:nvSpPr>
          <p:cNvPr id="12" name="Text 10"/>
          <p:cNvSpPr/>
          <p:nvPr/>
        </p:nvSpPr>
        <p:spPr>
          <a:xfrm>
            <a:off x="4879704" y="4090640"/>
            <a:ext cx="265602" cy="332085"/>
          </a:xfrm>
          <a:prstGeom prst="rect">
            <a:avLst/>
          </a:prstGeom>
          <a:noFill/>
          <a:ln/>
        </p:spPr>
        <p:txBody>
          <a:bodyPr wrap="none" lIns="0" tIns="0" rIns="0" bIns="0" rtlCol="0" anchor="ctr"/>
          <a:lstStyle/>
          <a:p>
            <a:pPr algn="ctr" indent="0" marL="0">
              <a:lnSpc>
                <a:spcPct val="100000"/>
              </a:lnSpc>
              <a:buNone/>
            </a:pPr>
            <a:r>
              <a:rPr lang="en-US" sz="2050" b="1" dirty="0">
                <a:solidFill>
                  <a:srgbClr val="000000"/>
                </a:solidFill>
                <a:latin typeface="Libre Baskerville Bold" pitchFamily="34" charset="0"/>
                <a:ea typeface="Libre Baskerville Bold" pitchFamily="34" charset="-122"/>
                <a:cs typeface="Libre Baskerville Bold" pitchFamily="34" charset="-120"/>
              </a:rPr>
              <a:t>2</a:t>
            </a:r>
            <a:endParaRPr lang="en-US" sz="2050" dirty="0"/>
          </a:p>
        </p:txBody>
      </p:sp>
      <p:sp>
        <p:nvSpPr>
          <p:cNvPr id="13" name="Text 11"/>
          <p:cNvSpPr/>
          <p:nvPr/>
        </p:nvSpPr>
        <p:spPr>
          <a:xfrm>
            <a:off x="3905450" y="5061744"/>
            <a:ext cx="2214011" cy="276820"/>
          </a:xfrm>
          <a:prstGeom prst="rect">
            <a:avLst/>
          </a:prstGeom>
          <a:noFill/>
          <a:ln/>
        </p:spPr>
        <p:txBody>
          <a:bodyPr wrap="none" lIns="0" tIns="0" rIns="0" bIns="0" rtlCol="0" anchor="t"/>
          <a:lstStyle/>
          <a:p>
            <a:pPr algn="ctr"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Scholastic Period</a:t>
            </a:r>
            <a:endParaRPr lang="en-US" sz="1700" dirty="0"/>
          </a:p>
        </p:txBody>
      </p:sp>
      <p:sp>
        <p:nvSpPr>
          <p:cNvPr id="14" name="Text 12"/>
          <p:cNvSpPr/>
          <p:nvPr/>
        </p:nvSpPr>
        <p:spPr>
          <a:xfrm>
            <a:off x="3172837" y="5459313"/>
            <a:ext cx="3679336" cy="322064"/>
          </a:xfrm>
          <a:prstGeom prst="rect">
            <a:avLst/>
          </a:prstGeom>
          <a:noFill/>
          <a:ln/>
        </p:spPr>
        <p:txBody>
          <a:bodyPr wrap="none" lIns="0" tIns="0" rIns="0" bIns="0" rtlCol="0" anchor="t"/>
          <a:lstStyle/>
          <a:p>
            <a:pPr algn="ctr"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700–1400 AD</a:t>
            </a:r>
            <a:endParaRPr lang="en-US" sz="1550" dirty="0"/>
          </a:p>
        </p:txBody>
      </p:sp>
      <p:sp>
        <p:nvSpPr>
          <p:cNvPr id="15" name="Shape 13"/>
          <p:cNvSpPr/>
          <p:nvPr/>
        </p:nvSpPr>
        <p:spPr>
          <a:xfrm>
            <a:off x="7166391" y="3652838"/>
            <a:ext cx="25399" cy="603845"/>
          </a:xfrm>
          <a:prstGeom prst="roundRect">
            <a:avLst>
              <a:gd name="adj" fmla="val 332834"/>
            </a:avLst>
          </a:prstGeom>
          <a:solidFill>
            <a:srgbClr val="E5CCB2"/>
          </a:solidFill>
          <a:ln/>
        </p:spPr>
      </p:sp>
      <p:sp>
        <p:nvSpPr>
          <p:cNvPr id="16" name="Shape 14"/>
          <p:cNvSpPr/>
          <p:nvPr/>
        </p:nvSpPr>
        <p:spPr>
          <a:xfrm>
            <a:off x="6952679" y="4030266"/>
            <a:ext cx="452823" cy="452834"/>
          </a:xfrm>
          <a:prstGeom prst="roundRect">
            <a:avLst>
              <a:gd name="adj" fmla="val 18669"/>
            </a:avLst>
          </a:prstGeom>
          <a:solidFill>
            <a:srgbClr val="FFE6CC"/>
          </a:solidFill>
          <a:ln w="6350">
            <a:solidFill>
              <a:srgbClr val="E5CCB2"/>
            </a:solidFill>
            <a:prstDash val="solid"/>
          </a:ln>
        </p:spPr>
      </p:sp>
      <p:sp>
        <p:nvSpPr>
          <p:cNvPr id="17" name="Text 15"/>
          <p:cNvSpPr/>
          <p:nvPr/>
        </p:nvSpPr>
        <p:spPr>
          <a:xfrm>
            <a:off x="7046290" y="4090640"/>
            <a:ext cx="265602" cy="332085"/>
          </a:xfrm>
          <a:prstGeom prst="rect">
            <a:avLst/>
          </a:prstGeom>
          <a:noFill/>
          <a:ln/>
        </p:spPr>
        <p:txBody>
          <a:bodyPr wrap="none" lIns="0" tIns="0" rIns="0" bIns="0" rtlCol="0" anchor="ctr"/>
          <a:lstStyle/>
          <a:p>
            <a:pPr algn="ctr" indent="0" marL="0">
              <a:lnSpc>
                <a:spcPct val="100000"/>
              </a:lnSpc>
              <a:buNone/>
            </a:pPr>
            <a:r>
              <a:rPr lang="en-US" sz="2050" b="1" dirty="0">
                <a:solidFill>
                  <a:srgbClr val="000000"/>
                </a:solidFill>
                <a:latin typeface="Libre Baskerville Bold" pitchFamily="34" charset="0"/>
                <a:ea typeface="Libre Baskerville Bold" pitchFamily="34" charset="-122"/>
                <a:cs typeface="Libre Baskerville Bold" pitchFamily="34" charset="-120"/>
              </a:rPr>
              <a:t>3</a:t>
            </a:r>
            <a:endParaRPr lang="en-US" sz="2050" dirty="0"/>
          </a:p>
        </p:txBody>
      </p:sp>
      <p:sp>
        <p:nvSpPr>
          <p:cNvPr id="18" name="Text 16"/>
          <p:cNvSpPr/>
          <p:nvPr/>
        </p:nvSpPr>
        <p:spPr>
          <a:xfrm>
            <a:off x="5339423" y="2455168"/>
            <a:ext cx="3679336" cy="553641"/>
          </a:xfrm>
          <a:prstGeom prst="rect">
            <a:avLst/>
          </a:prstGeom>
          <a:noFill/>
          <a:ln/>
        </p:spPr>
        <p:txBody>
          <a:bodyPr wrap="square" lIns="0" tIns="0" rIns="0" bIns="0" rtlCol="0" anchor="t">
            <a:normAutofit/>
          </a:bodyPr>
          <a:lstStyle/>
          <a:p>
            <a:pPr algn="ctr"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Reformation &amp; Counter-Reformation</a:t>
            </a:r>
            <a:endParaRPr lang="en-US" sz="1700" dirty="0"/>
          </a:p>
        </p:txBody>
      </p:sp>
      <p:sp>
        <p:nvSpPr>
          <p:cNvPr id="19" name="Text 17"/>
          <p:cNvSpPr/>
          <p:nvPr/>
        </p:nvSpPr>
        <p:spPr>
          <a:xfrm>
            <a:off x="5339423" y="3129558"/>
            <a:ext cx="3679336" cy="322064"/>
          </a:xfrm>
          <a:prstGeom prst="rect">
            <a:avLst/>
          </a:prstGeom>
          <a:noFill/>
          <a:ln/>
        </p:spPr>
        <p:txBody>
          <a:bodyPr wrap="none" lIns="0" tIns="0" rIns="0" bIns="0" rtlCol="0" anchor="t"/>
          <a:lstStyle/>
          <a:p>
            <a:pPr algn="ctr"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1400–1900 AD</a:t>
            </a:r>
            <a:endParaRPr lang="en-US" sz="1550" dirty="0"/>
          </a:p>
        </p:txBody>
      </p:sp>
      <p:sp>
        <p:nvSpPr>
          <p:cNvPr id="20" name="Shape 18"/>
          <p:cNvSpPr/>
          <p:nvPr/>
        </p:nvSpPr>
        <p:spPr>
          <a:xfrm>
            <a:off x="9333076" y="4256683"/>
            <a:ext cx="25399" cy="603845"/>
          </a:xfrm>
          <a:prstGeom prst="roundRect">
            <a:avLst>
              <a:gd name="adj" fmla="val 332834"/>
            </a:avLst>
          </a:prstGeom>
          <a:solidFill>
            <a:srgbClr val="E5CCB2"/>
          </a:solidFill>
          <a:ln/>
        </p:spPr>
      </p:sp>
      <p:sp>
        <p:nvSpPr>
          <p:cNvPr id="21" name="Shape 19"/>
          <p:cNvSpPr/>
          <p:nvPr/>
        </p:nvSpPr>
        <p:spPr>
          <a:xfrm>
            <a:off x="9119364" y="4030266"/>
            <a:ext cx="452823" cy="452834"/>
          </a:xfrm>
          <a:prstGeom prst="roundRect">
            <a:avLst>
              <a:gd name="adj" fmla="val 18669"/>
            </a:avLst>
          </a:prstGeom>
          <a:solidFill>
            <a:srgbClr val="FFE6CC"/>
          </a:solidFill>
          <a:ln w="6350">
            <a:solidFill>
              <a:srgbClr val="E5CCB2"/>
            </a:solidFill>
            <a:prstDash val="solid"/>
          </a:ln>
        </p:spPr>
      </p:sp>
      <p:sp>
        <p:nvSpPr>
          <p:cNvPr id="22" name="Text 20"/>
          <p:cNvSpPr/>
          <p:nvPr/>
        </p:nvSpPr>
        <p:spPr>
          <a:xfrm>
            <a:off x="9212975" y="4090640"/>
            <a:ext cx="265602" cy="332085"/>
          </a:xfrm>
          <a:prstGeom prst="rect">
            <a:avLst/>
          </a:prstGeom>
          <a:noFill/>
          <a:ln/>
        </p:spPr>
        <p:txBody>
          <a:bodyPr wrap="none" lIns="0" tIns="0" rIns="0" bIns="0" rtlCol="0" anchor="ctr"/>
          <a:lstStyle/>
          <a:p>
            <a:pPr algn="ctr" indent="0" marL="0">
              <a:lnSpc>
                <a:spcPct val="100000"/>
              </a:lnSpc>
              <a:buNone/>
            </a:pPr>
            <a:r>
              <a:rPr lang="en-US" sz="2050" b="1" dirty="0">
                <a:solidFill>
                  <a:srgbClr val="000000"/>
                </a:solidFill>
                <a:latin typeface="Libre Baskerville Bold" pitchFamily="34" charset="0"/>
                <a:ea typeface="Libre Baskerville Bold" pitchFamily="34" charset="-122"/>
                <a:cs typeface="Libre Baskerville Bold" pitchFamily="34" charset="-120"/>
              </a:rPr>
              <a:t>4</a:t>
            </a:r>
            <a:endParaRPr lang="en-US" sz="2050" dirty="0"/>
          </a:p>
        </p:txBody>
      </p:sp>
      <p:sp>
        <p:nvSpPr>
          <p:cNvPr id="23" name="Text 21"/>
          <p:cNvSpPr/>
          <p:nvPr/>
        </p:nvSpPr>
        <p:spPr>
          <a:xfrm>
            <a:off x="8059437" y="5061744"/>
            <a:ext cx="2572579" cy="276820"/>
          </a:xfrm>
          <a:prstGeom prst="rect">
            <a:avLst/>
          </a:prstGeom>
          <a:noFill/>
          <a:ln/>
        </p:spPr>
        <p:txBody>
          <a:bodyPr wrap="none" lIns="0" tIns="0" rIns="0" bIns="0" rtlCol="0" anchor="t"/>
          <a:lstStyle/>
          <a:p>
            <a:pPr algn="ctr"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Vatican II and Beyond</a:t>
            </a:r>
            <a:endParaRPr lang="en-US" sz="1700" dirty="0"/>
          </a:p>
        </p:txBody>
      </p:sp>
      <p:sp>
        <p:nvSpPr>
          <p:cNvPr id="24" name="Text 22"/>
          <p:cNvSpPr/>
          <p:nvPr/>
        </p:nvSpPr>
        <p:spPr>
          <a:xfrm>
            <a:off x="7506108" y="5459313"/>
            <a:ext cx="3679336" cy="322064"/>
          </a:xfrm>
          <a:prstGeom prst="rect">
            <a:avLst/>
          </a:prstGeom>
          <a:noFill/>
          <a:ln/>
        </p:spPr>
        <p:txBody>
          <a:bodyPr wrap="none" lIns="0" tIns="0" rIns="0" bIns="0" rtlCol="0" anchor="t"/>
          <a:lstStyle/>
          <a:p>
            <a:pPr algn="ctr"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1962–Today</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05041" y="2113260"/>
            <a:ext cx="10622292"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Movement 1: Patristic Period (100–700 AD)</a:t>
            </a:r>
            <a:endParaRPr lang="en-US" sz="3450" dirty="0"/>
          </a:p>
        </p:txBody>
      </p:sp>
      <p:sp>
        <p:nvSpPr>
          <p:cNvPr id="3" name="Text 1"/>
          <p:cNvSpPr/>
          <p:nvPr/>
        </p:nvSpPr>
        <p:spPr>
          <a:xfrm>
            <a:off x="805041" y="3069233"/>
            <a:ext cx="10581613"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The Fathers of the Church (Origen, Augustine, Basil, Chrysostom) defended the faith against heresies and developed the great doctrines of Trinity, Christology, and Grace. They did theology in context — Greek, Latin, Syriac, Coptic.</a:t>
            </a:r>
            <a:endParaRPr lang="en-US" sz="1550" dirty="0"/>
          </a:p>
        </p:txBody>
      </p:sp>
      <p:sp>
        <p:nvSpPr>
          <p:cNvPr id="4" name="Shape 2"/>
          <p:cNvSpPr/>
          <p:nvPr/>
        </p:nvSpPr>
        <p:spPr>
          <a:xfrm>
            <a:off x="805041" y="3939778"/>
            <a:ext cx="10581613" cy="804962"/>
          </a:xfrm>
          <a:prstGeom prst="roundRect">
            <a:avLst>
              <a:gd name="adj" fmla="val 10502"/>
            </a:avLst>
          </a:prstGeom>
          <a:solidFill>
            <a:srgbClr val="FFE6CC"/>
          </a:solidFill>
          <a:ln/>
        </p:spPr>
      </p:sp>
      <p:pic>
        <p:nvPicPr>
          <p:cNvPr id="5" name="Image 0" descr="preencoded.png">    </p:cNvPr>
          <p:cNvPicPr>
            <a:picLocks noChangeAspect="1"/>
          </p:cNvPicPr>
          <p:nvPr/>
        </p:nvPicPr>
        <p:blipFill>
          <a:blip r:embed="rId1"/>
          <a:stretch>
            <a:fillRect/>
          </a:stretch>
        </p:blipFill>
        <p:spPr>
          <a:xfrm>
            <a:off x="1006251" y="4231084"/>
            <a:ext cx="251513" cy="201216"/>
          </a:xfrm>
          <a:prstGeom prst="rect">
            <a:avLst/>
          </a:prstGeom>
        </p:spPr>
      </p:pic>
      <p:sp>
        <p:nvSpPr>
          <p:cNvPr id="6" name="Text 3"/>
          <p:cNvSpPr/>
          <p:nvPr/>
        </p:nvSpPr>
        <p:spPr>
          <a:xfrm>
            <a:off x="1458975" y="4191298"/>
            <a:ext cx="10336053" cy="322064"/>
          </a:xfrm>
          <a:prstGeom prst="rect">
            <a:avLst/>
          </a:prstGeom>
          <a:noFill/>
          <a:ln/>
        </p:spPr>
        <p:txBody>
          <a:bodyPr wrap="none" lIns="0" tIns="0" rIns="0" bIns="0" rtlCol="0" anchor="t"/>
          <a:lstStyle/>
          <a:p>
            <a:pPr algn="l" indent="0" marL="0">
              <a:lnSpc>
                <a:spcPct val="133000"/>
              </a:lnSpc>
              <a:buNone/>
            </a:pPr>
            <a:r>
              <a:rPr lang="en-US" sz="1550" b="1" dirty="0">
                <a:solidFill>
                  <a:srgbClr val="000000"/>
                </a:solidFill>
                <a:latin typeface="Fira Sans Bold" pitchFamily="34" charset="0"/>
                <a:ea typeface="Fira Sans Bold" pitchFamily="34" charset="-122"/>
                <a:cs typeface="Fira Sans Bold" pitchFamily="34" charset="-120"/>
              </a:rPr>
              <a:t>Lesson:</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Context shapes how you express the faith.</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05041" y="1836539"/>
            <a:ext cx="10581613" cy="1106884"/>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Movement 2: Scholastic Period (700–1400 AD)</a:t>
            </a:r>
            <a:endParaRPr lang="en-US" sz="3450" dirty="0"/>
          </a:p>
        </p:txBody>
      </p:sp>
      <p:sp>
        <p:nvSpPr>
          <p:cNvPr id="3" name="Text 1"/>
          <p:cNvSpPr/>
          <p:nvPr/>
        </p:nvSpPr>
        <p:spPr>
          <a:xfrm>
            <a:off x="805041" y="3345954"/>
            <a:ext cx="10581613"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Anselm, Aquinas, Bonaventure. Theology uses philosophical tools (especially Aristotle) to build systematic, rational accounts of faith. The great </a:t>
            </a:r>
            <a:pPr algn="l" indent="0" marL="0">
              <a:lnSpc>
                <a:spcPct val="133000"/>
              </a:lnSpc>
              <a:buNone/>
            </a:pPr>
            <a:r>
              <a:rPr lang="en-US" sz="1550" i="1" dirty="0">
                <a:solidFill>
                  <a:srgbClr val="000000"/>
                </a:solidFill>
                <a:latin typeface="Fira Sans" pitchFamily="34" charset="0"/>
                <a:ea typeface="Fira Sans" pitchFamily="34" charset="-122"/>
                <a:cs typeface="Fira Sans" pitchFamily="34" charset="-120"/>
              </a:rPr>
              <a:t>Summa Theologiae</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is produced.</a:t>
            </a:r>
            <a:endParaRPr lang="en-US" sz="1550" dirty="0"/>
          </a:p>
        </p:txBody>
      </p:sp>
      <p:sp>
        <p:nvSpPr>
          <p:cNvPr id="4" name="Shape 2"/>
          <p:cNvSpPr/>
          <p:nvPr/>
        </p:nvSpPr>
        <p:spPr>
          <a:xfrm>
            <a:off x="805041" y="4216499"/>
            <a:ext cx="10581613" cy="804962"/>
          </a:xfrm>
          <a:prstGeom prst="roundRect">
            <a:avLst>
              <a:gd name="adj" fmla="val 10502"/>
            </a:avLst>
          </a:prstGeom>
          <a:solidFill>
            <a:srgbClr val="FFE6CC"/>
          </a:solidFill>
          <a:ln/>
        </p:spPr>
      </p:sp>
      <p:pic>
        <p:nvPicPr>
          <p:cNvPr id="5" name="Image 0" descr="preencoded.png">    </p:cNvPr>
          <p:cNvPicPr>
            <a:picLocks noChangeAspect="1"/>
          </p:cNvPicPr>
          <p:nvPr/>
        </p:nvPicPr>
        <p:blipFill>
          <a:blip r:embed="rId1"/>
          <a:stretch>
            <a:fillRect/>
          </a:stretch>
        </p:blipFill>
        <p:spPr>
          <a:xfrm>
            <a:off x="1006251" y="4507805"/>
            <a:ext cx="251513" cy="201216"/>
          </a:xfrm>
          <a:prstGeom prst="rect">
            <a:avLst/>
          </a:prstGeom>
        </p:spPr>
      </p:pic>
      <p:sp>
        <p:nvSpPr>
          <p:cNvPr id="6" name="Text 3"/>
          <p:cNvSpPr/>
          <p:nvPr/>
        </p:nvSpPr>
        <p:spPr>
          <a:xfrm>
            <a:off x="1458975" y="4468019"/>
            <a:ext cx="10336053" cy="322064"/>
          </a:xfrm>
          <a:prstGeom prst="rect">
            <a:avLst/>
          </a:prstGeom>
          <a:noFill/>
          <a:ln/>
        </p:spPr>
        <p:txBody>
          <a:bodyPr wrap="none" lIns="0" tIns="0" rIns="0" bIns="0" rtlCol="0" anchor="t"/>
          <a:lstStyle/>
          <a:p>
            <a:pPr algn="l" indent="0" marL="0">
              <a:lnSpc>
                <a:spcPct val="133000"/>
              </a:lnSpc>
              <a:buNone/>
            </a:pPr>
            <a:r>
              <a:rPr lang="en-US" sz="1550" b="1" dirty="0">
                <a:solidFill>
                  <a:srgbClr val="000000"/>
                </a:solidFill>
                <a:latin typeface="Fira Sans Bold" pitchFamily="34" charset="0"/>
                <a:ea typeface="Fira Sans Bold" pitchFamily="34" charset="-122"/>
                <a:cs typeface="Fira Sans Bold" pitchFamily="34" charset="-120"/>
              </a:rPr>
              <a:t>Lesson:</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Rigour and method matter.</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05041" y="1836539"/>
            <a:ext cx="10581613" cy="1106884"/>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Movement 3: Reformation and Counter-Reformation (1400–1900 AD)</a:t>
            </a:r>
            <a:endParaRPr lang="en-US" sz="3450" dirty="0"/>
          </a:p>
        </p:txBody>
      </p:sp>
      <p:sp>
        <p:nvSpPr>
          <p:cNvPr id="3" name="Text 1"/>
          <p:cNvSpPr/>
          <p:nvPr/>
        </p:nvSpPr>
        <p:spPr>
          <a:xfrm>
            <a:off x="805041" y="3345954"/>
            <a:ext cx="10581613"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The Church splits; theology becomes polemical. Trent (1545–63) defines doctrine against Protestant challenges. Neoscholasticism hardens into a defensive posture.</a:t>
            </a:r>
            <a:endParaRPr lang="en-US" sz="1550" dirty="0"/>
          </a:p>
        </p:txBody>
      </p:sp>
      <p:sp>
        <p:nvSpPr>
          <p:cNvPr id="4" name="Shape 2"/>
          <p:cNvSpPr/>
          <p:nvPr/>
        </p:nvSpPr>
        <p:spPr>
          <a:xfrm>
            <a:off x="805041" y="4216499"/>
            <a:ext cx="10581613" cy="804962"/>
          </a:xfrm>
          <a:prstGeom prst="roundRect">
            <a:avLst>
              <a:gd name="adj" fmla="val 10502"/>
            </a:avLst>
          </a:prstGeom>
          <a:solidFill>
            <a:srgbClr val="FFE6CC"/>
          </a:solidFill>
          <a:ln/>
        </p:spPr>
      </p:sp>
      <p:pic>
        <p:nvPicPr>
          <p:cNvPr id="5" name="Image 0" descr="preencoded.png">    </p:cNvPr>
          <p:cNvPicPr>
            <a:picLocks noChangeAspect="1"/>
          </p:cNvPicPr>
          <p:nvPr/>
        </p:nvPicPr>
        <p:blipFill>
          <a:blip r:embed="rId1"/>
          <a:stretch>
            <a:fillRect/>
          </a:stretch>
        </p:blipFill>
        <p:spPr>
          <a:xfrm>
            <a:off x="1006251" y="4507805"/>
            <a:ext cx="251513" cy="201216"/>
          </a:xfrm>
          <a:prstGeom prst="rect">
            <a:avLst/>
          </a:prstGeom>
        </p:spPr>
      </p:pic>
      <p:sp>
        <p:nvSpPr>
          <p:cNvPr id="6" name="Text 3"/>
          <p:cNvSpPr/>
          <p:nvPr/>
        </p:nvSpPr>
        <p:spPr>
          <a:xfrm>
            <a:off x="1458975" y="4468019"/>
            <a:ext cx="10336053" cy="322064"/>
          </a:xfrm>
          <a:prstGeom prst="rect">
            <a:avLst/>
          </a:prstGeom>
          <a:noFill/>
          <a:ln/>
        </p:spPr>
        <p:txBody>
          <a:bodyPr wrap="none" lIns="0" tIns="0" rIns="0" bIns="0" rtlCol="0" anchor="t"/>
          <a:lstStyle/>
          <a:p>
            <a:pPr algn="l" indent="0" marL="0">
              <a:lnSpc>
                <a:spcPct val="133000"/>
              </a:lnSpc>
              <a:buNone/>
            </a:pPr>
            <a:r>
              <a:rPr lang="en-US" sz="1550" b="1" dirty="0">
                <a:solidFill>
                  <a:srgbClr val="000000"/>
                </a:solidFill>
                <a:latin typeface="Fira Sans Bold" pitchFamily="34" charset="0"/>
                <a:ea typeface="Fira Sans Bold" pitchFamily="34" charset="-122"/>
                <a:cs typeface="Fira Sans Bold" pitchFamily="34" charset="-120"/>
              </a:rPr>
              <a:t>Lesson:</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Theology divorced from life becomes dry and irrelevant.</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05041" y="1836539"/>
            <a:ext cx="10581613" cy="1106884"/>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Movement 4: Vatican II and Beyond (1962–Today)</a:t>
            </a:r>
            <a:endParaRPr lang="en-US" sz="3450" dirty="0"/>
          </a:p>
        </p:txBody>
      </p:sp>
      <p:sp>
        <p:nvSpPr>
          <p:cNvPr id="3" name="Text 1"/>
          <p:cNvSpPr/>
          <p:nvPr/>
        </p:nvSpPr>
        <p:spPr>
          <a:xfrm>
            <a:off x="805041" y="3345954"/>
            <a:ext cx="10581613"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The Church rediscovers its biblical, patristic, and liturgical roots. Contextual, liberation, feminist, Dalit, and Asian theologies emerge. FABC articulates theology as a triple dialogue with Asian cultures, religions, and the poor.</a:t>
            </a:r>
            <a:endParaRPr lang="en-US" sz="1550" dirty="0"/>
          </a:p>
        </p:txBody>
      </p:sp>
      <p:sp>
        <p:nvSpPr>
          <p:cNvPr id="4" name="Shape 2"/>
          <p:cNvSpPr/>
          <p:nvPr/>
        </p:nvSpPr>
        <p:spPr>
          <a:xfrm>
            <a:off x="805041" y="4216499"/>
            <a:ext cx="10581613" cy="804962"/>
          </a:xfrm>
          <a:prstGeom prst="roundRect">
            <a:avLst>
              <a:gd name="adj" fmla="val 10502"/>
            </a:avLst>
          </a:prstGeom>
          <a:solidFill>
            <a:srgbClr val="FFE6CC"/>
          </a:solidFill>
          <a:ln/>
        </p:spPr>
      </p:sp>
      <p:pic>
        <p:nvPicPr>
          <p:cNvPr id="5" name="Image 0" descr="preencoded.png">    </p:cNvPr>
          <p:cNvPicPr>
            <a:picLocks noChangeAspect="1"/>
          </p:cNvPicPr>
          <p:nvPr/>
        </p:nvPicPr>
        <p:blipFill>
          <a:blip r:embed="rId1"/>
          <a:stretch>
            <a:fillRect/>
          </a:stretch>
        </p:blipFill>
        <p:spPr>
          <a:xfrm>
            <a:off x="1006251" y="4507805"/>
            <a:ext cx="251513" cy="201216"/>
          </a:xfrm>
          <a:prstGeom prst="rect">
            <a:avLst/>
          </a:prstGeom>
        </p:spPr>
      </p:pic>
      <p:sp>
        <p:nvSpPr>
          <p:cNvPr id="6" name="Text 3"/>
          <p:cNvSpPr/>
          <p:nvPr/>
        </p:nvSpPr>
        <p:spPr>
          <a:xfrm>
            <a:off x="1458975" y="4468019"/>
            <a:ext cx="10336053" cy="322064"/>
          </a:xfrm>
          <a:prstGeom prst="rect">
            <a:avLst/>
          </a:prstGeom>
          <a:noFill/>
          <a:ln/>
        </p:spPr>
        <p:txBody>
          <a:bodyPr wrap="none" lIns="0" tIns="0" rIns="0" bIns="0" rtlCol="0" anchor="t"/>
          <a:lstStyle/>
          <a:p>
            <a:pPr algn="l" indent="0" marL="0">
              <a:lnSpc>
                <a:spcPct val="133000"/>
              </a:lnSpc>
              <a:buNone/>
            </a:pPr>
            <a:r>
              <a:rPr lang="en-US" sz="1550" b="1" dirty="0">
                <a:solidFill>
                  <a:srgbClr val="000000"/>
                </a:solidFill>
                <a:latin typeface="Fira Sans Bold" pitchFamily="34" charset="0"/>
                <a:ea typeface="Fira Sans Bold" pitchFamily="34" charset="-122"/>
                <a:cs typeface="Fira Sans Bold" pitchFamily="34" charset="-120"/>
              </a:rPr>
              <a:t>Lesson:</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The Spirit is doing something new — and theology must be agile enough to recognise it.</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05041" y="601762"/>
            <a:ext cx="11098431" cy="525859"/>
          </a:xfrm>
          <a:prstGeom prst="rect">
            <a:avLst/>
          </a:prstGeom>
          <a:noFill/>
          <a:ln/>
        </p:spPr>
        <p:txBody>
          <a:bodyPr wrap="none" lIns="0" tIns="0" rIns="0" bIns="0" rtlCol="0" anchor="t"/>
          <a:lstStyle/>
          <a:p>
            <a:pPr algn="l" indent="0" marL="0">
              <a:lnSpc>
                <a:spcPct val="104000"/>
              </a:lnSpc>
              <a:buNone/>
            </a:pPr>
            <a:r>
              <a:rPr lang="en-US" sz="3300" b="1" dirty="0">
                <a:solidFill>
                  <a:srgbClr val="000000"/>
                </a:solidFill>
                <a:latin typeface="Libre Baskerville Bold" pitchFamily="34" charset="0"/>
                <a:ea typeface="Libre Baskerville Bold" pitchFamily="34" charset="-122"/>
                <a:cs typeface="Libre Baskerville Bold" pitchFamily="34" charset="-120"/>
              </a:rPr>
              <a:t>Part C — Why Theology Matters in India Today</a:t>
            </a:r>
            <a:endParaRPr lang="en-US" sz="3300" dirty="0"/>
          </a:p>
        </p:txBody>
      </p:sp>
      <p:sp>
        <p:nvSpPr>
          <p:cNvPr id="3" name="Shape 1"/>
          <p:cNvSpPr/>
          <p:nvPr/>
        </p:nvSpPr>
        <p:spPr>
          <a:xfrm>
            <a:off x="805041" y="1490861"/>
            <a:ext cx="25399" cy="1303338"/>
          </a:xfrm>
          <a:prstGeom prst="roundRect">
            <a:avLst>
              <a:gd name="adj" fmla="val 60001"/>
            </a:avLst>
          </a:prstGeom>
          <a:solidFill>
            <a:srgbClr val="020100"/>
          </a:solidFill>
          <a:ln/>
        </p:spPr>
      </p:sp>
      <p:sp>
        <p:nvSpPr>
          <p:cNvPr id="4" name="Text 2"/>
          <p:cNvSpPr/>
          <p:nvPr/>
        </p:nvSpPr>
        <p:spPr>
          <a:xfrm>
            <a:off x="1091776" y="1695152"/>
            <a:ext cx="10294878" cy="894755"/>
          </a:xfrm>
          <a:prstGeom prst="rect">
            <a:avLst/>
          </a:prstGeom>
          <a:noFill/>
          <a:ln/>
        </p:spPr>
        <p:txBody>
          <a:bodyPr wrap="square" lIns="0" tIns="0" rIns="0" bIns="0" rtlCol="0" anchor="t">
            <a:normAutofit/>
          </a:bodyPr>
          <a:lstStyle/>
          <a:p>
            <a:pPr algn="l" indent="0" marL="0">
              <a:lnSpc>
                <a:spcPct val="130000"/>
              </a:lnSpc>
              <a:buNone/>
            </a:pPr>
            <a:r>
              <a:rPr lang="en-US" sz="1500" dirty="0">
                <a:solidFill>
                  <a:srgbClr val="000000"/>
                </a:solidFill>
                <a:latin typeface="Fira Sans" pitchFamily="34" charset="0"/>
                <a:ea typeface="Fira Sans" pitchFamily="34" charset="-122"/>
                <a:cs typeface="Fira Sans" pitchFamily="34" charset="-120"/>
              </a:rPr>
              <a:t>Pope Francis, </a:t>
            </a:r>
            <a:pPr algn="l" indent="0" marL="0">
              <a:lnSpc>
                <a:spcPct val="130000"/>
              </a:lnSpc>
              <a:buNone/>
            </a:pPr>
            <a:r>
              <a:rPr lang="en-US" sz="1500" i="1" dirty="0">
                <a:solidFill>
                  <a:srgbClr val="000000"/>
                </a:solidFill>
                <a:latin typeface="Fira Sans" pitchFamily="34" charset="0"/>
                <a:ea typeface="Fira Sans" pitchFamily="34" charset="-122"/>
                <a:cs typeface="Fira Sans" pitchFamily="34" charset="-120"/>
              </a:rPr>
              <a:t>Evangelii Gaudium</a:t>
            </a:r>
            <a:pPr algn="l" indent="0" marL="0">
              <a:lnSpc>
                <a:spcPct val="130000"/>
              </a:lnSpc>
              <a:buNone/>
            </a:pPr>
            <a:r>
              <a:rPr lang="en-US" sz="1500" dirty="0">
                <a:solidFill>
                  <a:srgbClr val="000000"/>
                </a:solidFill>
                <a:latin typeface="Fira Sans" pitchFamily="34" charset="0"/>
                <a:ea typeface="Fira Sans" pitchFamily="34" charset="-122"/>
                <a:cs typeface="Fira Sans" pitchFamily="34" charset="-120"/>
              </a:rPr>
              <a:t> (2013), §133: "We need to encourage aversion to peripheral and unproductive debates, to banal formalism, to an obsessive concern for particular studies or programs. We need to foster an encounter with the Lord, so that his Word can become our word."</a:t>
            </a:r>
            <a:endParaRPr lang="en-US" sz="1500" dirty="0"/>
          </a:p>
        </p:txBody>
      </p:sp>
      <p:sp>
        <p:nvSpPr>
          <p:cNvPr id="5" name="Text 3"/>
          <p:cNvSpPr/>
          <p:nvPr/>
        </p:nvSpPr>
        <p:spPr>
          <a:xfrm>
            <a:off x="805041" y="3066653"/>
            <a:ext cx="4476043" cy="420688"/>
          </a:xfrm>
          <a:prstGeom prst="rect">
            <a:avLst/>
          </a:prstGeom>
          <a:noFill/>
          <a:ln/>
        </p:spPr>
        <p:txBody>
          <a:bodyPr wrap="none" lIns="0" tIns="0" rIns="0" bIns="0" rtlCol="0" anchor="t"/>
          <a:lstStyle/>
          <a:p>
            <a:pPr algn="l" indent="0" marL="0">
              <a:lnSpc>
                <a:spcPct val="104000"/>
              </a:lnSpc>
              <a:buNone/>
            </a:pPr>
            <a:r>
              <a:rPr lang="en-US" sz="2600" b="1" dirty="0">
                <a:solidFill>
                  <a:srgbClr val="000000"/>
                </a:solidFill>
                <a:latin typeface="Libre Baskerville Bold" pitchFamily="34" charset="0"/>
                <a:ea typeface="Libre Baskerville Bold" pitchFamily="34" charset="-122"/>
                <a:cs typeface="Libre Baskerville Bold" pitchFamily="34" charset="-120"/>
              </a:rPr>
              <a:t>The Indian Challenge</a:t>
            </a:r>
            <a:endParaRPr lang="en-US" sz="2600" dirty="0"/>
          </a:p>
        </p:txBody>
      </p:sp>
      <p:sp>
        <p:nvSpPr>
          <p:cNvPr id="6" name="Text 4"/>
          <p:cNvSpPr/>
          <p:nvPr/>
        </p:nvSpPr>
        <p:spPr>
          <a:xfrm>
            <a:off x="805041" y="3759795"/>
            <a:ext cx="10581613" cy="2496344"/>
          </a:xfrm>
          <a:prstGeom prst="rect">
            <a:avLst/>
          </a:prstGeom>
          <a:noFill/>
          <a:ln/>
        </p:spPr>
        <p:txBody>
          <a:bodyPr wrap="square" lIns="0" tIns="0" rIns="0" bIns="0" rtlCol="0" anchor="t">
            <a:normAutofit/>
          </a:bodyPr>
          <a:lstStyle/>
          <a:p>
            <a:pPr algn="l" indent="0" marL="0">
              <a:lnSpc>
                <a:spcPct val="130000"/>
              </a:lnSpc>
              <a:spcAft>
                <a:spcPts val="1600"/>
              </a:spcAft>
              <a:buNone/>
            </a:pPr>
            <a:r>
              <a:rPr lang="en-US" sz="1500" dirty="0">
                <a:solidFill>
                  <a:srgbClr val="000000"/>
                </a:solidFill>
                <a:latin typeface="Fira Sans" pitchFamily="34" charset="0"/>
                <a:ea typeface="Fira Sans" pitchFamily="34" charset="-122"/>
                <a:cs typeface="Fira Sans" pitchFamily="34" charset="-120"/>
              </a:rPr>
              <a:t>India in 2026 is a country of 1.44 billion people, 80% Hindu, 14% Muslim, and 2.3% Christian. The Catholic Church in India is small but significant — particularly in tribal and Dalit communities.</a:t>
            </a:r>
            <a:endParaRPr lang="en-US" sz="1500" dirty="0"/>
          </a:p>
          <a:p>
            <a:pPr algn="l" indent="0" marL="0">
              <a:lnSpc>
                <a:spcPct val="130000"/>
              </a:lnSpc>
              <a:spcAft>
                <a:spcPts val="1600"/>
              </a:spcAft>
              <a:buNone/>
            </a:pPr>
            <a:r>
              <a:rPr lang="en-US" sz="1500" dirty="0">
                <a:solidFill>
                  <a:srgbClr val="000000"/>
                </a:solidFill>
                <a:latin typeface="Fira Sans" pitchFamily="34" charset="0"/>
                <a:ea typeface="Fira Sans" pitchFamily="34" charset="-122"/>
                <a:cs typeface="Fira Sans" pitchFamily="34" charset="-120"/>
              </a:rPr>
              <a:t>The Church faces: rising majoritarianism, anti-conversion laws in several states, caste discrimination within Christian communities, ecological crisis, youth migration from villages to cities, and the question of how to be authentically Indian and authentically Catholic simultaneously.</a:t>
            </a:r>
            <a:endParaRPr lang="en-US" sz="1500" dirty="0"/>
          </a:p>
          <a:p>
            <a:pPr algn="l" indent="0" marL="0">
              <a:lnSpc>
                <a:spcPct val="130000"/>
              </a:lnSpc>
              <a:buNone/>
            </a:pPr>
            <a:r>
              <a:rPr lang="en-US" sz="1500" dirty="0">
                <a:solidFill>
                  <a:srgbClr val="000000"/>
                </a:solidFill>
                <a:latin typeface="Fira Sans" pitchFamily="34" charset="0"/>
                <a:ea typeface="Fira Sans" pitchFamily="34" charset="-122"/>
                <a:cs typeface="Fira Sans" pitchFamily="34" charset="-120"/>
              </a:rPr>
              <a:t>Theology is necessary because: without it, faith becomes mere sentiment, pastoral practice becomes activism without roots, and the Church loses its ability to speak a prophetic word to the nation.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05041" y="832247"/>
            <a:ext cx="5598873"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Discussion Questions</a:t>
            </a:r>
            <a:endParaRPr lang="en-US" sz="34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5041" y="1788220"/>
            <a:ext cx="3392998" cy="1741488"/>
          </a:xfrm>
          <a:prstGeom prst="rect">
            <a:avLst/>
          </a:prstGeom>
        </p:spPr>
      </p:pic>
      <p:sp>
        <p:nvSpPr>
          <p:cNvPr id="4" name="Text 1"/>
          <p:cNvSpPr/>
          <p:nvPr/>
        </p:nvSpPr>
        <p:spPr>
          <a:xfrm>
            <a:off x="1133248" y="2014835"/>
            <a:ext cx="2838181" cy="966192"/>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Which of the five definitions of theology resonates most with your experience? Why?</a:t>
            </a:r>
            <a:endParaRPr lang="en-US" sz="15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99249" y="1788220"/>
            <a:ext cx="3393097" cy="1741488"/>
          </a:xfrm>
          <a:prstGeom prst="rect">
            <a:avLst/>
          </a:prstGeom>
        </p:spPr>
      </p:pic>
      <p:sp>
        <p:nvSpPr>
          <p:cNvPr id="6" name="Text 2"/>
          <p:cNvSpPr/>
          <p:nvPr/>
        </p:nvSpPr>
        <p:spPr>
          <a:xfrm>
            <a:off x="4727457" y="2014835"/>
            <a:ext cx="2838280" cy="1288256"/>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Why did theology become "dry and irrelevant" in the counter-Reformation period? Could that happen again?</a:t>
            </a:r>
            <a:endParaRPr lang="en-US" sz="15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93557" y="1788220"/>
            <a:ext cx="3393097" cy="1741488"/>
          </a:xfrm>
          <a:prstGeom prst="rect">
            <a:avLst/>
          </a:prstGeom>
        </p:spPr>
      </p:pic>
      <p:sp>
        <p:nvSpPr>
          <p:cNvPr id="8" name="Text 3"/>
          <p:cNvSpPr/>
          <p:nvPr/>
        </p:nvSpPr>
        <p:spPr>
          <a:xfrm>
            <a:off x="8321764" y="2014835"/>
            <a:ext cx="2838280" cy="1288256"/>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What is the most urgent question that theology must answer for your home community?</a:t>
            </a:r>
            <a:endParaRPr lang="en-US" sz="1550" dirty="0"/>
          </a:p>
        </p:txBody>
      </p:sp>
      <p:sp>
        <p:nvSpPr>
          <p:cNvPr id="9" name="Shape 4"/>
          <p:cNvSpPr/>
          <p:nvPr/>
        </p:nvSpPr>
        <p:spPr>
          <a:xfrm>
            <a:off x="805041" y="3806428"/>
            <a:ext cx="10581613" cy="25400"/>
          </a:xfrm>
          <a:prstGeom prst="roundRect">
            <a:avLst>
              <a:gd name="adj" fmla="val 59999"/>
            </a:avLst>
          </a:prstGeom>
          <a:solidFill>
            <a:srgbClr val="000000">
              <a:alpha val="50000"/>
            </a:srgbClr>
          </a:solidFill>
          <a:ln/>
        </p:spPr>
      </p:sp>
      <p:sp>
        <p:nvSpPr>
          <p:cNvPr id="10" name="Text 5"/>
          <p:cNvSpPr/>
          <p:nvPr/>
        </p:nvSpPr>
        <p:spPr>
          <a:xfrm>
            <a:off x="805041" y="4184055"/>
            <a:ext cx="4152002" cy="442714"/>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Libre Baskerville Bold" pitchFamily="34" charset="0"/>
                <a:ea typeface="Libre Baskerville Bold" pitchFamily="34" charset="-122"/>
                <a:cs typeface="Libre Baskerville Bold" pitchFamily="34" charset="-120"/>
              </a:rPr>
              <a:t>Closing Prayer</a:t>
            </a:r>
            <a:endParaRPr lang="en-US" sz="2750" dirty="0"/>
          </a:p>
        </p:txBody>
      </p:sp>
      <p:sp>
        <p:nvSpPr>
          <p:cNvPr id="11" name="Shape 6"/>
          <p:cNvSpPr/>
          <p:nvPr/>
        </p:nvSpPr>
        <p:spPr>
          <a:xfrm>
            <a:off x="805041" y="4928691"/>
            <a:ext cx="25399" cy="1096963"/>
          </a:xfrm>
          <a:prstGeom prst="roundRect">
            <a:avLst>
              <a:gd name="adj" fmla="val 60001"/>
            </a:avLst>
          </a:prstGeom>
          <a:solidFill>
            <a:srgbClr val="020100"/>
          </a:solidFill>
          <a:ln/>
        </p:spPr>
      </p:sp>
      <p:sp>
        <p:nvSpPr>
          <p:cNvPr id="12" name="Text 7"/>
          <p:cNvSpPr/>
          <p:nvPr/>
        </p:nvSpPr>
        <p:spPr>
          <a:xfrm>
            <a:off x="1106956" y="5155109"/>
            <a:ext cx="10279698"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"Word made flesh, help us to speak your name clearly, carefully, and courageously. May our theology serve the truth and serve the poor. Amen."</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2026-07-01T15:42:32Z</dcterms:created>
  <dcterms:modified xsi:type="dcterms:W3CDTF">2026-07-01T15:42:32Z</dcterms:modified>
</cp:coreProperties>
</file>