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7.png"/><Relationship Id="rId10" Type="http://schemas.openxmlformats.org/officeDocument/2006/relationships/image" Target="../media/image-8-8.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1334393"/>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8: Applying Theology in Pastoral Life + Commitment Ceremony</a:t>
            </a:r>
            <a:endParaRPr lang="en-US" sz="3450" dirty="0"/>
          </a:p>
        </p:txBody>
      </p:sp>
      <p:sp>
        <p:nvSpPr>
          <p:cNvPr id="3" name="Text 1"/>
          <p:cNvSpPr/>
          <p:nvPr/>
        </p:nvSpPr>
        <p:spPr>
          <a:xfrm>
            <a:off x="805041" y="2843808"/>
            <a:ext cx="11191198"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Duration 45 minutes</a:t>
            </a:r>
            <a:endParaRPr lang="en-US" sz="1550" dirty="0"/>
          </a:p>
        </p:txBody>
      </p:sp>
      <p:sp>
        <p:nvSpPr>
          <p:cNvPr id="4" name="Shape 2"/>
          <p:cNvSpPr/>
          <p:nvPr/>
        </p:nvSpPr>
        <p:spPr>
          <a:xfrm>
            <a:off x="805041" y="3442593"/>
            <a:ext cx="10581613" cy="25400"/>
          </a:xfrm>
          <a:prstGeom prst="roundRect">
            <a:avLst>
              <a:gd name="adj" fmla="val 59999"/>
            </a:avLst>
          </a:prstGeom>
          <a:solidFill>
            <a:srgbClr val="000000">
              <a:alpha val="50000"/>
            </a:srgbClr>
          </a:solidFill>
          <a:ln/>
        </p:spPr>
      </p:sp>
      <p:sp>
        <p:nvSpPr>
          <p:cNvPr id="5" name="Shape 3"/>
          <p:cNvSpPr/>
          <p:nvPr/>
        </p:nvSpPr>
        <p:spPr>
          <a:xfrm>
            <a:off x="805041" y="3744714"/>
            <a:ext cx="3392998" cy="1778893"/>
          </a:xfrm>
          <a:prstGeom prst="roundRect">
            <a:avLst>
              <a:gd name="adj" fmla="val 4752"/>
            </a:avLst>
          </a:prstGeom>
          <a:solidFill>
            <a:srgbClr val="FFE6CC"/>
          </a:solidFill>
          <a:ln w="6350">
            <a:solidFill>
              <a:srgbClr val="E5CCB2"/>
            </a:solidFill>
            <a:prstDash val="solid"/>
          </a:ln>
        </p:spPr>
      </p:sp>
      <p:sp>
        <p:nvSpPr>
          <p:cNvPr id="6" name="Text 4"/>
          <p:cNvSpPr/>
          <p:nvPr/>
        </p:nvSpPr>
        <p:spPr>
          <a:xfrm>
            <a:off x="1012601" y="3952280"/>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1</a:t>
            </a:r>
            <a:endParaRPr lang="en-US" sz="1700" dirty="0"/>
          </a:p>
        </p:txBody>
      </p:sp>
      <p:sp>
        <p:nvSpPr>
          <p:cNvPr id="7" name="Text 5"/>
          <p:cNvSpPr/>
          <p:nvPr/>
        </p:nvSpPr>
        <p:spPr>
          <a:xfrm>
            <a:off x="1012601" y="4349849"/>
            <a:ext cx="2977877"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Show concrete examples of theology applied in pastoral practice</a:t>
            </a:r>
            <a:endParaRPr lang="en-US" sz="1550" dirty="0"/>
          </a:p>
        </p:txBody>
      </p:sp>
      <p:sp>
        <p:nvSpPr>
          <p:cNvPr id="8" name="Shape 6"/>
          <p:cNvSpPr/>
          <p:nvPr/>
        </p:nvSpPr>
        <p:spPr>
          <a:xfrm>
            <a:off x="4399249" y="3744714"/>
            <a:ext cx="3393097" cy="1778893"/>
          </a:xfrm>
          <a:prstGeom prst="roundRect">
            <a:avLst>
              <a:gd name="adj" fmla="val 4752"/>
            </a:avLst>
          </a:prstGeom>
          <a:solidFill>
            <a:srgbClr val="FFE6CC"/>
          </a:solidFill>
          <a:ln w="6350">
            <a:solidFill>
              <a:srgbClr val="E5CCB2"/>
            </a:solidFill>
            <a:prstDash val="solid"/>
          </a:ln>
        </p:spPr>
      </p:sp>
      <p:sp>
        <p:nvSpPr>
          <p:cNvPr id="9" name="Text 7"/>
          <p:cNvSpPr/>
          <p:nvPr/>
        </p:nvSpPr>
        <p:spPr>
          <a:xfrm>
            <a:off x="4606810" y="3952280"/>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2</a:t>
            </a:r>
            <a:endParaRPr lang="en-US" sz="1700" dirty="0"/>
          </a:p>
        </p:txBody>
      </p:sp>
      <p:sp>
        <p:nvSpPr>
          <p:cNvPr id="10" name="Text 8"/>
          <p:cNvSpPr/>
          <p:nvPr/>
        </p:nvSpPr>
        <p:spPr>
          <a:xfrm>
            <a:off x="4606810" y="4349849"/>
            <a:ext cx="297797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Address the challenges facing the Indian theologian</a:t>
            </a:r>
            <a:endParaRPr lang="en-US" sz="1550" dirty="0"/>
          </a:p>
        </p:txBody>
      </p:sp>
      <p:sp>
        <p:nvSpPr>
          <p:cNvPr id="11" name="Shape 9"/>
          <p:cNvSpPr/>
          <p:nvPr/>
        </p:nvSpPr>
        <p:spPr>
          <a:xfrm>
            <a:off x="7993557" y="3744714"/>
            <a:ext cx="3393097" cy="1778893"/>
          </a:xfrm>
          <a:prstGeom prst="roundRect">
            <a:avLst>
              <a:gd name="adj" fmla="val 4752"/>
            </a:avLst>
          </a:prstGeom>
          <a:solidFill>
            <a:srgbClr val="FFE6CC"/>
          </a:solidFill>
          <a:ln w="6350">
            <a:solidFill>
              <a:srgbClr val="E5CCB2"/>
            </a:solidFill>
            <a:prstDash val="solid"/>
          </a:ln>
        </p:spPr>
      </p:sp>
      <p:sp>
        <p:nvSpPr>
          <p:cNvPr id="12" name="Text 10"/>
          <p:cNvSpPr/>
          <p:nvPr/>
        </p:nvSpPr>
        <p:spPr>
          <a:xfrm>
            <a:off x="8201117" y="3952280"/>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 3</a:t>
            </a:r>
            <a:endParaRPr lang="en-US" sz="1700" dirty="0"/>
          </a:p>
        </p:txBody>
      </p:sp>
      <p:sp>
        <p:nvSpPr>
          <p:cNvPr id="13" name="Text 11"/>
          <p:cNvSpPr/>
          <p:nvPr/>
        </p:nvSpPr>
        <p:spPr>
          <a:xfrm>
            <a:off x="8201117" y="4349849"/>
            <a:ext cx="2977976"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Close the orientation with a commitment ceremony and blessing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558304"/>
            <a:ext cx="4913686"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sp>
      <p:sp>
        <p:nvSpPr>
          <p:cNvPr id="4" name="Shape 2"/>
          <p:cNvSpPr/>
          <p:nvPr/>
        </p:nvSpPr>
        <p:spPr>
          <a:xfrm>
            <a:off x="5409221" y="1502470"/>
            <a:ext cx="513246" cy="19050"/>
          </a:xfrm>
          <a:prstGeom prst="roundRect">
            <a:avLst>
              <a:gd name="adj" fmla="val 377198"/>
            </a:avLst>
          </a:prstGeom>
          <a:solidFill>
            <a:srgbClr val="E5CCB2"/>
          </a:solidFill>
          <a:ln/>
        </p:spPr>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sp>
      <p:sp>
        <p:nvSpPr>
          <p:cNvPr id="6" name="Text 4"/>
          <p:cNvSpPr/>
          <p:nvPr/>
        </p:nvSpPr>
        <p:spPr>
          <a:xfrm>
            <a:off x="5982890" y="1370856"/>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7" name="Text 5"/>
          <p:cNvSpPr/>
          <p:nvPr/>
        </p:nvSpPr>
        <p:spPr>
          <a:xfrm>
            <a:off x="3358570" y="1378347"/>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0:00 – 0:07</a:t>
            </a:r>
            <a:endParaRPr lang="en-US" sz="1450" dirty="0"/>
          </a:p>
        </p:txBody>
      </p:sp>
      <p:sp>
        <p:nvSpPr>
          <p:cNvPr id="8" name="Text 6"/>
          <p:cNvSpPr/>
          <p:nvPr/>
        </p:nvSpPr>
        <p:spPr>
          <a:xfrm>
            <a:off x="805041" y="1700808"/>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t>
            </a:r>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 "Theology on the Bus" — closing game</a:t>
            </a:r>
            <a:endParaRPr lang="en-US" sz="1300" dirty="0"/>
          </a:p>
        </p:txBody>
      </p:sp>
      <p:sp>
        <p:nvSpPr>
          <p:cNvPr id="9" name="Shape 7"/>
          <p:cNvSpPr/>
          <p:nvPr/>
        </p:nvSpPr>
        <p:spPr>
          <a:xfrm>
            <a:off x="6269228" y="2477591"/>
            <a:ext cx="513246" cy="19050"/>
          </a:xfrm>
          <a:prstGeom prst="roundRect">
            <a:avLst>
              <a:gd name="adj" fmla="val 377198"/>
            </a:avLst>
          </a:prstGeom>
          <a:solidFill>
            <a:srgbClr val="E5CCB2"/>
          </a:solidFill>
          <a:ln/>
        </p:spPr>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sp>
      <p:sp>
        <p:nvSpPr>
          <p:cNvPr id="11" name="Text 9"/>
          <p:cNvSpPr/>
          <p:nvPr/>
        </p:nvSpPr>
        <p:spPr>
          <a:xfrm>
            <a:off x="5982890" y="234597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2" name="Text 10"/>
          <p:cNvSpPr/>
          <p:nvPr/>
        </p:nvSpPr>
        <p:spPr>
          <a:xfrm>
            <a:off x="6951191" y="235346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0:07 – 0:22</a:t>
            </a:r>
            <a:endParaRPr lang="en-US" sz="1450" dirty="0"/>
          </a:p>
        </p:txBody>
      </p:sp>
      <p:sp>
        <p:nvSpPr>
          <p:cNvPr id="13" name="Text 11"/>
          <p:cNvSpPr/>
          <p:nvPr/>
        </p:nvSpPr>
        <p:spPr>
          <a:xfrm>
            <a:off x="6951191" y="267593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Applying theology: four case studies</a:t>
            </a:r>
            <a:endParaRPr lang="en-US" sz="1300" dirty="0"/>
          </a:p>
        </p:txBody>
      </p:sp>
      <p:sp>
        <p:nvSpPr>
          <p:cNvPr id="14" name="Shape 12"/>
          <p:cNvSpPr/>
          <p:nvPr/>
        </p:nvSpPr>
        <p:spPr>
          <a:xfrm>
            <a:off x="5409221" y="3336727"/>
            <a:ext cx="513246" cy="19050"/>
          </a:xfrm>
          <a:prstGeom prst="roundRect">
            <a:avLst>
              <a:gd name="adj" fmla="val 377198"/>
            </a:avLst>
          </a:prstGeom>
          <a:solidFill>
            <a:srgbClr val="E5CCB2"/>
          </a:solidFill>
          <a:ln/>
        </p:spPr>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sp>
      <p:sp>
        <p:nvSpPr>
          <p:cNvPr id="16" name="Text 14"/>
          <p:cNvSpPr/>
          <p:nvPr/>
        </p:nvSpPr>
        <p:spPr>
          <a:xfrm>
            <a:off x="5982890" y="320511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7" name="Text 15"/>
          <p:cNvSpPr/>
          <p:nvPr/>
        </p:nvSpPr>
        <p:spPr>
          <a:xfrm>
            <a:off x="3358570" y="321260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0:22 – 0:35</a:t>
            </a:r>
            <a:endParaRPr lang="en-US" sz="1450" dirty="0"/>
          </a:p>
        </p:txBody>
      </p:sp>
      <p:sp>
        <p:nvSpPr>
          <p:cNvPr id="18" name="Text 16"/>
          <p:cNvSpPr/>
          <p:nvPr/>
        </p:nvSpPr>
        <p:spPr>
          <a:xfrm>
            <a:off x="805041" y="353506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Challenges of the Indian theologian</a:t>
            </a:r>
            <a:endParaRPr lang="en-US" sz="1300" dirty="0"/>
          </a:p>
        </p:txBody>
      </p:sp>
      <p:sp>
        <p:nvSpPr>
          <p:cNvPr id="19" name="Shape 17"/>
          <p:cNvSpPr/>
          <p:nvPr/>
        </p:nvSpPr>
        <p:spPr>
          <a:xfrm>
            <a:off x="6269228" y="4195862"/>
            <a:ext cx="513246" cy="19050"/>
          </a:xfrm>
          <a:prstGeom prst="roundRect">
            <a:avLst>
              <a:gd name="adj" fmla="val 377198"/>
            </a:avLst>
          </a:prstGeom>
          <a:solidFill>
            <a:srgbClr val="E5CCB2"/>
          </a:solidFill>
          <a:ln/>
        </p:spPr>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sp>
      <p:sp>
        <p:nvSpPr>
          <p:cNvPr id="21" name="Text 19"/>
          <p:cNvSpPr/>
          <p:nvPr/>
        </p:nvSpPr>
        <p:spPr>
          <a:xfrm>
            <a:off x="5982890" y="406424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2" name="Text 20"/>
          <p:cNvSpPr/>
          <p:nvPr/>
        </p:nvSpPr>
        <p:spPr>
          <a:xfrm>
            <a:off x="6951191" y="407173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0:35 – 0:43</a:t>
            </a:r>
            <a:endParaRPr lang="en-US" sz="1450" dirty="0"/>
          </a:p>
        </p:txBody>
      </p:sp>
      <p:sp>
        <p:nvSpPr>
          <p:cNvPr id="23" name="Text 21"/>
          <p:cNvSpPr/>
          <p:nvPr/>
        </p:nvSpPr>
        <p:spPr>
          <a:xfrm>
            <a:off x="6951191" y="439420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Commitment Ceremony — "I AM A THEOLOGIAN"</a:t>
            </a:r>
            <a:endParaRPr lang="en-US" sz="1300" dirty="0"/>
          </a:p>
        </p:txBody>
      </p:sp>
      <p:sp>
        <p:nvSpPr>
          <p:cNvPr id="24" name="Shape 22"/>
          <p:cNvSpPr/>
          <p:nvPr/>
        </p:nvSpPr>
        <p:spPr>
          <a:xfrm>
            <a:off x="5409221" y="5054997"/>
            <a:ext cx="513246" cy="19050"/>
          </a:xfrm>
          <a:prstGeom prst="roundRect">
            <a:avLst>
              <a:gd name="adj" fmla="val 377198"/>
            </a:avLst>
          </a:prstGeom>
          <a:solidFill>
            <a:srgbClr val="E5CCB2"/>
          </a:solidFill>
          <a:ln/>
        </p:spPr>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sp>
      <p:sp>
        <p:nvSpPr>
          <p:cNvPr id="26" name="Text 24"/>
          <p:cNvSpPr/>
          <p:nvPr/>
        </p:nvSpPr>
        <p:spPr>
          <a:xfrm>
            <a:off x="5982890" y="492338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
        <p:nvSpPr>
          <p:cNvPr id="27" name="Text 25"/>
          <p:cNvSpPr/>
          <p:nvPr/>
        </p:nvSpPr>
        <p:spPr>
          <a:xfrm>
            <a:off x="3358570" y="493087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0:43 – 0:45</a:t>
            </a:r>
            <a:endParaRPr lang="en-US" sz="1450" dirty="0"/>
          </a:p>
        </p:txBody>
      </p:sp>
      <p:sp>
        <p:nvSpPr>
          <p:cNvPr id="28" name="Text 26"/>
          <p:cNvSpPr/>
          <p:nvPr/>
        </p:nvSpPr>
        <p:spPr>
          <a:xfrm>
            <a:off x="805041" y="525333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Final Blessing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1028799"/>
            <a:ext cx="7232469"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GAME: Theology on the Bus</a:t>
            </a:r>
            <a:endParaRPr lang="en-US" sz="3450" dirty="0"/>
          </a:p>
        </p:txBody>
      </p:sp>
      <p:sp>
        <p:nvSpPr>
          <p:cNvPr id="3" name="Text 1"/>
          <p:cNvSpPr/>
          <p:nvPr/>
        </p:nvSpPr>
        <p:spPr>
          <a:xfrm>
            <a:off x="805041" y="1984772"/>
            <a:ext cx="11191198" cy="322064"/>
          </a:xfrm>
          <a:prstGeom prst="rect">
            <a:avLst/>
          </a:prstGeom>
          <a:noFill/>
          <a:ln/>
        </p:spPr>
        <p:txBody>
          <a:bodyPr wrap="none" lIns="0" tIns="0" rIns="0" bIns="0" rtlCol="0" anchor="t"/>
          <a:lstStyle/>
          <a:p>
            <a:pPr algn="l" indent="0" marL="0">
              <a:lnSpc>
                <a:spcPct val="133000"/>
              </a:lnSpc>
              <a:buNone/>
            </a:pPr>
            <a:r>
              <a:rPr lang="en-US" sz="1550" i="1" dirty="0">
                <a:solidFill>
                  <a:srgbClr val="000000"/>
                </a:solidFill>
                <a:latin typeface="Fira Sans" pitchFamily="34" charset="0"/>
                <a:ea typeface="Fira Sans" pitchFamily="34" charset="-122"/>
                <a:cs typeface="Fira Sans" pitchFamily="34" charset="-120"/>
              </a:rPr>
              <a:t>7 minutes</a:t>
            </a:r>
            <a:endParaRPr lang="en-US" sz="1550" dirty="0"/>
          </a:p>
        </p:txBody>
      </p:sp>
      <p:sp>
        <p:nvSpPr>
          <p:cNvPr id="4" name="Shape 2"/>
          <p:cNvSpPr/>
          <p:nvPr/>
        </p:nvSpPr>
        <p:spPr>
          <a:xfrm>
            <a:off x="660185" y="2533253"/>
            <a:ext cx="5335057" cy="3295848"/>
          </a:xfrm>
          <a:prstGeom prst="roundRect">
            <a:avLst>
              <a:gd name="adj" fmla="val 4397"/>
            </a:avLst>
          </a:prstGeom>
          <a:solidFill>
            <a:srgbClr val="493F36"/>
          </a:solidFill>
          <a:ln/>
        </p:spPr>
      </p:sp>
      <p:sp>
        <p:nvSpPr>
          <p:cNvPr id="5" name="Text 3"/>
          <p:cNvSpPr/>
          <p:nvPr/>
        </p:nvSpPr>
        <p:spPr>
          <a:xfrm>
            <a:off x="861396" y="2734469"/>
            <a:ext cx="2823596" cy="276820"/>
          </a:xfrm>
          <a:prstGeom prst="rect">
            <a:avLst/>
          </a:prstGeom>
          <a:noFill/>
          <a:ln/>
        </p:spPr>
        <p:txBody>
          <a:bodyPr wrap="none" lIns="0" tIns="0" rIns="0" bIns="0" rtlCol="0" anchor="t"/>
          <a:lstStyle/>
          <a:p>
            <a:pPr algn="l" indent="0" marL="0">
              <a:lnSpc>
                <a:spcPct val="104000"/>
              </a:lnSpc>
              <a:buNone/>
            </a:pPr>
            <a:r>
              <a:rPr lang="en-US" sz="1700" b="1" dirty="0">
                <a:solidFill>
                  <a:srgbClr val="FFFFFF"/>
                </a:solidFill>
                <a:latin typeface="Libre Baskerville Bold" pitchFamily="34" charset="0"/>
                <a:ea typeface="Libre Baskerville Bold" pitchFamily="34" charset="-122"/>
                <a:cs typeface="Libre Baskerville Bold" pitchFamily="34" charset="-120"/>
              </a:rPr>
              <a:t>The Scenario</a:t>
            </a:r>
            <a:endParaRPr lang="en-US" sz="1700" dirty="0"/>
          </a:p>
        </p:txBody>
      </p:sp>
      <p:sp>
        <p:nvSpPr>
          <p:cNvPr id="6" name="Text 4"/>
          <p:cNvSpPr/>
          <p:nvPr/>
        </p:nvSpPr>
        <p:spPr>
          <a:xfrm>
            <a:off x="861396" y="3212505"/>
            <a:ext cx="4932636" cy="2435523"/>
          </a:xfrm>
          <a:prstGeom prst="rect">
            <a:avLst/>
          </a:prstGeom>
          <a:noFill/>
          <a:ln/>
        </p:spPr>
        <p:txBody>
          <a:bodyPr wrap="square" lIns="0" tIns="0" rIns="0" bIns="0" rtlCol="0" anchor="t">
            <a:normAutofit/>
          </a:bodyPr>
          <a:lstStyle/>
          <a:p>
            <a:pPr algn="l" indent="0" marL="0">
              <a:lnSpc>
                <a:spcPct val="133000"/>
              </a:lnSpc>
              <a:spcAft>
                <a:spcPts val="1400"/>
              </a:spcAft>
              <a:buNone/>
            </a:pPr>
            <a:r>
              <a:rPr lang="en-US" sz="1550" dirty="0">
                <a:solidFill>
                  <a:srgbClr val="FFFFFF"/>
                </a:solidFill>
                <a:latin typeface="Fira Sans" pitchFamily="34" charset="0"/>
                <a:ea typeface="Fira Sans" pitchFamily="34" charset="-122"/>
                <a:cs typeface="Fira Sans" pitchFamily="34" charset="-120"/>
              </a:rPr>
              <a:t>You are on a bus. The person next to you asks: "What do you study?" You say: "Theology." They say: "What on earth is that useful for?"</a:t>
            </a:r>
            <a:endParaRPr lang="en-US" sz="1550" dirty="0"/>
          </a:p>
          <a:p>
            <a:pPr algn="l" indent="0" marL="0">
              <a:lnSpc>
                <a:spcPct val="133000"/>
              </a:lnSpc>
              <a:buNone/>
            </a:pPr>
            <a:r>
              <a:rPr lang="en-US" sz="1550" dirty="0">
                <a:solidFill>
                  <a:srgbClr val="FFFFFF"/>
                </a:solidFill>
                <a:latin typeface="Fira Sans" pitchFamily="34" charset="0"/>
                <a:ea typeface="Fira Sans" pitchFamily="34" charset="-122"/>
                <a:cs typeface="Fira Sans" pitchFamily="34" charset="-120"/>
              </a:rPr>
              <a:t>Give students 90 seconds to write a 30-second answer — in simple language, no jargon. Then three volunteers share theirs. The class votes on which answer was most effective.</a:t>
            </a:r>
            <a:endParaRPr lang="en-US" sz="1550" dirty="0"/>
          </a:p>
        </p:txBody>
      </p:sp>
      <p:sp>
        <p:nvSpPr>
          <p:cNvPr id="7" name="Shape 5"/>
          <p:cNvSpPr/>
          <p:nvPr/>
        </p:nvSpPr>
        <p:spPr>
          <a:xfrm>
            <a:off x="6347658" y="2759670"/>
            <a:ext cx="5045346" cy="1757362"/>
          </a:xfrm>
          <a:prstGeom prst="roundRect">
            <a:avLst>
              <a:gd name="adj" fmla="val 4810"/>
            </a:avLst>
          </a:prstGeom>
          <a:solidFill>
            <a:srgbClr val="FFE6CC"/>
          </a:solidFill>
          <a:ln/>
        </p:spPr>
      </p:sp>
      <p:pic>
        <p:nvPicPr>
          <p:cNvPr id="8" name="Image 0" descr="preencoded.png">    </p:cNvPr>
          <p:cNvPicPr>
            <a:picLocks noChangeAspect="1"/>
          </p:cNvPicPr>
          <p:nvPr/>
        </p:nvPicPr>
        <p:blipFill>
          <a:blip r:embed="rId1"/>
          <a:stretch>
            <a:fillRect/>
          </a:stretch>
        </p:blipFill>
        <p:spPr>
          <a:xfrm>
            <a:off x="6548869" y="3063677"/>
            <a:ext cx="251513" cy="201216"/>
          </a:xfrm>
          <a:prstGeom prst="rect">
            <a:avLst/>
          </a:prstGeom>
        </p:spPr>
      </p:pic>
      <p:sp>
        <p:nvSpPr>
          <p:cNvPr id="9" name="Text 6"/>
          <p:cNvSpPr/>
          <p:nvPr/>
        </p:nvSpPr>
        <p:spPr>
          <a:xfrm>
            <a:off x="7001593" y="2991048"/>
            <a:ext cx="4190201" cy="129460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t>
            </a:r>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 "If your answer involved the words 'ontological,' 'eschatological,' or 'hypostatic union,' you have failed the assignment. The fellow on the bus will move to another seat."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694134"/>
            <a:ext cx="10581613" cy="1106884"/>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CORE CONTENT: Four Case Studies in Applied Theology</a:t>
            </a:r>
            <a:endParaRPr lang="en-US" sz="3450" dirty="0"/>
          </a:p>
        </p:txBody>
      </p:sp>
      <p:sp>
        <p:nvSpPr>
          <p:cNvPr id="3" name="Text 1"/>
          <p:cNvSpPr/>
          <p:nvPr/>
        </p:nvSpPr>
        <p:spPr>
          <a:xfrm>
            <a:off x="805041" y="1881485"/>
            <a:ext cx="8048225"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CASE 1: The Funeral of a Suicide Victim</a:t>
            </a:r>
            <a:endParaRPr lang="en-US" sz="2750" dirty="0"/>
          </a:p>
        </p:txBody>
      </p:sp>
      <p:sp>
        <p:nvSpPr>
          <p:cNvPr id="4" name="Text 2"/>
          <p:cNvSpPr/>
          <p:nvPr/>
        </p:nvSpPr>
        <p:spPr>
          <a:xfrm>
            <a:off x="805041" y="2626122"/>
            <a:ext cx="10581613"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 young man from your parish takes his own life after failing his Class 12 exams. The family asks for a Catholic funeral. The old canon law refused sacraments to suicides. The new Code of Canon Law (can. 1184) leaves room for pastoral judgment if there is no outward manifestation of rejection of faith.</a:t>
            </a:r>
            <a:endParaRPr lang="en-US" sz="1550" dirty="0"/>
          </a:p>
        </p:txBody>
      </p:sp>
      <p:sp>
        <p:nvSpPr>
          <p:cNvPr id="5" name="Text 3"/>
          <p:cNvSpPr/>
          <p:nvPr/>
        </p:nvSpPr>
        <p:spPr>
          <a:xfrm>
            <a:off x="805041" y="3894237"/>
            <a:ext cx="3010817"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The theological task:</a:t>
            </a:r>
            <a:endParaRPr lang="en-US" sz="17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45" y="4482902"/>
            <a:ext cx="301915" cy="301923"/>
          </a:xfrm>
          <a:prstGeom prst="rect">
            <a:avLst/>
          </a:prstGeom>
        </p:spPr>
      </p:pic>
      <p:sp>
        <p:nvSpPr>
          <p:cNvPr id="7" name="Text 4"/>
          <p:cNvSpPr/>
          <p:nvPr/>
        </p:nvSpPr>
        <p:spPr>
          <a:xfrm>
            <a:off x="1459074" y="4472980"/>
            <a:ext cx="4510967"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Apply the Church's teaching on human dignity, God's mercy, and mental health.</a:t>
            </a:r>
            <a:endParaRPr lang="en-US" sz="15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6959" y="4482902"/>
            <a:ext cx="301915" cy="301923"/>
          </a:xfrm>
          <a:prstGeom prst="rect">
            <a:avLst/>
          </a:prstGeom>
        </p:spPr>
      </p:pic>
      <p:sp>
        <p:nvSpPr>
          <p:cNvPr id="9" name="Text 5"/>
          <p:cNvSpPr/>
          <p:nvPr/>
        </p:nvSpPr>
        <p:spPr>
          <a:xfrm>
            <a:off x="6875588" y="4472980"/>
            <a:ext cx="451106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Understand culpa (guilt) and imputability (moral responsibility).</a:t>
            </a:r>
            <a:endParaRPr lang="en-US" sz="15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0445" y="5529560"/>
            <a:ext cx="301915" cy="301923"/>
          </a:xfrm>
          <a:prstGeom prst="rect">
            <a:avLst/>
          </a:prstGeom>
        </p:spPr>
      </p:pic>
      <p:sp>
        <p:nvSpPr>
          <p:cNvPr id="11" name="Text 6"/>
          <p:cNvSpPr/>
          <p:nvPr/>
        </p:nvSpPr>
        <p:spPr>
          <a:xfrm>
            <a:off x="1459074" y="5519638"/>
            <a:ext cx="4510967" cy="322064"/>
          </a:xfrm>
          <a:prstGeom prst="rect">
            <a:avLst/>
          </a:prstGeom>
          <a:noFill/>
          <a:ln/>
        </p:spPr>
        <p:txBody>
          <a:bodyPr wrap="none" lIns="0" tIns="0" rIns="0" bIns="0" rtlCol="0" anchor="t"/>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Provide pastoral care to a family in crisis.</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96959" y="5529560"/>
            <a:ext cx="301915" cy="301923"/>
          </a:xfrm>
          <a:prstGeom prst="rect">
            <a:avLst/>
          </a:prstGeom>
        </p:spPr>
      </p:pic>
      <p:sp>
        <p:nvSpPr>
          <p:cNvPr id="13" name="Text 7"/>
          <p:cNvSpPr/>
          <p:nvPr/>
        </p:nvSpPr>
        <p:spPr>
          <a:xfrm>
            <a:off x="6875588" y="5519638"/>
            <a:ext cx="451106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Preach at the funeral in a way that neither condemns the dead nor deceives the living.</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1237555"/>
            <a:ext cx="6640346"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CASE 2: The Interfaith Wedding</a:t>
            </a:r>
            <a:endParaRPr lang="en-US" sz="2750" dirty="0"/>
          </a:p>
        </p:txBody>
      </p:sp>
      <p:sp>
        <p:nvSpPr>
          <p:cNvPr id="3" name="Text 1"/>
          <p:cNvSpPr/>
          <p:nvPr/>
        </p:nvSpPr>
        <p:spPr>
          <a:xfrm>
            <a:off x="805041" y="2082800"/>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 Catholic woman wants to marry a Hindu man. Both families are present and involved. The parish priest is asked to perform the ceremony.</a:t>
            </a:r>
            <a:endParaRPr lang="en-US" sz="1550" dirty="0"/>
          </a:p>
        </p:txBody>
      </p:sp>
      <p:sp>
        <p:nvSpPr>
          <p:cNvPr id="4" name="Text 2"/>
          <p:cNvSpPr/>
          <p:nvPr/>
        </p:nvSpPr>
        <p:spPr>
          <a:xfrm>
            <a:off x="805041" y="3028851"/>
            <a:ext cx="3010817"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The theological task:</a:t>
            </a:r>
            <a:endParaRPr lang="en-US" sz="17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45" y="3617516"/>
            <a:ext cx="301915" cy="301923"/>
          </a:xfrm>
          <a:prstGeom prst="rect">
            <a:avLst/>
          </a:prstGeom>
        </p:spPr>
      </p:pic>
      <p:sp>
        <p:nvSpPr>
          <p:cNvPr id="6" name="Text 3"/>
          <p:cNvSpPr/>
          <p:nvPr/>
        </p:nvSpPr>
        <p:spPr>
          <a:xfrm>
            <a:off x="1459074" y="3607594"/>
            <a:ext cx="4510967"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Understand the Church's norms on mixed marriages and disparity of cult (CIC can. 1086, 1124–1125).</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6959" y="3617516"/>
            <a:ext cx="301915" cy="301923"/>
          </a:xfrm>
          <a:prstGeom prst="rect">
            <a:avLst/>
          </a:prstGeom>
        </p:spPr>
      </p:pic>
      <p:sp>
        <p:nvSpPr>
          <p:cNvPr id="8" name="Text 4"/>
          <p:cNvSpPr/>
          <p:nvPr/>
        </p:nvSpPr>
        <p:spPr>
          <a:xfrm>
            <a:off x="6875588" y="3607594"/>
            <a:ext cx="451106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Apply Amoris Laetitia's call for accompaniment and discernment.</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0445" y="4986238"/>
            <a:ext cx="301915" cy="301923"/>
          </a:xfrm>
          <a:prstGeom prst="rect">
            <a:avLst/>
          </a:prstGeom>
        </p:spPr>
      </p:pic>
      <p:sp>
        <p:nvSpPr>
          <p:cNvPr id="10" name="Text 5"/>
          <p:cNvSpPr/>
          <p:nvPr/>
        </p:nvSpPr>
        <p:spPr>
          <a:xfrm>
            <a:off x="1459074" y="4976316"/>
            <a:ext cx="4510967"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Prepare the couple for the challenges of raising children in a religiously plural home.</a:t>
            </a:r>
            <a:endParaRPr lang="en-US" sz="155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96959" y="4986238"/>
            <a:ext cx="301915" cy="301923"/>
          </a:xfrm>
          <a:prstGeom prst="rect">
            <a:avLst/>
          </a:prstGeom>
        </p:spPr>
      </p:pic>
      <p:sp>
        <p:nvSpPr>
          <p:cNvPr id="12" name="Text 6"/>
          <p:cNvSpPr/>
          <p:nvPr/>
        </p:nvSpPr>
        <p:spPr>
          <a:xfrm>
            <a:off x="6875588" y="4976316"/>
            <a:ext cx="4511066"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Model interreligious respect without compromising Catholic identity.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1116707"/>
            <a:ext cx="5678643"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CASE 3: The Protest March</a:t>
            </a:r>
            <a:endParaRPr lang="en-US" sz="2750" dirty="0"/>
          </a:p>
        </p:txBody>
      </p:sp>
      <p:sp>
        <p:nvSpPr>
          <p:cNvPr id="3" name="Text 1"/>
          <p:cNvSpPr/>
          <p:nvPr/>
        </p:nvSpPr>
        <p:spPr>
          <a:xfrm>
            <a:off x="805041" y="1961952"/>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Tribal farmers in your parish area are being displaced by a dam project. They ask the parish priest to lead a protest march. The local bishop is cautious. The collector's office has warned of "consequences."</a:t>
            </a:r>
            <a:endParaRPr lang="en-US" sz="1550" dirty="0"/>
          </a:p>
        </p:txBody>
      </p:sp>
      <p:sp>
        <p:nvSpPr>
          <p:cNvPr id="4" name="Text 2"/>
          <p:cNvSpPr/>
          <p:nvPr/>
        </p:nvSpPr>
        <p:spPr>
          <a:xfrm>
            <a:off x="805041" y="2908002"/>
            <a:ext cx="3010817"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The theological task:</a:t>
            </a:r>
            <a:endParaRPr lang="en-US" sz="17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45" y="3496667"/>
            <a:ext cx="301915" cy="301923"/>
          </a:xfrm>
          <a:prstGeom prst="rect">
            <a:avLst/>
          </a:prstGeom>
        </p:spPr>
      </p:pic>
      <p:sp>
        <p:nvSpPr>
          <p:cNvPr id="6" name="Text 3"/>
          <p:cNvSpPr/>
          <p:nvPr/>
        </p:nvSpPr>
        <p:spPr>
          <a:xfrm>
            <a:off x="1459074" y="3486745"/>
            <a:ext cx="2705429" cy="225444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Apply Catholic Social Teaching — specifically, the universal destination of goods (Laudato Si', §93), the dignity of the human person, and the preferential option for the poor.</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1421" y="3496667"/>
            <a:ext cx="301915" cy="301923"/>
          </a:xfrm>
          <a:prstGeom prst="rect">
            <a:avLst/>
          </a:prstGeom>
        </p:spPr>
      </p:pic>
      <p:sp>
        <p:nvSpPr>
          <p:cNvPr id="8" name="Text 4"/>
          <p:cNvSpPr/>
          <p:nvPr/>
        </p:nvSpPr>
        <p:spPr>
          <a:xfrm>
            <a:off x="5070051" y="3486745"/>
            <a:ext cx="2705528"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Discern the difference between prophetic witness and political partisanship.</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2497" y="3496667"/>
            <a:ext cx="301915" cy="301923"/>
          </a:xfrm>
          <a:prstGeom prst="rect">
            <a:avLst/>
          </a:prstGeom>
        </p:spPr>
      </p:pic>
      <p:sp>
        <p:nvSpPr>
          <p:cNvPr id="10" name="Text 5"/>
          <p:cNvSpPr/>
          <p:nvPr/>
        </p:nvSpPr>
        <p:spPr>
          <a:xfrm>
            <a:off x="8681126" y="3486745"/>
            <a:ext cx="2705429"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Navigate obedience to the bishop and solidarity with the poor.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1438771"/>
            <a:ext cx="7260746"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CASE 4: The Youth Catechism Class</a:t>
            </a:r>
            <a:endParaRPr lang="en-US" sz="2750" dirty="0"/>
          </a:p>
        </p:txBody>
      </p:sp>
      <p:sp>
        <p:nvSpPr>
          <p:cNvPr id="3" name="Text 1"/>
          <p:cNvSpPr/>
          <p:nvPr/>
        </p:nvSpPr>
        <p:spPr>
          <a:xfrm>
            <a:off x="805041" y="2284016"/>
            <a:ext cx="10581613"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You are teaching catechism to 14-year-olds in a parish. One student asks: "Father, my Hindu friend is a better person than most Christians I know. Is he going to hell?"</a:t>
            </a:r>
            <a:endParaRPr lang="en-US" sz="1550" dirty="0"/>
          </a:p>
        </p:txBody>
      </p:sp>
      <p:sp>
        <p:nvSpPr>
          <p:cNvPr id="4" name="Text 2"/>
          <p:cNvSpPr/>
          <p:nvPr/>
        </p:nvSpPr>
        <p:spPr>
          <a:xfrm>
            <a:off x="805041" y="3230066"/>
            <a:ext cx="3010817"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The theological task:</a:t>
            </a:r>
            <a:endParaRPr lang="en-US" sz="17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45" y="3818731"/>
            <a:ext cx="301915" cy="301923"/>
          </a:xfrm>
          <a:prstGeom prst="rect">
            <a:avLst/>
          </a:prstGeom>
        </p:spPr>
      </p:pic>
      <p:sp>
        <p:nvSpPr>
          <p:cNvPr id="6" name="Text 3"/>
          <p:cNvSpPr/>
          <p:nvPr/>
        </p:nvSpPr>
        <p:spPr>
          <a:xfrm>
            <a:off x="1459074" y="3808809"/>
            <a:ext cx="4510967"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Apply Vatican II's teaching on salvation outside the Church (Lumen Gentium, §16), Karl Rahner's concept of the "anonymous Christian," and the genuine holiness present in other religious traditions (Nostra Aetate, §2).</a:t>
            </a:r>
            <a:endParaRPr lang="en-US" sz="15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6959" y="3818731"/>
            <a:ext cx="301915" cy="301923"/>
          </a:xfrm>
          <a:prstGeom prst="rect">
            <a:avLst/>
          </a:prstGeom>
        </p:spPr>
      </p:pic>
      <p:sp>
        <p:nvSpPr>
          <p:cNvPr id="8" name="Text 4"/>
          <p:cNvSpPr/>
          <p:nvPr/>
        </p:nvSpPr>
        <p:spPr>
          <a:xfrm>
            <a:off x="6875588" y="3808809"/>
            <a:ext cx="4511066"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Answer honestly, without compromise, and without a lecture that will put a 14-year-old to sleep.</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5041" y="1080492"/>
            <a:ext cx="9776672" cy="442714"/>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Libre Baskerville Bold" pitchFamily="34" charset="0"/>
                <a:ea typeface="Libre Baskerville Bold" pitchFamily="34" charset="-122"/>
                <a:cs typeface="Libre Baskerville Bold" pitchFamily="34" charset="-120"/>
              </a:rPr>
              <a:t>CHALLENGES OF THE INDIAN THEOLOGIAN</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1780778"/>
            <a:ext cx="3441316" cy="1817985"/>
          </a:xfrm>
          <a:prstGeom prst="rect">
            <a:avLst/>
          </a:prstGeom>
        </p:spPr>
      </p:pic>
      <p:sp>
        <p:nvSpPr>
          <p:cNvPr id="4" name="Text 1"/>
          <p:cNvSpPr/>
          <p:nvPr/>
        </p:nvSpPr>
        <p:spPr>
          <a:xfrm>
            <a:off x="1061217" y="1960761"/>
            <a:ext cx="2487054"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1. The Language Challenge</a:t>
            </a:r>
            <a:endParaRPr lang="en-US" sz="1350" dirty="0"/>
          </a:p>
        </p:txBody>
      </p:sp>
      <p:sp>
        <p:nvSpPr>
          <p:cNvPr id="5" name="Text 2"/>
          <p:cNvSpPr/>
          <p:nvPr/>
        </p:nvSpPr>
        <p:spPr>
          <a:xfrm>
            <a:off x="1061217" y="2259409"/>
            <a:ext cx="3005162" cy="115937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Most major theological texts are in Latin, German, French, or English. Most parishioners speak Tamil, Telugu, Hindi, Bengali, or Santhali. The theologian must bridge these worlds.</a:t>
            </a:r>
            <a:endParaRPr lang="en-US" sz="12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5140" y="1780778"/>
            <a:ext cx="3441316" cy="1817985"/>
          </a:xfrm>
          <a:prstGeom prst="rect">
            <a:avLst/>
          </a:prstGeom>
        </p:spPr>
      </p:pic>
      <p:sp>
        <p:nvSpPr>
          <p:cNvPr id="7" name="Text 3"/>
          <p:cNvSpPr/>
          <p:nvPr/>
        </p:nvSpPr>
        <p:spPr>
          <a:xfrm>
            <a:off x="4631316" y="1960761"/>
            <a:ext cx="2625362"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2. The Credibility Challenge</a:t>
            </a:r>
            <a:endParaRPr lang="en-US" sz="1350" dirty="0"/>
          </a:p>
        </p:txBody>
      </p:sp>
      <p:sp>
        <p:nvSpPr>
          <p:cNvPr id="8" name="Text 4"/>
          <p:cNvSpPr/>
          <p:nvPr/>
        </p:nvSpPr>
        <p:spPr>
          <a:xfrm>
            <a:off x="4631316" y="2259409"/>
            <a:ext cx="3005162" cy="115937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In India, a person with a degree in theology is often asked: "What can you do?" The theologian must demonstrate that theology is a form of service, not a form of luxury.</a:t>
            </a:r>
            <a:endParaRPr lang="en-US" sz="12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5239" y="1780778"/>
            <a:ext cx="3441316" cy="1817985"/>
          </a:xfrm>
          <a:prstGeom prst="rect">
            <a:avLst/>
          </a:prstGeom>
        </p:spPr>
      </p:pic>
      <p:sp>
        <p:nvSpPr>
          <p:cNvPr id="10" name="Text 5"/>
          <p:cNvSpPr/>
          <p:nvPr/>
        </p:nvSpPr>
        <p:spPr>
          <a:xfrm>
            <a:off x="8201415" y="1960761"/>
            <a:ext cx="2114199"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3. The Caste Challenge</a:t>
            </a:r>
            <a:endParaRPr lang="en-US" sz="1350" dirty="0"/>
          </a:p>
        </p:txBody>
      </p:sp>
      <p:sp>
        <p:nvSpPr>
          <p:cNvPr id="11" name="Text 6"/>
          <p:cNvSpPr/>
          <p:nvPr/>
        </p:nvSpPr>
        <p:spPr>
          <a:xfrm>
            <a:off x="8201415" y="2259409"/>
            <a:ext cx="3005162" cy="115937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Caste exists within the Church. The theologian must be willing to name it and challenge it — even when it is politically inconvenient and personally risky.</a:t>
            </a:r>
            <a:endParaRPr lang="en-US" sz="12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5041" y="3727549"/>
            <a:ext cx="3441316" cy="2049859"/>
          </a:xfrm>
          <a:prstGeom prst="rect">
            <a:avLst/>
          </a:prstGeom>
        </p:spPr>
      </p:pic>
      <p:sp>
        <p:nvSpPr>
          <p:cNvPr id="13" name="Text 7"/>
          <p:cNvSpPr/>
          <p:nvPr/>
        </p:nvSpPr>
        <p:spPr>
          <a:xfrm>
            <a:off x="1061217" y="3907532"/>
            <a:ext cx="2528031"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4. The Pluralism Challenge</a:t>
            </a:r>
            <a:endParaRPr lang="en-US" sz="1350" dirty="0"/>
          </a:p>
        </p:txBody>
      </p:sp>
      <p:sp>
        <p:nvSpPr>
          <p:cNvPr id="14" name="Text 8"/>
          <p:cNvSpPr/>
          <p:nvPr/>
        </p:nvSpPr>
        <p:spPr>
          <a:xfrm>
            <a:off x="1061217" y="4206180"/>
            <a:ext cx="3005162" cy="1391245"/>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Doing theology in India means doing theology next to Hinduism, Islam, Buddhism, and tribal religions. This is not a problem to be solved — it is a gift to be received and a challenge to be met with intellectual honesty.</a:t>
            </a:r>
            <a:endParaRPr lang="en-US" sz="12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75140" y="3727549"/>
            <a:ext cx="3441316" cy="2049859"/>
          </a:xfrm>
          <a:prstGeom prst="rect">
            <a:avLst/>
          </a:prstGeom>
        </p:spPr>
      </p:pic>
      <p:sp>
        <p:nvSpPr>
          <p:cNvPr id="16" name="Text 9"/>
          <p:cNvSpPr/>
          <p:nvPr/>
        </p:nvSpPr>
        <p:spPr>
          <a:xfrm>
            <a:off x="4631316" y="3907532"/>
            <a:ext cx="2558291" cy="221357"/>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Libre Baskerville Bold" pitchFamily="34" charset="0"/>
                <a:ea typeface="Libre Baskerville Bold" pitchFamily="34" charset="-122"/>
                <a:cs typeface="Libre Baskerville Bold" pitchFamily="34" charset="-120"/>
              </a:rPr>
              <a:t>5. The Relevance Challenge</a:t>
            </a:r>
            <a:endParaRPr lang="en-US" sz="1350" dirty="0"/>
          </a:p>
        </p:txBody>
      </p:sp>
      <p:sp>
        <p:nvSpPr>
          <p:cNvPr id="17" name="Text 10"/>
          <p:cNvSpPr/>
          <p:nvPr/>
        </p:nvSpPr>
        <p:spPr>
          <a:xfrm>
            <a:off x="4631316" y="4206180"/>
            <a:ext cx="3005162" cy="1159371"/>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000000"/>
                </a:solidFill>
                <a:latin typeface="Fira Sans" pitchFamily="34" charset="0"/>
                <a:ea typeface="Fira Sans" pitchFamily="34" charset="-122"/>
                <a:cs typeface="Fira Sans" pitchFamily="34" charset="-120"/>
              </a:rPr>
              <a:t>Pope Francis warns against "self-referential" theology that speaks only to itself. The Indian theologian must speak to the street, the village, the slum — not only to the journal and the seminar.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05041" y="754757"/>
            <a:ext cx="10394591" cy="415032"/>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Libre Baskerville Bold" pitchFamily="34" charset="0"/>
                <a:ea typeface="Libre Baskerville Bold" pitchFamily="34" charset="-122"/>
                <a:cs typeface="Libre Baskerville Bold" pitchFamily="34" charset="-120"/>
              </a:rPr>
              <a:t>COMMITMENT CEREMONY: "I AM A THEOLOGIAN"</a:t>
            </a:r>
            <a:endParaRPr lang="en-US" sz="2600" dirty="0"/>
          </a:p>
        </p:txBody>
      </p:sp>
      <p:sp>
        <p:nvSpPr>
          <p:cNvPr id="3" name="Text 1"/>
          <p:cNvSpPr/>
          <p:nvPr/>
        </p:nvSpPr>
        <p:spPr>
          <a:xfrm>
            <a:off x="805041" y="1396206"/>
            <a:ext cx="10581613" cy="549970"/>
          </a:xfrm>
          <a:prstGeom prst="rect">
            <a:avLst/>
          </a:prstGeom>
          <a:noFill/>
          <a:ln/>
        </p:spPr>
        <p:txBody>
          <a:bodyPr wrap="square" lIns="0" tIns="0" rIns="0" bIns="0" rtlCol="0" anchor="t"/>
          <a:lstStyle/>
          <a:p>
            <a:pPr algn="l" indent="0" marL="0">
              <a:lnSpc>
                <a:spcPct val="117000"/>
              </a:lnSpc>
              <a:spcAft>
                <a:spcPts val="1000"/>
              </a:spcAft>
              <a:buNone/>
            </a:pPr>
            <a:r>
              <a:rPr lang="en-US" sz="1150" i="1" dirty="0">
                <a:solidFill>
                  <a:srgbClr val="000000"/>
                </a:solidFill>
                <a:latin typeface="Fira Sans" pitchFamily="34" charset="0"/>
                <a:ea typeface="Fira Sans" pitchFamily="34" charset="-122"/>
                <a:cs typeface="Fira Sans" pitchFamily="34" charset="-120"/>
              </a:rPr>
              <a:t>CEREMONY FORMAT (8 minutes)</a:t>
            </a:r>
            <a:endParaRPr lang="en-US" sz="1150" dirty="0"/>
          </a:p>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Each student writes the following on a card (provide cards beforehand):</a:t>
            </a:r>
            <a:endParaRPr lang="en-US" sz="1150" dirty="0"/>
          </a:p>
        </p:txBody>
      </p:sp>
      <p:sp>
        <p:nvSpPr>
          <p:cNvPr id="4" name="Shape 2"/>
          <p:cNvSpPr/>
          <p:nvPr/>
        </p:nvSpPr>
        <p:spPr>
          <a:xfrm>
            <a:off x="805041" y="2073473"/>
            <a:ext cx="19050" cy="465931"/>
          </a:xfrm>
          <a:prstGeom prst="roundRect">
            <a:avLst>
              <a:gd name="adj" fmla="val 59999"/>
            </a:avLst>
          </a:prstGeom>
          <a:solidFill>
            <a:srgbClr val="020100"/>
          </a:solidFill>
          <a:ln/>
        </p:spPr>
      </p:sp>
      <p:sp>
        <p:nvSpPr>
          <p:cNvPr id="5" name="Text 3"/>
          <p:cNvSpPr/>
          <p:nvPr/>
        </p:nvSpPr>
        <p:spPr>
          <a:xfrm>
            <a:off x="1031452" y="2200771"/>
            <a:ext cx="10964787" cy="211336"/>
          </a:xfrm>
          <a:prstGeom prst="rect">
            <a:avLst/>
          </a:prstGeom>
          <a:noFill/>
          <a:ln/>
        </p:spPr>
        <p:txBody>
          <a:bodyPr wrap="none" lIns="0" tIns="0" rIns="0" bIns="0" rtlCol="0" anchor="t"/>
          <a:lstStyle/>
          <a:p>
            <a:pPr algn="l" indent="0" marL="0">
              <a:lnSpc>
                <a:spcPct val="117000"/>
              </a:lnSpc>
              <a:buNone/>
            </a:pPr>
            <a:r>
              <a:rPr lang="en-US" sz="1150" b="1" dirty="0">
                <a:solidFill>
                  <a:srgbClr val="000000"/>
                </a:solidFill>
                <a:latin typeface="Fira Sans Bold" pitchFamily="34" charset="0"/>
                <a:ea typeface="Fira Sans Bold" pitchFamily="34" charset="-122"/>
                <a:cs typeface="Fira Sans Bold" pitchFamily="34" charset="-120"/>
              </a:rPr>
              <a:t>"I, [Name], enter this study of theology with the following commitment:"</a:t>
            </a:r>
            <a:endParaRPr lang="en-US" sz="11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2666702"/>
            <a:ext cx="5234154" cy="966391"/>
          </a:xfrm>
          <a:prstGeom prst="rect">
            <a:avLst/>
          </a:prstGeom>
        </p:spPr>
      </p:pic>
      <p:sp>
        <p:nvSpPr>
          <p:cNvPr id="7" name="Text 4"/>
          <p:cNvSpPr/>
          <p:nvPr/>
        </p:nvSpPr>
        <p:spPr>
          <a:xfrm>
            <a:off x="3308863" y="2767509"/>
            <a:ext cx="226412" cy="28297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8" name="Text 5"/>
          <p:cNvSpPr/>
          <p:nvPr/>
        </p:nvSpPr>
        <p:spPr>
          <a:xfrm>
            <a:off x="974998" y="3251795"/>
            <a:ext cx="4894239" cy="211336"/>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"I will think carefully — and never settle for a cheap answer."</a:t>
            </a:r>
            <a:endParaRPr lang="en-US" sz="11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2401" y="2666702"/>
            <a:ext cx="5234253" cy="966391"/>
          </a:xfrm>
          <a:prstGeom prst="rect">
            <a:avLst/>
          </a:prstGeom>
        </p:spPr>
      </p:pic>
      <p:sp>
        <p:nvSpPr>
          <p:cNvPr id="10" name="Text 6"/>
          <p:cNvSpPr/>
          <p:nvPr/>
        </p:nvSpPr>
        <p:spPr>
          <a:xfrm>
            <a:off x="8656322" y="2767509"/>
            <a:ext cx="226412" cy="28297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1" name="Text 7"/>
          <p:cNvSpPr/>
          <p:nvPr/>
        </p:nvSpPr>
        <p:spPr>
          <a:xfrm>
            <a:off x="6322358" y="3251795"/>
            <a:ext cx="4894338" cy="211336"/>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"I will listen to the poor — because they hear God clearly."</a:t>
            </a:r>
            <a:endParaRPr lang="en-US" sz="11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5041" y="3746302"/>
            <a:ext cx="5234154" cy="966391"/>
          </a:xfrm>
          <a:prstGeom prst="rect">
            <a:avLst/>
          </a:prstGeom>
        </p:spPr>
      </p:pic>
      <p:sp>
        <p:nvSpPr>
          <p:cNvPr id="13" name="Text 8"/>
          <p:cNvSpPr/>
          <p:nvPr/>
        </p:nvSpPr>
        <p:spPr>
          <a:xfrm>
            <a:off x="3308863" y="3847108"/>
            <a:ext cx="226412" cy="28297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4" name="Text 9"/>
          <p:cNvSpPr/>
          <p:nvPr/>
        </p:nvSpPr>
        <p:spPr>
          <a:xfrm>
            <a:off x="974998" y="4331395"/>
            <a:ext cx="4894239" cy="211336"/>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"I will serve the Church — and never serve only myself."</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2401" y="3746302"/>
            <a:ext cx="5234253" cy="966391"/>
          </a:xfrm>
          <a:prstGeom prst="rect">
            <a:avLst/>
          </a:prstGeom>
        </p:spPr>
      </p:pic>
      <p:sp>
        <p:nvSpPr>
          <p:cNvPr id="16" name="Text 10"/>
          <p:cNvSpPr/>
          <p:nvPr/>
        </p:nvSpPr>
        <p:spPr>
          <a:xfrm>
            <a:off x="8656322" y="3847108"/>
            <a:ext cx="226412" cy="28297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17" name="Text 11"/>
          <p:cNvSpPr/>
          <p:nvPr/>
        </p:nvSpPr>
        <p:spPr>
          <a:xfrm>
            <a:off x="6322358" y="4331395"/>
            <a:ext cx="4894338" cy="211336"/>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My personal commitment: [student writes his own line]</a:t>
            </a:r>
            <a:endParaRPr lang="en-US" sz="1150" dirty="0"/>
          </a:p>
        </p:txBody>
      </p:sp>
      <p:sp>
        <p:nvSpPr>
          <p:cNvPr id="18" name="Text 12"/>
          <p:cNvSpPr/>
          <p:nvPr/>
        </p:nvSpPr>
        <p:spPr>
          <a:xfrm>
            <a:off x="805041" y="4839990"/>
            <a:ext cx="10581613" cy="42267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Students sign the card. The facilitator collects them, and they are placed on the altar during the closing Mass. At the end of Year 1, they are returned to each student.</a:t>
            </a:r>
            <a:endParaRPr lang="en-US" sz="1150" dirty="0"/>
          </a:p>
        </p:txBody>
      </p:sp>
      <p:sp>
        <p:nvSpPr>
          <p:cNvPr id="19" name="Shape 13"/>
          <p:cNvSpPr/>
          <p:nvPr/>
        </p:nvSpPr>
        <p:spPr>
          <a:xfrm>
            <a:off x="805041" y="5389959"/>
            <a:ext cx="10581613" cy="713184"/>
          </a:xfrm>
          <a:prstGeom prst="roundRect">
            <a:avLst>
              <a:gd name="adj" fmla="val 8890"/>
            </a:avLst>
          </a:prstGeom>
          <a:solidFill>
            <a:srgbClr val="FFE6CC"/>
          </a:solidFill>
          <a:ln/>
        </p:spPr>
      </p:sp>
      <p:pic>
        <p:nvPicPr>
          <p:cNvPr id="20" name="Image 4" descr="preencoded.png">    </p:cNvPr>
          <p:cNvPicPr>
            <a:picLocks noChangeAspect="1"/>
          </p:cNvPicPr>
          <p:nvPr/>
        </p:nvPicPr>
        <p:blipFill>
          <a:blip r:embed="rId9"/>
          <a:stretch>
            <a:fillRect/>
          </a:stretch>
        </p:blipFill>
        <p:spPr>
          <a:xfrm>
            <a:off x="955949" y="5592564"/>
            <a:ext cx="188610" cy="150912"/>
          </a:xfrm>
          <a:prstGeom prst="rect">
            <a:avLst/>
          </a:prstGeom>
        </p:spPr>
      </p:pic>
      <p:sp>
        <p:nvSpPr>
          <p:cNvPr id="21" name="Text 14"/>
          <p:cNvSpPr/>
          <p:nvPr/>
        </p:nvSpPr>
        <p:spPr>
          <a:xfrm>
            <a:off x="1295467" y="5540871"/>
            <a:ext cx="9940279" cy="42267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"If your card says your personal commitment is 'to pass all exams' — that is not entirely bad. But I recommend expanding your horizons slightly."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05041" y="1692970"/>
            <a:ext cx="5037607"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FINAL BLESSING</a:t>
            </a:r>
            <a:endParaRPr lang="en-US" sz="3450" dirty="0"/>
          </a:p>
        </p:txBody>
      </p:sp>
      <p:sp>
        <p:nvSpPr>
          <p:cNvPr id="3" name="Shape 1"/>
          <p:cNvSpPr/>
          <p:nvPr/>
        </p:nvSpPr>
        <p:spPr>
          <a:xfrm>
            <a:off x="805041" y="2648942"/>
            <a:ext cx="25399" cy="1419027"/>
          </a:xfrm>
          <a:prstGeom prst="roundRect">
            <a:avLst>
              <a:gd name="adj" fmla="val 60001"/>
            </a:avLst>
          </a:prstGeom>
          <a:solidFill>
            <a:srgbClr val="020100"/>
          </a:solidFill>
          <a:ln/>
        </p:spPr>
      </p:sp>
      <p:sp>
        <p:nvSpPr>
          <p:cNvPr id="4" name="Text 2"/>
          <p:cNvSpPr/>
          <p:nvPr/>
        </p:nvSpPr>
        <p:spPr>
          <a:xfrm>
            <a:off x="1106956" y="2875359"/>
            <a:ext cx="10279698" cy="966192"/>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"Go, then. You are now theologians — not because you have passed an exam, but because you have begun to take God, the Church, and the suffering world seriously at the same time. That is a rare and costly thing. Do it well. Do it humbly. Do it with joy. The Lord be with you."</a:t>
            </a:r>
            <a:endParaRPr lang="en-US" sz="1550" dirty="0"/>
          </a:p>
        </p:txBody>
      </p:sp>
      <p:sp>
        <p:nvSpPr>
          <p:cNvPr id="5" name="Text 3"/>
          <p:cNvSpPr/>
          <p:nvPr/>
        </p:nvSpPr>
        <p:spPr>
          <a:xfrm>
            <a:off x="805041" y="4294386"/>
            <a:ext cx="10581613" cy="870545"/>
          </a:xfrm>
          <a:prstGeom prst="rect">
            <a:avLst/>
          </a:prstGeom>
          <a:noFill/>
          <a:ln/>
        </p:spPr>
        <p:txBody>
          <a:bodyPr wrap="square" lIns="0" tIns="0" rIns="0" bIns="0" rtlCol="0" anchor="t"/>
          <a:lstStyle/>
          <a:p>
            <a:pPr algn="l" indent="0" marL="0">
              <a:lnSpc>
                <a:spcPct val="133000"/>
              </a:lnSpc>
              <a:spcAft>
                <a:spcPts val="1750"/>
              </a:spcAft>
              <a:buNone/>
            </a:pPr>
            <a:r>
              <a:rPr lang="en-US" sz="1550" dirty="0">
                <a:solidFill>
                  <a:srgbClr val="000000"/>
                </a:solidFill>
                <a:latin typeface="Fira Sans" pitchFamily="34" charset="0"/>
                <a:ea typeface="Fira Sans" pitchFamily="34" charset="-122"/>
                <a:cs typeface="Fira Sans" pitchFamily="34" charset="-120"/>
              </a:rPr>
              <a:t>All:</a:t>
            </a:r>
            <a:endParaRPr lang="en-US" sz="1550" dirty="0"/>
          </a:p>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Benediction: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2026-07-01T17:27:29Z</dcterms:created>
  <dcterms:modified xsi:type="dcterms:W3CDTF">2026-07-01T17:27:29Z</dcterms:modified>
</cp:coreProperties>
</file>