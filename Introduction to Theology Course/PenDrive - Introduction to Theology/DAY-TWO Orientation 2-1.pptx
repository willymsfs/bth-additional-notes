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9.png"/><Relationship Id="rId12" Type="http://schemas.openxmlformats.org/officeDocument/2006/relationships/image" Target="../media/image-10-10.sv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2669282"/>
            <a:ext cx="5037607"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DAY TWO</a:t>
            </a:r>
            <a:endParaRPr lang="en-US" sz="3450" dirty="0"/>
          </a:p>
        </p:txBody>
      </p:sp>
      <p:sp>
        <p:nvSpPr>
          <p:cNvPr id="3" name="Text 1"/>
          <p:cNvSpPr/>
          <p:nvPr/>
        </p:nvSpPr>
        <p:spPr>
          <a:xfrm>
            <a:off x="805041" y="3303191"/>
            <a:ext cx="10581613" cy="885428"/>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CONTEXT AND PRACTICE: INDIA AS LOCUS THEOLOGICUS</a:t>
            </a:r>
            <a:endParaRPr lang="en-US" sz="2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1313061"/>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5: The Indian Context — An Interactive Exploration</a:t>
            </a:r>
            <a:endParaRPr lang="en-US" sz="3450" dirty="0"/>
          </a:p>
        </p:txBody>
      </p:sp>
      <p:sp>
        <p:nvSpPr>
          <p:cNvPr id="3" name="Shape 1"/>
          <p:cNvSpPr/>
          <p:nvPr/>
        </p:nvSpPr>
        <p:spPr>
          <a:xfrm>
            <a:off x="660185" y="2721868"/>
            <a:ext cx="5335057" cy="2822972"/>
          </a:xfrm>
          <a:prstGeom prst="roundRect">
            <a:avLst>
              <a:gd name="adj" fmla="val 5134"/>
            </a:avLst>
          </a:prstGeom>
          <a:solidFill>
            <a:srgbClr val="493F36"/>
          </a:solidFill>
          <a:ln/>
        </p:spPr>
      </p:sp>
      <p:sp>
        <p:nvSpPr>
          <p:cNvPr id="4" name="Text 2"/>
          <p:cNvSpPr/>
          <p:nvPr/>
        </p:nvSpPr>
        <p:spPr>
          <a:xfrm>
            <a:off x="861396" y="2923084"/>
            <a:ext cx="2823596" cy="276820"/>
          </a:xfrm>
          <a:prstGeom prst="rect">
            <a:avLst/>
          </a:prstGeom>
          <a:noFill/>
          <a:ln/>
        </p:spPr>
        <p:txBody>
          <a:bodyPr wrap="none" lIns="0" tIns="0" rIns="0" bIns="0" rtlCol="0" anchor="t"/>
          <a:lstStyle/>
          <a:p>
            <a:pPr algn="l" indent="0" marL="0">
              <a:lnSpc>
                <a:spcPct val="104000"/>
              </a:lnSpc>
              <a:buNone/>
            </a:pPr>
            <a:r>
              <a:rPr lang="en-US" sz="1700" b="1" dirty="0">
                <a:solidFill>
                  <a:srgbClr val="FFFFFF"/>
                </a:solidFill>
                <a:latin typeface="Libre Baskerville Bold" pitchFamily="34" charset="0"/>
                <a:ea typeface="Libre Baskerville Bold" pitchFamily="34" charset="-122"/>
                <a:cs typeface="Libre Baskerville Bold" pitchFamily="34" charset="-120"/>
              </a:rPr>
              <a:t>Duration</a:t>
            </a:r>
            <a:endParaRPr lang="en-US" sz="1700" dirty="0"/>
          </a:p>
        </p:txBody>
      </p:sp>
      <p:sp>
        <p:nvSpPr>
          <p:cNvPr id="5" name="Text 3"/>
          <p:cNvSpPr/>
          <p:nvPr/>
        </p:nvSpPr>
        <p:spPr>
          <a:xfrm>
            <a:off x="861396" y="3401120"/>
            <a:ext cx="5542221" cy="322064"/>
          </a:xfrm>
          <a:prstGeom prst="rect">
            <a:avLst/>
          </a:prstGeom>
          <a:noFill/>
          <a:ln/>
        </p:spPr>
        <p:txBody>
          <a:bodyPr wrap="none" lIns="0" tIns="0" rIns="0" bIns="0" rtlCol="0" anchor="t"/>
          <a:lstStyle/>
          <a:p>
            <a:pPr algn="l" indent="0" marL="0">
              <a:lnSpc>
                <a:spcPct val="133000"/>
              </a:lnSpc>
              <a:buNone/>
            </a:pPr>
            <a:r>
              <a:rPr lang="en-US" sz="1550" dirty="0">
                <a:solidFill>
                  <a:srgbClr val="FFFFFF"/>
                </a:solidFill>
                <a:latin typeface="Fira Sans" pitchFamily="34" charset="0"/>
                <a:ea typeface="Fira Sans" pitchFamily="34" charset="-122"/>
                <a:cs typeface="Fira Sans" pitchFamily="34" charset="-120"/>
              </a:rPr>
              <a:t>45 minutes</a:t>
            </a:r>
            <a:endParaRPr lang="en-US" sz="1550" dirty="0"/>
          </a:p>
        </p:txBody>
      </p:sp>
      <p:sp>
        <p:nvSpPr>
          <p:cNvPr id="6" name="Text 4"/>
          <p:cNvSpPr/>
          <p:nvPr/>
        </p:nvSpPr>
        <p:spPr>
          <a:xfrm>
            <a:off x="6347658" y="2923084"/>
            <a:ext cx="2823596"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Objectives</a:t>
            </a:r>
            <a:endParaRPr lang="en-US" sz="1700" dirty="0"/>
          </a:p>
        </p:txBody>
      </p:sp>
      <p:sp>
        <p:nvSpPr>
          <p:cNvPr id="7" name="Text 5"/>
          <p:cNvSpPr/>
          <p:nvPr/>
        </p:nvSpPr>
        <p:spPr>
          <a:xfrm>
            <a:off x="6347658" y="3401120"/>
            <a:ext cx="5045346" cy="2073275"/>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Allow students to surface and name the Indian context together</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Teach social analysis as a theological tool (See–Judge–Act)</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Show that India's social reality is a theological source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1703189"/>
            <a:ext cx="10581613" cy="1660327"/>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THIS SESSION IS PRIMARILY INTERACTIVE — THE CLASS BUILDS THE CONTENT</a:t>
            </a:r>
            <a:endParaRPr lang="en-US" sz="3450" dirty="0"/>
          </a:p>
        </p:txBody>
      </p:sp>
      <p:sp>
        <p:nvSpPr>
          <p:cNvPr id="3" name="Text 1"/>
          <p:cNvSpPr/>
          <p:nvPr/>
        </p:nvSpPr>
        <p:spPr>
          <a:xfrm>
            <a:off x="805041" y="3443982"/>
            <a:ext cx="9701565"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FACILITATOR NOTES: How This Session Works</a:t>
            </a:r>
            <a:endParaRPr lang="en-US" sz="2750" dirty="0"/>
          </a:p>
        </p:txBody>
      </p:sp>
      <p:sp>
        <p:nvSpPr>
          <p:cNvPr id="4" name="Text 2"/>
          <p:cNvSpPr/>
          <p:nvPr/>
        </p:nvSpPr>
        <p:spPr>
          <a:xfrm>
            <a:off x="805041" y="4188619"/>
            <a:ext cx="10581613"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This is a Socratic session. The facilitator asks questions. The students answer. The facilitator writes their responses on the board. Then the facilitator names, connects, and theologically interprets what students have produced. The class together arrives at the Indian context. The facilitator does NOT lecture for the first 25 minutes.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558304"/>
            <a:ext cx="4913686"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sp>
      <p:sp>
        <p:nvSpPr>
          <p:cNvPr id="4" name="Shape 2"/>
          <p:cNvSpPr/>
          <p:nvPr/>
        </p:nvSpPr>
        <p:spPr>
          <a:xfrm>
            <a:off x="5409221" y="1502470"/>
            <a:ext cx="513246" cy="19050"/>
          </a:xfrm>
          <a:prstGeom prst="roundRect">
            <a:avLst>
              <a:gd name="adj" fmla="val 377198"/>
            </a:avLst>
          </a:prstGeom>
          <a:solidFill>
            <a:srgbClr val="E5CCB2"/>
          </a:solidFill>
          <a:ln/>
        </p:spPr>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sp>
      <p:sp>
        <p:nvSpPr>
          <p:cNvPr id="6" name="Text 4"/>
          <p:cNvSpPr/>
          <p:nvPr/>
        </p:nvSpPr>
        <p:spPr>
          <a:xfrm>
            <a:off x="5982890" y="1370856"/>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7" name="Text 5"/>
          <p:cNvSpPr/>
          <p:nvPr/>
        </p:nvSpPr>
        <p:spPr>
          <a:xfrm>
            <a:off x="3358570" y="1378347"/>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0:00 – 0:05</a:t>
            </a:r>
            <a:endParaRPr lang="en-US" sz="1450" dirty="0"/>
          </a:p>
        </p:txBody>
      </p:sp>
      <p:sp>
        <p:nvSpPr>
          <p:cNvPr id="8" name="Text 6"/>
          <p:cNvSpPr/>
          <p:nvPr/>
        </p:nvSpPr>
        <p:spPr>
          <a:xfrm>
            <a:off x="805041" y="1700808"/>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t>
            </a:r>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 Opening Game: "India in Five Words"</a:t>
            </a:r>
            <a:endParaRPr lang="en-US" sz="1300" dirty="0"/>
          </a:p>
        </p:txBody>
      </p:sp>
      <p:sp>
        <p:nvSpPr>
          <p:cNvPr id="9" name="Shape 7"/>
          <p:cNvSpPr/>
          <p:nvPr/>
        </p:nvSpPr>
        <p:spPr>
          <a:xfrm>
            <a:off x="6269228" y="2477591"/>
            <a:ext cx="513246" cy="19050"/>
          </a:xfrm>
          <a:prstGeom prst="roundRect">
            <a:avLst>
              <a:gd name="adj" fmla="val 377198"/>
            </a:avLst>
          </a:prstGeom>
          <a:solidFill>
            <a:srgbClr val="E5CCB2"/>
          </a:solidFill>
          <a:ln/>
        </p:spPr>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sp>
      <p:sp>
        <p:nvSpPr>
          <p:cNvPr id="11" name="Text 9"/>
          <p:cNvSpPr/>
          <p:nvPr/>
        </p:nvSpPr>
        <p:spPr>
          <a:xfrm>
            <a:off x="5982890" y="234597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2" name="Text 10"/>
          <p:cNvSpPr/>
          <p:nvPr/>
        </p:nvSpPr>
        <p:spPr>
          <a:xfrm>
            <a:off x="6951191" y="235346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0:05 – 0:25</a:t>
            </a:r>
            <a:endParaRPr lang="en-US" sz="1450" dirty="0"/>
          </a:p>
        </p:txBody>
      </p:sp>
      <p:sp>
        <p:nvSpPr>
          <p:cNvPr id="13" name="Text 11"/>
          <p:cNvSpPr/>
          <p:nvPr/>
        </p:nvSpPr>
        <p:spPr>
          <a:xfrm>
            <a:off x="6951191" y="2675930"/>
            <a:ext cx="4435463" cy="506214"/>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Interactive Question Sequence — students build the context</a:t>
            </a:r>
            <a:endParaRPr lang="en-US" sz="1300" dirty="0"/>
          </a:p>
        </p:txBody>
      </p:sp>
      <p:sp>
        <p:nvSpPr>
          <p:cNvPr id="14" name="Shape 12"/>
          <p:cNvSpPr/>
          <p:nvPr/>
        </p:nvSpPr>
        <p:spPr>
          <a:xfrm>
            <a:off x="5409221" y="3336727"/>
            <a:ext cx="513246" cy="19050"/>
          </a:xfrm>
          <a:prstGeom prst="roundRect">
            <a:avLst>
              <a:gd name="adj" fmla="val 377198"/>
            </a:avLst>
          </a:prstGeom>
          <a:solidFill>
            <a:srgbClr val="E5CCB2"/>
          </a:solidFill>
          <a:ln/>
        </p:spPr>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sp>
      <p:sp>
        <p:nvSpPr>
          <p:cNvPr id="16" name="Text 14"/>
          <p:cNvSpPr/>
          <p:nvPr/>
        </p:nvSpPr>
        <p:spPr>
          <a:xfrm>
            <a:off x="5982890" y="320511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7" name="Text 15"/>
          <p:cNvSpPr/>
          <p:nvPr/>
        </p:nvSpPr>
        <p:spPr>
          <a:xfrm>
            <a:off x="3358570" y="321260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0:25 – 0:35</a:t>
            </a:r>
            <a:endParaRPr lang="en-US" sz="1450" dirty="0"/>
          </a:p>
        </p:txBody>
      </p:sp>
      <p:sp>
        <p:nvSpPr>
          <p:cNvPr id="18" name="Text 16"/>
          <p:cNvSpPr/>
          <p:nvPr/>
        </p:nvSpPr>
        <p:spPr>
          <a:xfrm>
            <a:off x="805041" y="3535065"/>
            <a:ext cx="4435463" cy="506214"/>
          </a:xfrm>
          <a:prstGeom prst="rect">
            <a:avLst/>
          </a:prstGeom>
          <a:noFill/>
          <a:ln/>
        </p:spPr>
        <p:txBody>
          <a:bodyPr wrap="square" lIns="0" tIns="0" rIns="0" bIns="0" rtlCol="0" anchor="t">
            <a:normAutofit/>
          </a:bodyPr>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Facilitator names and interprets — India as locus theologicus</a:t>
            </a:r>
            <a:endParaRPr lang="en-US" sz="1300" dirty="0"/>
          </a:p>
        </p:txBody>
      </p:sp>
      <p:sp>
        <p:nvSpPr>
          <p:cNvPr id="19" name="Shape 17"/>
          <p:cNvSpPr/>
          <p:nvPr/>
        </p:nvSpPr>
        <p:spPr>
          <a:xfrm>
            <a:off x="6269228" y="4195862"/>
            <a:ext cx="513246" cy="19050"/>
          </a:xfrm>
          <a:prstGeom prst="roundRect">
            <a:avLst>
              <a:gd name="adj" fmla="val 377198"/>
            </a:avLst>
          </a:prstGeom>
          <a:solidFill>
            <a:srgbClr val="E5CCB2"/>
          </a:solidFill>
          <a:ln/>
        </p:spPr>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sp>
      <p:sp>
        <p:nvSpPr>
          <p:cNvPr id="21" name="Text 19"/>
          <p:cNvSpPr/>
          <p:nvPr/>
        </p:nvSpPr>
        <p:spPr>
          <a:xfrm>
            <a:off x="5982890" y="406424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2" name="Text 20"/>
          <p:cNvSpPr/>
          <p:nvPr/>
        </p:nvSpPr>
        <p:spPr>
          <a:xfrm>
            <a:off x="6951191" y="407173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0:35 – 0:43</a:t>
            </a:r>
            <a:endParaRPr lang="en-US" sz="1450" dirty="0"/>
          </a:p>
        </p:txBody>
      </p:sp>
      <p:sp>
        <p:nvSpPr>
          <p:cNvPr id="23" name="Text 21"/>
          <p:cNvSpPr/>
          <p:nvPr/>
        </p:nvSpPr>
        <p:spPr>
          <a:xfrm>
            <a:off x="6951191" y="439420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Group theologizing exercise</a:t>
            </a:r>
            <a:endParaRPr lang="en-US" sz="1300" dirty="0"/>
          </a:p>
        </p:txBody>
      </p:sp>
      <p:sp>
        <p:nvSpPr>
          <p:cNvPr id="24" name="Shape 22"/>
          <p:cNvSpPr/>
          <p:nvPr/>
        </p:nvSpPr>
        <p:spPr>
          <a:xfrm>
            <a:off x="5409221" y="5054997"/>
            <a:ext cx="513246" cy="19050"/>
          </a:xfrm>
          <a:prstGeom prst="roundRect">
            <a:avLst>
              <a:gd name="adj" fmla="val 377198"/>
            </a:avLst>
          </a:prstGeom>
          <a:solidFill>
            <a:srgbClr val="E5CCB2"/>
          </a:solidFill>
          <a:ln/>
        </p:spPr>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sp>
      <p:sp>
        <p:nvSpPr>
          <p:cNvPr id="26" name="Text 24"/>
          <p:cNvSpPr/>
          <p:nvPr/>
        </p:nvSpPr>
        <p:spPr>
          <a:xfrm>
            <a:off x="5982890" y="492338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
        <p:nvSpPr>
          <p:cNvPr id="27" name="Text 25"/>
          <p:cNvSpPr/>
          <p:nvPr/>
        </p:nvSpPr>
        <p:spPr>
          <a:xfrm>
            <a:off x="3358570" y="493087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0:43 – 0:45</a:t>
            </a:r>
            <a:endParaRPr lang="en-US" sz="1450" dirty="0"/>
          </a:p>
        </p:txBody>
      </p:sp>
      <p:sp>
        <p:nvSpPr>
          <p:cNvPr id="28" name="Text 26"/>
          <p:cNvSpPr/>
          <p:nvPr/>
        </p:nvSpPr>
        <p:spPr>
          <a:xfrm>
            <a:off x="805041" y="525333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Closing Prayer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1674813"/>
            <a:ext cx="10037412"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GAME: "India in Five Words" (5 minutes)</a:t>
            </a:r>
            <a:endParaRPr lang="en-US" sz="3450" dirty="0"/>
          </a:p>
        </p:txBody>
      </p:sp>
      <p:sp>
        <p:nvSpPr>
          <p:cNvPr id="3" name="Text 1"/>
          <p:cNvSpPr/>
          <p:nvPr/>
        </p:nvSpPr>
        <p:spPr>
          <a:xfrm>
            <a:off x="805041" y="2630785"/>
            <a:ext cx="10581613" cy="1192609"/>
          </a:xfrm>
          <a:prstGeom prst="rect">
            <a:avLst/>
          </a:prstGeom>
          <a:noFill/>
          <a:ln/>
        </p:spPr>
        <p:txBody>
          <a:bodyPr wrap="square" lIns="0" tIns="0" rIns="0" bIns="0" rtlCol="0" anchor="t">
            <a:normAutofit/>
          </a:bodyPr>
          <a:lstStyle/>
          <a:p>
            <a:pPr algn="l" indent="0" marL="0">
              <a:lnSpc>
                <a:spcPct val="133000"/>
              </a:lnSpc>
              <a:spcAft>
                <a:spcPts val="1750"/>
              </a:spcAft>
              <a:buNone/>
            </a:pPr>
            <a:r>
              <a:rPr lang="en-US" sz="1550" dirty="0">
                <a:solidFill>
                  <a:srgbClr val="000000"/>
                </a:solidFill>
                <a:latin typeface="Fira Sans" pitchFamily="34" charset="0"/>
                <a:ea typeface="Fira Sans" pitchFamily="34" charset="-122"/>
                <a:cs typeface="Fira Sans" pitchFamily="34" charset="-120"/>
              </a:rPr>
              <a:t>Each student writes five words that describe India today — right now, in 2026. Not the India of the textbook, but the India you have lived in.</a:t>
            </a:r>
            <a:endParaRPr lang="en-US" sz="1550" dirty="0"/>
          </a:p>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Students share one word each, going around the room. The facilitator groups the words on the board into themes.</a:t>
            </a:r>
            <a:endParaRPr lang="en-US" sz="1550" dirty="0"/>
          </a:p>
        </p:txBody>
      </p:sp>
      <p:sp>
        <p:nvSpPr>
          <p:cNvPr id="4" name="Shape 2"/>
          <p:cNvSpPr/>
          <p:nvPr/>
        </p:nvSpPr>
        <p:spPr>
          <a:xfrm>
            <a:off x="805041" y="4049812"/>
            <a:ext cx="10581613" cy="1133376"/>
          </a:xfrm>
          <a:prstGeom prst="roundRect">
            <a:avLst>
              <a:gd name="adj" fmla="val 7459"/>
            </a:avLst>
          </a:prstGeom>
          <a:solidFill>
            <a:srgbClr val="FFE6CC"/>
          </a:solidFill>
          <a:ln/>
        </p:spPr>
      </p:sp>
      <p:pic>
        <p:nvPicPr>
          <p:cNvPr id="5" name="Image 0" descr="preencoded.png">    </p:cNvPr>
          <p:cNvPicPr>
            <a:picLocks noChangeAspect="1"/>
          </p:cNvPicPr>
          <p:nvPr/>
        </p:nvPicPr>
        <p:blipFill>
          <a:blip r:embed="rId1"/>
          <a:stretch>
            <a:fillRect/>
          </a:stretch>
        </p:blipFill>
        <p:spPr>
          <a:xfrm>
            <a:off x="1006251" y="4341118"/>
            <a:ext cx="251513" cy="201216"/>
          </a:xfrm>
          <a:prstGeom prst="rect">
            <a:avLst/>
          </a:prstGeom>
        </p:spPr>
      </p:pic>
      <p:sp>
        <p:nvSpPr>
          <p:cNvPr id="6" name="Text 3"/>
          <p:cNvSpPr/>
          <p:nvPr/>
        </p:nvSpPr>
        <p:spPr>
          <a:xfrm>
            <a:off x="1458975" y="4301331"/>
            <a:ext cx="9726468" cy="65047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a:t>
            </a:r>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"If someone writes 'cricket' — that's also a theological source. The way Indians worship Virat Kohli tells us something very important about the human need for transcendence."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597198"/>
            <a:ext cx="10581613" cy="1051719"/>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THE INTERACTIVE QUESTION SEQUENCE (20 minutes)</a:t>
            </a:r>
            <a:endParaRPr lang="en-US" sz="3300" dirty="0"/>
          </a:p>
        </p:txBody>
      </p:sp>
      <p:sp>
        <p:nvSpPr>
          <p:cNvPr id="3" name="Text 1"/>
          <p:cNvSpPr/>
          <p:nvPr/>
        </p:nvSpPr>
        <p:spPr>
          <a:xfrm>
            <a:off x="805041" y="2012156"/>
            <a:ext cx="11191198"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Ask these questions one at a time. Allow 2–3 minutes of silence and sharing for each. Write key responses on the board.</a:t>
            </a:r>
            <a:endParaRPr lang="en-US" sz="1500" dirty="0"/>
          </a:p>
        </p:txBody>
      </p:sp>
      <p:sp>
        <p:nvSpPr>
          <p:cNvPr id="4" name="Text 2"/>
          <p:cNvSpPr/>
          <p:nvPr/>
        </p:nvSpPr>
        <p:spPr>
          <a:xfrm>
            <a:off x="805041" y="2582863"/>
            <a:ext cx="10091981" cy="420688"/>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Libre Baskerville Bold" pitchFamily="34" charset="0"/>
                <a:ea typeface="Libre Baskerville Bold" pitchFamily="34" charset="-122"/>
                <a:cs typeface="Libre Baskerville Bold" pitchFamily="34" charset="-120"/>
              </a:rPr>
              <a:t>ROUND 1 — WHAT DO WE SEE? (The Social Reality)</a:t>
            </a:r>
            <a:endParaRPr lang="en-US" sz="2600" dirty="0"/>
          </a:p>
        </p:txBody>
      </p:sp>
      <p:sp>
        <p:nvSpPr>
          <p:cNvPr id="5" name="Shape 3"/>
          <p:cNvSpPr/>
          <p:nvPr/>
        </p:nvSpPr>
        <p:spPr>
          <a:xfrm>
            <a:off x="805041" y="3276005"/>
            <a:ext cx="5200024" cy="1401564"/>
          </a:xfrm>
          <a:prstGeom prst="roundRect">
            <a:avLst>
              <a:gd name="adj" fmla="val 5730"/>
            </a:avLst>
          </a:prstGeom>
          <a:solidFill>
            <a:srgbClr val="B98D34"/>
          </a:solidFill>
          <a:ln w="25399">
            <a:solidFill>
              <a:srgbClr val="E5CCB2"/>
            </a:solidFill>
            <a:prstDash val="solid"/>
          </a:ln>
        </p:spPr>
      </p:sp>
      <p:sp>
        <p:nvSpPr>
          <p:cNvPr id="6" name="Text 4"/>
          <p:cNvSpPr/>
          <p:nvPr/>
        </p:nvSpPr>
        <p:spPr>
          <a:xfrm>
            <a:off x="1021630" y="3492599"/>
            <a:ext cx="2103286"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Q1</a:t>
            </a:r>
            <a:endParaRPr lang="en-US" sz="1650" dirty="0"/>
          </a:p>
        </p:txBody>
      </p:sp>
      <p:sp>
        <p:nvSpPr>
          <p:cNvPr id="7" name="Text 5"/>
          <p:cNvSpPr/>
          <p:nvPr/>
        </p:nvSpPr>
        <p:spPr>
          <a:xfrm>
            <a:off x="1021630" y="3864471"/>
            <a:ext cx="476684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What is the biggest challenge facing your home community right now — in one sentence?</a:t>
            </a:r>
            <a:endParaRPr lang="en-US" sz="1500" dirty="0"/>
          </a:p>
        </p:txBody>
      </p:sp>
      <p:sp>
        <p:nvSpPr>
          <p:cNvPr id="8" name="Shape 6"/>
          <p:cNvSpPr/>
          <p:nvPr/>
        </p:nvSpPr>
        <p:spPr>
          <a:xfrm>
            <a:off x="6186630" y="3276005"/>
            <a:ext cx="5200024" cy="1401564"/>
          </a:xfrm>
          <a:prstGeom prst="roundRect">
            <a:avLst>
              <a:gd name="adj" fmla="val 5730"/>
            </a:avLst>
          </a:prstGeom>
          <a:solidFill>
            <a:srgbClr val="B98D34"/>
          </a:solidFill>
          <a:ln w="25399">
            <a:solidFill>
              <a:srgbClr val="E5CCB2"/>
            </a:solidFill>
            <a:prstDash val="solid"/>
          </a:ln>
        </p:spPr>
      </p:sp>
      <p:sp>
        <p:nvSpPr>
          <p:cNvPr id="9" name="Text 7"/>
          <p:cNvSpPr/>
          <p:nvPr/>
        </p:nvSpPr>
        <p:spPr>
          <a:xfrm>
            <a:off x="6403219" y="3492599"/>
            <a:ext cx="2103286"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Q2</a:t>
            </a:r>
            <a:endParaRPr lang="en-US" sz="1650" dirty="0"/>
          </a:p>
        </p:txBody>
      </p:sp>
      <p:sp>
        <p:nvSpPr>
          <p:cNvPr id="10" name="Text 8"/>
          <p:cNvSpPr/>
          <p:nvPr/>
        </p:nvSpPr>
        <p:spPr>
          <a:xfrm>
            <a:off x="6403219" y="3864471"/>
            <a:ext cx="476684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Who are the most vulnerable people in the area you worked during regency? Name them.</a:t>
            </a:r>
            <a:endParaRPr lang="en-US" sz="1500" dirty="0"/>
          </a:p>
        </p:txBody>
      </p:sp>
      <p:sp>
        <p:nvSpPr>
          <p:cNvPr id="11" name="Shape 9"/>
          <p:cNvSpPr/>
          <p:nvPr/>
        </p:nvSpPr>
        <p:spPr>
          <a:xfrm>
            <a:off x="805041" y="4859139"/>
            <a:ext cx="5200024" cy="1401564"/>
          </a:xfrm>
          <a:prstGeom prst="roundRect">
            <a:avLst>
              <a:gd name="adj" fmla="val 5730"/>
            </a:avLst>
          </a:prstGeom>
          <a:solidFill>
            <a:srgbClr val="B98D34"/>
          </a:solidFill>
          <a:ln w="25399">
            <a:solidFill>
              <a:srgbClr val="E5CCB2"/>
            </a:solidFill>
            <a:prstDash val="solid"/>
          </a:ln>
        </p:spPr>
      </p:sp>
      <p:sp>
        <p:nvSpPr>
          <p:cNvPr id="12" name="Text 10"/>
          <p:cNvSpPr/>
          <p:nvPr/>
        </p:nvSpPr>
        <p:spPr>
          <a:xfrm>
            <a:off x="1021630" y="5075734"/>
            <a:ext cx="2103286"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Q3</a:t>
            </a:r>
            <a:endParaRPr lang="en-US" sz="1650" dirty="0"/>
          </a:p>
        </p:txBody>
      </p:sp>
      <p:sp>
        <p:nvSpPr>
          <p:cNvPr id="13" name="Text 11"/>
          <p:cNvSpPr/>
          <p:nvPr/>
        </p:nvSpPr>
        <p:spPr>
          <a:xfrm>
            <a:off x="1021630" y="5447605"/>
            <a:ext cx="4766846" cy="298252"/>
          </a:xfrm>
          <a:prstGeom prst="rect">
            <a:avLst/>
          </a:prstGeom>
          <a:noFill/>
          <a:ln/>
        </p:spPr>
        <p:txBody>
          <a:bodyPr wrap="none" lIns="0" tIns="0" rIns="0" bIns="0" rtlCol="0" anchor="t"/>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What issue in India makes you most angry? Why?</a:t>
            </a:r>
            <a:endParaRPr lang="en-US" sz="1500" dirty="0"/>
          </a:p>
        </p:txBody>
      </p:sp>
      <p:sp>
        <p:nvSpPr>
          <p:cNvPr id="14" name="Shape 12"/>
          <p:cNvSpPr/>
          <p:nvPr/>
        </p:nvSpPr>
        <p:spPr>
          <a:xfrm>
            <a:off x="6186630" y="4859139"/>
            <a:ext cx="5200024" cy="1401564"/>
          </a:xfrm>
          <a:prstGeom prst="roundRect">
            <a:avLst>
              <a:gd name="adj" fmla="val 5730"/>
            </a:avLst>
          </a:prstGeom>
          <a:solidFill>
            <a:srgbClr val="B98D34"/>
          </a:solidFill>
          <a:ln w="25399">
            <a:solidFill>
              <a:srgbClr val="E5CCB2"/>
            </a:solidFill>
            <a:prstDash val="solid"/>
          </a:ln>
        </p:spPr>
      </p:sp>
      <p:sp>
        <p:nvSpPr>
          <p:cNvPr id="15" name="Text 13"/>
          <p:cNvSpPr/>
          <p:nvPr/>
        </p:nvSpPr>
        <p:spPr>
          <a:xfrm>
            <a:off x="6403219" y="5075734"/>
            <a:ext cx="2103286"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Q4</a:t>
            </a:r>
            <a:endParaRPr lang="en-US" sz="1650" dirty="0"/>
          </a:p>
        </p:txBody>
      </p:sp>
      <p:sp>
        <p:nvSpPr>
          <p:cNvPr id="16" name="Text 14"/>
          <p:cNvSpPr/>
          <p:nvPr/>
        </p:nvSpPr>
        <p:spPr>
          <a:xfrm>
            <a:off x="6403219" y="5447605"/>
            <a:ext cx="476684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What does "success" mean to most young Indians today? Do you agree?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1189434"/>
            <a:ext cx="10581613" cy="885428"/>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ROUND 2 — WHAT DO WE JUDGE? (The Theological Analysis)</a:t>
            </a:r>
            <a:endParaRPr lang="en-US" sz="2750" dirty="0"/>
          </a:p>
        </p:txBody>
      </p:sp>
      <p:sp>
        <p:nvSpPr>
          <p:cNvPr id="3" name="Shape 1"/>
          <p:cNvSpPr/>
          <p:nvPr/>
        </p:nvSpPr>
        <p:spPr>
          <a:xfrm>
            <a:off x="805041" y="2477393"/>
            <a:ext cx="5190201" cy="1494929"/>
          </a:xfrm>
          <a:prstGeom prst="roundRect">
            <a:avLst>
              <a:gd name="adj" fmla="val 5655"/>
            </a:avLst>
          </a:prstGeom>
          <a:solidFill>
            <a:srgbClr val="B98D34"/>
          </a:solidFill>
          <a:ln w="25399">
            <a:solidFill>
              <a:srgbClr val="E5CCB2"/>
            </a:solidFill>
            <a:prstDash val="solid"/>
          </a:ln>
        </p:spPr>
      </p:sp>
      <p:sp>
        <p:nvSpPr>
          <p:cNvPr id="4" name="Text 2"/>
          <p:cNvSpPr/>
          <p:nvPr/>
        </p:nvSpPr>
        <p:spPr>
          <a:xfrm>
            <a:off x="1031651" y="2704009"/>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Q5</a:t>
            </a:r>
            <a:endParaRPr lang="en-US" sz="1700" dirty="0"/>
          </a:p>
        </p:txBody>
      </p:sp>
      <p:sp>
        <p:nvSpPr>
          <p:cNvPr id="5" name="Text 3"/>
          <p:cNvSpPr/>
          <p:nvPr/>
        </p:nvSpPr>
        <p:spPr>
          <a:xfrm>
            <a:off x="1031651" y="3101578"/>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Where do you see God at work in what you have described?</a:t>
            </a:r>
            <a:endParaRPr lang="en-US" sz="1550" dirty="0"/>
          </a:p>
        </p:txBody>
      </p:sp>
      <p:sp>
        <p:nvSpPr>
          <p:cNvPr id="6" name="Shape 4"/>
          <p:cNvSpPr/>
          <p:nvPr/>
        </p:nvSpPr>
        <p:spPr>
          <a:xfrm>
            <a:off x="6196453" y="2477393"/>
            <a:ext cx="5190201" cy="1494929"/>
          </a:xfrm>
          <a:prstGeom prst="roundRect">
            <a:avLst>
              <a:gd name="adj" fmla="val 5655"/>
            </a:avLst>
          </a:prstGeom>
          <a:solidFill>
            <a:srgbClr val="B98D34"/>
          </a:solidFill>
          <a:ln w="25399">
            <a:solidFill>
              <a:srgbClr val="E5CCB2"/>
            </a:solidFill>
            <a:prstDash val="solid"/>
          </a:ln>
        </p:spPr>
      </p:sp>
      <p:sp>
        <p:nvSpPr>
          <p:cNvPr id="7" name="Text 5"/>
          <p:cNvSpPr/>
          <p:nvPr/>
        </p:nvSpPr>
        <p:spPr>
          <a:xfrm>
            <a:off x="6423063" y="2704009"/>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Q6</a:t>
            </a:r>
            <a:endParaRPr lang="en-US" sz="1700" dirty="0"/>
          </a:p>
        </p:txBody>
      </p:sp>
      <p:sp>
        <p:nvSpPr>
          <p:cNvPr id="8" name="Text 6"/>
          <p:cNvSpPr/>
          <p:nvPr/>
        </p:nvSpPr>
        <p:spPr>
          <a:xfrm>
            <a:off x="6423063" y="3101578"/>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Where do you see the Gospel being violated in what you have described?</a:t>
            </a:r>
            <a:endParaRPr lang="en-US" sz="1550" dirty="0"/>
          </a:p>
        </p:txBody>
      </p:sp>
      <p:sp>
        <p:nvSpPr>
          <p:cNvPr id="9" name="Shape 7"/>
          <p:cNvSpPr/>
          <p:nvPr/>
        </p:nvSpPr>
        <p:spPr>
          <a:xfrm>
            <a:off x="805041" y="4173538"/>
            <a:ext cx="5190201" cy="1494929"/>
          </a:xfrm>
          <a:prstGeom prst="roundRect">
            <a:avLst>
              <a:gd name="adj" fmla="val 5655"/>
            </a:avLst>
          </a:prstGeom>
          <a:solidFill>
            <a:srgbClr val="B98D34"/>
          </a:solidFill>
          <a:ln w="25399">
            <a:solidFill>
              <a:srgbClr val="E5CCB2"/>
            </a:solidFill>
            <a:prstDash val="solid"/>
          </a:ln>
        </p:spPr>
      </p:sp>
      <p:sp>
        <p:nvSpPr>
          <p:cNvPr id="10" name="Text 8"/>
          <p:cNvSpPr/>
          <p:nvPr/>
        </p:nvSpPr>
        <p:spPr>
          <a:xfrm>
            <a:off x="1031651" y="4400153"/>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Q7</a:t>
            </a:r>
            <a:endParaRPr lang="en-US" sz="1700" dirty="0"/>
          </a:p>
        </p:txBody>
      </p:sp>
      <p:sp>
        <p:nvSpPr>
          <p:cNvPr id="11" name="Text 9"/>
          <p:cNvSpPr/>
          <p:nvPr/>
        </p:nvSpPr>
        <p:spPr>
          <a:xfrm>
            <a:off x="1031651" y="4797723"/>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What would Jesus say to the political leaders of India today, based on the Gospels?</a:t>
            </a:r>
            <a:endParaRPr lang="en-US" sz="1550" dirty="0"/>
          </a:p>
        </p:txBody>
      </p:sp>
      <p:sp>
        <p:nvSpPr>
          <p:cNvPr id="12" name="Shape 10"/>
          <p:cNvSpPr/>
          <p:nvPr/>
        </p:nvSpPr>
        <p:spPr>
          <a:xfrm>
            <a:off x="6196453" y="4173538"/>
            <a:ext cx="5190201" cy="1494929"/>
          </a:xfrm>
          <a:prstGeom prst="roundRect">
            <a:avLst>
              <a:gd name="adj" fmla="val 5655"/>
            </a:avLst>
          </a:prstGeom>
          <a:solidFill>
            <a:srgbClr val="B98D34"/>
          </a:solidFill>
          <a:ln w="25399">
            <a:solidFill>
              <a:srgbClr val="E5CCB2"/>
            </a:solidFill>
            <a:prstDash val="solid"/>
          </a:ln>
        </p:spPr>
      </p:sp>
      <p:sp>
        <p:nvSpPr>
          <p:cNvPr id="13" name="Text 11"/>
          <p:cNvSpPr/>
          <p:nvPr/>
        </p:nvSpPr>
        <p:spPr>
          <a:xfrm>
            <a:off x="6423063" y="4400153"/>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Q8</a:t>
            </a:r>
            <a:endParaRPr lang="en-US" sz="1700" dirty="0"/>
          </a:p>
        </p:txBody>
      </p:sp>
      <p:sp>
        <p:nvSpPr>
          <p:cNvPr id="14" name="Text 12"/>
          <p:cNvSpPr/>
          <p:nvPr/>
        </p:nvSpPr>
        <p:spPr>
          <a:xfrm>
            <a:off x="6423063" y="4797723"/>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What is the Church doing well in response to these realities? What is it failing to do?</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2258913"/>
            <a:ext cx="10352424"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ROUND 3 — WHAT DO WE DO? (The Pastoral Call)</a:t>
            </a:r>
            <a:endParaRPr lang="en-US" sz="2750" dirty="0"/>
          </a:p>
        </p:txBody>
      </p:sp>
      <p:sp>
        <p:nvSpPr>
          <p:cNvPr id="3" name="Shape 1"/>
          <p:cNvSpPr/>
          <p:nvPr/>
        </p:nvSpPr>
        <p:spPr>
          <a:xfrm>
            <a:off x="805041" y="3104158"/>
            <a:ext cx="5190201" cy="1494929"/>
          </a:xfrm>
          <a:prstGeom prst="roundRect">
            <a:avLst>
              <a:gd name="adj" fmla="val 5655"/>
            </a:avLst>
          </a:prstGeom>
          <a:solidFill>
            <a:srgbClr val="B98D34"/>
          </a:solidFill>
          <a:ln w="25399">
            <a:solidFill>
              <a:srgbClr val="E5CCB2"/>
            </a:solidFill>
            <a:prstDash val="solid"/>
          </a:ln>
        </p:spPr>
      </p:sp>
      <p:sp>
        <p:nvSpPr>
          <p:cNvPr id="4" name="Text 2"/>
          <p:cNvSpPr/>
          <p:nvPr/>
        </p:nvSpPr>
        <p:spPr>
          <a:xfrm>
            <a:off x="1031651" y="3330773"/>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Q9</a:t>
            </a:r>
            <a:endParaRPr lang="en-US" sz="1700" dirty="0"/>
          </a:p>
        </p:txBody>
      </p:sp>
      <p:sp>
        <p:nvSpPr>
          <p:cNvPr id="5" name="Text 3"/>
          <p:cNvSpPr/>
          <p:nvPr/>
        </p:nvSpPr>
        <p:spPr>
          <a:xfrm>
            <a:off x="1031651" y="3728343"/>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If you had ONE year after ordination to address one issue on this board — which one, and why?</a:t>
            </a:r>
            <a:endParaRPr lang="en-US" sz="1550" dirty="0"/>
          </a:p>
        </p:txBody>
      </p:sp>
      <p:sp>
        <p:nvSpPr>
          <p:cNvPr id="6" name="Shape 4"/>
          <p:cNvSpPr/>
          <p:nvPr/>
        </p:nvSpPr>
        <p:spPr>
          <a:xfrm>
            <a:off x="6196453" y="3104158"/>
            <a:ext cx="5190201" cy="1494929"/>
          </a:xfrm>
          <a:prstGeom prst="roundRect">
            <a:avLst>
              <a:gd name="adj" fmla="val 5655"/>
            </a:avLst>
          </a:prstGeom>
          <a:solidFill>
            <a:srgbClr val="B98D34"/>
          </a:solidFill>
          <a:ln w="25399">
            <a:solidFill>
              <a:srgbClr val="E5CCB2"/>
            </a:solidFill>
            <a:prstDash val="solid"/>
          </a:ln>
        </p:spPr>
      </p:sp>
      <p:sp>
        <p:nvSpPr>
          <p:cNvPr id="7" name="Text 5"/>
          <p:cNvSpPr/>
          <p:nvPr/>
        </p:nvSpPr>
        <p:spPr>
          <a:xfrm>
            <a:off x="6423063" y="3330773"/>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Q10</a:t>
            </a:r>
            <a:endParaRPr lang="en-US" sz="1700" dirty="0"/>
          </a:p>
        </p:txBody>
      </p:sp>
      <p:sp>
        <p:nvSpPr>
          <p:cNvPr id="8" name="Text 6"/>
          <p:cNvSpPr/>
          <p:nvPr/>
        </p:nvSpPr>
        <p:spPr>
          <a:xfrm>
            <a:off x="6423063" y="3728343"/>
            <a:ext cx="4736981"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What would you need to know theologically to address it well?</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5041" y="1803698"/>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FACILITATOR SYNTHESIS: India as Locus Theologicus</a:t>
            </a:r>
            <a:endParaRPr lang="en-US" sz="3450" dirty="0"/>
          </a:p>
        </p:txBody>
      </p:sp>
      <p:sp>
        <p:nvSpPr>
          <p:cNvPr id="3" name="Shape 1"/>
          <p:cNvSpPr/>
          <p:nvPr/>
        </p:nvSpPr>
        <p:spPr>
          <a:xfrm>
            <a:off x="805041" y="3313113"/>
            <a:ext cx="25399" cy="1741091"/>
          </a:xfrm>
          <a:prstGeom prst="roundRect">
            <a:avLst>
              <a:gd name="adj" fmla="val 60001"/>
            </a:avLst>
          </a:prstGeom>
          <a:solidFill>
            <a:srgbClr val="020100"/>
          </a:solidFill>
          <a:ln/>
        </p:spPr>
      </p:sp>
      <p:sp>
        <p:nvSpPr>
          <p:cNvPr id="4" name="Text 2"/>
          <p:cNvSpPr/>
          <p:nvPr/>
        </p:nvSpPr>
        <p:spPr>
          <a:xfrm>
            <a:off x="1106956" y="3539530"/>
            <a:ext cx="10279698" cy="128825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"Look at what we have produced together. This is a theological analysis of India. Every item on this board is an invitation for theology to speak. India is not merely the backdrop for our theology. It is a source. FABC Paper 167 says the local context is a </a:t>
            </a:r>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locus theologicus</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 a place where God speaks. When you do theology in this seminary, India speaks. The poor speak. The tribal elder speaks. God speaks through them all."</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5041" y="583406"/>
            <a:ext cx="9861303"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Key Indian Realities for Theological Reflection</a:t>
            </a:r>
            <a:endParaRPr lang="en-US" sz="2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1344712"/>
            <a:ext cx="5218081" cy="1461988"/>
          </a:xfrm>
          <a:prstGeom prst="rect">
            <a:avLst/>
          </a:prstGeom>
        </p:spPr>
      </p:pic>
      <p:sp>
        <p:nvSpPr>
          <p:cNvPr id="4" name="Text 1"/>
          <p:cNvSpPr/>
          <p:nvPr/>
        </p:nvSpPr>
        <p:spPr>
          <a:xfrm>
            <a:off x="1071337" y="1534815"/>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Caste</a:t>
            </a:r>
            <a:endParaRPr lang="en-US" sz="1450" dirty="0"/>
          </a:p>
        </p:txBody>
      </p:sp>
      <p:sp>
        <p:nvSpPr>
          <p:cNvPr id="5" name="Text 2"/>
          <p:cNvSpPr/>
          <p:nvPr/>
        </p:nvSpPr>
        <p:spPr>
          <a:xfrm>
            <a:off x="1071337" y="1857276"/>
            <a:ext cx="4761686" cy="7593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270 million Dalits, 104 million Adivasis — the theologically marginalised. What does the Gospel say to and from the margins?</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8474" y="1344712"/>
            <a:ext cx="5218180" cy="1461988"/>
          </a:xfrm>
          <a:prstGeom prst="rect">
            <a:avLst/>
          </a:prstGeom>
        </p:spPr>
      </p:pic>
      <p:sp>
        <p:nvSpPr>
          <p:cNvPr id="7" name="Text 3"/>
          <p:cNvSpPr/>
          <p:nvPr/>
        </p:nvSpPr>
        <p:spPr>
          <a:xfrm>
            <a:off x="6434770" y="1534815"/>
            <a:ext cx="1941960"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Religious Pluralism</a:t>
            </a:r>
            <a:endParaRPr lang="en-US" sz="1450" dirty="0"/>
          </a:p>
        </p:txBody>
      </p:sp>
      <p:sp>
        <p:nvSpPr>
          <p:cNvPr id="8" name="Text 4"/>
          <p:cNvSpPr/>
          <p:nvPr/>
        </p:nvSpPr>
        <p:spPr>
          <a:xfrm>
            <a:off x="6434770" y="1857276"/>
            <a:ext cx="4761786" cy="7593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India is home to Hinduism, Islam, Sikhism, Buddhism, Jainism, Christianity, and hundreds of tribal religions. What does it mean to do theology in a house of many faiths?</a:t>
            </a:r>
            <a:endParaRPr lang="en-US" sz="13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041" y="2952055"/>
            <a:ext cx="5218081" cy="1461988"/>
          </a:xfrm>
          <a:prstGeom prst="rect">
            <a:avLst/>
          </a:prstGeom>
        </p:spPr>
      </p:pic>
      <p:sp>
        <p:nvSpPr>
          <p:cNvPr id="10" name="Text 5"/>
          <p:cNvSpPr/>
          <p:nvPr/>
        </p:nvSpPr>
        <p:spPr>
          <a:xfrm>
            <a:off x="1071337" y="3142159"/>
            <a:ext cx="2297452"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Rising Majoritarianism</a:t>
            </a:r>
            <a:endParaRPr lang="en-US" sz="1450" dirty="0"/>
          </a:p>
        </p:txBody>
      </p:sp>
      <p:sp>
        <p:nvSpPr>
          <p:cNvPr id="11" name="Text 6"/>
          <p:cNvSpPr/>
          <p:nvPr/>
        </p:nvSpPr>
        <p:spPr>
          <a:xfrm>
            <a:off x="1071337" y="3464620"/>
            <a:ext cx="4761686" cy="7593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Anti-conversion laws, mob violence, and political pressure on minority communities. The Church must find a prophetic voice that is neither defensive nor provocative.</a:t>
            </a:r>
            <a:endParaRPr lang="en-US" sz="13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68474" y="2952055"/>
            <a:ext cx="5218180" cy="1461988"/>
          </a:xfrm>
          <a:prstGeom prst="rect">
            <a:avLst/>
          </a:prstGeom>
        </p:spPr>
      </p:pic>
      <p:sp>
        <p:nvSpPr>
          <p:cNvPr id="13" name="Text 7"/>
          <p:cNvSpPr/>
          <p:nvPr/>
        </p:nvSpPr>
        <p:spPr>
          <a:xfrm>
            <a:off x="6434770" y="314215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Ecological Crisis</a:t>
            </a:r>
            <a:endParaRPr lang="en-US" sz="1450" dirty="0"/>
          </a:p>
        </p:txBody>
      </p:sp>
      <p:sp>
        <p:nvSpPr>
          <p:cNvPr id="14" name="Text 8"/>
          <p:cNvSpPr/>
          <p:nvPr/>
        </p:nvSpPr>
        <p:spPr>
          <a:xfrm>
            <a:off x="6434770" y="3464620"/>
            <a:ext cx="4761786" cy="7593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Tribal lands flooded by dams; forests destroyed for mining; climate change hitting the poorest first. Creation theology is not an optional extra in India.</a:t>
            </a:r>
            <a:endParaRPr lang="en-US" sz="13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5041" y="4559399"/>
            <a:ext cx="5218081" cy="1715095"/>
          </a:xfrm>
          <a:prstGeom prst="rect">
            <a:avLst/>
          </a:prstGeom>
        </p:spPr>
      </p:pic>
      <p:sp>
        <p:nvSpPr>
          <p:cNvPr id="16" name="Text 9"/>
          <p:cNvSpPr/>
          <p:nvPr/>
        </p:nvSpPr>
        <p:spPr>
          <a:xfrm>
            <a:off x="1071337" y="4749502"/>
            <a:ext cx="2064393"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Youth and Migration</a:t>
            </a:r>
            <a:endParaRPr lang="en-US" sz="1450" dirty="0"/>
          </a:p>
        </p:txBody>
      </p:sp>
      <p:sp>
        <p:nvSpPr>
          <p:cNvPr id="17" name="Text 10"/>
          <p:cNvSpPr/>
          <p:nvPr/>
        </p:nvSpPr>
        <p:spPr>
          <a:xfrm>
            <a:off x="1071337" y="5071963"/>
            <a:ext cx="4761686" cy="7593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village is emptying. Young people move to cities for work. What is the theology of the city? What happens to faith in a slum?</a:t>
            </a:r>
            <a:endParaRPr lang="en-US" sz="13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68474" y="4559399"/>
            <a:ext cx="5218180" cy="1715095"/>
          </a:xfrm>
          <a:prstGeom prst="rect">
            <a:avLst/>
          </a:prstGeom>
        </p:spPr>
      </p:pic>
      <p:sp>
        <p:nvSpPr>
          <p:cNvPr id="19" name="Text 11"/>
          <p:cNvSpPr/>
          <p:nvPr/>
        </p:nvSpPr>
        <p:spPr>
          <a:xfrm>
            <a:off x="6434770" y="4749502"/>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Gender</a:t>
            </a:r>
            <a:endParaRPr lang="en-US" sz="1450" dirty="0"/>
          </a:p>
        </p:txBody>
      </p:sp>
      <p:sp>
        <p:nvSpPr>
          <p:cNvPr id="20" name="Text 12"/>
          <p:cNvSpPr/>
          <p:nvPr/>
        </p:nvSpPr>
        <p:spPr>
          <a:xfrm>
            <a:off x="6434770" y="5071963"/>
            <a:ext cx="4761786" cy="101242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Church in India is slow to address gender inequality within itself. Theology must engage feminism — not as a Western import but as a response to the suffering of Indian women.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5041" y="2241451"/>
            <a:ext cx="5158452"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3450" dirty="0"/>
          </a:p>
        </p:txBody>
      </p:sp>
      <p:sp>
        <p:nvSpPr>
          <p:cNvPr id="3" name="Shape 1"/>
          <p:cNvSpPr/>
          <p:nvPr/>
        </p:nvSpPr>
        <p:spPr>
          <a:xfrm>
            <a:off x="805041" y="3197423"/>
            <a:ext cx="25399" cy="1419027"/>
          </a:xfrm>
          <a:prstGeom prst="roundRect">
            <a:avLst>
              <a:gd name="adj" fmla="val 60001"/>
            </a:avLst>
          </a:prstGeom>
          <a:solidFill>
            <a:srgbClr val="020100"/>
          </a:solidFill>
          <a:ln/>
        </p:spPr>
      </p:sp>
      <p:sp>
        <p:nvSpPr>
          <p:cNvPr id="4" name="Text 2"/>
          <p:cNvSpPr/>
          <p:nvPr/>
        </p:nvSpPr>
        <p:spPr>
          <a:xfrm>
            <a:off x="1106956" y="3423841"/>
            <a:ext cx="10279698" cy="966192"/>
          </a:xfrm>
          <a:prstGeom prst="rect">
            <a:avLst/>
          </a:prstGeom>
          <a:noFill/>
          <a:ln/>
        </p:spPr>
        <p:txBody>
          <a:bodyPr wrap="square" lIns="0" tIns="0" rIns="0" bIns="0" rtlCol="0" anchor="t">
            <a:normAutofit/>
          </a:bodyPr>
          <a:lstStyle/>
          <a:p>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"God of the poor and the lowly, help us to hear your voice in the cry of the Dalit, the displaced Adivasi, the young person who has lost hope, and the woman who has been silenced. May our theology be born from listening.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2026-07-01T17:02:00Z</dcterms:created>
  <dcterms:modified xsi:type="dcterms:W3CDTF">2026-07-01T17:02:00Z</dcterms:modified>
</cp:coreProperties>
</file>