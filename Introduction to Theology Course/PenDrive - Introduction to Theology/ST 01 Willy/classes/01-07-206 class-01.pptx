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72" r:id="rId8"/>
    <p:sldId id="273" r:id="rId9"/>
    <p:sldId id="274" r:id="rId10"/>
    <p:sldId id="275" r:id="rId11"/>
    <p:sldId id="276" r:id="rId12"/>
    <p:sldId id="277" r:id="rId13"/>
    <p:sldId id="278" r:id="rId14"/>
    <p:sldId id="279" r:id="rId15"/>
    <p:sldId id="280" r:id="rId16"/>
    <p:sldId id="281" r:id="rId17"/>
    <p:sldId id="262" r:id="rId18"/>
    <p:sldId id="263" r:id="rId19"/>
    <p:sldId id="264" r:id="rId20"/>
    <p:sldId id="265" r:id="rId21"/>
    <p:sldId id="266" r:id="rId22"/>
    <p:sldId id="267" r:id="rId23"/>
    <p:sldId id="268" r:id="rId24"/>
    <p:sldId id="269" r:id="rId25"/>
    <p:sldId id="270" r:id="rId26"/>
    <p:sldId id="271" r:id="rId27"/>
  </p:sldIdLst>
  <p:sldSz cx="9144000" cy="5143500" type="screen16x9"/>
  <p:notesSz cx="5143500" cy="9144000"/>
  <p:embeddedFontLst>
    <p:embeddedFont>
      <p:font typeface="Alexandria Medium" panose="020B0604020202020204" charset="-78"/>
      <p:regular r:id="rId29"/>
    </p:embeddedFont>
    <p:embeddedFont>
      <p:font typeface="Manrope" panose="020B0604020202020204" charset="0"/>
      <p:regular r:id="rId30"/>
    </p:embeddedFont>
    <p:embeddedFont>
      <p:font typeface="Manrope Bold" panose="020B0604020202020204" charset="0"/>
      <p:regular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50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9461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svg"/><Relationship Id="rId7" Type="http://schemas.openxmlformats.org/officeDocument/2006/relationships/image" Target="../media/image26.svg"/><Relationship Id="rId12" Type="http://schemas.openxmlformats.org/officeDocument/2006/relationships/image" Target="../media/image31.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5.sv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svg"/></Relationships>
</file>

<file path=ppt/slides/_rels/slide2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352351"/>
            <a:ext cx="8151763" cy="375493"/>
          </a:xfrm>
          <a:prstGeom prst="rect">
            <a:avLst/>
          </a:prstGeom>
          <a:noFill/>
          <a:ln/>
        </p:spPr>
        <p:txBody>
          <a:bodyPr wrap="none" lIns="0" tIns="0" rIns="0" bIns="0" rtlCol="0" anchor="t"/>
          <a:lstStyle/>
          <a:p>
            <a:pPr marL="0" indent="0" algn="l">
              <a:lnSpc>
                <a:spcPct val="104000"/>
              </a:lnSpc>
              <a:buNone/>
            </a:pPr>
            <a:r>
              <a:rPr lang="en-US" sz="2350" dirty="0">
                <a:solidFill>
                  <a:srgbClr val="5B6E8C"/>
                </a:solidFill>
                <a:latin typeface="Alexandria Medium" pitchFamily="34" charset="0"/>
                <a:ea typeface="Alexandria Medium" pitchFamily="34" charset="-122"/>
                <a:cs typeface="Alexandria Medium" pitchFamily="34" charset="-120"/>
              </a:rPr>
              <a:t>Introduction to Theology</a:t>
            </a:r>
            <a:endParaRPr lang="en-US" sz="2350" dirty="0"/>
          </a:p>
        </p:txBody>
      </p:sp>
      <p:sp>
        <p:nvSpPr>
          <p:cNvPr id="3" name="Text 1"/>
          <p:cNvSpPr/>
          <p:nvPr/>
        </p:nvSpPr>
        <p:spPr>
          <a:xfrm>
            <a:off x="496119" y="774353"/>
            <a:ext cx="8151763" cy="187747"/>
          </a:xfrm>
          <a:prstGeom prst="rect">
            <a:avLst/>
          </a:prstGeom>
          <a:noFill/>
          <a:ln/>
        </p:spPr>
        <p:txBody>
          <a:bodyPr wrap="none" lIns="0" tIns="0" rIns="0" bIns="0" rtlCol="0" anchor="t"/>
          <a:lstStyle/>
          <a:p>
            <a:pPr marL="0" indent="0" algn="l">
              <a:lnSpc>
                <a:spcPct val="104000"/>
              </a:lnSpc>
              <a:buNone/>
            </a:pPr>
            <a:r>
              <a:rPr lang="en-US" sz="1150" dirty="0">
                <a:solidFill>
                  <a:srgbClr val="5B6E8C"/>
                </a:solidFill>
                <a:latin typeface="Alexandria Medium" pitchFamily="34" charset="0"/>
                <a:ea typeface="Alexandria Medium" pitchFamily="34" charset="-122"/>
                <a:cs typeface="Alexandria Medium" pitchFamily="34" charset="-120"/>
              </a:rPr>
              <a:t>ST 01 — Morning Star Regional Seminary, Barrackpore</a:t>
            </a:r>
            <a:endParaRPr lang="en-US" sz="1150" dirty="0"/>
          </a:p>
        </p:txBody>
      </p:sp>
      <p:sp>
        <p:nvSpPr>
          <p:cNvPr id="4" name="Text 2"/>
          <p:cNvSpPr/>
          <p:nvPr/>
        </p:nvSpPr>
        <p:spPr>
          <a:xfrm>
            <a:off x="496119" y="1136675"/>
            <a:ext cx="8608963" cy="189235"/>
          </a:xfrm>
          <a:prstGeom prst="rect">
            <a:avLst/>
          </a:prstGeom>
          <a:noFill/>
          <a:ln/>
        </p:spPr>
        <p:txBody>
          <a:bodyPr wrap="none" lIns="0" tIns="0" rIns="0" bIns="0" rtlCol="0" anchor="t"/>
          <a:lstStyle/>
          <a:p>
            <a:pPr marL="0" indent="0" algn="l">
              <a:lnSpc>
                <a:spcPct val="131000"/>
              </a:lnSpc>
              <a:buNone/>
            </a:pPr>
            <a:r>
              <a:rPr lang="en-US" sz="900" dirty="0">
                <a:solidFill>
                  <a:srgbClr val="5B6E8C"/>
                </a:solidFill>
                <a:latin typeface="Manrope" pitchFamily="34" charset="0"/>
                <a:ea typeface="Manrope" pitchFamily="34" charset="-122"/>
                <a:cs typeface="Manrope" pitchFamily="34" charset="-120"/>
              </a:rPr>
              <a:t>Notes for First-Year Students of Theology</a:t>
            </a:r>
            <a:endParaRPr lang="en-US" sz="900" dirty="0"/>
          </a:p>
        </p:txBody>
      </p:sp>
      <p:sp>
        <p:nvSpPr>
          <p:cNvPr id="5" name="Shape 3"/>
          <p:cNvSpPr/>
          <p:nvPr/>
        </p:nvSpPr>
        <p:spPr>
          <a:xfrm>
            <a:off x="496119" y="1486793"/>
            <a:ext cx="8151763" cy="14288"/>
          </a:xfrm>
          <a:prstGeom prst="roundRect">
            <a:avLst>
              <a:gd name="adj" fmla="val 59998"/>
            </a:avLst>
          </a:prstGeom>
          <a:solidFill>
            <a:srgbClr val="5B6E8C">
              <a:alpha val="50000"/>
            </a:srgbClr>
          </a:solidFill>
          <a:ln/>
        </p:spPr>
        <p:txBody>
          <a:bodyPr/>
          <a:lstStyle/>
          <a:p>
            <a:endParaRPr lang="en-IN"/>
          </a:p>
        </p:txBody>
      </p:sp>
      <p:sp>
        <p:nvSpPr>
          <p:cNvPr id="6" name="Shape 4"/>
          <p:cNvSpPr/>
          <p:nvPr/>
        </p:nvSpPr>
        <p:spPr>
          <a:xfrm>
            <a:off x="409575" y="1661964"/>
            <a:ext cx="4102373" cy="1110332"/>
          </a:xfrm>
          <a:prstGeom prst="roundRect">
            <a:avLst>
              <a:gd name="adj" fmla="val 25975"/>
            </a:avLst>
          </a:prstGeom>
          <a:solidFill>
            <a:srgbClr val="AAE4FE"/>
          </a:solidFill>
          <a:ln/>
        </p:spPr>
        <p:txBody>
          <a:bodyPr/>
          <a:lstStyle/>
          <a:p>
            <a:endParaRPr lang="en-IN"/>
          </a:p>
        </p:txBody>
      </p:sp>
      <p:sp>
        <p:nvSpPr>
          <p:cNvPr id="7" name="Text 5"/>
          <p:cNvSpPr/>
          <p:nvPr/>
        </p:nvSpPr>
        <p:spPr>
          <a:xfrm>
            <a:off x="529679" y="1778347"/>
            <a:ext cx="3862164" cy="187747"/>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Alexandria Medium" pitchFamily="34" charset="0"/>
                <a:ea typeface="Alexandria Medium" pitchFamily="34" charset="-122"/>
                <a:cs typeface="Alexandria Medium" pitchFamily="34" charset="-120"/>
              </a:rPr>
              <a:t>How to Use These Notes</a:t>
            </a:r>
            <a:endParaRPr lang="en-US" sz="1150" dirty="0"/>
          </a:p>
        </p:txBody>
      </p:sp>
      <p:sp>
        <p:nvSpPr>
          <p:cNvPr id="8" name="Text 6"/>
          <p:cNvSpPr/>
          <p:nvPr/>
        </p:nvSpPr>
        <p:spPr>
          <a:xfrm>
            <a:off x="529679" y="2082478"/>
            <a:ext cx="3862164" cy="567705"/>
          </a:xfrm>
          <a:prstGeom prst="rect">
            <a:avLst/>
          </a:prstGeom>
          <a:noFill/>
          <a:ln/>
        </p:spPr>
        <p:txBody>
          <a:bodyPr wrap="square" lIns="0" tIns="0" rIns="0" bIns="0" rtlCol="0" anchor="t">
            <a:normAutofit/>
          </a:bodyPr>
          <a:lstStyle/>
          <a:p>
            <a:pPr marL="0" indent="0" algn="l">
              <a:lnSpc>
                <a:spcPct val="131000"/>
              </a:lnSpc>
              <a:buNone/>
            </a:pPr>
            <a:r>
              <a:rPr lang="en-US" sz="900" i="1" dirty="0">
                <a:solidFill>
                  <a:srgbClr val="000000"/>
                </a:solidFill>
                <a:latin typeface="Manrope" pitchFamily="34" charset="0"/>
                <a:ea typeface="Manrope" pitchFamily="34" charset="-122"/>
                <a:cs typeface="Manrope" pitchFamily="34" charset="-120"/>
              </a:rPr>
              <a:t>These notes are for reading, not only for revision. Read them slowly, with a pen, and write your questions in the margins. Theology is a conversation you enter, not a list you memorise.</a:t>
            </a:r>
            <a:endParaRPr lang="en-US" sz="900" dirty="0"/>
          </a:p>
        </p:txBody>
      </p:sp>
      <p:sp>
        <p:nvSpPr>
          <p:cNvPr id="9" name="Text 7"/>
          <p:cNvSpPr/>
          <p:nvPr/>
        </p:nvSpPr>
        <p:spPr>
          <a:xfrm>
            <a:off x="4723358" y="1778347"/>
            <a:ext cx="3929286" cy="187747"/>
          </a:xfrm>
          <a:prstGeom prst="rect">
            <a:avLst/>
          </a:prstGeom>
          <a:noFill/>
          <a:ln/>
        </p:spPr>
        <p:txBody>
          <a:bodyPr wrap="none" lIns="0" tIns="0" rIns="0" bIns="0" rtlCol="0" anchor="t"/>
          <a:lstStyle/>
          <a:p>
            <a:pPr marL="0" indent="0" algn="l">
              <a:lnSpc>
                <a:spcPct val="104000"/>
              </a:lnSpc>
              <a:buNone/>
            </a:pPr>
            <a:r>
              <a:rPr lang="en-US" sz="1150" dirty="0">
                <a:solidFill>
                  <a:srgbClr val="5B6E8C"/>
                </a:solidFill>
                <a:latin typeface="Alexandria Medium" pitchFamily="34" charset="0"/>
                <a:ea typeface="Alexandria Medium" pitchFamily="34" charset="-122"/>
                <a:cs typeface="Alexandria Medium" pitchFamily="34" charset="-120"/>
              </a:rPr>
              <a:t>Course Structure</a:t>
            </a:r>
            <a:endParaRPr lang="en-US" sz="1150" dirty="0"/>
          </a:p>
        </p:txBody>
      </p:sp>
      <p:sp>
        <p:nvSpPr>
          <p:cNvPr id="10" name="Text 8"/>
          <p:cNvSpPr/>
          <p:nvPr/>
        </p:nvSpPr>
        <p:spPr>
          <a:xfrm>
            <a:off x="4723358" y="2082478"/>
            <a:ext cx="3929286" cy="649114"/>
          </a:xfrm>
          <a:prstGeom prst="rect">
            <a:avLst/>
          </a:prstGeom>
          <a:noFill/>
          <a:ln/>
        </p:spPr>
        <p:txBody>
          <a:bodyPr wrap="square" lIns="0" tIns="0" rIns="0" bIns="0" rtlCol="0" anchor="t">
            <a:normAutofit/>
          </a:bodyPr>
          <a:lstStyle/>
          <a:p>
            <a:pPr marL="182880" indent="-182880" algn="l">
              <a:lnSpc>
                <a:spcPct val="131000"/>
              </a:lnSpc>
              <a:buSzPct val="100000"/>
              <a:buChar char="•"/>
            </a:pPr>
            <a:r>
              <a:rPr lang="en-US" sz="900" dirty="0">
                <a:solidFill>
                  <a:srgbClr val="5B6E8C"/>
                </a:solidFill>
                <a:latin typeface="Manrope" pitchFamily="34" charset="0"/>
                <a:ea typeface="Manrope" pitchFamily="34" charset="-122"/>
                <a:cs typeface="Manrope" pitchFamily="34" charset="-120"/>
              </a:rPr>
              <a:t>15 numbered sections covering the full scope of theological inquiry</a:t>
            </a:r>
            <a:endParaRPr lang="en-US" sz="900" dirty="0"/>
          </a:p>
          <a:p>
            <a:pPr marL="182880" indent="-182880" algn="l">
              <a:lnSpc>
                <a:spcPct val="131000"/>
              </a:lnSpc>
              <a:buSzPct val="100000"/>
              <a:buChar char="•"/>
            </a:pPr>
            <a:r>
              <a:rPr lang="en-US" sz="900" dirty="0">
                <a:solidFill>
                  <a:srgbClr val="5B6E8C"/>
                </a:solidFill>
                <a:latin typeface="Manrope" pitchFamily="34" charset="0"/>
                <a:ea typeface="Manrope" pitchFamily="34" charset="-122"/>
                <a:cs typeface="Manrope" pitchFamily="34" charset="-120"/>
              </a:rPr>
              <a:t>From foundational definitions to contextual theologies of India</a:t>
            </a:r>
            <a:endParaRPr lang="en-US" sz="900" dirty="0"/>
          </a:p>
          <a:p>
            <a:pPr marL="182880" indent="-182880" algn="l">
              <a:lnSpc>
                <a:spcPct val="131000"/>
              </a:lnSpc>
              <a:buSzPct val="100000"/>
              <a:buChar char="•"/>
            </a:pPr>
            <a:r>
              <a:rPr lang="en-US" sz="900" dirty="0">
                <a:solidFill>
                  <a:srgbClr val="5B6E8C"/>
                </a:solidFill>
                <a:latin typeface="Manrope" pitchFamily="34" charset="0"/>
                <a:ea typeface="Manrope" pitchFamily="34" charset="-122"/>
                <a:cs typeface="Manrope" pitchFamily="34" charset="-120"/>
              </a:rPr>
              <a:t>Prepared by Rev. Prof. William Anthony, MSFS — June 2026</a:t>
            </a:r>
            <a:endParaRPr lang="en-US" sz="900" dirty="0"/>
          </a:p>
        </p:txBody>
      </p:sp>
      <p:sp>
        <p:nvSpPr>
          <p:cNvPr id="11" name="Shape 9"/>
          <p:cNvSpPr/>
          <p:nvPr/>
        </p:nvSpPr>
        <p:spPr>
          <a:xfrm>
            <a:off x="496119" y="2903190"/>
            <a:ext cx="4017690" cy="885751"/>
          </a:xfrm>
          <a:prstGeom prst="roundRect">
            <a:avLst>
              <a:gd name="adj" fmla="val 20351"/>
            </a:avLst>
          </a:prstGeom>
          <a:solidFill>
            <a:srgbClr val="E6F7FF"/>
          </a:solidFill>
          <a:ln w="4763">
            <a:solidFill>
              <a:srgbClr val="B3D5E4"/>
            </a:solidFill>
            <a:prstDash val="solid"/>
          </a:ln>
        </p:spPr>
        <p:txBody>
          <a:bodyPr/>
          <a:lstStyle/>
          <a:p>
            <a:endParaRPr lang="en-IN"/>
          </a:p>
        </p:txBody>
      </p:sp>
      <p:sp>
        <p:nvSpPr>
          <p:cNvPr id="12" name="Text 10"/>
          <p:cNvSpPr/>
          <p:nvPr/>
        </p:nvSpPr>
        <p:spPr>
          <a:xfrm>
            <a:off x="620985" y="3028057"/>
            <a:ext cx="3767956" cy="187747"/>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Alexandria Medium" pitchFamily="34" charset="0"/>
                <a:ea typeface="Alexandria Medium" pitchFamily="34" charset="-122"/>
                <a:cs typeface="Alexandria Medium" pitchFamily="34" charset="-120"/>
              </a:rPr>
              <a:t>What Theology Is</a:t>
            </a:r>
            <a:endParaRPr lang="en-US" sz="1150" dirty="0"/>
          </a:p>
        </p:txBody>
      </p:sp>
      <p:sp>
        <p:nvSpPr>
          <p:cNvPr id="13" name="Text 11"/>
          <p:cNvSpPr/>
          <p:nvPr/>
        </p:nvSpPr>
        <p:spPr>
          <a:xfrm>
            <a:off x="620985" y="3285604"/>
            <a:ext cx="3767956" cy="378470"/>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000000"/>
                </a:solidFill>
                <a:latin typeface="Manrope" pitchFamily="34" charset="0"/>
                <a:ea typeface="Manrope" pitchFamily="34" charset="-122"/>
                <a:cs typeface="Manrope" pitchFamily="34" charset="-120"/>
              </a:rPr>
              <a:t>A living process of faith seeking understanding, justice, love, and dialogue</a:t>
            </a:r>
            <a:endParaRPr lang="en-US" sz="900" dirty="0"/>
          </a:p>
        </p:txBody>
      </p:sp>
      <p:sp>
        <p:nvSpPr>
          <p:cNvPr id="14" name="Shape 12"/>
          <p:cNvSpPr/>
          <p:nvPr/>
        </p:nvSpPr>
        <p:spPr>
          <a:xfrm>
            <a:off x="4630192" y="2903190"/>
            <a:ext cx="4017690" cy="885751"/>
          </a:xfrm>
          <a:prstGeom prst="roundRect">
            <a:avLst>
              <a:gd name="adj" fmla="val 20351"/>
            </a:avLst>
          </a:prstGeom>
          <a:solidFill>
            <a:srgbClr val="E6F7FF"/>
          </a:solidFill>
          <a:ln w="4763">
            <a:solidFill>
              <a:srgbClr val="B3D5E4"/>
            </a:solidFill>
            <a:prstDash val="solid"/>
          </a:ln>
        </p:spPr>
        <p:txBody>
          <a:bodyPr/>
          <a:lstStyle/>
          <a:p>
            <a:endParaRPr lang="en-IN"/>
          </a:p>
        </p:txBody>
      </p:sp>
      <p:sp>
        <p:nvSpPr>
          <p:cNvPr id="15" name="Text 13"/>
          <p:cNvSpPr/>
          <p:nvPr/>
        </p:nvSpPr>
        <p:spPr>
          <a:xfrm>
            <a:off x="4755059" y="3028057"/>
            <a:ext cx="3767956" cy="187747"/>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Alexandria Medium" pitchFamily="34" charset="0"/>
                <a:ea typeface="Alexandria Medium" pitchFamily="34" charset="-122"/>
                <a:cs typeface="Alexandria Medium" pitchFamily="34" charset="-120"/>
              </a:rPr>
              <a:t>How It Is Done</a:t>
            </a:r>
            <a:endParaRPr lang="en-US" sz="1150" dirty="0"/>
          </a:p>
        </p:txBody>
      </p:sp>
      <p:sp>
        <p:nvSpPr>
          <p:cNvPr id="16" name="Text 14"/>
          <p:cNvSpPr/>
          <p:nvPr/>
        </p:nvSpPr>
        <p:spPr>
          <a:xfrm>
            <a:off x="4755059" y="3285604"/>
            <a:ext cx="3767956" cy="378470"/>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000000"/>
                </a:solidFill>
                <a:latin typeface="Manrope" pitchFamily="34" charset="0"/>
                <a:ea typeface="Manrope" pitchFamily="34" charset="-122"/>
                <a:cs typeface="Manrope" pitchFamily="34" charset="-120"/>
              </a:rPr>
              <a:t>With an open mind, on the knees in prayer, and with a generous heart</a:t>
            </a:r>
            <a:endParaRPr lang="en-US" sz="900" dirty="0"/>
          </a:p>
        </p:txBody>
      </p:sp>
      <p:sp>
        <p:nvSpPr>
          <p:cNvPr id="17" name="Shape 15"/>
          <p:cNvSpPr/>
          <p:nvPr/>
        </p:nvSpPr>
        <p:spPr>
          <a:xfrm>
            <a:off x="496119" y="3905324"/>
            <a:ext cx="4017690" cy="885751"/>
          </a:xfrm>
          <a:prstGeom prst="roundRect">
            <a:avLst>
              <a:gd name="adj" fmla="val 20351"/>
            </a:avLst>
          </a:prstGeom>
          <a:solidFill>
            <a:srgbClr val="E6F7FF"/>
          </a:solidFill>
          <a:ln w="4763">
            <a:solidFill>
              <a:srgbClr val="B3D5E4"/>
            </a:solidFill>
            <a:prstDash val="solid"/>
          </a:ln>
        </p:spPr>
        <p:txBody>
          <a:bodyPr/>
          <a:lstStyle/>
          <a:p>
            <a:endParaRPr lang="en-IN"/>
          </a:p>
        </p:txBody>
      </p:sp>
      <p:sp>
        <p:nvSpPr>
          <p:cNvPr id="18" name="Text 16"/>
          <p:cNvSpPr/>
          <p:nvPr/>
        </p:nvSpPr>
        <p:spPr>
          <a:xfrm>
            <a:off x="620985" y="4030191"/>
            <a:ext cx="3767956" cy="187747"/>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Alexandria Medium" pitchFamily="34" charset="0"/>
                <a:ea typeface="Alexandria Medium" pitchFamily="34" charset="-122"/>
                <a:cs typeface="Alexandria Medium" pitchFamily="34" charset="-120"/>
              </a:rPr>
              <a:t>Where It Leads</a:t>
            </a:r>
            <a:endParaRPr lang="en-US" sz="1150" dirty="0"/>
          </a:p>
        </p:txBody>
      </p:sp>
      <p:sp>
        <p:nvSpPr>
          <p:cNvPr id="19" name="Text 17"/>
          <p:cNvSpPr/>
          <p:nvPr/>
        </p:nvSpPr>
        <p:spPr>
          <a:xfrm>
            <a:off x="620985" y="4287738"/>
            <a:ext cx="3767956" cy="378470"/>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000000"/>
                </a:solidFill>
                <a:latin typeface="Manrope" pitchFamily="34" charset="0"/>
                <a:ea typeface="Manrope" pitchFamily="34" charset="-122"/>
                <a:cs typeface="Manrope" pitchFamily="34" charset="-120"/>
              </a:rPr>
              <a:t>Toward pastoral action, inculturation, and the transformation of persons and society</a:t>
            </a:r>
            <a:endParaRPr lang="en-US" sz="900" dirty="0"/>
          </a:p>
        </p:txBody>
      </p:sp>
      <p:sp>
        <p:nvSpPr>
          <p:cNvPr id="20" name="Shape 18"/>
          <p:cNvSpPr/>
          <p:nvPr/>
        </p:nvSpPr>
        <p:spPr>
          <a:xfrm>
            <a:off x="4630192" y="3905324"/>
            <a:ext cx="4017690" cy="885751"/>
          </a:xfrm>
          <a:prstGeom prst="roundRect">
            <a:avLst>
              <a:gd name="adj" fmla="val 20351"/>
            </a:avLst>
          </a:prstGeom>
          <a:solidFill>
            <a:srgbClr val="E6F7FF"/>
          </a:solidFill>
          <a:ln w="4763">
            <a:solidFill>
              <a:srgbClr val="B3D5E4"/>
            </a:solidFill>
            <a:prstDash val="solid"/>
          </a:ln>
        </p:spPr>
        <p:txBody>
          <a:bodyPr/>
          <a:lstStyle/>
          <a:p>
            <a:endParaRPr lang="en-IN"/>
          </a:p>
        </p:txBody>
      </p:sp>
      <p:sp>
        <p:nvSpPr>
          <p:cNvPr id="21" name="Text 19"/>
          <p:cNvSpPr/>
          <p:nvPr/>
        </p:nvSpPr>
        <p:spPr>
          <a:xfrm>
            <a:off x="4755059" y="4030191"/>
            <a:ext cx="3767956" cy="187747"/>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Alexandria Medium" pitchFamily="34" charset="0"/>
                <a:ea typeface="Alexandria Medium" pitchFamily="34" charset="-122"/>
                <a:cs typeface="Alexandria Medium" pitchFamily="34" charset="-120"/>
              </a:rPr>
              <a:t>The Motto</a:t>
            </a:r>
            <a:endParaRPr lang="en-US" sz="1150" dirty="0"/>
          </a:p>
        </p:txBody>
      </p:sp>
      <p:sp>
        <p:nvSpPr>
          <p:cNvPr id="22" name="Text 20"/>
          <p:cNvSpPr/>
          <p:nvPr/>
        </p:nvSpPr>
        <p:spPr>
          <a:xfrm>
            <a:off x="4755059" y="4287738"/>
            <a:ext cx="3767956" cy="189235"/>
          </a:xfrm>
          <a:prstGeom prst="rect">
            <a:avLst/>
          </a:prstGeom>
          <a:noFill/>
          <a:ln/>
        </p:spPr>
        <p:txBody>
          <a:bodyPr wrap="none" lIns="0" tIns="0" rIns="0" bIns="0" rtlCol="0" anchor="t"/>
          <a:lstStyle/>
          <a:p>
            <a:pPr marL="0" indent="0" algn="l">
              <a:lnSpc>
                <a:spcPct val="131000"/>
              </a:lnSpc>
              <a:buNone/>
            </a:pPr>
            <a:r>
              <a:rPr lang="en-US" sz="900" i="1" dirty="0">
                <a:solidFill>
                  <a:srgbClr val="000000"/>
                </a:solidFill>
                <a:latin typeface="Manrope" pitchFamily="34" charset="0"/>
                <a:ea typeface="Manrope" pitchFamily="34" charset="-122"/>
                <a:cs typeface="Manrope" pitchFamily="34" charset="-120"/>
              </a:rPr>
              <a:t>"Let your light shine"</a:t>
            </a:r>
            <a:r>
              <a:rPr lang="en-US" sz="900" dirty="0">
                <a:solidFill>
                  <a:srgbClr val="000000"/>
                </a:solidFill>
                <a:latin typeface="Manrope" pitchFamily="34" charset="0"/>
                <a:ea typeface="Manrope" pitchFamily="34" charset="-122"/>
                <a:cs typeface="Manrope" pitchFamily="34" charset="-120"/>
              </a:rPr>
              <a:t> — Matthew 5:16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29634"/>
            <a:ext cx="8151763" cy="339179"/>
          </a:xfrm>
          <a:prstGeom prst="rect">
            <a:avLst/>
          </a:prstGeom>
          <a:noFill/>
          <a:ln/>
        </p:spPr>
        <p:txBody>
          <a:bodyPr wrap="none" lIns="0" tIns="0" rIns="0" bIns="0" rtlCol="0" anchor="t"/>
          <a:lstStyle/>
          <a:p>
            <a:pPr marL="0" indent="0" algn="l">
              <a:lnSpc>
                <a:spcPct val="104000"/>
              </a:lnSpc>
              <a:buNone/>
            </a:pPr>
            <a:r>
              <a:rPr lang="en-US" sz="2100" dirty="0">
                <a:solidFill>
                  <a:srgbClr val="5B6E8C"/>
                </a:solidFill>
                <a:latin typeface="Alexandria Medium" pitchFamily="34" charset="0"/>
                <a:ea typeface="Alexandria Medium" pitchFamily="34" charset="-122"/>
                <a:cs typeface="Alexandria Medium" pitchFamily="34" charset="-120"/>
              </a:rPr>
              <a:t>1. You Are Already a Theologian</a:t>
            </a:r>
            <a:endParaRPr lang="en-US" sz="2100" dirty="0"/>
          </a:p>
        </p:txBody>
      </p:sp>
      <p:sp>
        <p:nvSpPr>
          <p:cNvPr id="3" name="Text 1"/>
          <p:cNvSpPr/>
          <p:nvPr/>
        </p:nvSpPr>
        <p:spPr>
          <a:xfrm>
            <a:off x="220717" y="475208"/>
            <a:ext cx="4256332" cy="4538658"/>
          </a:xfrm>
          <a:prstGeom prst="rect">
            <a:avLst/>
          </a:prstGeom>
          <a:noFill/>
          <a:ln/>
        </p:spPr>
        <p:txBody>
          <a:bodyPr wrap="square" lIns="0" tIns="0" rIns="0" bIns="0" rtlCol="0" anchor="t">
            <a:normAutofit fontScale="92500" lnSpcReduction="20000"/>
          </a:bodyPr>
          <a:lstStyle/>
          <a:p>
            <a:pPr marL="0" indent="0" algn="just">
              <a:lnSpc>
                <a:spcPct val="125000"/>
              </a:lnSpc>
              <a:spcAft>
                <a:spcPts val="650"/>
              </a:spcAft>
              <a:buNone/>
            </a:pPr>
            <a:r>
              <a:rPr lang="en-US" sz="1400" dirty="0">
                <a:solidFill>
                  <a:srgbClr val="5B6E8C"/>
                </a:solidFill>
                <a:latin typeface="Manrope" pitchFamily="34" charset="0"/>
                <a:ea typeface="Manrope" pitchFamily="34" charset="-122"/>
                <a:cs typeface="Manrope" pitchFamily="34" charset="-120"/>
              </a:rPr>
              <a:t>From the first day of this course you should think of yourself as a theologian, not as someone who is merely preparing to become one. Theology is not a body of information handed to passive minds. It is a passion, carried out with curiosity, commitment, and engagement. Augustine spent his life trying to understand the mystery of the Trinity, and the old story tells of him on the seashore, watching a child try to empty the whole sea into a small hole in the sand, and learning that the human mind can no more contain the infinite God than that hole can contain the ocean. That humility is the beginning of good theology.</a:t>
            </a:r>
            <a:endParaRPr lang="en-US" sz="1400" dirty="0"/>
          </a:p>
          <a:p>
            <a:pPr marL="0" indent="0" algn="just">
              <a:lnSpc>
                <a:spcPct val="125000"/>
              </a:lnSpc>
              <a:buNone/>
            </a:pPr>
            <a:r>
              <a:rPr lang="en-US" sz="1400" dirty="0">
                <a:solidFill>
                  <a:srgbClr val="5B6E8C"/>
                </a:solidFill>
                <a:latin typeface="Manrope" pitchFamily="34" charset="0"/>
                <a:ea typeface="Manrope" pitchFamily="34" charset="-122"/>
                <a:cs typeface="Manrope" pitchFamily="34" charset="-120"/>
              </a:rPr>
              <a:t>A theologian who is satisfied that his thought is complete and final has stopped being a good theologian. The better theologian keeps an open and unfinished mind, always reaching toward the greatness of God and of the truth, always growing. Theology is fruitful only when it is done with an open mind, on the knees in prayer, and with a generous heart. The mind alone is not enough, and prayer without rigour is not theology either. The two belong together.</a:t>
            </a:r>
            <a:endParaRPr lang="en-US" sz="1400" dirty="0"/>
          </a:p>
        </p:txBody>
      </p:sp>
      <p:sp>
        <p:nvSpPr>
          <p:cNvPr id="4" name="Shape 2"/>
          <p:cNvSpPr/>
          <p:nvPr/>
        </p:nvSpPr>
        <p:spPr>
          <a:xfrm>
            <a:off x="4572002" y="405332"/>
            <a:ext cx="4571998" cy="3536901"/>
          </a:xfrm>
          <a:prstGeom prst="roundRect">
            <a:avLst>
              <a:gd name="adj" fmla="val 7674"/>
            </a:avLst>
          </a:prstGeom>
          <a:solidFill>
            <a:srgbClr val="AAE4FE"/>
          </a:solidFill>
          <a:ln/>
        </p:spPr>
        <p:txBody>
          <a:bodyPr/>
          <a:lstStyle/>
          <a:p>
            <a:endParaRPr lang="en-IN"/>
          </a:p>
        </p:txBody>
      </p:sp>
      <p:sp>
        <p:nvSpPr>
          <p:cNvPr id="5" name="Text 3"/>
          <p:cNvSpPr/>
          <p:nvPr/>
        </p:nvSpPr>
        <p:spPr>
          <a:xfrm>
            <a:off x="4739506" y="506209"/>
            <a:ext cx="3882777" cy="169515"/>
          </a:xfrm>
          <a:prstGeom prst="rect">
            <a:avLst/>
          </a:prstGeom>
          <a:noFill/>
          <a:ln/>
        </p:spPr>
        <p:txBody>
          <a:bodyPr wrap="none" lIns="0" tIns="0" rIns="0" bIns="0" rtlCol="0" anchor="t"/>
          <a:lstStyle/>
          <a:p>
            <a:pPr marL="0" indent="0" algn="l">
              <a:lnSpc>
                <a:spcPct val="104000"/>
              </a:lnSpc>
              <a:buNone/>
            </a:pPr>
            <a:r>
              <a:rPr lang="en-US" dirty="0">
                <a:solidFill>
                  <a:srgbClr val="000000"/>
                </a:solidFill>
                <a:latin typeface="Alexandria Medium" pitchFamily="34" charset="0"/>
                <a:ea typeface="Alexandria Medium" pitchFamily="34" charset="-122"/>
                <a:cs typeface="Alexandria Medium" pitchFamily="34" charset="-120"/>
              </a:rPr>
              <a:t>The Fourfold Aim at Morning Star</a:t>
            </a:r>
            <a:endParaRPr lang="en-US" dirty="0"/>
          </a:p>
        </p:txBody>
      </p:sp>
      <p:sp>
        <p:nvSpPr>
          <p:cNvPr id="6" name="Shape 4"/>
          <p:cNvSpPr/>
          <p:nvPr/>
        </p:nvSpPr>
        <p:spPr>
          <a:xfrm>
            <a:off x="4739506" y="782509"/>
            <a:ext cx="244153" cy="244153"/>
          </a:xfrm>
          <a:prstGeom prst="ellipse">
            <a:avLst/>
          </a:prstGeom>
          <a:solidFill>
            <a:srgbClr val="BCEAFE"/>
          </a:solidFill>
          <a:ln w="4763">
            <a:solidFill>
              <a:srgbClr val="B3D5E4"/>
            </a:solidFill>
            <a:prstDash val="solid"/>
          </a:ln>
        </p:spPr>
        <p:txBody>
          <a:bodyPr/>
          <a:lstStyle/>
          <a:p>
            <a:endParaRPr lang="en-IN" sz="3600"/>
          </a:p>
        </p:txBody>
      </p:sp>
      <p:sp>
        <p:nvSpPr>
          <p:cNvPr id="7" name="Text 5"/>
          <p:cNvSpPr/>
          <p:nvPr/>
        </p:nvSpPr>
        <p:spPr>
          <a:xfrm>
            <a:off x="4780173" y="802824"/>
            <a:ext cx="162744" cy="203448"/>
          </a:xfrm>
          <a:prstGeom prst="rect">
            <a:avLst/>
          </a:prstGeom>
          <a:noFill/>
          <a:ln/>
        </p:spPr>
        <p:txBody>
          <a:bodyPr wrap="none" lIns="0" tIns="0" rIns="0" bIns="0" rtlCol="0" anchor="ctr"/>
          <a:lstStyle/>
          <a:p>
            <a:pPr marL="0" indent="0" algn="ctr">
              <a:lnSpc>
                <a:spcPct val="100000"/>
              </a:lnSpc>
              <a:buNone/>
            </a:pPr>
            <a:r>
              <a:rPr lang="en-US" sz="2400" dirty="0">
                <a:solidFill>
                  <a:srgbClr val="000000"/>
                </a:solidFill>
                <a:latin typeface="Alexandria Medium" pitchFamily="34" charset="0"/>
                <a:ea typeface="Alexandria Medium" pitchFamily="34" charset="-122"/>
                <a:cs typeface="Alexandria Medium" pitchFamily="34" charset="-120"/>
              </a:rPr>
              <a:t>1</a:t>
            </a:r>
            <a:endParaRPr lang="en-US" sz="2400" dirty="0"/>
          </a:p>
        </p:txBody>
      </p:sp>
      <p:sp>
        <p:nvSpPr>
          <p:cNvPr id="8" name="Text 6"/>
          <p:cNvSpPr/>
          <p:nvPr/>
        </p:nvSpPr>
        <p:spPr>
          <a:xfrm>
            <a:off x="5078611" y="819790"/>
            <a:ext cx="3543672" cy="169515"/>
          </a:xfrm>
          <a:prstGeom prst="rect">
            <a:avLst/>
          </a:prstGeom>
          <a:noFill/>
          <a:ln/>
        </p:spPr>
        <p:txBody>
          <a:bodyPr wrap="none" lIns="0" tIns="0" rIns="0" bIns="0" rtlCol="0" anchor="t"/>
          <a:lstStyle/>
          <a:p>
            <a:pPr marL="0" indent="0" algn="l">
              <a:lnSpc>
                <a:spcPct val="104000"/>
              </a:lnSpc>
              <a:buNone/>
            </a:pPr>
            <a:r>
              <a:rPr lang="en-US" dirty="0">
                <a:solidFill>
                  <a:srgbClr val="000000"/>
                </a:solidFill>
                <a:latin typeface="Alexandria Medium" pitchFamily="34" charset="0"/>
                <a:ea typeface="Alexandria Medium" pitchFamily="34" charset="-122"/>
                <a:cs typeface="Alexandria Medium" pitchFamily="34" charset="-120"/>
              </a:rPr>
              <a:t>Deep and Orderly Understanding</a:t>
            </a:r>
            <a:endParaRPr lang="en-US" dirty="0"/>
          </a:p>
        </p:txBody>
      </p:sp>
      <p:sp>
        <p:nvSpPr>
          <p:cNvPr id="9" name="Text 7"/>
          <p:cNvSpPr/>
          <p:nvPr/>
        </p:nvSpPr>
        <p:spPr>
          <a:xfrm>
            <a:off x="5078611" y="1084258"/>
            <a:ext cx="3543672" cy="325636"/>
          </a:xfrm>
          <a:prstGeom prst="rect">
            <a:avLst/>
          </a:prstGeom>
          <a:noFill/>
          <a:ln/>
        </p:spPr>
        <p:txBody>
          <a:bodyPr wrap="square" lIns="0" tIns="0" rIns="0" bIns="0" rtlCol="0" anchor="t">
            <a:noAutofit/>
          </a:bodyPr>
          <a:lstStyle/>
          <a:p>
            <a:pPr marL="0" indent="0" algn="l">
              <a:lnSpc>
                <a:spcPct val="125000"/>
              </a:lnSpc>
              <a:buNone/>
            </a:pPr>
            <a:r>
              <a:rPr lang="en-US" sz="1200" dirty="0">
                <a:solidFill>
                  <a:srgbClr val="000000"/>
                </a:solidFill>
                <a:latin typeface="Manrope" pitchFamily="34" charset="0"/>
                <a:ea typeface="Manrope" pitchFamily="34" charset="-122"/>
                <a:cs typeface="Manrope" pitchFamily="34" charset="-120"/>
              </a:rPr>
              <a:t>Of Catholic doctrine drawn from Scripture, Tradition, and the Magisterium</a:t>
            </a:r>
            <a:endParaRPr lang="en-US" sz="1200" dirty="0"/>
          </a:p>
        </p:txBody>
      </p:sp>
      <p:sp>
        <p:nvSpPr>
          <p:cNvPr id="10" name="Shape 8"/>
          <p:cNvSpPr/>
          <p:nvPr/>
        </p:nvSpPr>
        <p:spPr>
          <a:xfrm>
            <a:off x="4739506" y="1599799"/>
            <a:ext cx="244153" cy="244153"/>
          </a:xfrm>
          <a:prstGeom prst="ellipse">
            <a:avLst/>
          </a:prstGeom>
          <a:solidFill>
            <a:srgbClr val="BCEAFE"/>
          </a:solidFill>
          <a:ln w="4763">
            <a:solidFill>
              <a:srgbClr val="B3D5E4"/>
            </a:solidFill>
            <a:prstDash val="solid"/>
          </a:ln>
        </p:spPr>
        <p:txBody>
          <a:bodyPr/>
          <a:lstStyle/>
          <a:p>
            <a:endParaRPr lang="en-IN" sz="3600"/>
          </a:p>
        </p:txBody>
      </p:sp>
      <p:sp>
        <p:nvSpPr>
          <p:cNvPr id="11" name="Text 9"/>
          <p:cNvSpPr/>
          <p:nvPr/>
        </p:nvSpPr>
        <p:spPr>
          <a:xfrm>
            <a:off x="4780173" y="1620114"/>
            <a:ext cx="162744" cy="203448"/>
          </a:xfrm>
          <a:prstGeom prst="rect">
            <a:avLst/>
          </a:prstGeom>
          <a:noFill/>
          <a:ln/>
        </p:spPr>
        <p:txBody>
          <a:bodyPr wrap="none" lIns="0" tIns="0" rIns="0" bIns="0" rtlCol="0" anchor="ctr"/>
          <a:lstStyle/>
          <a:p>
            <a:pPr marL="0" indent="0" algn="ctr">
              <a:lnSpc>
                <a:spcPct val="100000"/>
              </a:lnSpc>
              <a:buNone/>
            </a:pPr>
            <a:r>
              <a:rPr lang="en-US" sz="2400" dirty="0">
                <a:solidFill>
                  <a:srgbClr val="000000"/>
                </a:solidFill>
                <a:latin typeface="Alexandria Medium" pitchFamily="34" charset="0"/>
                <a:ea typeface="Alexandria Medium" pitchFamily="34" charset="-122"/>
                <a:cs typeface="Alexandria Medium" pitchFamily="34" charset="-120"/>
              </a:rPr>
              <a:t>2</a:t>
            </a:r>
            <a:endParaRPr lang="en-US" sz="2400" dirty="0"/>
          </a:p>
        </p:txBody>
      </p:sp>
      <p:sp>
        <p:nvSpPr>
          <p:cNvPr id="12" name="Text 10"/>
          <p:cNvSpPr/>
          <p:nvPr/>
        </p:nvSpPr>
        <p:spPr>
          <a:xfrm>
            <a:off x="5078611" y="1637080"/>
            <a:ext cx="3543672" cy="169515"/>
          </a:xfrm>
          <a:prstGeom prst="rect">
            <a:avLst/>
          </a:prstGeom>
          <a:noFill/>
          <a:ln/>
        </p:spPr>
        <p:txBody>
          <a:bodyPr wrap="none" lIns="0" tIns="0" rIns="0" bIns="0" rtlCol="0" anchor="t"/>
          <a:lstStyle/>
          <a:p>
            <a:pPr marL="0" indent="0" algn="l">
              <a:lnSpc>
                <a:spcPct val="104000"/>
              </a:lnSpc>
              <a:buNone/>
            </a:pPr>
            <a:r>
              <a:rPr lang="en-US" dirty="0">
                <a:solidFill>
                  <a:srgbClr val="000000"/>
                </a:solidFill>
                <a:latin typeface="Alexandria Medium" pitchFamily="34" charset="0"/>
                <a:ea typeface="Alexandria Medium" pitchFamily="34" charset="-122"/>
                <a:cs typeface="Alexandria Medium" pitchFamily="34" charset="-120"/>
              </a:rPr>
              <a:t>Cultural Rootedness</a:t>
            </a:r>
            <a:endParaRPr lang="en-US" dirty="0"/>
          </a:p>
        </p:txBody>
      </p:sp>
      <p:sp>
        <p:nvSpPr>
          <p:cNvPr id="13" name="Text 11"/>
          <p:cNvSpPr/>
          <p:nvPr/>
        </p:nvSpPr>
        <p:spPr>
          <a:xfrm>
            <a:off x="5078611" y="1901548"/>
            <a:ext cx="3543672" cy="390004"/>
          </a:xfrm>
          <a:prstGeom prst="rect">
            <a:avLst/>
          </a:prstGeom>
          <a:noFill/>
          <a:ln/>
        </p:spPr>
        <p:txBody>
          <a:bodyPr wrap="none" lIns="0" tIns="0" rIns="0" bIns="0" rtlCol="0" anchor="t"/>
          <a:lstStyle/>
          <a:p>
            <a:pPr marL="0" indent="0" algn="l">
              <a:lnSpc>
                <a:spcPct val="125000"/>
              </a:lnSpc>
              <a:buNone/>
            </a:pPr>
            <a:r>
              <a:rPr lang="en-US" sz="1200" dirty="0">
                <a:solidFill>
                  <a:srgbClr val="000000"/>
                </a:solidFill>
                <a:latin typeface="Manrope" pitchFamily="34" charset="0"/>
                <a:ea typeface="Manrope" pitchFamily="34" charset="-122"/>
                <a:cs typeface="Manrope" pitchFamily="34" charset="-120"/>
              </a:rPr>
              <a:t>In the social, cultural, and subaltern reality of </a:t>
            </a:r>
          </a:p>
          <a:p>
            <a:pPr marL="0" indent="0" algn="l">
              <a:lnSpc>
                <a:spcPct val="125000"/>
              </a:lnSpc>
              <a:buNone/>
            </a:pPr>
            <a:r>
              <a:rPr lang="en-US" sz="1200" dirty="0">
                <a:solidFill>
                  <a:srgbClr val="000000"/>
                </a:solidFill>
                <a:latin typeface="Manrope" pitchFamily="34" charset="0"/>
                <a:ea typeface="Manrope" pitchFamily="34" charset="-122"/>
                <a:cs typeface="Manrope" pitchFamily="34" charset="-120"/>
              </a:rPr>
              <a:t>the Bengal region</a:t>
            </a:r>
            <a:endParaRPr lang="en-US" sz="1200" dirty="0"/>
          </a:p>
        </p:txBody>
      </p:sp>
      <p:sp>
        <p:nvSpPr>
          <p:cNvPr id="14" name="Shape 12"/>
          <p:cNvSpPr/>
          <p:nvPr/>
        </p:nvSpPr>
        <p:spPr>
          <a:xfrm>
            <a:off x="4739506" y="2254270"/>
            <a:ext cx="244153" cy="244153"/>
          </a:xfrm>
          <a:prstGeom prst="ellipse">
            <a:avLst/>
          </a:prstGeom>
          <a:solidFill>
            <a:srgbClr val="BCEAFE"/>
          </a:solidFill>
          <a:ln w="4763">
            <a:solidFill>
              <a:srgbClr val="B3D5E4"/>
            </a:solidFill>
            <a:prstDash val="solid"/>
          </a:ln>
        </p:spPr>
        <p:txBody>
          <a:bodyPr/>
          <a:lstStyle/>
          <a:p>
            <a:endParaRPr lang="en-IN" sz="3600"/>
          </a:p>
        </p:txBody>
      </p:sp>
      <p:sp>
        <p:nvSpPr>
          <p:cNvPr id="15" name="Text 13"/>
          <p:cNvSpPr/>
          <p:nvPr/>
        </p:nvSpPr>
        <p:spPr>
          <a:xfrm>
            <a:off x="4780173" y="2274585"/>
            <a:ext cx="162744" cy="203448"/>
          </a:xfrm>
          <a:prstGeom prst="rect">
            <a:avLst/>
          </a:prstGeom>
          <a:noFill/>
          <a:ln/>
        </p:spPr>
        <p:txBody>
          <a:bodyPr wrap="none" lIns="0" tIns="0" rIns="0" bIns="0" rtlCol="0" anchor="ctr"/>
          <a:lstStyle/>
          <a:p>
            <a:pPr marL="0" indent="0" algn="ctr">
              <a:lnSpc>
                <a:spcPct val="100000"/>
              </a:lnSpc>
              <a:buNone/>
            </a:pPr>
            <a:r>
              <a:rPr lang="en-US" sz="2400" dirty="0">
                <a:solidFill>
                  <a:srgbClr val="000000"/>
                </a:solidFill>
                <a:latin typeface="Alexandria Medium" pitchFamily="34" charset="0"/>
                <a:ea typeface="Alexandria Medium" pitchFamily="34" charset="-122"/>
                <a:cs typeface="Alexandria Medium" pitchFamily="34" charset="-120"/>
              </a:rPr>
              <a:t>3</a:t>
            </a:r>
            <a:endParaRPr lang="en-US" sz="2400" dirty="0"/>
          </a:p>
        </p:txBody>
      </p:sp>
      <p:sp>
        <p:nvSpPr>
          <p:cNvPr id="16" name="Text 14"/>
          <p:cNvSpPr/>
          <p:nvPr/>
        </p:nvSpPr>
        <p:spPr>
          <a:xfrm>
            <a:off x="5078611" y="2291552"/>
            <a:ext cx="3543672" cy="169515"/>
          </a:xfrm>
          <a:prstGeom prst="rect">
            <a:avLst/>
          </a:prstGeom>
          <a:noFill/>
          <a:ln/>
        </p:spPr>
        <p:txBody>
          <a:bodyPr wrap="none" lIns="0" tIns="0" rIns="0" bIns="0" rtlCol="0" anchor="t"/>
          <a:lstStyle/>
          <a:p>
            <a:pPr marL="0" indent="0" algn="l">
              <a:lnSpc>
                <a:spcPct val="104000"/>
              </a:lnSpc>
              <a:buNone/>
            </a:pPr>
            <a:r>
              <a:rPr lang="en-US" dirty="0">
                <a:solidFill>
                  <a:srgbClr val="000000"/>
                </a:solidFill>
                <a:latin typeface="Alexandria Medium" pitchFamily="34" charset="0"/>
                <a:ea typeface="Alexandria Medium" pitchFamily="34" charset="-122"/>
                <a:cs typeface="Alexandria Medium" pitchFamily="34" charset="-120"/>
              </a:rPr>
              <a:t>Pastoral Action</a:t>
            </a:r>
            <a:endParaRPr lang="en-US" dirty="0"/>
          </a:p>
        </p:txBody>
      </p:sp>
      <p:sp>
        <p:nvSpPr>
          <p:cNvPr id="17" name="Text 15"/>
          <p:cNvSpPr/>
          <p:nvPr/>
        </p:nvSpPr>
        <p:spPr>
          <a:xfrm>
            <a:off x="5078611" y="2556019"/>
            <a:ext cx="3543672" cy="325636"/>
          </a:xfrm>
          <a:prstGeom prst="rect">
            <a:avLst/>
          </a:prstGeom>
          <a:noFill/>
          <a:ln/>
        </p:spPr>
        <p:txBody>
          <a:bodyPr wrap="square" lIns="0" tIns="0" rIns="0" bIns="0" rtlCol="0" anchor="t">
            <a:noAutofit/>
          </a:bodyPr>
          <a:lstStyle/>
          <a:p>
            <a:pPr marL="0" indent="0" algn="l">
              <a:lnSpc>
                <a:spcPct val="125000"/>
              </a:lnSpc>
              <a:buNone/>
            </a:pPr>
            <a:r>
              <a:rPr lang="en-US" sz="1200" dirty="0">
                <a:solidFill>
                  <a:srgbClr val="000000"/>
                </a:solidFill>
                <a:latin typeface="Manrope" pitchFamily="34" charset="0"/>
                <a:ea typeface="Manrope" pitchFamily="34" charset="-122"/>
                <a:cs typeface="Manrope" pitchFamily="34" charset="-120"/>
              </a:rPr>
              <a:t>Toward preaching, the sacraments, healing, and the leading of communities</a:t>
            </a:r>
            <a:endParaRPr lang="en-US" sz="1200" dirty="0"/>
          </a:p>
        </p:txBody>
      </p:sp>
      <p:sp>
        <p:nvSpPr>
          <p:cNvPr id="18" name="Shape 16"/>
          <p:cNvSpPr/>
          <p:nvPr/>
        </p:nvSpPr>
        <p:spPr>
          <a:xfrm>
            <a:off x="4739506" y="3071560"/>
            <a:ext cx="244153" cy="244153"/>
          </a:xfrm>
          <a:prstGeom prst="ellipse">
            <a:avLst/>
          </a:prstGeom>
          <a:solidFill>
            <a:srgbClr val="BCEAFE"/>
          </a:solidFill>
          <a:ln w="4763">
            <a:solidFill>
              <a:srgbClr val="B3D5E4"/>
            </a:solidFill>
            <a:prstDash val="solid"/>
          </a:ln>
        </p:spPr>
        <p:txBody>
          <a:bodyPr/>
          <a:lstStyle/>
          <a:p>
            <a:endParaRPr lang="en-IN" sz="3600"/>
          </a:p>
        </p:txBody>
      </p:sp>
      <p:sp>
        <p:nvSpPr>
          <p:cNvPr id="19" name="Text 17"/>
          <p:cNvSpPr/>
          <p:nvPr/>
        </p:nvSpPr>
        <p:spPr>
          <a:xfrm>
            <a:off x="4780173" y="3091875"/>
            <a:ext cx="162744" cy="203448"/>
          </a:xfrm>
          <a:prstGeom prst="rect">
            <a:avLst/>
          </a:prstGeom>
          <a:noFill/>
          <a:ln/>
        </p:spPr>
        <p:txBody>
          <a:bodyPr wrap="none" lIns="0" tIns="0" rIns="0" bIns="0" rtlCol="0" anchor="ctr"/>
          <a:lstStyle/>
          <a:p>
            <a:pPr marL="0" indent="0" algn="ctr">
              <a:lnSpc>
                <a:spcPct val="100000"/>
              </a:lnSpc>
              <a:buNone/>
            </a:pPr>
            <a:r>
              <a:rPr lang="en-US" sz="2400" dirty="0">
                <a:solidFill>
                  <a:srgbClr val="000000"/>
                </a:solidFill>
                <a:latin typeface="Alexandria Medium" pitchFamily="34" charset="0"/>
                <a:ea typeface="Alexandria Medium" pitchFamily="34" charset="-122"/>
                <a:cs typeface="Alexandria Medium" pitchFamily="34" charset="-120"/>
              </a:rPr>
              <a:t>4</a:t>
            </a:r>
            <a:endParaRPr lang="en-US" sz="2400" dirty="0"/>
          </a:p>
        </p:txBody>
      </p:sp>
      <p:sp>
        <p:nvSpPr>
          <p:cNvPr id="20" name="Text 18"/>
          <p:cNvSpPr/>
          <p:nvPr/>
        </p:nvSpPr>
        <p:spPr>
          <a:xfrm>
            <a:off x="5078611" y="3108841"/>
            <a:ext cx="3543672" cy="169515"/>
          </a:xfrm>
          <a:prstGeom prst="rect">
            <a:avLst/>
          </a:prstGeom>
          <a:noFill/>
          <a:ln/>
        </p:spPr>
        <p:txBody>
          <a:bodyPr wrap="none" lIns="0" tIns="0" rIns="0" bIns="0" rtlCol="0" anchor="t"/>
          <a:lstStyle/>
          <a:p>
            <a:pPr marL="0" indent="0" algn="l">
              <a:lnSpc>
                <a:spcPct val="104000"/>
              </a:lnSpc>
              <a:buNone/>
            </a:pPr>
            <a:r>
              <a:rPr lang="en-US" dirty="0">
                <a:solidFill>
                  <a:srgbClr val="000000"/>
                </a:solidFill>
                <a:latin typeface="Alexandria Medium" pitchFamily="34" charset="0"/>
                <a:ea typeface="Alexandria Medium" pitchFamily="34" charset="-122"/>
                <a:cs typeface="Alexandria Medium" pitchFamily="34" charset="-120"/>
              </a:rPr>
              <a:t>Mutual Enrichment</a:t>
            </a:r>
            <a:endParaRPr lang="en-US" dirty="0"/>
          </a:p>
        </p:txBody>
      </p:sp>
      <p:sp>
        <p:nvSpPr>
          <p:cNvPr id="21" name="Text 19"/>
          <p:cNvSpPr/>
          <p:nvPr/>
        </p:nvSpPr>
        <p:spPr>
          <a:xfrm>
            <a:off x="5078611" y="3373309"/>
            <a:ext cx="3543672" cy="325636"/>
          </a:xfrm>
          <a:prstGeom prst="rect">
            <a:avLst/>
          </a:prstGeom>
          <a:noFill/>
          <a:ln/>
        </p:spPr>
        <p:txBody>
          <a:bodyPr wrap="square" lIns="0" tIns="0" rIns="0" bIns="0" rtlCol="0" anchor="t">
            <a:normAutofit/>
          </a:bodyPr>
          <a:lstStyle/>
          <a:p>
            <a:pPr marL="0" indent="0" algn="l">
              <a:lnSpc>
                <a:spcPct val="125000"/>
              </a:lnSpc>
              <a:buNone/>
            </a:pPr>
            <a:r>
              <a:rPr lang="en-US" sz="800" dirty="0">
                <a:solidFill>
                  <a:srgbClr val="000000"/>
                </a:solidFill>
                <a:latin typeface="Manrope" pitchFamily="34" charset="0"/>
                <a:ea typeface="Manrope" pitchFamily="34" charset="-122"/>
                <a:cs typeface="Manrope" pitchFamily="34" charset="-120"/>
              </a:rPr>
              <a:t>Through dialogue with other religious traditions and the human sciences</a:t>
            </a:r>
            <a:endParaRPr lang="en-US" sz="800" dirty="0"/>
          </a:p>
        </p:txBody>
      </p:sp>
      <p:sp>
        <p:nvSpPr>
          <p:cNvPr id="22" name="Shape 20"/>
          <p:cNvSpPr/>
          <p:nvPr/>
        </p:nvSpPr>
        <p:spPr>
          <a:xfrm>
            <a:off x="4572001" y="4364459"/>
            <a:ext cx="4487916" cy="779041"/>
          </a:xfrm>
          <a:prstGeom prst="roundRect">
            <a:avLst>
              <a:gd name="adj" fmla="val 40972"/>
            </a:avLst>
          </a:prstGeom>
          <a:solidFill>
            <a:srgbClr val="CDEFFE"/>
          </a:solidFill>
          <a:ln/>
        </p:spPr>
        <p:txBody>
          <a:bodyPr/>
          <a:lstStyle/>
          <a:p>
            <a:endParaRPr lang="en-IN"/>
          </a:p>
        </p:txBody>
      </p:sp>
      <p:sp>
        <p:nvSpPr>
          <p:cNvPr id="24" name="Text 21"/>
          <p:cNvSpPr/>
          <p:nvPr/>
        </p:nvSpPr>
        <p:spPr>
          <a:xfrm>
            <a:off x="4776974" y="4422726"/>
            <a:ext cx="4282944" cy="674414"/>
          </a:xfrm>
          <a:prstGeom prst="rect">
            <a:avLst/>
          </a:prstGeom>
          <a:noFill/>
          <a:ln/>
        </p:spPr>
        <p:txBody>
          <a:bodyPr wrap="none" lIns="0" tIns="0" rIns="0" bIns="0" rtlCol="0" anchor="t"/>
          <a:lstStyle/>
          <a:p>
            <a:pPr marL="0" indent="0" algn="l">
              <a:lnSpc>
                <a:spcPct val="125000"/>
              </a:lnSpc>
              <a:buNone/>
            </a:pPr>
            <a:r>
              <a:rPr lang="en-US" sz="1200" dirty="0">
                <a:solidFill>
                  <a:srgbClr val="000000"/>
                </a:solidFill>
                <a:latin typeface="Manrope" pitchFamily="34" charset="0"/>
                <a:ea typeface="Manrope" pitchFamily="34" charset="-122"/>
                <a:cs typeface="Manrope" pitchFamily="34" charset="-120"/>
              </a:rPr>
              <a:t>Theology here is meant to become light for the local Church. </a:t>
            </a:r>
          </a:p>
          <a:p>
            <a:pPr marL="0" indent="0" algn="l">
              <a:lnSpc>
                <a:spcPct val="125000"/>
              </a:lnSpc>
              <a:buNone/>
            </a:pPr>
            <a:r>
              <a:rPr lang="en-US" sz="1200" dirty="0">
                <a:solidFill>
                  <a:srgbClr val="000000"/>
                </a:solidFill>
                <a:latin typeface="Manrope" pitchFamily="34" charset="0"/>
                <a:ea typeface="Manrope" pitchFamily="34" charset="-122"/>
                <a:cs typeface="Manrope" pitchFamily="34" charset="-120"/>
              </a:rPr>
              <a:t>The motto of this house, </a:t>
            </a:r>
          </a:p>
          <a:p>
            <a:pPr marL="0" indent="0" algn="l">
              <a:lnSpc>
                <a:spcPct val="125000"/>
              </a:lnSpc>
              <a:buNone/>
            </a:pPr>
            <a:r>
              <a:rPr lang="en-US" sz="1200" dirty="0">
                <a:solidFill>
                  <a:srgbClr val="000000"/>
                </a:solidFill>
                <a:latin typeface="Manrope" pitchFamily="34" charset="0"/>
                <a:ea typeface="Manrope" pitchFamily="34" charset="-122"/>
                <a:cs typeface="Manrope" pitchFamily="34" charset="-120"/>
              </a:rPr>
              <a:t>taken from Matthew 5:16, is </a:t>
            </a:r>
            <a:r>
              <a:rPr lang="en-US" sz="1200" i="1" dirty="0">
                <a:solidFill>
                  <a:srgbClr val="000000"/>
                </a:solidFill>
                <a:latin typeface="Manrope" pitchFamily="34" charset="0"/>
                <a:ea typeface="Manrope" pitchFamily="34" charset="-122"/>
                <a:cs typeface="Manrope" pitchFamily="34" charset="-120"/>
              </a:rPr>
              <a:t>"Let your light shine."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418133"/>
            <a:ext cx="8151763" cy="345281"/>
          </a:xfrm>
          <a:prstGeom prst="rect">
            <a:avLst/>
          </a:prstGeom>
          <a:noFill/>
          <a:ln/>
        </p:spPr>
        <p:txBody>
          <a:bodyPr wrap="none" lIns="0" tIns="0" rIns="0" bIns="0" rtlCol="0" anchor="t"/>
          <a:lstStyle/>
          <a:p>
            <a:pPr marL="0" indent="0" algn="l">
              <a:lnSpc>
                <a:spcPct val="104000"/>
              </a:lnSpc>
              <a:buNone/>
            </a:pPr>
            <a:r>
              <a:rPr lang="en-US" sz="2150" dirty="0">
                <a:solidFill>
                  <a:srgbClr val="5B6E8C"/>
                </a:solidFill>
                <a:latin typeface="Alexandria Medium" pitchFamily="34" charset="0"/>
                <a:ea typeface="Alexandria Medium" pitchFamily="34" charset="-122"/>
                <a:cs typeface="Alexandria Medium" pitchFamily="34" charset="-120"/>
              </a:rPr>
              <a:t>2. What Theology Is, and What It Is Not</a:t>
            </a:r>
            <a:endParaRPr lang="en-US" sz="2150" dirty="0"/>
          </a:p>
        </p:txBody>
      </p:sp>
      <p:sp>
        <p:nvSpPr>
          <p:cNvPr id="3" name="Text 1"/>
          <p:cNvSpPr/>
          <p:nvPr/>
        </p:nvSpPr>
        <p:spPr>
          <a:xfrm>
            <a:off x="496119" y="1009352"/>
            <a:ext cx="3941118" cy="172641"/>
          </a:xfrm>
          <a:prstGeom prst="rect">
            <a:avLst/>
          </a:prstGeom>
          <a:noFill/>
          <a:ln/>
        </p:spPr>
        <p:txBody>
          <a:bodyPr wrap="none" lIns="0" tIns="0" rIns="0" bIns="0" rtlCol="0" anchor="t"/>
          <a:lstStyle/>
          <a:p>
            <a:pPr marL="0" indent="0" algn="l">
              <a:lnSpc>
                <a:spcPct val="104000"/>
              </a:lnSpc>
              <a:buNone/>
            </a:pPr>
            <a:r>
              <a:rPr lang="en-US" sz="1050" dirty="0">
                <a:solidFill>
                  <a:srgbClr val="5B6E8C"/>
                </a:solidFill>
                <a:latin typeface="Alexandria Medium" pitchFamily="34" charset="0"/>
                <a:ea typeface="Alexandria Medium" pitchFamily="34" charset="-122"/>
                <a:cs typeface="Alexandria Medium" pitchFamily="34" charset="-120"/>
              </a:rPr>
              <a:t>What Theology Is Not</a:t>
            </a:r>
            <a:endParaRPr lang="en-US" sz="1050" dirty="0"/>
          </a:p>
        </p:txBody>
      </p:sp>
      <p:sp>
        <p:nvSpPr>
          <p:cNvPr id="4" name="Text 2"/>
          <p:cNvSpPr/>
          <p:nvPr/>
        </p:nvSpPr>
        <p:spPr>
          <a:xfrm>
            <a:off x="496119" y="1280368"/>
            <a:ext cx="3941118" cy="116993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5B6E8C"/>
                </a:solidFill>
                <a:latin typeface="Manrope" pitchFamily="34" charset="0"/>
                <a:ea typeface="Manrope" pitchFamily="34" charset="-122"/>
                <a:cs typeface="Manrope" pitchFamily="34" charset="-120"/>
              </a:rPr>
              <a:t>Theology is not brainwashing, and it is not an adult catechism. It is not merely a thorough knowledge of basic Christian doctrines, though it includes such knowledge. Theology is a living process that moves from information to formation to transformation. It deals with the basic questions that every human being raises about life, the world, and God, and the intimate, personal experience of God, both of the individual and of the community, stands at the centre of the whole work.</a:t>
            </a:r>
            <a:endParaRPr lang="en-US" sz="850" dirty="0"/>
          </a:p>
        </p:txBody>
      </p:sp>
      <p:sp>
        <p:nvSpPr>
          <p:cNvPr id="5" name="Shape 3"/>
          <p:cNvSpPr/>
          <p:nvPr/>
        </p:nvSpPr>
        <p:spPr>
          <a:xfrm>
            <a:off x="496119" y="2560960"/>
            <a:ext cx="1921371" cy="422077"/>
          </a:xfrm>
          <a:prstGeom prst="roundRect">
            <a:avLst>
              <a:gd name="adj" fmla="val 39263"/>
            </a:avLst>
          </a:prstGeom>
          <a:solidFill>
            <a:srgbClr val="FFFFFF"/>
          </a:solidFill>
          <a:ln w="14288">
            <a:solidFill>
              <a:srgbClr val="B3D5E4"/>
            </a:solidFill>
            <a:prstDash val="solid"/>
          </a:ln>
        </p:spPr>
        <p:txBody>
          <a:bodyPr/>
          <a:lstStyle/>
          <a:p>
            <a:endParaRPr lang="en-IN"/>
          </a:p>
        </p:txBody>
      </p:sp>
      <p:sp>
        <p:nvSpPr>
          <p:cNvPr id="6" name="Text 4"/>
          <p:cNvSpPr/>
          <p:nvPr/>
        </p:nvSpPr>
        <p:spPr>
          <a:xfrm>
            <a:off x="620837" y="2685678"/>
            <a:ext cx="1671935" cy="172641"/>
          </a:xfrm>
          <a:prstGeom prst="rect">
            <a:avLst/>
          </a:prstGeom>
          <a:noFill/>
          <a:ln/>
        </p:spPr>
        <p:txBody>
          <a:bodyPr wrap="none" lIns="0" tIns="0" rIns="0" bIns="0" rtlCol="0" anchor="t"/>
          <a:lstStyle/>
          <a:p>
            <a:pPr marL="0" indent="0" algn="l">
              <a:lnSpc>
                <a:spcPct val="104000"/>
              </a:lnSpc>
              <a:buNone/>
            </a:pPr>
            <a:r>
              <a:rPr lang="en-US" sz="1050" dirty="0">
                <a:solidFill>
                  <a:srgbClr val="5B6E8C"/>
                </a:solidFill>
                <a:latin typeface="Alexandria Medium" pitchFamily="34" charset="0"/>
                <a:ea typeface="Alexandria Medium" pitchFamily="34" charset="-122"/>
                <a:cs typeface="Alexandria Medium" pitchFamily="34" charset="-120"/>
              </a:rPr>
              <a:t>Information</a:t>
            </a:r>
            <a:endParaRPr lang="en-US" sz="1050" dirty="0"/>
          </a:p>
        </p:txBody>
      </p:sp>
      <p:sp>
        <p:nvSpPr>
          <p:cNvPr id="7" name="Shape 5"/>
          <p:cNvSpPr/>
          <p:nvPr/>
        </p:nvSpPr>
        <p:spPr>
          <a:xfrm>
            <a:off x="2515865" y="2560960"/>
            <a:ext cx="1921371" cy="422077"/>
          </a:xfrm>
          <a:prstGeom prst="roundRect">
            <a:avLst>
              <a:gd name="adj" fmla="val 39263"/>
            </a:avLst>
          </a:prstGeom>
          <a:solidFill>
            <a:srgbClr val="FFFFFF"/>
          </a:solidFill>
          <a:ln w="14288">
            <a:solidFill>
              <a:srgbClr val="B3D5E4"/>
            </a:solidFill>
            <a:prstDash val="solid"/>
          </a:ln>
        </p:spPr>
        <p:txBody>
          <a:bodyPr/>
          <a:lstStyle/>
          <a:p>
            <a:endParaRPr lang="en-IN"/>
          </a:p>
        </p:txBody>
      </p:sp>
      <p:sp>
        <p:nvSpPr>
          <p:cNvPr id="8" name="Text 6"/>
          <p:cNvSpPr/>
          <p:nvPr/>
        </p:nvSpPr>
        <p:spPr>
          <a:xfrm>
            <a:off x="2640583" y="2685678"/>
            <a:ext cx="1671935" cy="172641"/>
          </a:xfrm>
          <a:prstGeom prst="rect">
            <a:avLst/>
          </a:prstGeom>
          <a:noFill/>
          <a:ln/>
        </p:spPr>
        <p:txBody>
          <a:bodyPr wrap="none" lIns="0" tIns="0" rIns="0" bIns="0" rtlCol="0" anchor="t"/>
          <a:lstStyle/>
          <a:p>
            <a:pPr marL="0" indent="0" algn="l">
              <a:lnSpc>
                <a:spcPct val="104000"/>
              </a:lnSpc>
              <a:buNone/>
            </a:pPr>
            <a:r>
              <a:rPr lang="en-US" sz="1050" dirty="0">
                <a:solidFill>
                  <a:srgbClr val="5B6E8C"/>
                </a:solidFill>
                <a:latin typeface="Alexandria Medium" pitchFamily="34" charset="0"/>
                <a:ea typeface="Alexandria Medium" pitchFamily="34" charset="-122"/>
                <a:cs typeface="Alexandria Medium" pitchFamily="34" charset="-120"/>
              </a:rPr>
              <a:t>Formation</a:t>
            </a:r>
            <a:endParaRPr lang="en-US" sz="1050" dirty="0"/>
          </a:p>
        </p:txBody>
      </p:sp>
      <p:sp>
        <p:nvSpPr>
          <p:cNvPr id="9" name="Shape 7"/>
          <p:cNvSpPr/>
          <p:nvPr/>
        </p:nvSpPr>
        <p:spPr>
          <a:xfrm>
            <a:off x="496119" y="3081412"/>
            <a:ext cx="3941118" cy="422077"/>
          </a:xfrm>
          <a:prstGeom prst="roundRect">
            <a:avLst>
              <a:gd name="adj" fmla="val 39263"/>
            </a:avLst>
          </a:prstGeom>
          <a:solidFill>
            <a:srgbClr val="FFFFFF"/>
          </a:solidFill>
          <a:ln w="14288">
            <a:solidFill>
              <a:srgbClr val="B3D5E4"/>
            </a:solidFill>
            <a:prstDash val="solid"/>
          </a:ln>
        </p:spPr>
        <p:txBody>
          <a:bodyPr/>
          <a:lstStyle/>
          <a:p>
            <a:endParaRPr lang="en-IN"/>
          </a:p>
        </p:txBody>
      </p:sp>
      <p:sp>
        <p:nvSpPr>
          <p:cNvPr id="10" name="Text 8"/>
          <p:cNvSpPr/>
          <p:nvPr/>
        </p:nvSpPr>
        <p:spPr>
          <a:xfrm>
            <a:off x="620837" y="3206130"/>
            <a:ext cx="3691682" cy="172641"/>
          </a:xfrm>
          <a:prstGeom prst="rect">
            <a:avLst/>
          </a:prstGeom>
          <a:noFill/>
          <a:ln/>
        </p:spPr>
        <p:txBody>
          <a:bodyPr wrap="none" lIns="0" tIns="0" rIns="0" bIns="0" rtlCol="0" anchor="t"/>
          <a:lstStyle/>
          <a:p>
            <a:pPr marL="0" indent="0" algn="l">
              <a:lnSpc>
                <a:spcPct val="104000"/>
              </a:lnSpc>
              <a:buNone/>
            </a:pPr>
            <a:r>
              <a:rPr lang="en-US" sz="1050" dirty="0">
                <a:solidFill>
                  <a:srgbClr val="5B6E8C"/>
                </a:solidFill>
                <a:latin typeface="Alexandria Medium" pitchFamily="34" charset="0"/>
                <a:ea typeface="Alexandria Medium" pitchFamily="34" charset="-122"/>
                <a:cs typeface="Alexandria Medium" pitchFamily="34" charset="-120"/>
              </a:rPr>
              <a:t>Transformation</a:t>
            </a:r>
            <a:endParaRPr lang="en-US" sz="1050" dirty="0"/>
          </a:p>
        </p:txBody>
      </p:sp>
      <p:sp>
        <p:nvSpPr>
          <p:cNvPr id="11" name="Text 9"/>
          <p:cNvSpPr/>
          <p:nvPr/>
        </p:nvSpPr>
        <p:spPr>
          <a:xfrm>
            <a:off x="4711526" y="1009352"/>
            <a:ext cx="3941118" cy="172641"/>
          </a:xfrm>
          <a:prstGeom prst="rect">
            <a:avLst/>
          </a:prstGeom>
          <a:noFill/>
          <a:ln/>
        </p:spPr>
        <p:txBody>
          <a:bodyPr wrap="none" lIns="0" tIns="0" rIns="0" bIns="0" rtlCol="0" anchor="t"/>
          <a:lstStyle/>
          <a:p>
            <a:pPr marL="0" indent="0" algn="l">
              <a:lnSpc>
                <a:spcPct val="104000"/>
              </a:lnSpc>
              <a:buNone/>
            </a:pPr>
            <a:r>
              <a:rPr lang="en-US" sz="1050" dirty="0">
                <a:solidFill>
                  <a:srgbClr val="5B6E8C"/>
                </a:solidFill>
                <a:latin typeface="Alexandria Medium" pitchFamily="34" charset="0"/>
                <a:ea typeface="Alexandria Medium" pitchFamily="34" charset="-122"/>
                <a:cs typeface="Alexandria Medium" pitchFamily="34" charset="-120"/>
              </a:rPr>
              <a:t>The Word Itself</a:t>
            </a:r>
            <a:endParaRPr lang="en-US" sz="1050" dirty="0"/>
          </a:p>
        </p:txBody>
      </p:sp>
      <p:sp>
        <p:nvSpPr>
          <p:cNvPr id="12" name="Text 10"/>
          <p:cNvSpPr/>
          <p:nvPr/>
        </p:nvSpPr>
        <p:spPr>
          <a:xfrm>
            <a:off x="4711526" y="1280368"/>
            <a:ext cx="3941118" cy="116993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5B6E8C"/>
                </a:solidFill>
                <a:latin typeface="Manrope" pitchFamily="34" charset="0"/>
                <a:ea typeface="Manrope" pitchFamily="34" charset="-122"/>
                <a:cs typeface="Manrope" pitchFamily="34" charset="-120"/>
              </a:rPr>
              <a:t>The word is built from two Greek words: </a:t>
            </a:r>
            <a:r>
              <a:rPr lang="en-US" sz="850" i="1" dirty="0">
                <a:solidFill>
                  <a:srgbClr val="5B6E8C"/>
                </a:solidFill>
                <a:latin typeface="Manrope" pitchFamily="34" charset="0"/>
                <a:ea typeface="Manrope" pitchFamily="34" charset="-122"/>
                <a:cs typeface="Manrope" pitchFamily="34" charset="-120"/>
              </a:rPr>
              <a:t>theos</a:t>
            </a:r>
            <a:r>
              <a:rPr lang="en-US" sz="850" dirty="0">
                <a:solidFill>
                  <a:srgbClr val="5B6E8C"/>
                </a:solidFill>
                <a:latin typeface="Manrope" pitchFamily="34" charset="0"/>
                <a:ea typeface="Manrope" pitchFamily="34" charset="-122"/>
                <a:cs typeface="Manrope" pitchFamily="34" charset="-120"/>
              </a:rPr>
              <a:t>, meaning God, and </a:t>
            </a:r>
            <a:r>
              <a:rPr lang="en-US" sz="850" i="1" dirty="0">
                <a:solidFill>
                  <a:srgbClr val="5B6E8C"/>
                </a:solidFill>
                <a:latin typeface="Manrope" pitchFamily="34" charset="0"/>
                <a:ea typeface="Manrope" pitchFamily="34" charset="-122"/>
                <a:cs typeface="Manrope" pitchFamily="34" charset="-120"/>
              </a:rPr>
              <a:t>logos</a:t>
            </a:r>
            <a:r>
              <a:rPr lang="en-US" sz="850" dirty="0">
                <a:solidFill>
                  <a:srgbClr val="5B6E8C"/>
                </a:solidFill>
                <a:latin typeface="Manrope" pitchFamily="34" charset="0"/>
                <a:ea typeface="Manrope" pitchFamily="34" charset="-122"/>
                <a:cs typeface="Manrope" pitchFamily="34" charset="-120"/>
              </a:rPr>
              <a:t>, meaning word, discourse, or study. Theology is therefore discourse on God, the study of God, God-talk. Christian theology is the discussion of the Trinitarian and Christological mysteries and the interpretation of Sacred Scripture and Christian doctrine. Its starting point is faith experience, by which we come to understand the words and the actions of God revealed in human history for the salvation of the world.</a:t>
            </a:r>
            <a:endParaRPr lang="en-US" sz="850" dirty="0"/>
          </a:p>
        </p:txBody>
      </p:sp>
      <p:sp>
        <p:nvSpPr>
          <p:cNvPr id="13" name="Text 11"/>
          <p:cNvSpPr/>
          <p:nvPr/>
        </p:nvSpPr>
        <p:spPr>
          <a:xfrm>
            <a:off x="4711526" y="2548682"/>
            <a:ext cx="3941118" cy="172641"/>
          </a:xfrm>
          <a:prstGeom prst="rect">
            <a:avLst/>
          </a:prstGeom>
          <a:noFill/>
          <a:ln/>
        </p:spPr>
        <p:txBody>
          <a:bodyPr wrap="none" lIns="0" tIns="0" rIns="0" bIns="0" rtlCol="0" anchor="t"/>
          <a:lstStyle/>
          <a:p>
            <a:pPr marL="0" indent="0" algn="l">
              <a:lnSpc>
                <a:spcPct val="104000"/>
              </a:lnSpc>
              <a:buNone/>
            </a:pPr>
            <a:r>
              <a:rPr lang="en-US" sz="1050" dirty="0">
                <a:solidFill>
                  <a:srgbClr val="5B6E8C"/>
                </a:solidFill>
                <a:latin typeface="Alexandria Medium" pitchFamily="34" charset="0"/>
                <a:ea typeface="Alexandria Medium" pitchFamily="34" charset="-122"/>
                <a:cs typeface="Alexandria Medium" pitchFamily="34" charset="-120"/>
              </a:rPr>
              <a:t>Rahner's Insight</a:t>
            </a:r>
            <a:endParaRPr lang="en-US" sz="1050" dirty="0"/>
          </a:p>
        </p:txBody>
      </p:sp>
      <p:sp>
        <p:nvSpPr>
          <p:cNvPr id="14" name="Text 12"/>
          <p:cNvSpPr/>
          <p:nvPr/>
        </p:nvSpPr>
        <p:spPr>
          <a:xfrm>
            <a:off x="4711526" y="2819698"/>
            <a:ext cx="3941118" cy="668536"/>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5B6E8C"/>
                </a:solidFill>
                <a:latin typeface="Manrope" pitchFamily="34" charset="0"/>
                <a:ea typeface="Manrope" pitchFamily="34" charset="-122"/>
                <a:cs typeface="Manrope" pitchFamily="34" charset="-120"/>
              </a:rPr>
              <a:t>Karl Rahner taught that the only truly absolute mysteries in Christianity are grace and Christ. Grace is the self-communication of God in the depths of human existence, and Christ is that same self-communication in history. Theology is the attempt to understand God giving himself in this twofold way.</a:t>
            </a:r>
            <a:endParaRPr lang="en-US" sz="850" dirty="0"/>
          </a:p>
        </p:txBody>
      </p:sp>
      <p:sp>
        <p:nvSpPr>
          <p:cNvPr id="15" name="Shape 13"/>
          <p:cNvSpPr/>
          <p:nvPr/>
        </p:nvSpPr>
        <p:spPr>
          <a:xfrm>
            <a:off x="496119" y="3724796"/>
            <a:ext cx="14288" cy="555501"/>
          </a:xfrm>
          <a:prstGeom prst="roundRect">
            <a:avLst>
              <a:gd name="adj" fmla="val 59998"/>
            </a:avLst>
          </a:prstGeom>
          <a:solidFill>
            <a:srgbClr val="AAE4FE"/>
          </a:solidFill>
          <a:ln/>
        </p:spPr>
        <p:txBody>
          <a:bodyPr/>
          <a:lstStyle/>
          <a:p>
            <a:endParaRPr lang="en-IN"/>
          </a:p>
        </p:txBody>
      </p:sp>
      <p:sp>
        <p:nvSpPr>
          <p:cNvPr id="16" name="Text 14"/>
          <p:cNvSpPr/>
          <p:nvPr/>
        </p:nvSpPr>
        <p:spPr>
          <a:xfrm>
            <a:off x="661764" y="3835450"/>
            <a:ext cx="7986117"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5B6E8C"/>
                </a:solidFill>
                <a:latin typeface="Manrope" pitchFamily="34" charset="0"/>
                <a:ea typeface="Manrope" pitchFamily="34" charset="-122"/>
                <a:cs typeface="Manrope" pitchFamily="34" charset="-120"/>
              </a:rPr>
              <a:t>Christian faith rests on a prophetic claim, that God has acted in a unique way in a real historical event, in the incarnation, life, death, and resurrection of Jesus Christ, in order to begin his Kingdom. — M. M. Thomas</a:t>
            </a:r>
            <a:endParaRPr lang="en-US" sz="850" dirty="0"/>
          </a:p>
        </p:txBody>
      </p:sp>
      <p:sp>
        <p:nvSpPr>
          <p:cNvPr id="17" name="Text 15"/>
          <p:cNvSpPr/>
          <p:nvPr/>
        </p:nvSpPr>
        <p:spPr>
          <a:xfrm>
            <a:off x="496119" y="4391025"/>
            <a:ext cx="8151763"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5B6E8C"/>
                </a:solidFill>
                <a:latin typeface="Manrope" pitchFamily="34" charset="0"/>
                <a:ea typeface="Manrope" pitchFamily="34" charset="-122"/>
                <a:cs typeface="Manrope" pitchFamily="34" charset="-120"/>
              </a:rPr>
              <a:t>Christian theology helps human beings to understand how God, through Jesus Christ, is at work by the Holy Spirit in life and history. Its focus is on Jesus Christ, on the Kingdom of God, and on the mission of the Church patterned on the Abba experience of Jesus and directed toward the salvation of human beings.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341114"/>
            <a:ext cx="8151763" cy="193849"/>
          </a:xfrm>
          <a:prstGeom prst="rect">
            <a:avLst/>
          </a:prstGeom>
          <a:noFill/>
          <a:ln/>
        </p:spPr>
        <p:txBody>
          <a:bodyPr wrap="none" lIns="0" tIns="0" rIns="0" bIns="0" rtlCol="0" anchor="t"/>
          <a:lstStyle/>
          <a:p>
            <a:pPr marL="0" indent="0" algn="l">
              <a:lnSpc>
                <a:spcPct val="104000"/>
              </a:lnSpc>
              <a:buNone/>
            </a:pPr>
            <a:r>
              <a:rPr lang="en-US" sz="1200" dirty="0">
                <a:solidFill>
                  <a:srgbClr val="5B6E8C"/>
                </a:solidFill>
                <a:latin typeface="Alexandria Medium" pitchFamily="34" charset="0"/>
                <a:ea typeface="Alexandria Medium" pitchFamily="34" charset="-122"/>
                <a:cs typeface="Alexandria Medium" pitchFamily="34" charset="-120"/>
              </a:rPr>
              <a:t>3. Faith Seeking: The Many Definitions of Theology</a:t>
            </a:r>
            <a:endParaRPr lang="en-US" sz="1200" dirty="0"/>
          </a:p>
        </p:txBody>
      </p:sp>
      <p:sp>
        <p:nvSpPr>
          <p:cNvPr id="3" name="Shape 1"/>
          <p:cNvSpPr/>
          <p:nvPr/>
        </p:nvSpPr>
        <p:spPr>
          <a:xfrm>
            <a:off x="451470" y="581471"/>
            <a:ext cx="3259262" cy="2719090"/>
          </a:xfrm>
          <a:prstGeom prst="roundRect">
            <a:avLst>
              <a:gd name="adj" fmla="val 5474"/>
            </a:avLst>
          </a:prstGeom>
          <a:solidFill>
            <a:srgbClr val="AAE4FE"/>
          </a:solidFill>
          <a:ln/>
        </p:spPr>
        <p:txBody>
          <a:bodyPr/>
          <a:lstStyle/>
          <a:p>
            <a:endParaRPr lang="en-IN"/>
          </a:p>
        </p:txBody>
      </p:sp>
      <p:sp>
        <p:nvSpPr>
          <p:cNvPr id="4" name="Text 2"/>
          <p:cNvSpPr/>
          <p:nvPr/>
        </p:nvSpPr>
        <p:spPr>
          <a:xfrm>
            <a:off x="513457" y="612428"/>
            <a:ext cx="3135288" cy="96887"/>
          </a:xfrm>
          <a:prstGeom prst="rect">
            <a:avLst/>
          </a:prstGeom>
          <a:noFill/>
          <a:ln/>
        </p:spPr>
        <p:txBody>
          <a:bodyPr wrap="none" lIns="0" tIns="0" rIns="0" bIns="0" rtlCol="0" anchor="t"/>
          <a:lstStyle/>
          <a:p>
            <a:pPr marL="0" indent="0" algn="l">
              <a:lnSpc>
                <a:spcPct val="104000"/>
              </a:lnSpc>
              <a:buNone/>
            </a:pPr>
            <a:endParaRPr lang="en-US" sz="600" dirty="0"/>
          </a:p>
        </p:txBody>
      </p:sp>
      <p:sp>
        <p:nvSpPr>
          <p:cNvPr id="5" name="Text 3"/>
          <p:cNvSpPr/>
          <p:nvPr/>
        </p:nvSpPr>
        <p:spPr>
          <a:xfrm>
            <a:off x="513457" y="740271"/>
            <a:ext cx="3135288" cy="2478956"/>
          </a:xfrm>
          <a:prstGeom prst="rect">
            <a:avLst/>
          </a:prstGeom>
          <a:noFill/>
          <a:ln/>
        </p:spPr>
        <p:txBody>
          <a:bodyPr wrap="square" lIns="0" tIns="0" rIns="0" bIns="0" rtlCol="0" anchor="t">
            <a:normAutofit lnSpcReduction="10000"/>
          </a:bodyPr>
          <a:lstStyle/>
          <a:p>
            <a:r>
              <a:rPr lang="en-US" sz="1200" i="1" dirty="0">
                <a:solidFill>
                  <a:srgbClr val="000000"/>
                </a:solidFill>
                <a:latin typeface="Alexandria Medium" pitchFamily="34" charset="0"/>
                <a:ea typeface="Alexandria Medium" pitchFamily="34" charset="-122"/>
                <a:cs typeface="Alexandria Medium" pitchFamily="34" charset="-120"/>
              </a:rPr>
              <a:t>Fides </a:t>
            </a:r>
            <a:r>
              <a:rPr lang="en-US" sz="1200" i="1" dirty="0" err="1">
                <a:solidFill>
                  <a:srgbClr val="000000"/>
                </a:solidFill>
                <a:latin typeface="Alexandria Medium" pitchFamily="34" charset="0"/>
                <a:ea typeface="Alexandria Medium" pitchFamily="34" charset="-122"/>
                <a:cs typeface="Alexandria Medium" pitchFamily="34" charset="-120"/>
              </a:rPr>
              <a:t>Quaerens</a:t>
            </a:r>
            <a:r>
              <a:rPr lang="en-US" sz="1200" i="1" dirty="0">
                <a:solidFill>
                  <a:srgbClr val="000000"/>
                </a:solidFill>
                <a:latin typeface="Alexandria Medium" pitchFamily="34" charset="0"/>
                <a:ea typeface="Alexandria Medium" pitchFamily="34" charset="-122"/>
                <a:cs typeface="Alexandria Medium" pitchFamily="34" charset="-120"/>
              </a:rPr>
              <a:t> </a:t>
            </a:r>
            <a:r>
              <a:rPr lang="en-US" sz="1200" i="1" dirty="0" err="1">
                <a:solidFill>
                  <a:srgbClr val="000000"/>
                </a:solidFill>
                <a:latin typeface="Alexandria Medium" pitchFamily="34" charset="0"/>
                <a:ea typeface="Alexandria Medium" pitchFamily="34" charset="-122"/>
                <a:cs typeface="Alexandria Medium" pitchFamily="34" charset="-120"/>
              </a:rPr>
              <a:t>Intellectum</a:t>
            </a:r>
            <a:endParaRPr lang="en-US" sz="1200" dirty="0"/>
          </a:p>
          <a:p>
            <a:pPr marL="0" indent="0" algn="l">
              <a:lnSpc>
                <a:spcPct val="100000"/>
              </a:lnSpc>
              <a:buNone/>
            </a:pPr>
            <a:r>
              <a:rPr lang="en-US" sz="1100" dirty="0">
                <a:solidFill>
                  <a:srgbClr val="000000"/>
                </a:solidFill>
                <a:latin typeface="Manrope" pitchFamily="34" charset="0"/>
                <a:ea typeface="Manrope" pitchFamily="34" charset="-122"/>
                <a:cs typeface="Manrope" pitchFamily="34" charset="-120"/>
              </a:rPr>
              <a:t>The oldest and richest description of theology is the phrase of Anselm of Canterbury: </a:t>
            </a:r>
            <a:r>
              <a:rPr lang="en-US" sz="1100" i="1" dirty="0">
                <a:solidFill>
                  <a:srgbClr val="000000"/>
                </a:solidFill>
                <a:latin typeface="Manrope" pitchFamily="34" charset="0"/>
                <a:ea typeface="Manrope" pitchFamily="34" charset="-122"/>
                <a:cs typeface="Manrope" pitchFamily="34" charset="-120"/>
              </a:rPr>
              <a:t>fides quaerens intellectum</a:t>
            </a:r>
            <a:r>
              <a:rPr lang="en-US" sz="1100" dirty="0">
                <a:solidFill>
                  <a:srgbClr val="000000"/>
                </a:solidFill>
                <a:latin typeface="Manrope" pitchFamily="34" charset="0"/>
                <a:ea typeface="Manrope" pitchFamily="34" charset="-122"/>
                <a:cs typeface="Manrope" pitchFamily="34" charset="-120"/>
              </a:rPr>
              <a:t>, faith seeking understanding. Each word carries weight. Faith is the starting point, the active love of God reaching for a deeper knowledge of God.</a:t>
            </a:r>
          </a:p>
          <a:p>
            <a:r>
              <a:rPr lang="en-US" sz="1200" dirty="0">
                <a:solidFill>
                  <a:srgbClr val="000000"/>
                </a:solidFill>
                <a:latin typeface="Alexandria Medium" pitchFamily="34" charset="0"/>
                <a:ea typeface="Alexandria Medium" pitchFamily="34" charset="-122"/>
                <a:cs typeface="Alexandria Medium" pitchFamily="34" charset="-120"/>
              </a:rPr>
              <a:t>Between Two Errors</a:t>
            </a:r>
            <a:endParaRPr lang="en-US" sz="1200" dirty="0"/>
          </a:p>
          <a:p>
            <a:r>
              <a:rPr lang="en-US" sz="1100" b="1" dirty="0">
                <a:solidFill>
                  <a:srgbClr val="000000"/>
                </a:solidFill>
                <a:latin typeface="Manrope Bold" pitchFamily="34" charset="0"/>
                <a:ea typeface="Manrope Bold" pitchFamily="34" charset="-122"/>
                <a:cs typeface="Manrope Bold" pitchFamily="34" charset="-120"/>
              </a:rPr>
              <a:t>Fideism</a:t>
            </a:r>
            <a:r>
              <a:rPr lang="en-US" sz="1100" dirty="0">
                <a:solidFill>
                  <a:srgbClr val="000000"/>
                </a:solidFill>
                <a:latin typeface="Manrope" pitchFamily="34" charset="0"/>
                <a:ea typeface="Manrope" pitchFamily="34" charset="-122"/>
                <a:cs typeface="Manrope" pitchFamily="34" charset="-120"/>
              </a:rPr>
              <a:t> accepts everything that God reveals without ever asking reason to examine it, and so it silences the mind.</a:t>
            </a:r>
            <a:endParaRPr lang="en-US" sz="1100" dirty="0"/>
          </a:p>
          <a:p>
            <a:r>
              <a:rPr lang="en-US" sz="1100" b="1" dirty="0">
                <a:solidFill>
                  <a:srgbClr val="000000"/>
                </a:solidFill>
                <a:latin typeface="Manrope Bold" pitchFamily="34" charset="0"/>
                <a:ea typeface="Manrope Bold" pitchFamily="34" charset="-122"/>
                <a:cs typeface="Manrope Bold" pitchFamily="34" charset="-120"/>
              </a:rPr>
              <a:t>Rationalism</a:t>
            </a:r>
            <a:r>
              <a:rPr lang="en-US" sz="1100" dirty="0">
                <a:solidFill>
                  <a:srgbClr val="000000"/>
                </a:solidFill>
                <a:latin typeface="Manrope" pitchFamily="34" charset="0"/>
                <a:ea typeface="Manrope" pitchFamily="34" charset="-122"/>
                <a:cs typeface="Manrope" pitchFamily="34" charset="-120"/>
              </a:rPr>
              <a:t> rejects everything that reason cannot fully grasp, and so it silences faith.</a:t>
            </a:r>
            <a:endParaRPr lang="en-US" sz="1100" dirty="0"/>
          </a:p>
          <a:p>
            <a:r>
              <a:rPr lang="en-US" sz="1100" dirty="0">
                <a:solidFill>
                  <a:srgbClr val="000000"/>
                </a:solidFill>
                <a:latin typeface="Manrope" pitchFamily="34" charset="0"/>
                <a:ea typeface="Manrope" pitchFamily="34" charset="-122"/>
                <a:cs typeface="Manrope" pitchFamily="34" charset="-120"/>
              </a:rPr>
              <a:t>Theology refuses both. It believes in order to understand, and it understands in order to believe more deeply.</a:t>
            </a:r>
            <a:endParaRPr lang="en-US" sz="1100" dirty="0"/>
          </a:p>
          <a:p>
            <a:pPr marL="0" indent="0" algn="l">
              <a:lnSpc>
                <a:spcPct val="100000"/>
              </a:lnSpc>
              <a:buNone/>
            </a:pPr>
            <a:endParaRPr lang="en-US" sz="1100" dirty="0"/>
          </a:p>
        </p:txBody>
      </p:sp>
      <p:sp>
        <p:nvSpPr>
          <p:cNvPr id="7" name="Text 5"/>
          <p:cNvSpPr/>
          <p:nvPr/>
        </p:nvSpPr>
        <p:spPr>
          <a:xfrm>
            <a:off x="513457" y="1073423"/>
            <a:ext cx="3135288" cy="96887"/>
          </a:xfrm>
          <a:prstGeom prst="rect">
            <a:avLst/>
          </a:prstGeom>
          <a:noFill/>
          <a:ln/>
        </p:spPr>
        <p:txBody>
          <a:bodyPr wrap="none" lIns="0" tIns="0" rIns="0" bIns="0" rtlCol="0" anchor="t"/>
          <a:lstStyle/>
          <a:p>
            <a:pPr marL="0" indent="0" algn="l">
              <a:lnSpc>
                <a:spcPct val="104000"/>
              </a:lnSpc>
              <a:buNone/>
            </a:pPr>
            <a:endParaRPr lang="en-US" sz="600" dirty="0"/>
          </a:p>
        </p:txBody>
      </p:sp>
      <p:sp>
        <p:nvSpPr>
          <p:cNvPr id="8" name="Text 6"/>
          <p:cNvSpPr/>
          <p:nvPr/>
        </p:nvSpPr>
        <p:spPr>
          <a:xfrm>
            <a:off x="513457" y="1201266"/>
            <a:ext cx="3135288" cy="353169"/>
          </a:xfrm>
          <a:prstGeom prst="rect">
            <a:avLst/>
          </a:prstGeom>
          <a:noFill/>
          <a:ln/>
        </p:spPr>
        <p:txBody>
          <a:bodyPr wrap="square" lIns="0" tIns="0" rIns="0" bIns="0" rtlCol="0" anchor="t">
            <a:normAutofit/>
          </a:bodyPr>
          <a:lstStyle/>
          <a:p>
            <a:endParaRPr lang="en-US" sz="450" dirty="0"/>
          </a:p>
        </p:txBody>
      </p:sp>
      <p:sp>
        <p:nvSpPr>
          <p:cNvPr id="9" name="Text 7"/>
          <p:cNvSpPr/>
          <p:nvPr/>
        </p:nvSpPr>
        <p:spPr>
          <a:xfrm>
            <a:off x="3822055" y="612428"/>
            <a:ext cx="4830514" cy="96887"/>
          </a:xfrm>
          <a:prstGeom prst="rect">
            <a:avLst/>
          </a:prstGeom>
          <a:noFill/>
          <a:ln/>
        </p:spPr>
        <p:txBody>
          <a:bodyPr wrap="none" lIns="0" tIns="0" rIns="0" bIns="0" rtlCol="0" anchor="t"/>
          <a:lstStyle/>
          <a:p>
            <a:pPr marL="0" indent="0" algn="l">
              <a:lnSpc>
                <a:spcPct val="104000"/>
              </a:lnSpc>
              <a:buNone/>
            </a:pPr>
            <a:r>
              <a:rPr lang="en-US" sz="600" dirty="0">
                <a:solidFill>
                  <a:srgbClr val="5B6E8C"/>
                </a:solidFill>
                <a:latin typeface="Alexandria Medium" pitchFamily="34" charset="0"/>
                <a:ea typeface="Alexandria Medium" pitchFamily="34" charset="-122"/>
                <a:cs typeface="Alexandria Medium" pitchFamily="34" charset="-120"/>
              </a:rPr>
              <a:t>What Faith Seeks — The Burning Bush (Exodus 3)</a:t>
            </a:r>
            <a:endParaRPr lang="en-US" sz="60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22055" y="762819"/>
            <a:ext cx="61987" cy="61987"/>
          </a:xfrm>
          <a:prstGeom prst="rect">
            <a:avLst/>
          </a:prstGeom>
        </p:spPr>
      </p:pic>
      <p:sp>
        <p:nvSpPr>
          <p:cNvPr id="11" name="Shape 8"/>
          <p:cNvSpPr/>
          <p:nvPr/>
        </p:nvSpPr>
        <p:spPr>
          <a:xfrm>
            <a:off x="3822055" y="839912"/>
            <a:ext cx="4830514" cy="9525"/>
          </a:xfrm>
          <a:prstGeom prst="rect">
            <a:avLst/>
          </a:prstGeom>
          <a:solidFill>
            <a:srgbClr val="D4CCFA"/>
          </a:solidFill>
          <a:ln/>
        </p:spPr>
        <p:txBody>
          <a:bodyPr/>
          <a:lstStyle/>
          <a:p>
            <a:endParaRPr lang="en-IN"/>
          </a:p>
        </p:txBody>
      </p:sp>
      <p:sp>
        <p:nvSpPr>
          <p:cNvPr id="12" name="Text 9"/>
          <p:cNvSpPr/>
          <p:nvPr/>
        </p:nvSpPr>
        <p:spPr>
          <a:xfrm>
            <a:off x="3822055" y="889918"/>
            <a:ext cx="4830514" cy="96887"/>
          </a:xfrm>
          <a:prstGeom prst="rect">
            <a:avLst/>
          </a:prstGeom>
          <a:noFill/>
          <a:ln/>
        </p:spPr>
        <p:txBody>
          <a:bodyPr wrap="none" lIns="0" tIns="0" rIns="0" bIns="0" rtlCol="0" anchor="t"/>
          <a:lstStyle/>
          <a:p>
            <a:pPr marL="0" indent="0" algn="l">
              <a:lnSpc>
                <a:spcPct val="104000"/>
              </a:lnSpc>
              <a:buNone/>
            </a:pPr>
            <a:r>
              <a:rPr lang="en-US" sz="600" dirty="0">
                <a:solidFill>
                  <a:srgbClr val="5B6E8C"/>
                </a:solidFill>
                <a:latin typeface="Alexandria Medium" pitchFamily="34" charset="0"/>
                <a:ea typeface="Alexandria Medium" pitchFamily="34" charset="-122"/>
                <a:cs typeface="Alexandria Medium" pitchFamily="34" charset="-120"/>
              </a:rPr>
              <a:t>Understanding</a:t>
            </a:r>
            <a:endParaRPr lang="en-US" sz="600" dirty="0"/>
          </a:p>
        </p:txBody>
      </p:sp>
      <p:sp>
        <p:nvSpPr>
          <p:cNvPr id="13" name="Text 10"/>
          <p:cNvSpPr/>
          <p:nvPr/>
        </p:nvSpPr>
        <p:spPr>
          <a:xfrm>
            <a:off x="3822055" y="1017761"/>
            <a:ext cx="4830514" cy="74340"/>
          </a:xfrm>
          <a:prstGeom prst="rect">
            <a:avLst/>
          </a:prstGeom>
          <a:noFill/>
          <a:ln/>
        </p:spPr>
        <p:txBody>
          <a:bodyPr wrap="none" lIns="0" tIns="0" rIns="0" bIns="0" rtlCol="0" anchor="t"/>
          <a:lstStyle/>
          <a:p>
            <a:pPr marL="0" indent="0" algn="l">
              <a:lnSpc>
                <a:spcPct val="100000"/>
              </a:lnSpc>
              <a:buNone/>
            </a:pPr>
            <a:r>
              <a:rPr lang="en-US" sz="900" dirty="0">
                <a:solidFill>
                  <a:srgbClr val="5B6E8C"/>
                </a:solidFill>
                <a:latin typeface="Manrope" pitchFamily="34" charset="0"/>
                <a:ea typeface="Manrope" pitchFamily="34" charset="-122"/>
                <a:cs typeface="Manrope" pitchFamily="34" charset="-120"/>
              </a:rPr>
              <a:t>Moses turns aside to look at the bush that burns and is not consumed</a:t>
            </a:r>
            <a:endParaRPr lang="en-US" sz="900" dirty="0"/>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22055" y="1175891"/>
            <a:ext cx="61987" cy="61987"/>
          </a:xfrm>
          <a:prstGeom prst="rect">
            <a:avLst/>
          </a:prstGeom>
        </p:spPr>
      </p:pic>
      <p:sp>
        <p:nvSpPr>
          <p:cNvPr id="15" name="Shape 11"/>
          <p:cNvSpPr/>
          <p:nvPr/>
        </p:nvSpPr>
        <p:spPr>
          <a:xfrm>
            <a:off x="3822055" y="1252984"/>
            <a:ext cx="4830514" cy="9525"/>
          </a:xfrm>
          <a:prstGeom prst="rect">
            <a:avLst/>
          </a:prstGeom>
          <a:solidFill>
            <a:srgbClr val="D4CCFA"/>
          </a:solidFill>
          <a:ln/>
        </p:spPr>
        <p:txBody>
          <a:bodyPr/>
          <a:lstStyle/>
          <a:p>
            <a:endParaRPr lang="en-IN"/>
          </a:p>
        </p:txBody>
      </p:sp>
      <p:sp>
        <p:nvSpPr>
          <p:cNvPr id="16" name="Text 12"/>
          <p:cNvSpPr/>
          <p:nvPr/>
        </p:nvSpPr>
        <p:spPr>
          <a:xfrm>
            <a:off x="3822055" y="1315343"/>
            <a:ext cx="4830514" cy="96887"/>
          </a:xfrm>
          <a:prstGeom prst="rect">
            <a:avLst/>
          </a:prstGeom>
          <a:noFill/>
          <a:ln/>
        </p:spPr>
        <p:txBody>
          <a:bodyPr wrap="none" lIns="0" tIns="0" rIns="0" bIns="0" rtlCol="0" anchor="t"/>
          <a:lstStyle/>
          <a:p>
            <a:pPr marL="0" indent="0" algn="l">
              <a:lnSpc>
                <a:spcPct val="104000"/>
              </a:lnSpc>
              <a:buNone/>
            </a:pPr>
            <a:r>
              <a:rPr lang="en-US" sz="600" dirty="0">
                <a:solidFill>
                  <a:srgbClr val="5B6E8C"/>
                </a:solidFill>
                <a:latin typeface="Alexandria Medium" pitchFamily="34" charset="0"/>
                <a:ea typeface="Alexandria Medium" pitchFamily="34" charset="-122"/>
                <a:cs typeface="Alexandria Medium" pitchFamily="34" charset="-120"/>
              </a:rPr>
              <a:t>Love</a:t>
            </a:r>
            <a:endParaRPr lang="en-US" sz="600" dirty="0"/>
          </a:p>
        </p:txBody>
      </p:sp>
      <p:sp>
        <p:nvSpPr>
          <p:cNvPr id="17" name="Text 13"/>
          <p:cNvSpPr/>
          <p:nvPr/>
        </p:nvSpPr>
        <p:spPr>
          <a:xfrm>
            <a:off x="3822055" y="1443186"/>
            <a:ext cx="4830514" cy="74340"/>
          </a:xfrm>
          <a:prstGeom prst="rect">
            <a:avLst/>
          </a:prstGeom>
          <a:noFill/>
          <a:ln/>
        </p:spPr>
        <p:txBody>
          <a:bodyPr wrap="none" lIns="0" tIns="0" rIns="0" bIns="0" rtlCol="0" anchor="t"/>
          <a:lstStyle/>
          <a:p>
            <a:pPr marL="0" indent="0" algn="l">
              <a:lnSpc>
                <a:spcPct val="100000"/>
              </a:lnSpc>
              <a:buNone/>
            </a:pPr>
            <a:r>
              <a:rPr lang="en-US" sz="900" dirty="0">
                <a:solidFill>
                  <a:srgbClr val="5B6E8C"/>
                </a:solidFill>
                <a:latin typeface="Manrope" pitchFamily="34" charset="0"/>
                <a:ea typeface="Manrope" pitchFamily="34" charset="-122"/>
                <a:cs typeface="Manrope" pitchFamily="34" charset="-120"/>
              </a:rPr>
              <a:t>The bush burns with a fire that does not destroy</a:t>
            </a:r>
            <a:endParaRPr lang="en-US" sz="900"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22055" y="1588963"/>
            <a:ext cx="61987" cy="61987"/>
          </a:xfrm>
          <a:prstGeom prst="rect">
            <a:avLst/>
          </a:prstGeom>
        </p:spPr>
      </p:pic>
      <p:sp>
        <p:nvSpPr>
          <p:cNvPr id="19" name="Shape 14"/>
          <p:cNvSpPr/>
          <p:nvPr/>
        </p:nvSpPr>
        <p:spPr>
          <a:xfrm>
            <a:off x="3822055" y="1666056"/>
            <a:ext cx="4830514" cy="9525"/>
          </a:xfrm>
          <a:prstGeom prst="rect">
            <a:avLst/>
          </a:prstGeom>
          <a:solidFill>
            <a:srgbClr val="D4CCFA"/>
          </a:solidFill>
          <a:ln/>
        </p:spPr>
        <p:txBody>
          <a:bodyPr/>
          <a:lstStyle/>
          <a:p>
            <a:endParaRPr lang="en-IN"/>
          </a:p>
        </p:txBody>
      </p:sp>
      <p:sp>
        <p:nvSpPr>
          <p:cNvPr id="20" name="Text 15"/>
          <p:cNvSpPr/>
          <p:nvPr/>
        </p:nvSpPr>
        <p:spPr>
          <a:xfrm>
            <a:off x="3822055" y="1740768"/>
            <a:ext cx="4830514" cy="96887"/>
          </a:xfrm>
          <a:prstGeom prst="rect">
            <a:avLst/>
          </a:prstGeom>
          <a:noFill/>
          <a:ln/>
        </p:spPr>
        <p:txBody>
          <a:bodyPr wrap="none" lIns="0" tIns="0" rIns="0" bIns="0" rtlCol="0" anchor="t"/>
          <a:lstStyle/>
          <a:p>
            <a:pPr marL="0" indent="0" algn="l">
              <a:lnSpc>
                <a:spcPct val="104000"/>
              </a:lnSpc>
              <a:buNone/>
            </a:pPr>
            <a:r>
              <a:rPr lang="en-US" sz="600" dirty="0">
                <a:solidFill>
                  <a:srgbClr val="5B6E8C"/>
                </a:solidFill>
                <a:latin typeface="Alexandria Medium" pitchFamily="34" charset="0"/>
                <a:ea typeface="Alexandria Medium" pitchFamily="34" charset="-122"/>
                <a:cs typeface="Alexandria Medium" pitchFamily="34" charset="-120"/>
              </a:rPr>
              <a:t>Justice</a:t>
            </a:r>
            <a:endParaRPr lang="en-US" sz="600" dirty="0"/>
          </a:p>
        </p:txBody>
      </p:sp>
      <p:sp>
        <p:nvSpPr>
          <p:cNvPr id="21" name="Text 16"/>
          <p:cNvSpPr/>
          <p:nvPr/>
        </p:nvSpPr>
        <p:spPr>
          <a:xfrm>
            <a:off x="3822055" y="1868612"/>
            <a:ext cx="4830514" cy="74340"/>
          </a:xfrm>
          <a:prstGeom prst="rect">
            <a:avLst/>
          </a:prstGeom>
          <a:noFill/>
          <a:ln/>
        </p:spPr>
        <p:txBody>
          <a:bodyPr wrap="none" lIns="0" tIns="0" rIns="0" bIns="0" rtlCol="0" anchor="t"/>
          <a:lstStyle/>
          <a:p>
            <a:pPr marL="0" indent="0" algn="l">
              <a:lnSpc>
                <a:spcPct val="100000"/>
              </a:lnSpc>
              <a:buNone/>
            </a:pPr>
            <a:r>
              <a:rPr lang="en-US" sz="800" dirty="0">
                <a:solidFill>
                  <a:srgbClr val="5B6E8C"/>
                </a:solidFill>
                <a:latin typeface="Manrope" pitchFamily="34" charset="0"/>
                <a:ea typeface="Manrope" pitchFamily="34" charset="-122"/>
                <a:cs typeface="Manrope" pitchFamily="34" charset="-120"/>
              </a:rPr>
              <a:t>"I have heard the cry of my people" — God sends Moses to set them free</a:t>
            </a:r>
            <a:endParaRPr lang="en-US" sz="800" dirty="0"/>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22055" y="2002036"/>
            <a:ext cx="61987" cy="61987"/>
          </a:xfrm>
          <a:prstGeom prst="rect">
            <a:avLst/>
          </a:prstGeom>
        </p:spPr>
      </p:pic>
      <p:sp>
        <p:nvSpPr>
          <p:cNvPr id="23" name="Shape 17"/>
          <p:cNvSpPr/>
          <p:nvPr/>
        </p:nvSpPr>
        <p:spPr>
          <a:xfrm>
            <a:off x="3822055" y="2079129"/>
            <a:ext cx="4830514" cy="9525"/>
          </a:xfrm>
          <a:prstGeom prst="rect">
            <a:avLst/>
          </a:prstGeom>
          <a:solidFill>
            <a:srgbClr val="D4CCFA"/>
          </a:solidFill>
          <a:ln/>
        </p:spPr>
        <p:txBody>
          <a:bodyPr/>
          <a:lstStyle/>
          <a:p>
            <a:endParaRPr lang="en-IN"/>
          </a:p>
        </p:txBody>
      </p:sp>
      <p:sp>
        <p:nvSpPr>
          <p:cNvPr id="24" name="Text 18"/>
          <p:cNvSpPr/>
          <p:nvPr/>
        </p:nvSpPr>
        <p:spPr>
          <a:xfrm>
            <a:off x="3822055" y="2166193"/>
            <a:ext cx="4830514" cy="96887"/>
          </a:xfrm>
          <a:prstGeom prst="rect">
            <a:avLst/>
          </a:prstGeom>
          <a:noFill/>
          <a:ln/>
        </p:spPr>
        <p:txBody>
          <a:bodyPr wrap="none" lIns="0" tIns="0" rIns="0" bIns="0" rtlCol="0" anchor="t"/>
          <a:lstStyle/>
          <a:p>
            <a:pPr marL="0" indent="0" algn="l">
              <a:lnSpc>
                <a:spcPct val="104000"/>
              </a:lnSpc>
              <a:buNone/>
            </a:pPr>
            <a:r>
              <a:rPr lang="en-US" sz="600" dirty="0">
                <a:solidFill>
                  <a:srgbClr val="5B6E8C"/>
                </a:solidFill>
                <a:latin typeface="Alexandria Medium" pitchFamily="34" charset="0"/>
                <a:ea typeface="Alexandria Medium" pitchFamily="34" charset="-122"/>
                <a:cs typeface="Alexandria Medium" pitchFamily="34" charset="-120"/>
              </a:rPr>
              <a:t>Ritual Expression</a:t>
            </a:r>
            <a:endParaRPr lang="en-US" sz="600" dirty="0"/>
          </a:p>
        </p:txBody>
      </p:sp>
      <p:sp>
        <p:nvSpPr>
          <p:cNvPr id="25" name="Text 19"/>
          <p:cNvSpPr/>
          <p:nvPr/>
        </p:nvSpPr>
        <p:spPr>
          <a:xfrm>
            <a:off x="3822055" y="2294037"/>
            <a:ext cx="4830514" cy="74340"/>
          </a:xfrm>
          <a:prstGeom prst="rect">
            <a:avLst/>
          </a:prstGeom>
          <a:noFill/>
          <a:ln/>
        </p:spPr>
        <p:txBody>
          <a:bodyPr wrap="none" lIns="0" tIns="0" rIns="0" bIns="0" rtlCol="0" anchor="t"/>
          <a:lstStyle/>
          <a:p>
            <a:pPr marL="0" indent="0" algn="l">
              <a:lnSpc>
                <a:spcPct val="100000"/>
              </a:lnSpc>
              <a:buNone/>
            </a:pPr>
            <a:r>
              <a:rPr lang="en-US" sz="800" dirty="0">
                <a:solidFill>
                  <a:srgbClr val="5B6E8C"/>
                </a:solidFill>
                <a:latin typeface="Manrope" pitchFamily="34" charset="0"/>
                <a:ea typeface="Manrope" pitchFamily="34" charset="-122"/>
                <a:cs typeface="Manrope" pitchFamily="34" charset="-120"/>
              </a:rPr>
              <a:t>"Remove the sandals from your feet, for the place on which you are standing is holy ground"</a:t>
            </a:r>
            <a:endParaRPr lang="en-US" sz="800" dirty="0"/>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22055" y="2415108"/>
            <a:ext cx="61987" cy="61987"/>
          </a:xfrm>
          <a:prstGeom prst="rect">
            <a:avLst/>
          </a:prstGeom>
        </p:spPr>
      </p:pic>
      <p:sp>
        <p:nvSpPr>
          <p:cNvPr id="27" name="Shape 20"/>
          <p:cNvSpPr/>
          <p:nvPr/>
        </p:nvSpPr>
        <p:spPr>
          <a:xfrm>
            <a:off x="3822055" y="2492201"/>
            <a:ext cx="4830514" cy="9525"/>
          </a:xfrm>
          <a:prstGeom prst="rect">
            <a:avLst/>
          </a:prstGeom>
          <a:solidFill>
            <a:srgbClr val="D4CCFA"/>
          </a:solidFill>
          <a:ln/>
        </p:spPr>
        <p:txBody>
          <a:bodyPr/>
          <a:lstStyle/>
          <a:p>
            <a:endParaRPr lang="en-IN"/>
          </a:p>
        </p:txBody>
      </p:sp>
      <p:sp>
        <p:nvSpPr>
          <p:cNvPr id="28" name="Text 21"/>
          <p:cNvSpPr/>
          <p:nvPr/>
        </p:nvSpPr>
        <p:spPr>
          <a:xfrm>
            <a:off x="3822055" y="2591619"/>
            <a:ext cx="4830514" cy="96887"/>
          </a:xfrm>
          <a:prstGeom prst="rect">
            <a:avLst/>
          </a:prstGeom>
          <a:noFill/>
          <a:ln/>
        </p:spPr>
        <p:txBody>
          <a:bodyPr wrap="none" lIns="0" tIns="0" rIns="0" bIns="0" rtlCol="0" anchor="t"/>
          <a:lstStyle/>
          <a:p>
            <a:pPr marL="0" indent="0" algn="l">
              <a:lnSpc>
                <a:spcPct val="104000"/>
              </a:lnSpc>
              <a:buNone/>
            </a:pPr>
            <a:r>
              <a:rPr lang="en-US" sz="600" dirty="0">
                <a:solidFill>
                  <a:srgbClr val="5B6E8C"/>
                </a:solidFill>
                <a:latin typeface="Alexandria Medium" pitchFamily="34" charset="0"/>
                <a:ea typeface="Alexandria Medium" pitchFamily="34" charset="-122"/>
                <a:cs typeface="Alexandria Medium" pitchFamily="34" charset="-120"/>
              </a:rPr>
              <a:t>Dialogue</a:t>
            </a:r>
            <a:endParaRPr lang="en-US" sz="600" dirty="0"/>
          </a:p>
        </p:txBody>
      </p:sp>
      <p:sp>
        <p:nvSpPr>
          <p:cNvPr id="29" name="Text 22"/>
          <p:cNvSpPr/>
          <p:nvPr/>
        </p:nvSpPr>
        <p:spPr>
          <a:xfrm>
            <a:off x="3822055" y="2719462"/>
            <a:ext cx="4830514" cy="74340"/>
          </a:xfrm>
          <a:prstGeom prst="rect">
            <a:avLst/>
          </a:prstGeom>
          <a:noFill/>
          <a:ln/>
        </p:spPr>
        <p:txBody>
          <a:bodyPr wrap="none" lIns="0" tIns="0" rIns="0" bIns="0" rtlCol="0" anchor="t"/>
          <a:lstStyle/>
          <a:p>
            <a:pPr marL="0" indent="0" algn="l">
              <a:lnSpc>
                <a:spcPct val="100000"/>
              </a:lnSpc>
              <a:buNone/>
            </a:pPr>
            <a:r>
              <a:rPr lang="en-US" sz="800" dirty="0">
                <a:solidFill>
                  <a:srgbClr val="5B6E8C"/>
                </a:solidFill>
                <a:latin typeface="Manrope" pitchFamily="34" charset="0"/>
                <a:ea typeface="Manrope" pitchFamily="34" charset="-122"/>
                <a:cs typeface="Manrope" pitchFamily="34" charset="-120"/>
              </a:rPr>
              <a:t>Moses is sent to speak both to the rulers and to the people about God and the plan of God</a:t>
            </a:r>
            <a:endParaRPr lang="en-US" sz="800" dirty="0"/>
          </a:p>
        </p:txBody>
      </p:sp>
      <p:pic>
        <p:nvPicPr>
          <p:cNvPr id="3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822055" y="2828181"/>
            <a:ext cx="61987" cy="61987"/>
          </a:xfrm>
          <a:prstGeom prst="rect">
            <a:avLst/>
          </a:prstGeom>
        </p:spPr>
      </p:pic>
      <p:sp>
        <p:nvSpPr>
          <p:cNvPr id="31" name="Shape 23"/>
          <p:cNvSpPr/>
          <p:nvPr/>
        </p:nvSpPr>
        <p:spPr>
          <a:xfrm>
            <a:off x="3822055" y="2910036"/>
            <a:ext cx="4830514" cy="9525"/>
          </a:xfrm>
          <a:prstGeom prst="rect">
            <a:avLst/>
          </a:prstGeom>
          <a:solidFill>
            <a:srgbClr val="D4CCFA"/>
          </a:solidFill>
          <a:ln/>
        </p:spPr>
        <p:txBody>
          <a:bodyPr/>
          <a:lstStyle/>
          <a:p>
            <a:endParaRPr lang="en-IN"/>
          </a:p>
        </p:txBody>
      </p:sp>
      <p:sp>
        <p:nvSpPr>
          <p:cNvPr id="32" name="Text 24"/>
          <p:cNvSpPr/>
          <p:nvPr/>
        </p:nvSpPr>
        <p:spPr>
          <a:xfrm>
            <a:off x="3822055" y="3017044"/>
            <a:ext cx="4830514" cy="96887"/>
          </a:xfrm>
          <a:prstGeom prst="rect">
            <a:avLst/>
          </a:prstGeom>
          <a:noFill/>
          <a:ln/>
        </p:spPr>
        <p:txBody>
          <a:bodyPr wrap="none" lIns="0" tIns="0" rIns="0" bIns="0" rtlCol="0" anchor="t"/>
          <a:lstStyle/>
          <a:p>
            <a:pPr marL="0" indent="0" algn="l">
              <a:lnSpc>
                <a:spcPct val="104000"/>
              </a:lnSpc>
              <a:buNone/>
            </a:pPr>
            <a:r>
              <a:rPr lang="en-US" sz="600" dirty="0">
                <a:solidFill>
                  <a:srgbClr val="5B6E8C"/>
                </a:solidFill>
                <a:latin typeface="Alexandria Medium" pitchFamily="34" charset="0"/>
                <a:ea typeface="Alexandria Medium" pitchFamily="34" charset="-122"/>
                <a:cs typeface="Alexandria Medium" pitchFamily="34" charset="-120"/>
              </a:rPr>
              <a:t>Harmony</a:t>
            </a:r>
            <a:endParaRPr lang="en-US" sz="600" dirty="0"/>
          </a:p>
        </p:txBody>
      </p:sp>
      <p:sp>
        <p:nvSpPr>
          <p:cNvPr id="33" name="Text 25"/>
          <p:cNvSpPr/>
          <p:nvPr/>
        </p:nvSpPr>
        <p:spPr>
          <a:xfrm>
            <a:off x="3822055" y="3144887"/>
            <a:ext cx="4830514" cy="74340"/>
          </a:xfrm>
          <a:prstGeom prst="rect">
            <a:avLst/>
          </a:prstGeom>
          <a:noFill/>
          <a:ln/>
        </p:spPr>
        <p:txBody>
          <a:bodyPr wrap="none" lIns="0" tIns="0" rIns="0" bIns="0" rtlCol="0" anchor="t"/>
          <a:lstStyle/>
          <a:p>
            <a:pPr marL="0" indent="0" algn="l">
              <a:lnSpc>
                <a:spcPct val="100000"/>
              </a:lnSpc>
              <a:buNone/>
            </a:pPr>
            <a:r>
              <a:rPr lang="en-US" sz="900" dirty="0">
                <a:solidFill>
                  <a:srgbClr val="5B6E8C"/>
                </a:solidFill>
                <a:latin typeface="Manrope" pitchFamily="34" charset="0"/>
                <a:ea typeface="Manrope" pitchFamily="34" charset="-122"/>
                <a:cs typeface="Manrope" pitchFamily="34" charset="-120"/>
              </a:rPr>
              <a:t>The people are led toward a land flowing with milk and honey</a:t>
            </a:r>
            <a:endParaRPr lang="en-US" sz="900" dirty="0"/>
          </a:p>
        </p:txBody>
      </p:sp>
      <p:sp>
        <p:nvSpPr>
          <p:cNvPr id="34" name="Text 26"/>
          <p:cNvSpPr/>
          <p:nvPr/>
        </p:nvSpPr>
        <p:spPr>
          <a:xfrm>
            <a:off x="496119" y="3347070"/>
            <a:ext cx="8151763" cy="96887"/>
          </a:xfrm>
          <a:prstGeom prst="rect">
            <a:avLst/>
          </a:prstGeom>
          <a:noFill/>
          <a:ln/>
        </p:spPr>
        <p:txBody>
          <a:bodyPr wrap="none" lIns="0" tIns="0" rIns="0" bIns="0" rtlCol="0" anchor="t"/>
          <a:lstStyle/>
          <a:p>
            <a:pPr marL="0" indent="0" algn="l">
              <a:lnSpc>
                <a:spcPct val="104000"/>
              </a:lnSpc>
              <a:buNone/>
            </a:pPr>
            <a:r>
              <a:rPr lang="en-US" sz="600" dirty="0">
                <a:solidFill>
                  <a:srgbClr val="5B6E8C"/>
                </a:solidFill>
                <a:latin typeface="Alexandria Medium" pitchFamily="34" charset="0"/>
                <a:ea typeface="Alexandria Medium" pitchFamily="34" charset="-122"/>
                <a:cs typeface="Alexandria Medium" pitchFamily="34" charset="-120"/>
              </a:rPr>
              <a:t>From One Root, Many Definitions</a:t>
            </a:r>
            <a:endParaRPr lang="en-US" sz="600" dirty="0"/>
          </a:p>
        </p:txBody>
      </p:sp>
      <p:sp>
        <p:nvSpPr>
          <p:cNvPr id="35" name="Shape 27"/>
          <p:cNvSpPr/>
          <p:nvPr/>
        </p:nvSpPr>
        <p:spPr>
          <a:xfrm>
            <a:off x="496119" y="3427288"/>
            <a:ext cx="4060403" cy="397669"/>
          </a:xfrm>
          <a:prstGeom prst="roundRect">
            <a:avLst>
              <a:gd name="adj" fmla="val 23395"/>
            </a:avLst>
          </a:prstGeom>
          <a:solidFill>
            <a:srgbClr val="E6F7FF"/>
          </a:solidFill>
          <a:ln w="4763">
            <a:solidFill>
              <a:srgbClr val="B3D5E4"/>
            </a:solidFill>
            <a:prstDash val="solid"/>
          </a:ln>
        </p:spPr>
        <p:txBody>
          <a:bodyPr/>
          <a:lstStyle/>
          <a:p>
            <a:endParaRPr lang="en-IN"/>
          </a:p>
        </p:txBody>
      </p:sp>
      <p:sp>
        <p:nvSpPr>
          <p:cNvPr id="36" name="Text 28"/>
          <p:cNvSpPr/>
          <p:nvPr/>
        </p:nvSpPr>
        <p:spPr>
          <a:xfrm>
            <a:off x="562868" y="3557215"/>
            <a:ext cx="3926904" cy="96887"/>
          </a:xfrm>
          <a:prstGeom prst="rect">
            <a:avLst/>
          </a:prstGeom>
          <a:noFill/>
          <a:ln/>
        </p:spPr>
        <p:txBody>
          <a:bodyPr wrap="none" lIns="0" tIns="0" rIns="0" bIns="0" rtlCol="0" anchor="t"/>
          <a:lstStyle/>
          <a:p>
            <a:pPr marL="0" indent="0" algn="l">
              <a:lnSpc>
                <a:spcPct val="104000"/>
              </a:lnSpc>
              <a:buNone/>
            </a:pPr>
            <a:r>
              <a:rPr lang="en-US" sz="600" dirty="0">
                <a:solidFill>
                  <a:srgbClr val="000000"/>
                </a:solidFill>
                <a:latin typeface="Alexandria Medium" pitchFamily="34" charset="0"/>
                <a:ea typeface="Alexandria Medium" pitchFamily="34" charset="-122"/>
                <a:cs typeface="Alexandria Medium" pitchFamily="34" charset="-120"/>
              </a:rPr>
              <a:t>Faith Seeking Justice</a:t>
            </a:r>
            <a:endParaRPr lang="en-US" sz="600" dirty="0"/>
          </a:p>
        </p:txBody>
      </p:sp>
      <p:sp>
        <p:nvSpPr>
          <p:cNvPr id="37" name="Text 29"/>
          <p:cNvSpPr/>
          <p:nvPr/>
        </p:nvSpPr>
        <p:spPr>
          <a:xfrm>
            <a:off x="562868" y="3672706"/>
            <a:ext cx="3926904" cy="14867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000000"/>
                </a:solidFill>
                <a:latin typeface="Manrope" pitchFamily="34" charset="0"/>
                <a:ea typeface="Manrope" pitchFamily="34" charset="-122"/>
                <a:cs typeface="Manrope" pitchFamily="34" charset="-120"/>
              </a:rPr>
              <a:t>Gutierrez: critical reflection on Christian praxis in the light of the Word — liberation theology, drawn from Luke 4, Matthew 25, and </a:t>
            </a:r>
            <a:r>
              <a:rPr lang="en-US" sz="450" i="1" dirty="0">
                <a:solidFill>
                  <a:srgbClr val="000000"/>
                </a:solidFill>
                <a:latin typeface="Manrope" pitchFamily="34" charset="0"/>
                <a:ea typeface="Manrope" pitchFamily="34" charset="-122"/>
                <a:cs typeface="Manrope" pitchFamily="34" charset="-120"/>
              </a:rPr>
              <a:t>Gaudium et Spes</a:t>
            </a:r>
            <a:endParaRPr lang="en-US" sz="450" dirty="0"/>
          </a:p>
        </p:txBody>
      </p:sp>
      <p:sp>
        <p:nvSpPr>
          <p:cNvPr id="38" name="Shape 30"/>
          <p:cNvSpPr/>
          <p:nvPr/>
        </p:nvSpPr>
        <p:spPr>
          <a:xfrm>
            <a:off x="4587478" y="3427288"/>
            <a:ext cx="4060403" cy="397669"/>
          </a:xfrm>
          <a:prstGeom prst="roundRect">
            <a:avLst>
              <a:gd name="adj" fmla="val 23395"/>
            </a:avLst>
          </a:prstGeom>
          <a:solidFill>
            <a:srgbClr val="E6F7FF"/>
          </a:solidFill>
          <a:ln w="4763">
            <a:solidFill>
              <a:srgbClr val="B3D5E4"/>
            </a:solidFill>
            <a:prstDash val="solid"/>
          </a:ln>
        </p:spPr>
        <p:txBody>
          <a:bodyPr/>
          <a:lstStyle/>
          <a:p>
            <a:endParaRPr lang="en-IN"/>
          </a:p>
        </p:txBody>
      </p:sp>
      <p:sp>
        <p:nvSpPr>
          <p:cNvPr id="39" name="Text 31"/>
          <p:cNvSpPr/>
          <p:nvPr/>
        </p:nvSpPr>
        <p:spPr>
          <a:xfrm>
            <a:off x="4654228" y="3557215"/>
            <a:ext cx="3926904" cy="96887"/>
          </a:xfrm>
          <a:prstGeom prst="rect">
            <a:avLst/>
          </a:prstGeom>
          <a:noFill/>
          <a:ln/>
        </p:spPr>
        <p:txBody>
          <a:bodyPr wrap="none" lIns="0" tIns="0" rIns="0" bIns="0" rtlCol="0" anchor="t"/>
          <a:lstStyle/>
          <a:p>
            <a:pPr marL="0" indent="0" algn="l">
              <a:lnSpc>
                <a:spcPct val="104000"/>
              </a:lnSpc>
              <a:buNone/>
            </a:pPr>
            <a:r>
              <a:rPr lang="en-US" sz="600" dirty="0">
                <a:solidFill>
                  <a:srgbClr val="000000"/>
                </a:solidFill>
                <a:latin typeface="Alexandria Medium" pitchFamily="34" charset="0"/>
                <a:ea typeface="Alexandria Medium" pitchFamily="34" charset="-122"/>
                <a:cs typeface="Alexandria Medium" pitchFamily="34" charset="-120"/>
              </a:rPr>
              <a:t>Faith Seeking Dialogue</a:t>
            </a:r>
            <a:endParaRPr lang="en-US" sz="600" dirty="0"/>
          </a:p>
        </p:txBody>
      </p:sp>
      <p:sp>
        <p:nvSpPr>
          <p:cNvPr id="40" name="Text 32"/>
          <p:cNvSpPr/>
          <p:nvPr/>
        </p:nvSpPr>
        <p:spPr>
          <a:xfrm>
            <a:off x="4654228" y="3672706"/>
            <a:ext cx="3926904" cy="74340"/>
          </a:xfrm>
          <a:prstGeom prst="rect">
            <a:avLst/>
          </a:prstGeom>
          <a:noFill/>
          <a:ln/>
        </p:spPr>
        <p:txBody>
          <a:bodyPr wrap="none" lIns="0" tIns="0" rIns="0" bIns="0" rtlCol="0" anchor="t"/>
          <a:lstStyle/>
          <a:p>
            <a:pPr marL="0" indent="0" algn="l">
              <a:lnSpc>
                <a:spcPct val="100000"/>
              </a:lnSpc>
              <a:buNone/>
            </a:pPr>
            <a:r>
              <a:rPr lang="en-US" sz="450" dirty="0">
                <a:solidFill>
                  <a:srgbClr val="000000"/>
                </a:solidFill>
                <a:latin typeface="Manrope" pitchFamily="34" charset="0"/>
                <a:ea typeface="Manrope" pitchFamily="34" charset="-122"/>
                <a:cs typeface="Manrope" pitchFamily="34" charset="-120"/>
              </a:rPr>
              <a:t>Theology becomes ecumenism and the theology of religions</a:t>
            </a:r>
            <a:endParaRPr lang="en-US" sz="450" dirty="0"/>
          </a:p>
        </p:txBody>
      </p:sp>
      <p:sp>
        <p:nvSpPr>
          <p:cNvPr id="41" name="Shape 33"/>
          <p:cNvSpPr/>
          <p:nvPr/>
        </p:nvSpPr>
        <p:spPr>
          <a:xfrm>
            <a:off x="496119" y="3855913"/>
            <a:ext cx="4060403" cy="323329"/>
          </a:xfrm>
          <a:prstGeom prst="roundRect">
            <a:avLst>
              <a:gd name="adj" fmla="val 28774"/>
            </a:avLst>
          </a:prstGeom>
          <a:solidFill>
            <a:srgbClr val="E6F7FF"/>
          </a:solidFill>
          <a:ln w="4763">
            <a:solidFill>
              <a:srgbClr val="B3D5E4"/>
            </a:solidFill>
            <a:prstDash val="solid"/>
          </a:ln>
        </p:spPr>
        <p:txBody>
          <a:bodyPr/>
          <a:lstStyle/>
          <a:p>
            <a:endParaRPr lang="en-IN"/>
          </a:p>
        </p:txBody>
      </p:sp>
      <p:sp>
        <p:nvSpPr>
          <p:cNvPr id="42" name="Text 34"/>
          <p:cNvSpPr/>
          <p:nvPr/>
        </p:nvSpPr>
        <p:spPr>
          <a:xfrm>
            <a:off x="562868" y="3985840"/>
            <a:ext cx="3926904" cy="96887"/>
          </a:xfrm>
          <a:prstGeom prst="rect">
            <a:avLst/>
          </a:prstGeom>
          <a:noFill/>
          <a:ln/>
        </p:spPr>
        <p:txBody>
          <a:bodyPr wrap="none" lIns="0" tIns="0" rIns="0" bIns="0" rtlCol="0" anchor="t"/>
          <a:lstStyle/>
          <a:p>
            <a:pPr marL="0" indent="0" algn="l">
              <a:lnSpc>
                <a:spcPct val="104000"/>
              </a:lnSpc>
              <a:buNone/>
            </a:pPr>
            <a:r>
              <a:rPr lang="en-US" sz="600" dirty="0">
                <a:solidFill>
                  <a:srgbClr val="000000"/>
                </a:solidFill>
                <a:latin typeface="Alexandria Medium" pitchFamily="34" charset="0"/>
                <a:ea typeface="Alexandria Medium" pitchFamily="34" charset="-122"/>
                <a:cs typeface="Alexandria Medium" pitchFamily="34" charset="-120"/>
              </a:rPr>
              <a:t>Faith Seeking Love</a:t>
            </a:r>
            <a:endParaRPr lang="en-US" sz="600" dirty="0"/>
          </a:p>
        </p:txBody>
      </p:sp>
      <p:sp>
        <p:nvSpPr>
          <p:cNvPr id="43" name="Text 35"/>
          <p:cNvSpPr/>
          <p:nvPr/>
        </p:nvSpPr>
        <p:spPr>
          <a:xfrm>
            <a:off x="562868" y="4101331"/>
            <a:ext cx="3926904" cy="74340"/>
          </a:xfrm>
          <a:prstGeom prst="rect">
            <a:avLst/>
          </a:prstGeom>
          <a:noFill/>
          <a:ln/>
        </p:spPr>
        <p:txBody>
          <a:bodyPr wrap="none" lIns="0" tIns="0" rIns="0" bIns="0" rtlCol="0" anchor="t"/>
          <a:lstStyle/>
          <a:p>
            <a:pPr marL="0" indent="0" algn="l">
              <a:lnSpc>
                <a:spcPct val="100000"/>
              </a:lnSpc>
              <a:buNone/>
            </a:pPr>
            <a:r>
              <a:rPr lang="en-US" sz="450" dirty="0">
                <a:solidFill>
                  <a:srgbClr val="000000"/>
                </a:solidFill>
                <a:latin typeface="Manrope" pitchFamily="34" charset="0"/>
                <a:ea typeface="Manrope" pitchFamily="34" charset="-122"/>
                <a:cs typeface="Manrope" pitchFamily="34" charset="-120"/>
              </a:rPr>
              <a:t>The theology of the supreme commandment — the way of </a:t>
            </a:r>
            <a:r>
              <a:rPr lang="en-US" sz="450" i="1" dirty="0">
                <a:solidFill>
                  <a:srgbClr val="000000"/>
                </a:solidFill>
                <a:latin typeface="Manrope" pitchFamily="34" charset="0"/>
                <a:ea typeface="Manrope" pitchFamily="34" charset="-122"/>
                <a:cs typeface="Manrope" pitchFamily="34" charset="-120"/>
              </a:rPr>
              <a:t>prema</a:t>
            </a:r>
            <a:r>
              <a:rPr lang="en-US" sz="450" dirty="0">
                <a:solidFill>
                  <a:srgbClr val="000000"/>
                </a:solidFill>
                <a:latin typeface="Manrope" pitchFamily="34" charset="0"/>
                <a:ea typeface="Manrope" pitchFamily="34" charset="-122"/>
                <a:cs typeface="Manrope" pitchFamily="34" charset="-120"/>
              </a:rPr>
              <a:t>, of </a:t>
            </a:r>
            <a:r>
              <a:rPr lang="en-US" sz="450" i="1" dirty="0">
                <a:solidFill>
                  <a:srgbClr val="000000"/>
                </a:solidFill>
                <a:latin typeface="Manrope" pitchFamily="34" charset="0"/>
                <a:ea typeface="Manrope" pitchFamily="34" charset="-122"/>
                <a:cs typeface="Manrope" pitchFamily="34" charset="-120"/>
              </a:rPr>
              <a:t>agape</a:t>
            </a:r>
            <a:r>
              <a:rPr lang="en-US" sz="450" dirty="0">
                <a:solidFill>
                  <a:srgbClr val="000000"/>
                </a:solidFill>
                <a:latin typeface="Manrope" pitchFamily="34" charset="0"/>
                <a:ea typeface="Manrope" pitchFamily="34" charset="-122"/>
                <a:cs typeface="Manrope" pitchFamily="34" charset="-120"/>
              </a:rPr>
              <a:t>, of Abba</a:t>
            </a:r>
            <a:endParaRPr lang="en-US" sz="450" dirty="0"/>
          </a:p>
        </p:txBody>
      </p:sp>
      <p:sp>
        <p:nvSpPr>
          <p:cNvPr id="44" name="Shape 36"/>
          <p:cNvSpPr/>
          <p:nvPr/>
        </p:nvSpPr>
        <p:spPr>
          <a:xfrm>
            <a:off x="4587478" y="3855913"/>
            <a:ext cx="4060403" cy="323329"/>
          </a:xfrm>
          <a:prstGeom prst="roundRect">
            <a:avLst>
              <a:gd name="adj" fmla="val 28774"/>
            </a:avLst>
          </a:prstGeom>
          <a:solidFill>
            <a:srgbClr val="E6F7FF"/>
          </a:solidFill>
          <a:ln w="4763">
            <a:solidFill>
              <a:srgbClr val="B3D5E4"/>
            </a:solidFill>
            <a:prstDash val="solid"/>
          </a:ln>
        </p:spPr>
        <p:txBody>
          <a:bodyPr/>
          <a:lstStyle/>
          <a:p>
            <a:endParaRPr lang="en-IN"/>
          </a:p>
        </p:txBody>
      </p:sp>
      <p:sp>
        <p:nvSpPr>
          <p:cNvPr id="45" name="Text 37"/>
          <p:cNvSpPr/>
          <p:nvPr/>
        </p:nvSpPr>
        <p:spPr>
          <a:xfrm>
            <a:off x="4654228" y="3985840"/>
            <a:ext cx="3926904" cy="96887"/>
          </a:xfrm>
          <a:prstGeom prst="rect">
            <a:avLst/>
          </a:prstGeom>
          <a:noFill/>
          <a:ln/>
        </p:spPr>
        <p:txBody>
          <a:bodyPr wrap="none" lIns="0" tIns="0" rIns="0" bIns="0" rtlCol="0" anchor="t"/>
          <a:lstStyle/>
          <a:p>
            <a:pPr marL="0" indent="0" algn="l">
              <a:lnSpc>
                <a:spcPct val="104000"/>
              </a:lnSpc>
              <a:buNone/>
            </a:pPr>
            <a:r>
              <a:rPr lang="en-US" sz="600" dirty="0">
                <a:solidFill>
                  <a:srgbClr val="000000"/>
                </a:solidFill>
                <a:latin typeface="Alexandria Medium" pitchFamily="34" charset="0"/>
                <a:ea typeface="Alexandria Medium" pitchFamily="34" charset="-122"/>
                <a:cs typeface="Alexandria Medium" pitchFamily="34" charset="-120"/>
              </a:rPr>
              <a:t>Faith Seeking Harmony</a:t>
            </a:r>
            <a:endParaRPr lang="en-US" sz="600" dirty="0"/>
          </a:p>
        </p:txBody>
      </p:sp>
      <p:sp>
        <p:nvSpPr>
          <p:cNvPr id="46" name="Text 38"/>
          <p:cNvSpPr/>
          <p:nvPr/>
        </p:nvSpPr>
        <p:spPr>
          <a:xfrm>
            <a:off x="4654228" y="4101331"/>
            <a:ext cx="3926904" cy="74340"/>
          </a:xfrm>
          <a:prstGeom prst="rect">
            <a:avLst/>
          </a:prstGeom>
          <a:noFill/>
          <a:ln/>
        </p:spPr>
        <p:txBody>
          <a:bodyPr wrap="none" lIns="0" tIns="0" rIns="0" bIns="0" rtlCol="0" anchor="t"/>
          <a:lstStyle/>
          <a:p>
            <a:pPr marL="0" indent="0" algn="l">
              <a:lnSpc>
                <a:spcPct val="100000"/>
              </a:lnSpc>
              <a:buNone/>
            </a:pPr>
            <a:r>
              <a:rPr lang="en-US" sz="450" dirty="0">
                <a:solidFill>
                  <a:srgbClr val="000000"/>
                </a:solidFill>
                <a:latin typeface="Manrope" pitchFamily="34" charset="0"/>
                <a:ea typeface="Manrope" pitchFamily="34" charset="-122"/>
                <a:cs typeface="Manrope" pitchFamily="34" charset="-120"/>
              </a:rPr>
              <a:t>Ecological and subaltern theology</a:t>
            </a:r>
            <a:endParaRPr lang="en-US" sz="450" dirty="0"/>
          </a:p>
        </p:txBody>
      </p:sp>
      <p:sp>
        <p:nvSpPr>
          <p:cNvPr id="47" name="Shape 39"/>
          <p:cNvSpPr/>
          <p:nvPr/>
        </p:nvSpPr>
        <p:spPr>
          <a:xfrm>
            <a:off x="496119" y="4210199"/>
            <a:ext cx="4060403" cy="323329"/>
          </a:xfrm>
          <a:prstGeom prst="roundRect">
            <a:avLst>
              <a:gd name="adj" fmla="val 28774"/>
            </a:avLst>
          </a:prstGeom>
          <a:solidFill>
            <a:srgbClr val="E6F7FF"/>
          </a:solidFill>
          <a:ln w="4763">
            <a:solidFill>
              <a:srgbClr val="B3D5E4"/>
            </a:solidFill>
            <a:prstDash val="solid"/>
          </a:ln>
        </p:spPr>
        <p:txBody>
          <a:bodyPr/>
          <a:lstStyle/>
          <a:p>
            <a:endParaRPr lang="en-IN"/>
          </a:p>
        </p:txBody>
      </p:sp>
      <p:sp>
        <p:nvSpPr>
          <p:cNvPr id="48" name="Text 40"/>
          <p:cNvSpPr/>
          <p:nvPr/>
        </p:nvSpPr>
        <p:spPr>
          <a:xfrm>
            <a:off x="562868" y="4340126"/>
            <a:ext cx="3926904" cy="96887"/>
          </a:xfrm>
          <a:prstGeom prst="rect">
            <a:avLst/>
          </a:prstGeom>
          <a:noFill/>
          <a:ln/>
        </p:spPr>
        <p:txBody>
          <a:bodyPr wrap="none" lIns="0" tIns="0" rIns="0" bIns="0" rtlCol="0" anchor="t"/>
          <a:lstStyle/>
          <a:p>
            <a:pPr marL="0" indent="0" algn="l">
              <a:lnSpc>
                <a:spcPct val="104000"/>
              </a:lnSpc>
              <a:buNone/>
            </a:pPr>
            <a:r>
              <a:rPr lang="en-US" sz="600" dirty="0">
                <a:solidFill>
                  <a:srgbClr val="000000"/>
                </a:solidFill>
                <a:latin typeface="Alexandria Medium" pitchFamily="34" charset="0"/>
                <a:ea typeface="Alexandria Medium" pitchFamily="34" charset="-122"/>
                <a:cs typeface="Alexandria Medium" pitchFamily="34" charset="-120"/>
              </a:rPr>
              <a:t>Faith Seeking Integrity</a:t>
            </a:r>
            <a:endParaRPr lang="en-US" sz="600" dirty="0"/>
          </a:p>
        </p:txBody>
      </p:sp>
      <p:sp>
        <p:nvSpPr>
          <p:cNvPr id="49" name="Text 41"/>
          <p:cNvSpPr/>
          <p:nvPr/>
        </p:nvSpPr>
        <p:spPr>
          <a:xfrm>
            <a:off x="562868" y="4455616"/>
            <a:ext cx="3926904" cy="74340"/>
          </a:xfrm>
          <a:prstGeom prst="rect">
            <a:avLst/>
          </a:prstGeom>
          <a:noFill/>
          <a:ln/>
        </p:spPr>
        <p:txBody>
          <a:bodyPr wrap="none" lIns="0" tIns="0" rIns="0" bIns="0" rtlCol="0" anchor="t"/>
          <a:lstStyle/>
          <a:p>
            <a:pPr marL="0" indent="0" algn="l">
              <a:lnSpc>
                <a:spcPct val="100000"/>
              </a:lnSpc>
              <a:buNone/>
            </a:pPr>
            <a:r>
              <a:rPr lang="en-US" sz="450" dirty="0">
                <a:solidFill>
                  <a:srgbClr val="000000"/>
                </a:solidFill>
                <a:latin typeface="Manrope" pitchFamily="34" charset="0"/>
                <a:ea typeface="Manrope" pitchFamily="34" charset="-122"/>
                <a:cs typeface="Manrope" pitchFamily="34" charset="-120"/>
              </a:rPr>
              <a:t>Eschatology — the theology of the Omega</a:t>
            </a:r>
            <a:endParaRPr lang="en-US" sz="450" dirty="0"/>
          </a:p>
        </p:txBody>
      </p:sp>
      <p:sp>
        <p:nvSpPr>
          <p:cNvPr id="50" name="Shape 42"/>
          <p:cNvSpPr/>
          <p:nvPr/>
        </p:nvSpPr>
        <p:spPr>
          <a:xfrm>
            <a:off x="4587478" y="4210199"/>
            <a:ext cx="4060403" cy="323329"/>
          </a:xfrm>
          <a:prstGeom prst="roundRect">
            <a:avLst>
              <a:gd name="adj" fmla="val 28774"/>
            </a:avLst>
          </a:prstGeom>
          <a:solidFill>
            <a:srgbClr val="E6F7FF"/>
          </a:solidFill>
          <a:ln w="4763">
            <a:solidFill>
              <a:srgbClr val="B3D5E4"/>
            </a:solidFill>
            <a:prstDash val="solid"/>
          </a:ln>
        </p:spPr>
        <p:txBody>
          <a:bodyPr/>
          <a:lstStyle/>
          <a:p>
            <a:endParaRPr lang="en-IN"/>
          </a:p>
        </p:txBody>
      </p:sp>
      <p:sp>
        <p:nvSpPr>
          <p:cNvPr id="51" name="Text 43"/>
          <p:cNvSpPr/>
          <p:nvPr/>
        </p:nvSpPr>
        <p:spPr>
          <a:xfrm>
            <a:off x="4654228" y="4340126"/>
            <a:ext cx="3926904" cy="96887"/>
          </a:xfrm>
          <a:prstGeom prst="rect">
            <a:avLst/>
          </a:prstGeom>
          <a:noFill/>
          <a:ln/>
        </p:spPr>
        <p:txBody>
          <a:bodyPr wrap="none" lIns="0" tIns="0" rIns="0" bIns="0" rtlCol="0" anchor="t"/>
          <a:lstStyle/>
          <a:p>
            <a:pPr marL="0" indent="0" algn="l">
              <a:lnSpc>
                <a:spcPct val="104000"/>
              </a:lnSpc>
              <a:buNone/>
            </a:pPr>
            <a:r>
              <a:rPr lang="en-US" sz="600" dirty="0">
                <a:solidFill>
                  <a:srgbClr val="000000"/>
                </a:solidFill>
                <a:latin typeface="Alexandria Medium" pitchFamily="34" charset="0"/>
                <a:ea typeface="Alexandria Medium" pitchFamily="34" charset="-122"/>
                <a:cs typeface="Alexandria Medium" pitchFamily="34" charset="-120"/>
              </a:rPr>
              <a:t>Faith Seeking Ritual</a:t>
            </a:r>
            <a:endParaRPr lang="en-US" sz="600" dirty="0"/>
          </a:p>
        </p:txBody>
      </p:sp>
      <p:sp>
        <p:nvSpPr>
          <p:cNvPr id="52" name="Text 44"/>
          <p:cNvSpPr/>
          <p:nvPr/>
        </p:nvSpPr>
        <p:spPr>
          <a:xfrm>
            <a:off x="4654228" y="4455616"/>
            <a:ext cx="3926904" cy="74340"/>
          </a:xfrm>
          <a:prstGeom prst="rect">
            <a:avLst/>
          </a:prstGeom>
          <a:noFill/>
          <a:ln/>
        </p:spPr>
        <p:txBody>
          <a:bodyPr wrap="none" lIns="0" tIns="0" rIns="0" bIns="0" rtlCol="0" anchor="t"/>
          <a:lstStyle/>
          <a:p>
            <a:pPr marL="0" indent="0" algn="l">
              <a:lnSpc>
                <a:spcPct val="100000"/>
              </a:lnSpc>
              <a:buNone/>
            </a:pPr>
            <a:r>
              <a:rPr lang="en-US" sz="450" dirty="0">
                <a:solidFill>
                  <a:srgbClr val="000000"/>
                </a:solidFill>
                <a:latin typeface="Manrope" pitchFamily="34" charset="0"/>
                <a:ea typeface="Manrope" pitchFamily="34" charset="-122"/>
                <a:cs typeface="Manrope" pitchFamily="34" charset="-120"/>
              </a:rPr>
              <a:t>The theology of worship, liturgy, and the sacraments</a:t>
            </a:r>
            <a:endParaRPr lang="en-US" sz="450" dirty="0"/>
          </a:p>
        </p:txBody>
      </p:sp>
      <p:sp>
        <p:nvSpPr>
          <p:cNvPr id="53" name="Text 45"/>
          <p:cNvSpPr/>
          <p:nvPr/>
        </p:nvSpPr>
        <p:spPr>
          <a:xfrm>
            <a:off x="314325" y="4631531"/>
            <a:ext cx="8677275" cy="417240"/>
          </a:xfrm>
          <a:prstGeom prst="rect">
            <a:avLst/>
          </a:prstGeom>
          <a:noFill/>
          <a:ln/>
        </p:spPr>
        <p:txBody>
          <a:bodyPr wrap="square" lIns="0" tIns="0" rIns="0" bIns="0" rtlCol="0" anchor="t">
            <a:normAutofit/>
          </a:bodyPr>
          <a:lstStyle/>
          <a:p>
            <a:pPr marL="0" indent="0" algn="l">
              <a:lnSpc>
                <a:spcPct val="100000"/>
              </a:lnSpc>
              <a:buNone/>
            </a:pPr>
            <a:r>
              <a:rPr lang="en-US" sz="700" dirty="0">
                <a:solidFill>
                  <a:srgbClr val="5B6E8C"/>
                </a:solidFill>
                <a:latin typeface="Manrope" pitchFamily="34" charset="0"/>
                <a:ea typeface="Manrope" pitchFamily="34" charset="-122"/>
                <a:cs typeface="Manrope" pitchFamily="34" charset="-120"/>
              </a:rPr>
              <a:t>Amaladoss describes theology as the searching of believers for an experiential understanding of God that is relevant to transforming their lives in the world. Haight describes it as the attempt to understand the whole of reality — the world, human existence, history, and God — within the vision carried to the Christian community by its central symbols: Jesus, the Eucharist, and the sacraments. Read through the lens of </a:t>
            </a:r>
            <a:r>
              <a:rPr lang="en-US" sz="700" i="1" dirty="0">
                <a:solidFill>
                  <a:srgbClr val="5B6E8C"/>
                </a:solidFill>
                <a:latin typeface="Manrope" pitchFamily="34" charset="0"/>
                <a:ea typeface="Manrope" pitchFamily="34" charset="-122"/>
                <a:cs typeface="Manrope" pitchFamily="34" charset="-120"/>
              </a:rPr>
              <a:t>Gaudium et Spes</a:t>
            </a:r>
            <a:r>
              <a:rPr lang="en-US" sz="700" dirty="0">
                <a:solidFill>
                  <a:srgbClr val="5B6E8C"/>
                </a:solidFill>
                <a:latin typeface="Manrope" pitchFamily="34" charset="0"/>
                <a:ea typeface="Manrope" pitchFamily="34" charset="-122"/>
                <a:cs typeface="Manrope" pitchFamily="34" charset="-120"/>
              </a:rPr>
              <a:t>, theology becomes hermeneutics: the interpretation of Christian faith in the light of present reality, and the interpretation of present reality in the light of the Word of God.</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56667"/>
            <a:ext cx="8151763" cy="339179"/>
          </a:xfrm>
          <a:prstGeom prst="rect">
            <a:avLst/>
          </a:prstGeom>
          <a:noFill/>
          <a:ln/>
        </p:spPr>
        <p:txBody>
          <a:bodyPr wrap="none" lIns="0" tIns="0" rIns="0" bIns="0" rtlCol="0" anchor="t"/>
          <a:lstStyle/>
          <a:p>
            <a:pPr marL="0" indent="0" algn="l">
              <a:lnSpc>
                <a:spcPct val="104000"/>
              </a:lnSpc>
              <a:buNone/>
            </a:pPr>
            <a:r>
              <a:rPr lang="en-US" sz="2100" dirty="0">
                <a:solidFill>
                  <a:srgbClr val="5B6E8C"/>
                </a:solidFill>
                <a:latin typeface="Alexandria Medium" pitchFamily="34" charset="0"/>
                <a:ea typeface="Alexandria Medium" pitchFamily="34" charset="-122"/>
                <a:cs typeface="Alexandria Medium" pitchFamily="34" charset="-120"/>
              </a:rPr>
              <a:t>4. A Working Definition</a:t>
            </a:r>
            <a:endParaRPr lang="en-US" sz="2100" dirty="0"/>
          </a:p>
        </p:txBody>
      </p:sp>
      <p:sp>
        <p:nvSpPr>
          <p:cNvPr id="3" name="Shape 1"/>
          <p:cNvSpPr/>
          <p:nvPr/>
        </p:nvSpPr>
        <p:spPr>
          <a:xfrm>
            <a:off x="496119" y="885751"/>
            <a:ext cx="14288" cy="701948"/>
          </a:xfrm>
          <a:prstGeom prst="roundRect">
            <a:avLst>
              <a:gd name="adj" fmla="val 59998"/>
            </a:avLst>
          </a:prstGeom>
          <a:solidFill>
            <a:srgbClr val="AAE4FE"/>
          </a:solidFill>
          <a:ln/>
        </p:spPr>
        <p:txBody>
          <a:bodyPr/>
          <a:lstStyle/>
          <a:p>
            <a:endParaRPr lang="en-IN"/>
          </a:p>
        </p:txBody>
      </p:sp>
      <p:sp>
        <p:nvSpPr>
          <p:cNvPr id="4" name="Text 2"/>
          <p:cNvSpPr/>
          <p:nvPr/>
        </p:nvSpPr>
        <p:spPr>
          <a:xfrm>
            <a:off x="658862" y="752102"/>
            <a:ext cx="8264421" cy="819671"/>
          </a:xfrm>
          <a:prstGeom prst="rect">
            <a:avLst/>
          </a:prstGeom>
          <a:noFill/>
          <a:ln/>
        </p:spPr>
        <p:txBody>
          <a:bodyPr wrap="square" lIns="0" tIns="0" rIns="0" bIns="0" rtlCol="0" anchor="t">
            <a:normAutofit fontScale="92500"/>
          </a:bodyPr>
          <a:lstStyle/>
          <a:p>
            <a:pPr marL="0" indent="0" algn="l">
              <a:lnSpc>
                <a:spcPct val="125000"/>
              </a:lnSpc>
              <a:buNone/>
            </a:pPr>
            <a:r>
              <a:rPr lang="en-US" sz="1200" dirty="0">
                <a:solidFill>
                  <a:srgbClr val="5B6E8C"/>
                </a:solidFill>
                <a:latin typeface="Manrope" pitchFamily="34" charset="0"/>
                <a:ea typeface="Manrope" pitchFamily="34" charset="-122"/>
                <a:cs typeface="Manrope" pitchFamily="34" charset="-120"/>
              </a:rPr>
              <a:t>Christian theology is the systematic and searching interpretation of the meaning of human life and of reality as a whole, from the standpoint of the revelation given in Jesus Christ, joined to the continual reinterpretation of Christian faith in the light of the new experience and the changing situation of the world, carried out in and by the believing community.</a:t>
            </a:r>
            <a:endParaRPr lang="en-US" sz="1200" dirty="0"/>
          </a:p>
        </p:txBody>
      </p:sp>
      <p:sp>
        <p:nvSpPr>
          <p:cNvPr id="5" name="Text 3"/>
          <p:cNvSpPr/>
          <p:nvPr/>
        </p:nvSpPr>
        <p:spPr>
          <a:xfrm>
            <a:off x="496119" y="1789509"/>
            <a:ext cx="3943499" cy="169515"/>
          </a:xfrm>
          <a:prstGeom prst="rect">
            <a:avLst/>
          </a:prstGeom>
          <a:noFill/>
          <a:ln/>
        </p:spPr>
        <p:txBody>
          <a:bodyPr wrap="none" lIns="0" tIns="0" rIns="0" bIns="0" rtlCol="0" anchor="t"/>
          <a:lstStyle/>
          <a:p>
            <a:pPr marL="0" indent="0" algn="l">
              <a:lnSpc>
                <a:spcPct val="104000"/>
              </a:lnSpc>
              <a:buNone/>
            </a:pPr>
            <a:r>
              <a:rPr lang="en-US" sz="1050" dirty="0">
                <a:solidFill>
                  <a:srgbClr val="5B6E8C"/>
                </a:solidFill>
                <a:latin typeface="Alexandria Medium" pitchFamily="34" charset="0"/>
                <a:ea typeface="Alexandria Medium" pitchFamily="34" charset="-122"/>
                <a:cs typeface="Alexandria Medium" pitchFamily="34" charset="-120"/>
              </a:rPr>
              <a:t>Said More Simply</a:t>
            </a:r>
            <a:endParaRPr lang="en-US" sz="1050" dirty="0"/>
          </a:p>
        </p:txBody>
      </p:sp>
      <p:sp>
        <p:nvSpPr>
          <p:cNvPr id="6" name="Text 4"/>
          <p:cNvSpPr/>
          <p:nvPr/>
        </p:nvSpPr>
        <p:spPr>
          <a:xfrm>
            <a:off x="496119" y="2053977"/>
            <a:ext cx="3943499" cy="651272"/>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5B6E8C"/>
                </a:solidFill>
                <a:latin typeface="Manrope" pitchFamily="34" charset="0"/>
                <a:ea typeface="Manrope" pitchFamily="34" charset="-122"/>
                <a:cs typeface="Manrope" pitchFamily="34" charset="-120"/>
              </a:rPr>
              <a:t>Christian theology deals with the ultimate meaning and mystery of human life and of all reality — the human, the cosmic, and the divine together — from the standpoint of Christian revelation as it is held in the Bible and in Christian Tradition.</a:t>
            </a:r>
            <a:endParaRPr lang="en-US" sz="850" dirty="0"/>
          </a:p>
        </p:txBody>
      </p:sp>
      <p:sp>
        <p:nvSpPr>
          <p:cNvPr id="7" name="Text 5"/>
          <p:cNvSpPr/>
          <p:nvPr/>
        </p:nvSpPr>
        <p:spPr>
          <a:xfrm>
            <a:off x="496119" y="2800201"/>
            <a:ext cx="3943499" cy="169515"/>
          </a:xfrm>
          <a:prstGeom prst="rect">
            <a:avLst/>
          </a:prstGeom>
          <a:noFill/>
          <a:ln/>
        </p:spPr>
        <p:txBody>
          <a:bodyPr wrap="none" lIns="0" tIns="0" rIns="0" bIns="0" rtlCol="0" anchor="t"/>
          <a:lstStyle/>
          <a:p>
            <a:pPr marL="0" indent="0" algn="l">
              <a:lnSpc>
                <a:spcPct val="104000"/>
              </a:lnSpc>
              <a:buNone/>
            </a:pPr>
            <a:r>
              <a:rPr lang="en-US" sz="1050" dirty="0">
                <a:solidFill>
                  <a:srgbClr val="5B6E8C"/>
                </a:solidFill>
                <a:latin typeface="Alexandria Medium" pitchFamily="34" charset="0"/>
                <a:ea typeface="Alexandria Medium" pitchFamily="34" charset="-122"/>
                <a:cs typeface="Alexandria Medium" pitchFamily="34" charset="-120"/>
              </a:rPr>
              <a:t>The Three Domains</a:t>
            </a:r>
            <a:endParaRPr lang="en-US" sz="1050" dirty="0"/>
          </a:p>
        </p:txBody>
      </p:sp>
      <p:sp>
        <p:nvSpPr>
          <p:cNvPr id="8" name="Shape 6"/>
          <p:cNvSpPr/>
          <p:nvPr/>
        </p:nvSpPr>
        <p:spPr>
          <a:xfrm>
            <a:off x="496119" y="3076501"/>
            <a:ext cx="1924273" cy="835670"/>
          </a:xfrm>
          <a:prstGeom prst="roundRect">
            <a:avLst>
              <a:gd name="adj" fmla="val 19483"/>
            </a:avLst>
          </a:prstGeom>
          <a:solidFill>
            <a:srgbClr val="FFFFFF"/>
          </a:solidFill>
          <a:ln w="14288">
            <a:solidFill>
              <a:srgbClr val="B3D5E4"/>
            </a:solidFill>
            <a:prstDash val="solid"/>
          </a:ln>
        </p:spPr>
        <p:txBody>
          <a:bodyPr/>
          <a:lstStyle/>
          <a:p>
            <a:endParaRPr lang="en-IN"/>
          </a:p>
        </p:txBody>
      </p:sp>
      <p:sp>
        <p:nvSpPr>
          <p:cNvPr id="9" name="Text 7"/>
          <p:cNvSpPr/>
          <p:nvPr/>
        </p:nvSpPr>
        <p:spPr>
          <a:xfrm>
            <a:off x="618902" y="3199284"/>
            <a:ext cx="1678707" cy="169515"/>
          </a:xfrm>
          <a:prstGeom prst="rect">
            <a:avLst/>
          </a:prstGeom>
          <a:noFill/>
          <a:ln/>
        </p:spPr>
        <p:txBody>
          <a:bodyPr wrap="none" lIns="0" tIns="0" rIns="0" bIns="0" rtlCol="0" anchor="t"/>
          <a:lstStyle/>
          <a:p>
            <a:pPr marL="0" indent="0" algn="l">
              <a:lnSpc>
                <a:spcPct val="104000"/>
              </a:lnSpc>
              <a:buNone/>
            </a:pPr>
            <a:r>
              <a:rPr lang="en-US" sz="1050" dirty="0">
                <a:solidFill>
                  <a:srgbClr val="5B6E8C"/>
                </a:solidFill>
                <a:latin typeface="Alexandria Medium" pitchFamily="34" charset="0"/>
                <a:ea typeface="Alexandria Medium" pitchFamily="34" charset="-122"/>
                <a:cs typeface="Alexandria Medium" pitchFamily="34" charset="-120"/>
              </a:rPr>
              <a:t>The Human</a:t>
            </a:r>
            <a:endParaRPr lang="en-US" sz="1050" dirty="0"/>
          </a:p>
        </p:txBody>
      </p:sp>
      <p:sp>
        <p:nvSpPr>
          <p:cNvPr id="10" name="Text 8"/>
          <p:cNvSpPr/>
          <p:nvPr/>
        </p:nvSpPr>
        <p:spPr>
          <a:xfrm>
            <a:off x="618902" y="3463751"/>
            <a:ext cx="1678707"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5B6E8C"/>
                </a:solidFill>
                <a:latin typeface="Manrope" pitchFamily="34" charset="0"/>
                <a:ea typeface="Manrope" pitchFamily="34" charset="-122"/>
                <a:cs typeface="Manrope" pitchFamily="34" charset="-120"/>
              </a:rPr>
              <a:t>The person in relation to God and to others</a:t>
            </a:r>
            <a:endParaRPr lang="en-US" sz="850" dirty="0"/>
          </a:p>
        </p:txBody>
      </p:sp>
      <p:sp>
        <p:nvSpPr>
          <p:cNvPr id="11" name="Shape 9"/>
          <p:cNvSpPr/>
          <p:nvPr/>
        </p:nvSpPr>
        <p:spPr>
          <a:xfrm>
            <a:off x="2515344" y="3076501"/>
            <a:ext cx="1924273" cy="835670"/>
          </a:xfrm>
          <a:prstGeom prst="roundRect">
            <a:avLst>
              <a:gd name="adj" fmla="val 19483"/>
            </a:avLst>
          </a:prstGeom>
          <a:solidFill>
            <a:srgbClr val="FFFFFF"/>
          </a:solidFill>
          <a:ln w="14288">
            <a:solidFill>
              <a:srgbClr val="B3D5E4"/>
            </a:solidFill>
            <a:prstDash val="solid"/>
          </a:ln>
        </p:spPr>
        <p:txBody>
          <a:bodyPr/>
          <a:lstStyle/>
          <a:p>
            <a:endParaRPr lang="en-IN"/>
          </a:p>
        </p:txBody>
      </p:sp>
      <p:sp>
        <p:nvSpPr>
          <p:cNvPr id="12" name="Text 10"/>
          <p:cNvSpPr/>
          <p:nvPr/>
        </p:nvSpPr>
        <p:spPr>
          <a:xfrm>
            <a:off x="2638127" y="3199284"/>
            <a:ext cx="1678707" cy="169515"/>
          </a:xfrm>
          <a:prstGeom prst="rect">
            <a:avLst/>
          </a:prstGeom>
          <a:noFill/>
          <a:ln/>
        </p:spPr>
        <p:txBody>
          <a:bodyPr wrap="none" lIns="0" tIns="0" rIns="0" bIns="0" rtlCol="0" anchor="t"/>
          <a:lstStyle/>
          <a:p>
            <a:pPr marL="0" indent="0" algn="l">
              <a:lnSpc>
                <a:spcPct val="104000"/>
              </a:lnSpc>
              <a:buNone/>
            </a:pPr>
            <a:r>
              <a:rPr lang="en-US" sz="1050" dirty="0">
                <a:solidFill>
                  <a:srgbClr val="5B6E8C"/>
                </a:solidFill>
                <a:latin typeface="Alexandria Medium" pitchFamily="34" charset="0"/>
                <a:ea typeface="Alexandria Medium" pitchFamily="34" charset="-122"/>
                <a:cs typeface="Alexandria Medium" pitchFamily="34" charset="-120"/>
              </a:rPr>
              <a:t>The Cosmic</a:t>
            </a:r>
            <a:endParaRPr lang="en-US" sz="1050" dirty="0"/>
          </a:p>
        </p:txBody>
      </p:sp>
      <p:sp>
        <p:nvSpPr>
          <p:cNvPr id="13" name="Text 11"/>
          <p:cNvSpPr/>
          <p:nvPr/>
        </p:nvSpPr>
        <p:spPr>
          <a:xfrm>
            <a:off x="2638127" y="3463751"/>
            <a:ext cx="1678707" cy="325636"/>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5B6E8C"/>
                </a:solidFill>
                <a:latin typeface="Manrope" pitchFamily="34" charset="0"/>
                <a:ea typeface="Manrope" pitchFamily="34" charset="-122"/>
                <a:cs typeface="Manrope" pitchFamily="34" charset="-120"/>
              </a:rPr>
              <a:t>All of creation and its ultimate meaning</a:t>
            </a:r>
            <a:endParaRPr lang="en-US" sz="850" dirty="0"/>
          </a:p>
        </p:txBody>
      </p:sp>
      <p:sp>
        <p:nvSpPr>
          <p:cNvPr id="14" name="Shape 12"/>
          <p:cNvSpPr/>
          <p:nvPr/>
        </p:nvSpPr>
        <p:spPr>
          <a:xfrm>
            <a:off x="496119" y="4007123"/>
            <a:ext cx="3943499" cy="672852"/>
          </a:xfrm>
          <a:prstGeom prst="roundRect">
            <a:avLst>
              <a:gd name="adj" fmla="val 24197"/>
            </a:avLst>
          </a:prstGeom>
          <a:solidFill>
            <a:srgbClr val="FFFFFF"/>
          </a:solidFill>
          <a:ln w="14288">
            <a:solidFill>
              <a:srgbClr val="B3D5E4"/>
            </a:solidFill>
            <a:prstDash val="solid"/>
          </a:ln>
        </p:spPr>
        <p:txBody>
          <a:bodyPr/>
          <a:lstStyle/>
          <a:p>
            <a:endParaRPr lang="en-IN"/>
          </a:p>
        </p:txBody>
      </p:sp>
      <p:sp>
        <p:nvSpPr>
          <p:cNvPr id="15" name="Text 13"/>
          <p:cNvSpPr/>
          <p:nvPr/>
        </p:nvSpPr>
        <p:spPr>
          <a:xfrm>
            <a:off x="618902" y="4129906"/>
            <a:ext cx="3697932" cy="169515"/>
          </a:xfrm>
          <a:prstGeom prst="rect">
            <a:avLst/>
          </a:prstGeom>
          <a:noFill/>
          <a:ln/>
        </p:spPr>
        <p:txBody>
          <a:bodyPr wrap="none" lIns="0" tIns="0" rIns="0" bIns="0" rtlCol="0" anchor="t"/>
          <a:lstStyle/>
          <a:p>
            <a:pPr marL="0" indent="0" algn="l">
              <a:lnSpc>
                <a:spcPct val="104000"/>
              </a:lnSpc>
              <a:buNone/>
            </a:pPr>
            <a:r>
              <a:rPr lang="en-US" sz="1050" dirty="0">
                <a:solidFill>
                  <a:srgbClr val="5B6E8C"/>
                </a:solidFill>
                <a:latin typeface="Alexandria Medium" pitchFamily="34" charset="0"/>
                <a:ea typeface="Alexandria Medium" pitchFamily="34" charset="-122"/>
                <a:cs typeface="Alexandria Medium" pitchFamily="34" charset="-120"/>
              </a:rPr>
              <a:t>The Divine</a:t>
            </a:r>
            <a:endParaRPr lang="en-US" sz="1050" dirty="0"/>
          </a:p>
        </p:txBody>
      </p:sp>
      <p:sp>
        <p:nvSpPr>
          <p:cNvPr id="16" name="Text 14"/>
          <p:cNvSpPr/>
          <p:nvPr/>
        </p:nvSpPr>
        <p:spPr>
          <a:xfrm>
            <a:off x="618902" y="4394374"/>
            <a:ext cx="3697932" cy="162818"/>
          </a:xfrm>
          <a:prstGeom prst="rect">
            <a:avLst/>
          </a:prstGeom>
          <a:noFill/>
          <a:ln/>
        </p:spPr>
        <p:txBody>
          <a:bodyPr wrap="none" lIns="0" tIns="0" rIns="0" bIns="0" rtlCol="0" anchor="t"/>
          <a:lstStyle/>
          <a:p>
            <a:pPr marL="0" indent="0" algn="l">
              <a:lnSpc>
                <a:spcPct val="125000"/>
              </a:lnSpc>
              <a:buNone/>
            </a:pPr>
            <a:r>
              <a:rPr lang="en-US" sz="850" dirty="0">
                <a:solidFill>
                  <a:srgbClr val="5B6E8C"/>
                </a:solidFill>
                <a:latin typeface="Manrope" pitchFamily="34" charset="0"/>
                <a:ea typeface="Manrope" pitchFamily="34" charset="-122"/>
                <a:cs typeface="Manrope" pitchFamily="34" charset="-120"/>
              </a:rPr>
              <a:t>God as he reveals himself in history and in Christ</a:t>
            </a:r>
            <a:endParaRPr lang="en-US" sz="850" dirty="0"/>
          </a:p>
        </p:txBody>
      </p:sp>
      <p:sp>
        <p:nvSpPr>
          <p:cNvPr id="17" name="Shape 15"/>
          <p:cNvSpPr/>
          <p:nvPr/>
        </p:nvSpPr>
        <p:spPr>
          <a:xfrm>
            <a:off x="4631010" y="1694557"/>
            <a:ext cx="4099768" cy="3092202"/>
          </a:xfrm>
          <a:prstGeom prst="roundRect">
            <a:avLst>
              <a:gd name="adj" fmla="val 8424"/>
            </a:avLst>
          </a:prstGeom>
          <a:solidFill>
            <a:srgbClr val="AAE4FE"/>
          </a:solidFill>
          <a:ln/>
        </p:spPr>
        <p:txBody>
          <a:bodyPr/>
          <a:lstStyle/>
          <a:p>
            <a:endParaRPr lang="en-IN"/>
          </a:p>
        </p:txBody>
      </p:sp>
      <p:sp>
        <p:nvSpPr>
          <p:cNvPr id="18" name="Text 16"/>
          <p:cNvSpPr/>
          <p:nvPr/>
        </p:nvSpPr>
        <p:spPr>
          <a:xfrm>
            <a:off x="4739506" y="1789509"/>
            <a:ext cx="3882777" cy="169515"/>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Alexandria Medium" pitchFamily="34" charset="0"/>
                <a:ea typeface="Alexandria Medium" pitchFamily="34" charset="-122"/>
                <a:cs typeface="Alexandria Medium" pitchFamily="34" charset="-120"/>
              </a:rPr>
              <a:t>The Foundational Question</a:t>
            </a:r>
            <a:endParaRPr lang="en-US" sz="1050" dirty="0"/>
          </a:p>
        </p:txBody>
      </p:sp>
      <p:sp>
        <p:nvSpPr>
          <p:cNvPr id="19" name="Text 17"/>
          <p:cNvSpPr/>
          <p:nvPr/>
        </p:nvSpPr>
        <p:spPr>
          <a:xfrm>
            <a:off x="4739506" y="2053977"/>
            <a:ext cx="3882777" cy="2625998"/>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000000"/>
                </a:solidFill>
                <a:latin typeface="Manrope" pitchFamily="34" charset="0"/>
                <a:ea typeface="Manrope" pitchFamily="34" charset="-122"/>
                <a:cs typeface="Manrope" pitchFamily="34" charset="-120"/>
              </a:rPr>
              <a:t>Faith is the condition that makes theology possible, which is why the honest question must be asked at the start:</a:t>
            </a:r>
          </a:p>
          <a:p>
            <a:pPr marL="0" indent="0" algn="l">
              <a:lnSpc>
                <a:spcPct val="125000"/>
              </a:lnSpc>
              <a:buNone/>
            </a:pPr>
            <a:endParaRPr lang="en-US" sz="1200" dirty="0">
              <a:solidFill>
                <a:srgbClr val="000000"/>
              </a:solidFill>
              <a:latin typeface="Manrope" pitchFamily="34" charset="0"/>
              <a:ea typeface="Manrope" pitchFamily="34" charset="-122"/>
              <a:cs typeface="Manrope" pitchFamily="34" charset="-120"/>
            </a:endParaRPr>
          </a:p>
          <a:p>
            <a:pPr>
              <a:lnSpc>
                <a:spcPct val="125000"/>
              </a:lnSpc>
            </a:pPr>
            <a:r>
              <a:rPr lang="en-US" sz="1200" b="1" dirty="0">
                <a:solidFill>
                  <a:srgbClr val="000000"/>
                </a:solidFill>
                <a:latin typeface="Manrope" pitchFamily="34" charset="0"/>
                <a:ea typeface="Manrope" pitchFamily="34" charset="-122"/>
                <a:cs typeface="Manrope" pitchFamily="34" charset="-120"/>
              </a:rPr>
              <a:t>Can one do theology without faith?</a:t>
            </a:r>
            <a:endParaRPr lang="en-US" sz="1200" b="1" dirty="0"/>
          </a:p>
          <a:p>
            <a:pPr>
              <a:lnSpc>
                <a:spcPct val="125000"/>
              </a:lnSpc>
            </a:pPr>
            <a:r>
              <a:rPr lang="en-US" sz="1200" dirty="0">
                <a:solidFill>
                  <a:srgbClr val="000000"/>
                </a:solidFill>
                <a:latin typeface="Manrope" pitchFamily="34" charset="0"/>
                <a:ea typeface="Manrope" pitchFamily="34" charset="-122"/>
                <a:cs typeface="Manrope" pitchFamily="34" charset="-120"/>
              </a:rPr>
              <a:t>This is not a rhetorical question. It is the first question every student of theology must sit with. The working definition above presupposes that the theologian stands within the believing community, not merely observing it from outside. The answer shapes everything that follows.</a:t>
            </a:r>
            <a:endParaRPr lang="en-US" sz="1200" dirty="0"/>
          </a:p>
          <a:p>
            <a:pPr marL="0" indent="0" algn="l">
              <a:lnSpc>
                <a:spcPct val="125000"/>
              </a:lnSpc>
              <a:buNone/>
            </a:pPr>
            <a:endParaRPr lang="en-US" sz="1200" dirty="0"/>
          </a:p>
        </p:txBody>
      </p:sp>
      <p:sp>
        <p:nvSpPr>
          <p:cNvPr id="20" name="Shape 18"/>
          <p:cNvSpPr/>
          <p:nvPr/>
        </p:nvSpPr>
        <p:spPr>
          <a:xfrm>
            <a:off x="4739506" y="2486397"/>
            <a:ext cx="14288" cy="333673"/>
          </a:xfrm>
          <a:prstGeom prst="roundRect">
            <a:avLst>
              <a:gd name="adj" fmla="val 59998"/>
            </a:avLst>
          </a:prstGeom>
          <a:solidFill>
            <a:srgbClr val="AAE4FE"/>
          </a:solidFill>
          <a:ln/>
        </p:spPr>
        <p:txBody>
          <a:bodyPr/>
          <a:lstStyle/>
          <a:p>
            <a:endParaRPr lang="en-IN"/>
          </a:p>
        </p:txBody>
      </p:sp>
      <p:sp>
        <p:nvSpPr>
          <p:cNvPr id="21" name="Text 19"/>
          <p:cNvSpPr/>
          <p:nvPr/>
        </p:nvSpPr>
        <p:spPr>
          <a:xfrm>
            <a:off x="4902250" y="2571824"/>
            <a:ext cx="4177233" cy="162818"/>
          </a:xfrm>
          <a:prstGeom prst="rect">
            <a:avLst/>
          </a:prstGeom>
          <a:noFill/>
          <a:ln/>
        </p:spPr>
        <p:txBody>
          <a:bodyPr wrap="none" lIns="0" tIns="0" rIns="0" bIns="0" rtlCol="0" anchor="t"/>
          <a:lstStyle/>
          <a:p>
            <a:pPr marL="0" indent="0" algn="l">
              <a:lnSpc>
                <a:spcPct val="125000"/>
              </a:lnSpc>
              <a:buNone/>
            </a:pPr>
            <a:endParaRPr lang="en-US" sz="850" dirty="0"/>
          </a:p>
        </p:txBody>
      </p:sp>
      <p:sp>
        <p:nvSpPr>
          <p:cNvPr id="22" name="Text 20"/>
          <p:cNvSpPr/>
          <p:nvPr/>
        </p:nvSpPr>
        <p:spPr>
          <a:xfrm>
            <a:off x="4739506" y="2926854"/>
            <a:ext cx="3882777" cy="651272"/>
          </a:xfrm>
          <a:prstGeom prst="rect">
            <a:avLst/>
          </a:prstGeom>
          <a:noFill/>
          <a:ln/>
        </p:spPr>
        <p:txBody>
          <a:bodyPr wrap="square" lIns="0" tIns="0" rIns="0" bIns="0" rtlCol="0" anchor="t">
            <a:normAutofit/>
          </a:bodyPr>
          <a:lstStyle/>
          <a:p>
            <a:pPr>
              <a:lnSpc>
                <a:spcPct val="125000"/>
              </a:lnSpc>
            </a:pP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88722"/>
            <a:ext cx="8151763" cy="333077"/>
          </a:xfrm>
          <a:prstGeom prst="rect">
            <a:avLst/>
          </a:prstGeom>
          <a:noFill/>
          <a:ln/>
        </p:spPr>
        <p:txBody>
          <a:bodyPr wrap="none" lIns="0" tIns="0" rIns="0" bIns="0" rtlCol="0" anchor="t"/>
          <a:lstStyle/>
          <a:p>
            <a:pPr marL="0" indent="0" algn="l">
              <a:lnSpc>
                <a:spcPct val="104000"/>
              </a:lnSpc>
              <a:buNone/>
            </a:pPr>
            <a:r>
              <a:rPr lang="en-US" sz="2050" dirty="0">
                <a:solidFill>
                  <a:srgbClr val="5B6E8C"/>
                </a:solidFill>
                <a:latin typeface="Alexandria Medium" pitchFamily="34" charset="0"/>
                <a:ea typeface="Alexandria Medium" pitchFamily="34" charset="-122"/>
                <a:cs typeface="Alexandria Medium" pitchFamily="34" charset="-120"/>
              </a:rPr>
              <a:t>5. The Task and the Aim of the Theologian</a:t>
            </a:r>
            <a:endParaRPr lang="en-US" sz="2050" dirty="0"/>
          </a:p>
        </p:txBody>
      </p:sp>
      <p:sp>
        <p:nvSpPr>
          <p:cNvPr id="5" name="Text 3"/>
          <p:cNvSpPr/>
          <p:nvPr/>
        </p:nvSpPr>
        <p:spPr>
          <a:xfrm>
            <a:off x="199697" y="588580"/>
            <a:ext cx="4197580" cy="4424854"/>
          </a:xfrm>
          <a:prstGeom prst="rect">
            <a:avLst/>
          </a:prstGeom>
          <a:noFill/>
          <a:ln/>
        </p:spPr>
        <p:txBody>
          <a:bodyPr wrap="square" lIns="0" tIns="0" rIns="0" bIns="0" rtlCol="0" anchor="t">
            <a:normAutofit fontScale="92500" lnSpcReduction="20000"/>
          </a:bodyPr>
          <a:lstStyle/>
          <a:p>
            <a:pPr algn="just">
              <a:lnSpc>
                <a:spcPct val="124000"/>
              </a:lnSpc>
              <a:spcAft>
                <a:spcPts val="600"/>
              </a:spcAft>
            </a:pPr>
            <a:r>
              <a:rPr lang="en-US" sz="1400" dirty="0">
                <a:latin typeface="Manrope" pitchFamily="34" charset="0"/>
                <a:ea typeface="Manrope" pitchFamily="34" charset="-122"/>
                <a:cs typeface="Manrope" pitchFamily="34" charset="-120"/>
              </a:rPr>
              <a:t>The heart has its reasons of which reason knows nothing, and we know the truth not only by reason but also by the heart. — Blaise Pascal</a:t>
            </a:r>
            <a:endParaRPr lang="en-US" sz="1400" dirty="0"/>
          </a:p>
          <a:p>
            <a:pPr marL="0" indent="0" algn="just">
              <a:lnSpc>
                <a:spcPct val="124000"/>
              </a:lnSpc>
              <a:spcAft>
                <a:spcPts val="600"/>
              </a:spcAft>
              <a:buNone/>
            </a:pPr>
            <a:r>
              <a:rPr lang="en-US" sz="1400" dirty="0">
                <a:latin typeface="Manrope" pitchFamily="34" charset="0"/>
                <a:ea typeface="Manrope" pitchFamily="34" charset="-122"/>
                <a:cs typeface="Manrope" pitchFamily="34" charset="-120"/>
              </a:rPr>
              <a:t>The theologian honours this. Yet the conclusions of the theologian must still be reasonable — that is, the work of a mind open to all the human faculties as it reaches for truth. The theologian must seek, in a searching and orderly way, to explain his faith in a language and in concepts that carry meaning for the community, in its particular setting, and above all in India.</a:t>
            </a:r>
            <a:endParaRPr lang="en-US" sz="1400" dirty="0"/>
          </a:p>
          <a:p>
            <a:pPr marL="0" indent="0" algn="just">
              <a:lnSpc>
                <a:spcPct val="124000"/>
              </a:lnSpc>
              <a:buNone/>
            </a:pPr>
            <a:r>
              <a:rPr lang="en-US" sz="1400" dirty="0">
                <a:latin typeface="Manrope" pitchFamily="34" charset="0"/>
                <a:ea typeface="Manrope" pitchFamily="34" charset="-122"/>
                <a:cs typeface="Manrope" pitchFamily="34" charset="-120"/>
              </a:rPr>
              <a:t>Following the counsel of the First Letter of Peter, the theologian must be able to give an account of the faith, the hope, and the love that are in him, so as to throw light on the great mysteries of life and death, of suffering and evil, of liberation and redemption, and of belief, religion, and unbelief. Through his own experience of God, he enters into the deeper meaning and the greater practice of faith, hope, and love.</a:t>
            </a:r>
            <a:endParaRPr lang="en-US" sz="1400" dirty="0"/>
          </a:p>
        </p:txBody>
      </p:sp>
      <p:sp>
        <p:nvSpPr>
          <p:cNvPr id="22" name="TextBox 21">
            <a:extLst>
              <a:ext uri="{FF2B5EF4-FFF2-40B4-BE49-F238E27FC236}">
                <a16:creationId xmlns:a16="http://schemas.microsoft.com/office/drawing/2014/main" id="{242B28D2-5D9A-1C8D-CA58-D9DE8073A4D0}"/>
              </a:ext>
            </a:extLst>
          </p:cNvPr>
          <p:cNvSpPr txBox="1"/>
          <p:nvPr/>
        </p:nvSpPr>
        <p:spPr>
          <a:xfrm>
            <a:off x="4746724" y="421799"/>
            <a:ext cx="4197580" cy="4524315"/>
          </a:xfrm>
          <a:prstGeom prst="rect">
            <a:avLst/>
          </a:prstGeom>
          <a:noFill/>
        </p:spPr>
        <p:txBody>
          <a:bodyPr wrap="square" rtlCol="0">
            <a:spAutoFit/>
          </a:bodyPr>
          <a:lstStyle/>
          <a:p>
            <a:pPr algn="ctr"/>
            <a:r>
              <a:rPr lang="en-IN" sz="1600" b="1" dirty="0"/>
              <a:t>The Aims of This Course</a:t>
            </a:r>
            <a:endParaRPr lang="en-IN" sz="1600" dirty="0"/>
          </a:p>
          <a:p>
            <a:pPr algn="just"/>
            <a:r>
              <a:rPr lang="en-IN" sz="1600" b="1" dirty="0"/>
              <a:t>What Theology Is and How It Is Done: </a:t>
            </a:r>
            <a:r>
              <a:rPr lang="en-IN" sz="1600" dirty="0"/>
              <a:t>To answer the one basic question that underlies the whole programme</a:t>
            </a:r>
          </a:p>
          <a:p>
            <a:pPr algn="just"/>
            <a:r>
              <a:rPr lang="en-IN" sz="1600" b="1" dirty="0"/>
              <a:t>Faith Seeking in All Its Dimensions: </a:t>
            </a:r>
            <a:r>
              <a:rPr lang="en-IN" sz="1600" dirty="0"/>
              <a:t>Understanding, justice, dialogue, love, interiority, harmony, and integrity – with constant reference to the Kingdom of God and the Abba experience of Jesus</a:t>
            </a:r>
          </a:p>
          <a:p>
            <a:pPr algn="just"/>
            <a:r>
              <a:rPr lang="en-IN" sz="1600" b="1" dirty="0"/>
              <a:t>Theologising in </a:t>
            </a:r>
            <a:r>
              <a:rPr lang="en-IN" sz="1600" b="1" dirty="0" err="1"/>
              <a:t>India:</a:t>
            </a:r>
            <a:r>
              <a:rPr lang="en-IN" sz="1600" dirty="0" err="1"/>
              <a:t>In</a:t>
            </a:r>
            <a:r>
              <a:rPr lang="en-IN" sz="1600" dirty="0"/>
              <a:t> the many-religions, many-cultured, socially varied setting of the subcontinent</a:t>
            </a:r>
          </a:p>
          <a:p>
            <a:pPr algn="just"/>
            <a:r>
              <a:rPr lang="en-IN" sz="1600" b="1" dirty="0"/>
              <a:t>Sources, Models, and Methods: </a:t>
            </a:r>
            <a:r>
              <a:rPr lang="en-IN" sz="1600" dirty="0"/>
              <a:t>And how the different courses of the theological programme are connected and bear on personal and social transformation</a:t>
            </a:r>
          </a:p>
          <a:p>
            <a:pPr algn="just"/>
            <a:r>
              <a:rPr lang="en-IN" sz="1600" b="1" dirty="0"/>
              <a:t>Research and Scholarly Writing: </a:t>
            </a:r>
            <a:r>
              <a:rPr lang="en-IN" sz="1600" dirty="0"/>
              <a:t>The method of research and the writing of scholarly papers.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06664-8D57-CFE4-C301-FF25A9E0BE58}"/>
              </a:ext>
            </a:extLst>
          </p:cNvPr>
          <p:cNvSpPr txBox="1"/>
          <p:nvPr/>
        </p:nvSpPr>
        <p:spPr>
          <a:xfrm>
            <a:off x="252248" y="299345"/>
            <a:ext cx="8586952" cy="4665188"/>
          </a:xfrm>
          <a:prstGeom prst="rect">
            <a:avLst/>
          </a:prstGeom>
          <a:noFill/>
        </p:spPr>
        <p:txBody>
          <a:bodyPr wrap="square">
            <a:spAutoFit/>
          </a:bodyPr>
          <a:lstStyle/>
          <a:p>
            <a:pPr marL="171450" algn="just">
              <a:lnSpc>
                <a:spcPct val="115000"/>
              </a:lnSpc>
              <a:spcBef>
                <a:spcPts val="1200"/>
              </a:spcBef>
              <a:buNone/>
            </a:pPr>
            <a:r>
              <a:rPr lang="en-IN" sz="2000" b="1" u="sng" dirty="0">
                <a:effectLst/>
                <a:latin typeface="Times New Roman" panose="02020603050405020304" pitchFamily="18" charset="0"/>
                <a:ea typeface="Calibri" panose="020F0502020204030204" pitchFamily="34" charset="0"/>
                <a:cs typeface="Times New Roman" panose="02020603050405020304" pitchFamily="18" charset="0"/>
              </a:rPr>
              <a:t>AIM OF THE COURSE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To answer the Basic Question ‘What is Theology and How to do it?’</a:t>
            </a:r>
          </a:p>
          <a:p>
            <a:pPr marL="342900" lvl="0" indent="-342900" algn="just">
              <a:lnSpc>
                <a:spcPct val="115000"/>
              </a:lnSpc>
              <a:buFont typeface="Wingdings" panose="05000000000000000000" pitchFamily="2"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Relation of Theology as Faith seeking Understanding-Justice- Dialogue- Love- Interiority-Harmony-Integrity, </a:t>
            </a:r>
          </a:p>
          <a:p>
            <a:pPr marL="400050" indent="-228600" algn="just">
              <a:lnSpc>
                <a:spcPct val="115000"/>
              </a:lnSpc>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With Reference to Jesus’ Central Mission: Kingdom of God based on His Abba Experience.</a:t>
            </a:r>
          </a:p>
          <a:p>
            <a:pPr marL="342900" lvl="0" indent="-342900" algn="just">
              <a:lnSpc>
                <a:spcPct val="115000"/>
              </a:lnSpc>
              <a:buFont typeface="Wingdings" panose="05000000000000000000" pitchFamily="2"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To learn to theologize in the Multi-Religious-Socio-Cultural-Diverse Context of India.</a:t>
            </a:r>
          </a:p>
          <a:p>
            <a:pPr marL="342900" lvl="0" indent="-342900" algn="just">
              <a:lnSpc>
                <a:spcPct val="115000"/>
              </a:lnSpc>
              <a:buFont typeface="Wingdings" panose="05000000000000000000" pitchFamily="2"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Familiarizing with Sources, Models and Methods of Theology.</a:t>
            </a:r>
          </a:p>
          <a:p>
            <a:pPr marL="342900" lvl="0" indent="-342900" algn="just">
              <a:lnSpc>
                <a:spcPct val="115000"/>
              </a:lnSpc>
              <a:buFont typeface="Wingdings" panose="05000000000000000000" pitchFamily="2"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Interrelatedness between the various Courses and their Relevance for Personal and Social Transformation.</a:t>
            </a:r>
          </a:p>
          <a:p>
            <a:pPr marL="342900" lvl="0" indent="-342900" algn="just">
              <a:lnSpc>
                <a:spcPct val="115000"/>
              </a:lnSpc>
              <a:buFont typeface="Wingdings" panose="05000000000000000000" pitchFamily="2"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Method in Research and Writing Scholarly and Scientific Papers.</a:t>
            </a:r>
          </a:p>
          <a:p>
            <a:pPr marL="171450" algn="just">
              <a:lnSpc>
                <a:spcPct val="115000"/>
              </a:lnSpc>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126248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E50D7F-9C0A-80D1-2FB1-7AA13FE440A7}"/>
              </a:ext>
            </a:extLst>
          </p:cNvPr>
          <p:cNvSpPr txBox="1"/>
          <p:nvPr/>
        </p:nvSpPr>
        <p:spPr>
          <a:xfrm>
            <a:off x="236482" y="196117"/>
            <a:ext cx="8770884" cy="4583819"/>
          </a:xfrm>
          <a:prstGeom prst="rect">
            <a:avLst/>
          </a:prstGeom>
          <a:noFill/>
        </p:spPr>
        <p:txBody>
          <a:bodyPr wrap="square">
            <a:spAutoFit/>
          </a:bodyPr>
          <a:lstStyle/>
          <a:p>
            <a:pPr marL="171450" algn="just">
              <a:lnSpc>
                <a:spcPct val="115000"/>
              </a:lnSpc>
              <a:buNone/>
            </a:pPr>
            <a:r>
              <a:rPr lang="en-IN" sz="1500" b="1" dirty="0">
                <a:effectLst/>
                <a:latin typeface="Times New Roman" panose="02020603050405020304" pitchFamily="18" charset="0"/>
                <a:ea typeface="Calibri" panose="020F0502020204030204" pitchFamily="34" charset="0"/>
                <a:cs typeface="Times New Roman" panose="02020603050405020304" pitchFamily="18" charset="0"/>
              </a:rPr>
              <a:t>THEOLOGY and POPE FRANCIS</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IN" sz="1500" dirty="0">
                <a:effectLst/>
                <a:latin typeface="Times New Roman" panose="02020603050405020304" pitchFamily="18" charset="0"/>
                <a:ea typeface="Calibri" panose="020F0502020204030204" pitchFamily="34" charset="0"/>
                <a:cs typeface="Times New Roman" panose="02020603050405020304" pitchFamily="18" charset="0"/>
              </a:rPr>
              <a:t>Pope Francis in </a:t>
            </a:r>
            <a:r>
              <a:rPr lang="en-IN" sz="1500" i="1" dirty="0">
                <a:effectLst/>
                <a:latin typeface="Times New Roman" panose="02020603050405020304" pitchFamily="18" charset="0"/>
                <a:ea typeface="Calibri" panose="020F0502020204030204" pitchFamily="34" charset="0"/>
                <a:cs typeface="Times New Roman" panose="02020603050405020304" pitchFamily="18" charset="0"/>
              </a:rPr>
              <a:t>Querida Amazonia </a:t>
            </a:r>
            <a:r>
              <a:rPr lang="en-IN" sz="1500" dirty="0">
                <a:effectLst/>
                <a:latin typeface="Times New Roman" panose="02020603050405020304" pitchFamily="18" charset="0"/>
                <a:ea typeface="Calibri" panose="020F0502020204030204" pitchFamily="34" charset="0"/>
                <a:cs typeface="Times New Roman" panose="02020603050405020304" pitchFamily="18" charset="0"/>
              </a:rPr>
              <a:t>(109)</a:t>
            </a:r>
          </a:p>
          <a:p>
            <a:pPr marL="400050" indent="-228600" algn="just">
              <a:lnSpc>
                <a:spcPct val="115000"/>
              </a:lnSpc>
              <a:buNone/>
            </a:pPr>
            <a:r>
              <a:rPr lang="en-IN" sz="1500" dirty="0">
                <a:effectLst/>
                <a:latin typeface="Times New Roman" panose="02020603050405020304" pitchFamily="18" charset="0"/>
                <a:ea typeface="Calibri" panose="020F0502020204030204" pitchFamily="34" charset="0"/>
                <a:cs typeface="Times New Roman" panose="02020603050405020304" pitchFamily="18" charset="0"/>
              </a:rPr>
              <a:t>All of Us, as Christians, are United by Faith in God, the Father who gives Us Life and loves Us so greatly.</a:t>
            </a:r>
          </a:p>
          <a:p>
            <a:pPr marL="342900" lvl="0" indent="-342900" algn="just">
              <a:lnSpc>
                <a:spcPct val="115000"/>
              </a:lnSpc>
              <a:buFont typeface="Wingdings" panose="05000000000000000000" pitchFamily="2" charset="2"/>
              <a:buChar char=""/>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Pope Francis in Querida Amazonia (109)</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indent="-228600" algn="just">
              <a:lnSpc>
                <a:spcPct val="115000"/>
              </a:lnSpc>
              <a:buNone/>
              <a:tabLst>
                <a:tab pos="171450" algn="l"/>
              </a:tabLst>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      We are united by Faith in Jesus Christ, the One Saviour, who set Us free by His Precious Blood and His Glorious Resurrection.</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Pope Francis in Querida Amazonia (109)</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marL="400050" indent="-228600" algn="just">
              <a:lnSpc>
                <a:spcPct val="115000"/>
              </a:lnSpc>
              <a:buNone/>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We are united by Our Desire for His Word that guides Our Steps.</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Pope Francis in Querida Amazonia (109)</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marL="400050" indent="-228600" algn="just">
              <a:lnSpc>
                <a:spcPct val="115000"/>
              </a:lnSpc>
              <a:buNone/>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We are united by the Fire of the Spirit, who sends Us forth on Mission.</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Pope Francis in Querida Amazonia (109)</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lnSpc>
                <a:spcPct val="115000"/>
              </a:lnSpc>
              <a:buNone/>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We are united by the New Commandment that Jesus left Us, by the Pursuit of the Civilization of Love and by Passion for the Kingdom that the Lord calls Us to build with Him. We are united by the Struggle for Peace and Justice.</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Pope Francis in Querida Amazonia (109)</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indent="-228600" algn="just">
              <a:lnSpc>
                <a:spcPct val="115000"/>
              </a:lnSpc>
              <a:buNone/>
            </a:pPr>
            <a:r>
              <a:rPr lang="en-US" sz="1500" dirty="0">
                <a:effectLst/>
                <a:latin typeface="Times New Roman" panose="02020603050405020304" pitchFamily="18" charset="0"/>
                <a:ea typeface="Calibri" panose="020F0502020204030204" pitchFamily="34" charset="0"/>
                <a:cs typeface="Times New Roman" panose="02020603050405020304" pitchFamily="18" charset="0"/>
              </a:rPr>
              <a:t>      We are united by the Conviction that Not Everything ends with this Life, but that we are called to the Heavenly Banquet, where God will wipe away every Tear and take up all that we did for those who suffer</a:t>
            </a:r>
            <a:endParaRPr lang="en-IN" sz="15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84282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499AC9-2454-A996-09B8-3DC26818D3F8}"/>
              </a:ext>
            </a:extLst>
          </p:cNvPr>
          <p:cNvSpPr txBox="1"/>
          <p:nvPr/>
        </p:nvSpPr>
        <p:spPr>
          <a:xfrm>
            <a:off x="152400" y="194243"/>
            <a:ext cx="8760372" cy="4311245"/>
          </a:xfrm>
          <a:prstGeom prst="rect">
            <a:avLst/>
          </a:prstGeom>
          <a:noFill/>
        </p:spPr>
        <p:txBody>
          <a:bodyPr wrap="square">
            <a:spAutoFit/>
          </a:bodyPr>
          <a:lstStyle/>
          <a:p>
            <a:pPr marL="171450" algn="just">
              <a:lnSpc>
                <a:spcPct val="115000"/>
              </a:lnSpc>
              <a:buNone/>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THEOLOGICAL THEMES: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lnSpc>
                <a:spcPct val="115000"/>
              </a:lnSpc>
              <a:buNone/>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Theme 1:</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God in History, Response of Faiths &amp; Christian Vision of Life; Following Jesus the Prophet in the Socio-Religious-Cultural Context of India</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lnSpc>
                <a:spcPct val="115000"/>
              </a:lnSpc>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Reflecting on our Faith Experience in the South Asian/Indian Context;  Critical Socio-Cultural Analyses in the Light of Christian Vision; Situating ourselves with the Human Quest for Meaning and the Response of the Religions through a History of Sin and Suffering, Evil and Struggle...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lnSpc>
                <a:spcPct val="115000"/>
              </a:lnSpc>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Highlighting the Plight of the Poor – Adivasis, Dalits, Women, Children and the Exploited Earth.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lnSpc>
                <a:spcPct val="115000"/>
              </a:lnSpc>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Introduction to the Basic Thrust of OT and NT; to the Christian Vision of the Cosmos manifest in the Kingdom of God Ideal in the Light of Scripture and Tradition.</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90790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EC274B-FFD3-B975-9EBC-3E778B8F24EB}"/>
              </a:ext>
            </a:extLst>
          </p:cNvPr>
          <p:cNvSpPr txBox="1"/>
          <p:nvPr/>
        </p:nvSpPr>
        <p:spPr>
          <a:xfrm>
            <a:off x="0" y="714704"/>
            <a:ext cx="8912772" cy="3287695"/>
          </a:xfrm>
          <a:prstGeom prst="rect">
            <a:avLst/>
          </a:prstGeom>
          <a:noFill/>
        </p:spPr>
        <p:txBody>
          <a:bodyPr wrap="square">
            <a:spAutoFit/>
          </a:bodyPr>
          <a:lstStyle/>
          <a:p>
            <a:pPr marL="171450" algn="just">
              <a:lnSpc>
                <a:spcPct val="115000"/>
              </a:lnSpc>
            </a:pPr>
            <a:r>
              <a:rPr lang="en-US" b="1" dirty="0">
                <a:latin typeface="Times New Roman" panose="02020603050405020304" pitchFamily="18" charset="0"/>
                <a:ea typeface="Calibri" panose="020F0502020204030204" pitchFamily="34" charset="0"/>
                <a:cs typeface="Times New Roman" panose="02020603050405020304" pitchFamily="18" charset="0"/>
              </a:rPr>
              <a:t>THEOLOGICAL THEMES: </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171450" algn="just">
              <a:lnSpc>
                <a:spcPct val="115000"/>
              </a:lnSpc>
              <a:buNone/>
            </a:pPr>
            <a:endParaRPr lang="en-US" b="1"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lnSpc>
                <a:spcPct val="115000"/>
              </a:lnSpc>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Theme 2:</a:t>
            </a:r>
            <a:r>
              <a:rPr lang="en-US" dirty="0">
                <a:effectLst/>
                <a:latin typeface="Times New Roman" panose="02020603050405020304" pitchFamily="18" charset="0"/>
                <a:ea typeface="Calibri" panose="020F0502020204030204" pitchFamily="34" charset="0"/>
                <a:cs typeface="Times New Roman" panose="02020603050405020304" pitchFamily="18" charset="0"/>
              </a:rPr>
              <a:t> God in Jesus Christ, Church &amp; Sacraments; Jesus the Mediator between God and Humankind and Church’s Mediatory Role</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lnSpc>
                <a:spcPct val="115000"/>
              </a:lnSpc>
              <a:buNone/>
            </a:pPr>
            <a:r>
              <a:rPr lang="en-US" dirty="0">
                <a:effectLst/>
                <a:latin typeface="Times New Roman" panose="02020603050405020304" pitchFamily="18" charset="0"/>
                <a:ea typeface="Calibri" panose="020F0502020204030204" pitchFamily="34" charset="0"/>
                <a:cs typeface="Times New Roman" panose="02020603050405020304" pitchFamily="18" charset="0"/>
              </a:rPr>
              <a:t>God’s Special and Central Revelation in Jesus Christ as seen in the Gospels and in the Life of the Church. Jesus leads us into Communion with the Father and the Spirit...</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lnSpc>
                <a:spcPct val="115000"/>
              </a:lnSpc>
              <a:buNone/>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Church – the Mystical Body of Christ – functions as Seed, Servant and Sacrament of God’s Kingdom; the Organic Nature of this Body – Her Being and Becoming, Structures and Sacraments, Her Mother, Mary, Church’s Mission and Mediatory Function that necessitate Relationship with other Religions, Social and Secular Bodies.</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70094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49C11A-43A2-B6E1-CB02-985694339A61}"/>
              </a:ext>
            </a:extLst>
          </p:cNvPr>
          <p:cNvSpPr txBox="1"/>
          <p:nvPr/>
        </p:nvSpPr>
        <p:spPr>
          <a:xfrm>
            <a:off x="110358" y="858553"/>
            <a:ext cx="8770883" cy="3603359"/>
          </a:xfrm>
          <a:prstGeom prst="rect">
            <a:avLst/>
          </a:prstGeom>
          <a:noFill/>
        </p:spPr>
        <p:txBody>
          <a:bodyPr wrap="square">
            <a:spAutoFit/>
          </a:bodyPr>
          <a:lstStyle/>
          <a:p>
            <a:pPr marL="171450" algn="just">
              <a:lnSpc>
                <a:spcPct val="115000"/>
              </a:lnSpc>
            </a:pPr>
            <a:r>
              <a:rPr lang="en-US" sz="2000" b="1" dirty="0">
                <a:latin typeface="Times New Roman" panose="02020603050405020304" pitchFamily="18" charset="0"/>
                <a:ea typeface="Calibri" panose="020F0502020204030204" pitchFamily="34" charset="0"/>
                <a:cs typeface="Times New Roman" panose="02020603050405020304" pitchFamily="18" charset="0"/>
              </a:rPr>
              <a:t>THEOLOGICAL THEMES: </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171450" algn="just">
              <a:lnSpc>
                <a:spcPct val="115000"/>
              </a:lnSpc>
              <a:buNone/>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Theme 3:</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Christian Call to love and serve Church &amp; World; Following the Pastor by being Configured to Him and to ‘smell the Sheep’</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lnSpc>
                <a:spcPct val="115000"/>
              </a:lnSpc>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Pastoral and Ethical Questions, as well as Global Concerns that threaten Life...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lnSpc>
                <a:spcPct val="115000"/>
              </a:lnSpc>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Reflection on a Spirituality to deal with the Issues and Problems that confront us Today. An Awareness of Specific Concerns and Challenges of the Local Churches,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lnSpc>
                <a:spcPct val="115000"/>
              </a:lnSpc>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Practical Aspects of Christian Worship, Liturgical and Sacramental Practices. Practical Knowledge and Skills, and the Pastoral Practice of the Diaconate and Priesthood.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lnSpc>
                <a:spcPct val="115000"/>
              </a:lnSpc>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Fourth Year will focus on Pastoral Courses.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47133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D4224E-B2E1-97E1-4DA8-03D8F1C014FE}"/>
              </a:ext>
            </a:extLst>
          </p:cNvPr>
          <p:cNvSpPr txBox="1"/>
          <p:nvPr/>
        </p:nvSpPr>
        <p:spPr>
          <a:xfrm>
            <a:off x="551793" y="293154"/>
            <a:ext cx="8329448" cy="4305602"/>
          </a:xfrm>
          <a:prstGeom prst="rect">
            <a:avLst/>
          </a:prstGeom>
          <a:noFill/>
        </p:spPr>
        <p:txBody>
          <a:bodyPr wrap="square">
            <a:spAutoFit/>
          </a:bodyPr>
          <a:lstStyle/>
          <a:p>
            <a:pPr marL="171450" algn="just">
              <a:lnSpc>
                <a:spcPct val="115000"/>
              </a:lnSpc>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PRINCIPAL/BASIC COURSES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Sacred Scripture;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Fundamental Theology;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Dogmatic/Systematic Theology;</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Pastoral and Moral Theology, Liturgy, Canon Law;</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Church History, Patrology, Mission, Ecumenism, Dialogue;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Spiritual Theology; Auxiliary Courses; Optional Courses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Other Basic Requirements: Dissertation; Theological Seminar; Contextual Theological Project; Ad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Auds</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Final Comprehensive Exam</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27062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493B42-B59C-9B9E-35E6-1B7C07B0709B}"/>
              </a:ext>
            </a:extLst>
          </p:cNvPr>
          <p:cNvSpPr txBox="1"/>
          <p:nvPr/>
        </p:nvSpPr>
        <p:spPr>
          <a:xfrm>
            <a:off x="457200" y="359452"/>
            <a:ext cx="8392510" cy="3521220"/>
          </a:xfrm>
          <a:prstGeom prst="rect">
            <a:avLst/>
          </a:prstGeom>
          <a:noFill/>
        </p:spPr>
        <p:txBody>
          <a:bodyPr wrap="square">
            <a:spAutoFit/>
          </a:bodyPr>
          <a:lstStyle/>
          <a:p>
            <a:pPr marL="171450" algn="just">
              <a:lnSpc>
                <a:spcPct val="115000"/>
              </a:lnSpc>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LOOKING AHEAD</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What is Theology?</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Sources of Theology; Resources of Theology</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Historical Models of Theology</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Contextualizing in India</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Important Concepts ...</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buFont typeface="Wingdings" panose="05000000000000000000" pitchFamily="2" charset="2"/>
              <a:buChar char=""/>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Method in Research and Writing</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19163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419AC0-B3F4-5ABD-877C-FBC0C363FA16}"/>
              </a:ext>
            </a:extLst>
          </p:cNvPr>
          <p:cNvSpPr txBox="1"/>
          <p:nvPr/>
        </p:nvSpPr>
        <p:spPr>
          <a:xfrm>
            <a:off x="159658" y="93967"/>
            <a:ext cx="8705818" cy="5016758"/>
          </a:xfrm>
          <a:prstGeom prst="rect">
            <a:avLst/>
          </a:prstGeom>
          <a:noFill/>
        </p:spPr>
        <p:txBody>
          <a:bodyPr wrap="square">
            <a:spAutoFit/>
          </a:bodyPr>
          <a:lstStyle/>
          <a:p>
            <a:pPr marL="171450" algn="just">
              <a:buNone/>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WHAT IS THEOLOGY?</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buFont typeface="Wingdings" panose="05000000000000000000" pitchFamily="2" charset="2"/>
              <a:buChar char=""/>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What Theology is NOT ... ≠ Brainwashing ≠ Not an Adult Catechism ≠ Not merely a Comprehensive Knowledge of Basic Christian Doctrines.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buFont typeface="Wingdings" panose="05000000000000000000" pitchFamily="2" charset="2"/>
              <a:buChar char=""/>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Process =&gt;Information =&gt; Formation =&gt; Transformation We deal with Basic Questions Humans raise about Life, World and God. Our Intimate and Personal God-Experience (Individual and Communitarian) is most Crucial in the Process of Theologizing.</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buFont typeface="Wingdings" panose="05000000000000000000" pitchFamily="2" charset="2"/>
              <a:buChar char=""/>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Theology = Theos + Logos = Discourse on God, Science of God, God-Talk Christian Theology = Discussion on Trinitarian &amp; Christological Doctrines; Interpreting Sacred Scripture and Christian Doctrines Faith Experience is the Starting Point in order to understand God’s Words and Actions revealed in Human History for the Salvation of Humankind.</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buFont typeface="Wingdings" panose="05000000000000000000" pitchFamily="2" charset="2"/>
              <a:buChar char=""/>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only really Absolute Mysteries in Christianity are Grace and Christ The Self-Communication of God in the Depths of Existence – which we call Grace, And in History – which we call Christ (Rahner) Theology is an Attempt to understand God’s Self-Communication in Depth and Christ. </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buFont typeface="Wingdings" panose="05000000000000000000" pitchFamily="2" charset="2"/>
              <a:buChar char=""/>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Christian Theology helps Humans to understand how God, through Jesus Christ, is at Work through the Holy Spirit in Life and History. The Focus of Christian Theology is on Jesus Christ – Kingdom – Mission of the Church patterned on Jesus’ Abba Experience geared towards concretizing Human Salvation</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buFont typeface="Wingdings" panose="05000000000000000000" pitchFamily="2" charset="2"/>
              <a:buChar char=""/>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Christian Theology is anchored on the Prophetic Core of Christian Faith: ‘The Message that God has acted in a Unique Way in a Secular Historic Event namely the Incarnation, Life, Death and Resurrection of Jesus Christ, to inaugurate His Kingdom.’ (M. M. Thomas)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57964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53E153-0046-3025-1049-51516774B845}"/>
              </a:ext>
            </a:extLst>
          </p:cNvPr>
          <p:cNvSpPr txBox="1"/>
          <p:nvPr/>
        </p:nvSpPr>
        <p:spPr>
          <a:xfrm>
            <a:off x="116114" y="204531"/>
            <a:ext cx="8824685" cy="4247317"/>
          </a:xfrm>
          <a:prstGeom prst="rect">
            <a:avLst/>
          </a:prstGeom>
          <a:noFill/>
        </p:spPr>
        <p:txBody>
          <a:bodyPr wrap="square">
            <a:spAutoFit/>
          </a:bodyPr>
          <a:lstStyle/>
          <a:p>
            <a:pPr marL="171450" algn="jus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THE GOD – QUESTION</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 The Existence of God  </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A. Atheistic View</a:t>
            </a:r>
            <a:r>
              <a:rPr lang="en-US" dirty="0">
                <a:effectLst/>
                <a:latin typeface="Times New Roman" panose="02020603050405020304" pitchFamily="18" charset="0"/>
                <a:ea typeface="Calibri" panose="020F0502020204030204" pitchFamily="34" charset="0"/>
                <a:cs typeface="Times New Roman" panose="02020603050405020304" pitchFamily="18" charset="0"/>
              </a:rPr>
              <a:t> – Rejects the Existence of God (Masters of Suspicion) </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B. Agnostic View</a:t>
            </a:r>
            <a:r>
              <a:rPr lang="en-US" dirty="0">
                <a:effectLst/>
                <a:latin typeface="Times New Roman" panose="02020603050405020304" pitchFamily="18" charset="0"/>
                <a:ea typeface="Calibri" panose="020F0502020204030204" pitchFamily="34" charset="0"/>
                <a:cs typeface="Times New Roman" panose="02020603050405020304" pitchFamily="18" charset="0"/>
              </a:rPr>
              <a:t> – Do not know whether God exists or Not. C. Theistic View ...</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C. Theistic View</a:t>
            </a:r>
            <a:r>
              <a:rPr lang="en-US" dirty="0">
                <a:effectLst/>
                <a:latin typeface="Times New Roman" panose="02020603050405020304" pitchFamily="18" charset="0"/>
                <a:ea typeface="Calibri" panose="020F0502020204030204" pitchFamily="34" charset="0"/>
                <a:cs typeface="Times New Roman" panose="02020603050405020304" pitchFamily="18" charset="0"/>
              </a:rPr>
              <a:t> – Speak of a Personal God who is the Origin of the Universe and of the Humankind.  “Our Holy Mother, the Church, holds and teaches that God, the First Principle and Last End of All Things, can be known with Certainty from the Created World by the Natural Light of Human Reason” - (Dei Filius 2; Dei Verbum 6)</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buNone/>
            </a:pP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NATURE OF THEOLOGICAL LANGUAGE DUAL PATH OF THEOLOGICAL ASSERTION </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A. The Apophatic Way</a:t>
            </a:r>
            <a:r>
              <a:rPr lang="en-US" dirty="0">
                <a:effectLst/>
                <a:latin typeface="Times New Roman" panose="02020603050405020304" pitchFamily="18" charset="0"/>
                <a:ea typeface="Calibri" panose="020F0502020204030204" pitchFamily="34" charset="0"/>
                <a:cs typeface="Times New Roman" panose="02020603050405020304" pitchFamily="18" charset="0"/>
              </a:rPr>
              <a:t> that is often termed </a:t>
            </a:r>
            <a:r>
              <a:rPr lang="en-US" b="1" i="1" u="sng" dirty="0">
                <a:effectLst/>
                <a:latin typeface="Times New Roman" panose="02020603050405020304" pitchFamily="18" charset="0"/>
                <a:ea typeface="Calibri" panose="020F0502020204030204" pitchFamily="34" charset="0"/>
                <a:cs typeface="Times New Roman" panose="02020603050405020304" pitchFamily="18" charset="0"/>
              </a:rPr>
              <a:t>‘Negative Way’</a:t>
            </a:r>
            <a:r>
              <a:rPr lang="en-US" dirty="0">
                <a:effectLst/>
                <a:latin typeface="Times New Roman" panose="02020603050405020304" pitchFamily="18" charset="0"/>
                <a:ea typeface="Calibri" panose="020F0502020204030204" pitchFamily="34" charset="0"/>
                <a:cs typeface="Times New Roman" panose="02020603050405020304" pitchFamily="18" charset="0"/>
              </a:rPr>
              <a:t> ‘Neti-Neti’ ‘Nada-Nada’ that points out the Inadequacy of all Attempts to describe the Absolute Mystery of God. </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buNone/>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B. The Cataphatic Way</a:t>
            </a:r>
            <a:r>
              <a:rPr lang="en-US" dirty="0">
                <a:effectLst/>
                <a:latin typeface="Times New Roman" panose="02020603050405020304" pitchFamily="18" charset="0"/>
                <a:ea typeface="Calibri" panose="020F0502020204030204" pitchFamily="34" charset="0"/>
                <a:cs typeface="Times New Roman" panose="02020603050405020304" pitchFamily="18" charset="0"/>
              </a:rPr>
              <a:t> or the </a:t>
            </a:r>
            <a:r>
              <a:rPr lang="en-US" b="1" i="1" u="sng" dirty="0">
                <a:effectLst/>
                <a:latin typeface="Times New Roman" panose="02020603050405020304" pitchFamily="18" charset="0"/>
                <a:ea typeface="Calibri" panose="020F0502020204030204" pitchFamily="34" charset="0"/>
                <a:cs typeface="Times New Roman" panose="02020603050405020304" pitchFamily="18" charset="0"/>
              </a:rPr>
              <a:t>‘Positive Way’</a:t>
            </a:r>
            <a:r>
              <a:rPr lang="en-US" dirty="0">
                <a:effectLst/>
                <a:latin typeface="Times New Roman" panose="02020603050405020304" pitchFamily="18" charset="0"/>
                <a:ea typeface="Calibri" panose="020F0502020204030204" pitchFamily="34" charset="0"/>
                <a:cs typeface="Times New Roman" panose="02020603050405020304" pitchFamily="18" charset="0"/>
              </a:rPr>
              <a:t> that asserts God’s Revelation as Comprehensible and posits Predicates of this Revelation (Father, Shepherd, King, Judge…)</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39748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0F0B23-FCCA-C70D-01AD-FF40C3F555C6}"/>
              </a:ext>
            </a:extLst>
          </p:cNvPr>
          <p:cNvSpPr txBox="1"/>
          <p:nvPr/>
        </p:nvSpPr>
        <p:spPr>
          <a:xfrm>
            <a:off x="108857" y="124926"/>
            <a:ext cx="8788400" cy="4893647"/>
          </a:xfrm>
          <a:prstGeom prst="rect">
            <a:avLst/>
          </a:prstGeom>
          <a:noFill/>
        </p:spPr>
        <p:txBody>
          <a:bodyPr wrap="square">
            <a:spAutoFit/>
          </a:bodyPr>
          <a:lstStyle/>
          <a:p>
            <a:pPr marL="171450" algn="jus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CAN WE SPEAK OF GOD?</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A. Classical Hindu Tradition</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 Neti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Neti</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B. Mystical Traditions and Classical Theology</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deny the Possibility of positively speaking about God (The Cloud of Unknowing) We do not know who/how God is! Any Image that we make of God is more unlike God than like God!  The Moment we speak of God, God ceases to exist. (God is invisible (Rom 1:20; Col 1:15) and incomprehensible (Ps 139:6; Job 36:26) that His Thoughts and Decrees are unfathomable (Rom 11:33-36) and that He dwells in unapproachable Light (1 Tim 6:16)</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171450" algn="jus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C. The Biblical Tradition and Mainline Christian Tradition</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affirm that we can speak about God. For that we use Religious Symbolic Language: Love, Light, Father, Shepherd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25637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20737"/>
            <a:ext cx="8151763" cy="290736"/>
          </a:xfrm>
          <a:prstGeom prst="rect">
            <a:avLst/>
          </a:prstGeom>
          <a:noFill/>
          <a:ln/>
        </p:spPr>
        <p:txBody>
          <a:bodyPr wrap="none" lIns="0" tIns="0" rIns="0" bIns="0" rtlCol="0" anchor="t"/>
          <a:lstStyle/>
          <a:p>
            <a:pPr marL="0" indent="0" algn="l">
              <a:lnSpc>
                <a:spcPct val="104000"/>
              </a:lnSpc>
              <a:buNone/>
            </a:pPr>
            <a:r>
              <a:rPr lang="en-US" sz="1800" dirty="0">
                <a:solidFill>
                  <a:srgbClr val="5B6E8C"/>
                </a:solidFill>
                <a:latin typeface="Alexandria Medium" pitchFamily="34" charset="0"/>
                <a:ea typeface="Alexandria Medium" pitchFamily="34" charset="-122"/>
                <a:cs typeface="Alexandria Medium" pitchFamily="34" charset="-120"/>
              </a:rPr>
              <a:t>6. Can We Speak of God? The Language of Theology</a:t>
            </a:r>
            <a:endParaRPr lang="en-US" sz="1800" dirty="0"/>
          </a:p>
        </p:txBody>
      </p:sp>
      <p:sp>
        <p:nvSpPr>
          <p:cNvPr id="3" name="Text 1"/>
          <p:cNvSpPr/>
          <p:nvPr/>
        </p:nvSpPr>
        <p:spPr>
          <a:xfrm>
            <a:off x="496119" y="885825"/>
            <a:ext cx="3962400" cy="145331"/>
          </a:xfrm>
          <a:prstGeom prst="rect">
            <a:avLst/>
          </a:prstGeom>
          <a:noFill/>
          <a:ln/>
        </p:spPr>
        <p:txBody>
          <a:bodyPr wrap="none" lIns="0" tIns="0" rIns="0" bIns="0" rtlCol="0" anchor="t"/>
          <a:lstStyle/>
          <a:p>
            <a:pPr marL="0" indent="0" algn="l">
              <a:lnSpc>
                <a:spcPct val="104000"/>
              </a:lnSpc>
              <a:buNone/>
            </a:pPr>
            <a:r>
              <a:rPr lang="en-US" sz="900" dirty="0">
                <a:solidFill>
                  <a:srgbClr val="5B6E8C"/>
                </a:solidFill>
                <a:latin typeface="Alexandria Medium" pitchFamily="34" charset="0"/>
                <a:ea typeface="Alexandria Medium" pitchFamily="34" charset="-122"/>
                <a:cs typeface="Alexandria Medium" pitchFamily="34" charset="-120"/>
              </a:rPr>
              <a:t>The Hard Truth</a:t>
            </a:r>
            <a:endParaRPr lang="en-US" sz="900" dirty="0"/>
          </a:p>
        </p:txBody>
      </p:sp>
      <p:sp>
        <p:nvSpPr>
          <p:cNvPr id="4" name="Text 2"/>
          <p:cNvSpPr/>
          <p:nvPr/>
        </p:nvSpPr>
        <p:spPr>
          <a:xfrm>
            <a:off x="496119" y="1100882"/>
            <a:ext cx="3962400" cy="911572"/>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5B6E8C"/>
                </a:solidFill>
                <a:latin typeface="Manrope" pitchFamily="34" charset="0"/>
                <a:ea typeface="Manrope" pitchFamily="34" charset="-122"/>
                <a:cs typeface="Manrope" pitchFamily="34" charset="-120"/>
              </a:rPr>
              <a:t>Before theology says anything about God, it must face a hard truth. Any image we make of God is more unlike God than like him. The mystical traditions, the author of </a:t>
            </a:r>
            <a:r>
              <a:rPr lang="en-US" sz="700" i="1" dirty="0">
                <a:solidFill>
                  <a:srgbClr val="5B6E8C"/>
                </a:solidFill>
                <a:latin typeface="Manrope" pitchFamily="34" charset="0"/>
                <a:ea typeface="Manrope" pitchFamily="34" charset="-122"/>
                <a:cs typeface="Manrope" pitchFamily="34" charset="-120"/>
              </a:rPr>
              <a:t>The Cloud of Unknowing</a:t>
            </a:r>
            <a:r>
              <a:rPr lang="en-US" sz="700" dirty="0">
                <a:solidFill>
                  <a:srgbClr val="5B6E8C"/>
                </a:solidFill>
                <a:latin typeface="Manrope" pitchFamily="34" charset="0"/>
                <a:ea typeface="Manrope" pitchFamily="34" charset="-122"/>
                <a:cs typeface="Manrope" pitchFamily="34" charset="-120"/>
              </a:rPr>
              <a:t>, and classical theology all stress that God is invisible (Romans, Colossians), incomprehensible (Psalms, Job), dwelling in unapproachable light (1 Timothy), with thoughts and decrees that cannot be fathomed. The classical Hindu tradition says the same in its own way: </a:t>
            </a:r>
            <a:r>
              <a:rPr lang="en-US" sz="700" i="1" dirty="0">
                <a:solidFill>
                  <a:srgbClr val="5B6E8C"/>
                </a:solidFill>
                <a:latin typeface="Manrope" pitchFamily="34" charset="0"/>
                <a:ea typeface="Manrope" pitchFamily="34" charset="-122"/>
                <a:cs typeface="Manrope" pitchFamily="34" charset="-120"/>
              </a:rPr>
              <a:t>neti neti</a:t>
            </a:r>
            <a:r>
              <a:rPr lang="en-US" sz="700" dirty="0">
                <a:solidFill>
                  <a:srgbClr val="5B6E8C"/>
                </a:solidFill>
                <a:latin typeface="Manrope" pitchFamily="34" charset="0"/>
                <a:ea typeface="Manrope" pitchFamily="34" charset="-122"/>
                <a:cs typeface="Manrope" pitchFamily="34" charset="-120"/>
              </a:rPr>
              <a:t>, "not this, not this." There is a real sense in which, the moment we try to capture God in a definition, the living God slips past it.</a:t>
            </a:r>
            <a:endParaRPr lang="en-US" sz="700" dirty="0"/>
          </a:p>
        </p:txBody>
      </p:sp>
      <p:sp>
        <p:nvSpPr>
          <p:cNvPr id="5" name="Text 3"/>
          <p:cNvSpPr/>
          <p:nvPr/>
        </p:nvSpPr>
        <p:spPr>
          <a:xfrm>
            <a:off x="496119" y="2082180"/>
            <a:ext cx="3962400" cy="145331"/>
          </a:xfrm>
          <a:prstGeom prst="rect">
            <a:avLst/>
          </a:prstGeom>
          <a:noFill/>
          <a:ln/>
        </p:spPr>
        <p:txBody>
          <a:bodyPr wrap="none" lIns="0" tIns="0" rIns="0" bIns="0" rtlCol="0" anchor="t"/>
          <a:lstStyle/>
          <a:p>
            <a:pPr marL="0" indent="0" algn="l">
              <a:lnSpc>
                <a:spcPct val="104000"/>
              </a:lnSpc>
              <a:buNone/>
            </a:pPr>
            <a:r>
              <a:rPr lang="en-US" sz="900" dirty="0">
                <a:solidFill>
                  <a:srgbClr val="5B6E8C"/>
                </a:solidFill>
                <a:latin typeface="Alexandria Medium" pitchFamily="34" charset="0"/>
                <a:ea typeface="Alexandria Medium" pitchFamily="34" charset="-122"/>
                <a:cs typeface="Alexandria Medium" pitchFamily="34" charset="-120"/>
              </a:rPr>
              <a:t>Two Paths — Both Necessary</a:t>
            </a:r>
            <a:endParaRPr lang="en-US" sz="900" dirty="0"/>
          </a:p>
        </p:txBody>
      </p:sp>
      <p:sp>
        <p:nvSpPr>
          <p:cNvPr id="6" name="Shape 4"/>
          <p:cNvSpPr/>
          <p:nvPr/>
        </p:nvSpPr>
        <p:spPr>
          <a:xfrm>
            <a:off x="496119" y="2305943"/>
            <a:ext cx="3962400" cy="1332607"/>
          </a:xfrm>
          <a:prstGeom prst="roundRect">
            <a:avLst>
              <a:gd name="adj" fmla="val 10472"/>
            </a:avLst>
          </a:prstGeom>
          <a:solidFill>
            <a:srgbClr val="E6F7FF"/>
          </a:solidFill>
          <a:ln w="4763">
            <a:solidFill>
              <a:srgbClr val="B3D5E4"/>
            </a:solidFill>
            <a:prstDash val="solid"/>
          </a:ln>
        </p:spPr>
        <p:txBody>
          <a:bodyPr/>
          <a:lstStyle/>
          <a:p>
            <a:endParaRPr lang="en-IN"/>
          </a:p>
        </p:txBody>
      </p:sp>
      <p:sp>
        <p:nvSpPr>
          <p:cNvPr id="7" name="Shape 5"/>
          <p:cNvSpPr/>
          <p:nvPr/>
        </p:nvSpPr>
        <p:spPr>
          <a:xfrm>
            <a:off x="500881" y="2310705"/>
            <a:ext cx="3952875" cy="661541"/>
          </a:xfrm>
          <a:prstGeom prst="rect">
            <a:avLst/>
          </a:prstGeom>
          <a:solidFill>
            <a:srgbClr val="E6F7FF"/>
          </a:solidFill>
          <a:ln/>
        </p:spPr>
        <p:txBody>
          <a:bodyPr/>
          <a:lstStyle/>
          <a:p>
            <a:endParaRPr lang="en-IN"/>
          </a:p>
        </p:txBody>
      </p:sp>
      <p:sp>
        <p:nvSpPr>
          <p:cNvPr id="8" name="Text 6"/>
          <p:cNvSpPr/>
          <p:nvPr/>
        </p:nvSpPr>
        <p:spPr>
          <a:xfrm>
            <a:off x="593899" y="2403723"/>
            <a:ext cx="3766840" cy="145331"/>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Alexandria Medium" pitchFamily="34" charset="0"/>
                <a:ea typeface="Alexandria Medium" pitchFamily="34" charset="-122"/>
                <a:cs typeface="Alexandria Medium" pitchFamily="34" charset="-120"/>
              </a:rPr>
              <a:t>The Apophatic Way</a:t>
            </a:r>
            <a:endParaRPr lang="en-US" sz="900" dirty="0"/>
          </a:p>
        </p:txBody>
      </p:sp>
      <p:sp>
        <p:nvSpPr>
          <p:cNvPr id="9" name="Text 7"/>
          <p:cNvSpPr/>
          <p:nvPr/>
        </p:nvSpPr>
        <p:spPr>
          <a:xfrm>
            <a:off x="593899" y="2618780"/>
            <a:ext cx="3766840"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000000"/>
                </a:solidFill>
                <a:latin typeface="Manrope" pitchFamily="34" charset="0"/>
                <a:ea typeface="Manrope" pitchFamily="34" charset="-122"/>
                <a:cs typeface="Manrope" pitchFamily="34" charset="-120"/>
              </a:rPr>
              <a:t>The negative way — </a:t>
            </a:r>
            <a:r>
              <a:rPr lang="en-US" sz="700" i="1" dirty="0">
                <a:solidFill>
                  <a:srgbClr val="000000"/>
                </a:solidFill>
                <a:latin typeface="Manrope" pitchFamily="34" charset="0"/>
                <a:ea typeface="Manrope" pitchFamily="34" charset="-122"/>
                <a:cs typeface="Manrope" pitchFamily="34" charset="-120"/>
              </a:rPr>
              <a:t>neti neti</a:t>
            </a:r>
            <a:r>
              <a:rPr lang="en-US" sz="700" dirty="0">
                <a:solidFill>
                  <a:srgbClr val="000000"/>
                </a:solidFill>
                <a:latin typeface="Manrope" pitchFamily="34" charset="0"/>
                <a:ea typeface="Manrope" pitchFamily="34" charset="-122"/>
                <a:cs typeface="Manrope" pitchFamily="34" charset="-120"/>
              </a:rPr>
              <a:t> — points out the failure of every attempt to describe the absolute mystery of God, and so guards the divine transcendence</a:t>
            </a:r>
            <a:endParaRPr lang="en-US" sz="700" dirty="0"/>
          </a:p>
        </p:txBody>
      </p:sp>
      <p:sp>
        <p:nvSpPr>
          <p:cNvPr id="10" name="Shape 8"/>
          <p:cNvSpPr/>
          <p:nvPr/>
        </p:nvSpPr>
        <p:spPr>
          <a:xfrm>
            <a:off x="500881" y="2972246"/>
            <a:ext cx="3952875" cy="661541"/>
          </a:xfrm>
          <a:prstGeom prst="rect">
            <a:avLst/>
          </a:prstGeom>
          <a:solidFill>
            <a:srgbClr val="E6F7FF"/>
          </a:solidFill>
          <a:ln/>
        </p:spPr>
        <p:txBody>
          <a:bodyPr/>
          <a:lstStyle/>
          <a:p>
            <a:endParaRPr lang="en-IN"/>
          </a:p>
        </p:txBody>
      </p:sp>
      <p:sp>
        <p:nvSpPr>
          <p:cNvPr id="11" name="Shape 9"/>
          <p:cNvSpPr/>
          <p:nvPr/>
        </p:nvSpPr>
        <p:spPr>
          <a:xfrm>
            <a:off x="500881" y="2972246"/>
            <a:ext cx="3952875" cy="9525"/>
          </a:xfrm>
          <a:prstGeom prst="roundRect">
            <a:avLst>
              <a:gd name="adj" fmla="val 1465116"/>
            </a:avLst>
          </a:prstGeom>
          <a:solidFill>
            <a:srgbClr val="B3D5E4"/>
          </a:solidFill>
          <a:ln/>
        </p:spPr>
        <p:txBody>
          <a:bodyPr/>
          <a:lstStyle/>
          <a:p>
            <a:endParaRPr lang="en-IN"/>
          </a:p>
        </p:txBody>
      </p:sp>
      <p:sp>
        <p:nvSpPr>
          <p:cNvPr id="12" name="Text 10"/>
          <p:cNvSpPr/>
          <p:nvPr/>
        </p:nvSpPr>
        <p:spPr>
          <a:xfrm>
            <a:off x="593899" y="3065264"/>
            <a:ext cx="3766840" cy="145331"/>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Alexandria Medium" pitchFamily="34" charset="0"/>
                <a:ea typeface="Alexandria Medium" pitchFamily="34" charset="-122"/>
                <a:cs typeface="Alexandria Medium" pitchFamily="34" charset="-120"/>
              </a:rPr>
              <a:t>The Cataphatic Way</a:t>
            </a:r>
            <a:endParaRPr lang="en-US" sz="900" dirty="0"/>
          </a:p>
        </p:txBody>
      </p:sp>
      <p:sp>
        <p:nvSpPr>
          <p:cNvPr id="13" name="Text 11"/>
          <p:cNvSpPr/>
          <p:nvPr/>
        </p:nvSpPr>
        <p:spPr>
          <a:xfrm>
            <a:off x="593899" y="3280321"/>
            <a:ext cx="3766840"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000000"/>
                </a:solidFill>
                <a:latin typeface="Manrope" pitchFamily="34" charset="0"/>
                <a:ea typeface="Manrope" pitchFamily="34" charset="-122"/>
                <a:cs typeface="Manrope" pitchFamily="34" charset="-120"/>
              </a:rPr>
              <a:t>The positive way — takes the revelation that God has truly given and dares to make statements about him: Father, Shepherd, King, Judge</a:t>
            </a:r>
            <a:endParaRPr lang="en-US" sz="700" dirty="0"/>
          </a:p>
        </p:txBody>
      </p:sp>
      <p:sp>
        <p:nvSpPr>
          <p:cNvPr id="14" name="Shape 12"/>
          <p:cNvSpPr/>
          <p:nvPr/>
        </p:nvSpPr>
        <p:spPr>
          <a:xfrm>
            <a:off x="4623271" y="816099"/>
            <a:ext cx="4096345" cy="2900883"/>
          </a:xfrm>
          <a:prstGeom prst="roundRect">
            <a:avLst>
              <a:gd name="adj" fmla="val 7697"/>
            </a:avLst>
          </a:prstGeom>
          <a:solidFill>
            <a:srgbClr val="AAE4FE"/>
          </a:solidFill>
          <a:ln/>
        </p:spPr>
        <p:txBody>
          <a:bodyPr/>
          <a:lstStyle/>
          <a:p>
            <a:endParaRPr lang="en-IN"/>
          </a:p>
        </p:txBody>
      </p:sp>
      <p:sp>
        <p:nvSpPr>
          <p:cNvPr id="15" name="Text 13"/>
          <p:cNvSpPr/>
          <p:nvPr/>
        </p:nvSpPr>
        <p:spPr>
          <a:xfrm>
            <a:off x="4716289" y="885825"/>
            <a:ext cx="3910310" cy="145331"/>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Alexandria Medium" pitchFamily="34" charset="0"/>
                <a:ea typeface="Alexandria Medium" pitchFamily="34" charset="-122"/>
                <a:cs typeface="Alexandria Medium" pitchFamily="34" charset="-120"/>
              </a:rPr>
              <a:t>Three Ways a Word Can Be Used</a:t>
            </a:r>
            <a:endParaRPr lang="en-US" sz="900" dirty="0"/>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16289" y="1109588"/>
            <a:ext cx="3910310" cy="550366"/>
          </a:xfrm>
          <a:prstGeom prst="rect">
            <a:avLst/>
          </a:prstGeom>
        </p:spPr>
      </p:pic>
      <p:sp>
        <p:nvSpPr>
          <p:cNvPr id="17" name="Text 14"/>
          <p:cNvSpPr/>
          <p:nvPr/>
        </p:nvSpPr>
        <p:spPr>
          <a:xfrm>
            <a:off x="4856931" y="1212131"/>
            <a:ext cx="3667125" cy="145331"/>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Alexandria Medium" pitchFamily="34" charset="0"/>
                <a:ea typeface="Alexandria Medium" pitchFamily="34" charset="-122"/>
                <a:cs typeface="Alexandria Medium" pitchFamily="34" charset="-120"/>
              </a:rPr>
              <a:t>Univocal</a:t>
            </a:r>
            <a:endParaRPr lang="en-US" sz="900" dirty="0"/>
          </a:p>
        </p:txBody>
      </p:sp>
      <p:sp>
        <p:nvSpPr>
          <p:cNvPr id="18" name="Text 15"/>
          <p:cNvSpPr/>
          <p:nvPr/>
        </p:nvSpPr>
        <p:spPr>
          <a:xfrm>
            <a:off x="4856931" y="1427187"/>
            <a:ext cx="3667125" cy="130225"/>
          </a:xfrm>
          <a:prstGeom prst="rect">
            <a:avLst/>
          </a:prstGeom>
          <a:noFill/>
          <a:ln/>
        </p:spPr>
        <p:txBody>
          <a:bodyPr wrap="none" lIns="0" tIns="0" rIns="0" bIns="0" rtlCol="0" anchor="t"/>
          <a:lstStyle/>
          <a:p>
            <a:pPr marL="0" indent="0" algn="l">
              <a:lnSpc>
                <a:spcPct val="117000"/>
              </a:lnSpc>
              <a:buNone/>
            </a:pPr>
            <a:r>
              <a:rPr lang="en-US" sz="700" dirty="0">
                <a:solidFill>
                  <a:srgbClr val="000000"/>
                </a:solidFill>
                <a:latin typeface="Manrope" pitchFamily="34" charset="0"/>
                <a:ea typeface="Manrope" pitchFamily="34" charset="-122"/>
                <a:cs typeface="Manrope" pitchFamily="34" charset="-120"/>
              </a:rPr>
              <a:t>Exactly one meaning — </a:t>
            </a:r>
            <a:r>
              <a:rPr lang="en-US" sz="700" i="1" dirty="0">
                <a:solidFill>
                  <a:srgbClr val="000000"/>
                </a:solidFill>
                <a:latin typeface="Manrope" pitchFamily="34" charset="0"/>
                <a:ea typeface="Manrope" pitchFamily="34" charset="-122"/>
                <a:cs typeface="Manrope" pitchFamily="34" charset="-120"/>
              </a:rPr>
              <a:t>six, mango, horse</a:t>
            </a:r>
            <a:endParaRPr lang="en-US" sz="700" dirty="0"/>
          </a:p>
        </p:txBody>
      </p:sp>
      <p:pic>
        <p:nvPicPr>
          <p:cNvPr id="1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16289" y="1729680"/>
            <a:ext cx="3910310" cy="550366"/>
          </a:xfrm>
          <a:prstGeom prst="rect">
            <a:avLst/>
          </a:prstGeom>
        </p:spPr>
      </p:pic>
      <p:sp>
        <p:nvSpPr>
          <p:cNvPr id="20" name="Text 16"/>
          <p:cNvSpPr/>
          <p:nvPr/>
        </p:nvSpPr>
        <p:spPr>
          <a:xfrm>
            <a:off x="4856931" y="1832223"/>
            <a:ext cx="3667125" cy="145331"/>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Alexandria Medium" pitchFamily="34" charset="0"/>
                <a:ea typeface="Alexandria Medium" pitchFamily="34" charset="-122"/>
                <a:cs typeface="Alexandria Medium" pitchFamily="34" charset="-120"/>
              </a:rPr>
              <a:t>Equivocal</a:t>
            </a:r>
            <a:endParaRPr lang="en-US" sz="900" dirty="0"/>
          </a:p>
        </p:txBody>
      </p:sp>
      <p:sp>
        <p:nvSpPr>
          <p:cNvPr id="21" name="Text 17"/>
          <p:cNvSpPr/>
          <p:nvPr/>
        </p:nvSpPr>
        <p:spPr>
          <a:xfrm>
            <a:off x="4856931" y="2047280"/>
            <a:ext cx="3667125" cy="130225"/>
          </a:xfrm>
          <a:prstGeom prst="rect">
            <a:avLst/>
          </a:prstGeom>
          <a:noFill/>
          <a:ln/>
        </p:spPr>
        <p:txBody>
          <a:bodyPr wrap="none" lIns="0" tIns="0" rIns="0" bIns="0" rtlCol="0" anchor="t"/>
          <a:lstStyle/>
          <a:p>
            <a:pPr marL="0" indent="0" algn="l">
              <a:lnSpc>
                <a:spcPct val="117000"/>
              </a:lnSpc>
              <a:buNone/>
            </a:pPr>
            <a:r>
              <a:rPr lang="en-US" sz="700" dirty="0">
                <a:solidFill>
                  <a:srgbClr val="000000"/>
                </a:solidFill>
                <a:latin typeface="Manrope" pitchFamily="34" charset="0"/>
                <a:ea typeface="Manrope" pitchFamily="34" charset="-122"/>
                <a:cs typeface="Manrope" pitchFamily="34" charset="-120"/>
              </a:rPr>
              <a:t>Same sound, entirely different meanings — </a:t>
            </a:r>
            <a:r>
              <a:rPr lang="en-US" sz="700" i="1" dirty="0">
                <a:solidFill>
                  <a:srgbClr val="000000"/>
                </a:solidFill>
                <a:latin typeface="Manrope" pitchFamily="34" charset="0"/>
                <a:ea typeface="Manrope" pitchFamily="34" charset="-122"/>
                <a:cs typeface="Manrope" pitchFamily="34" charset="-120"/>
              </a:rPr>
              <a:t>bank, ring, trunk</a:t>
            </a:r>
            <a:endParaRPr lang="en-US" sz="700" dirty="0"/>
          </a:p>
        </p:txBody>
      </p:sp>
      <p:pic>
        <p:nvPicPr>
          <p:cNvPr id="22"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16289" y="2349773"/>
            <a:ext cx="3910310" cy="680591"/>
          </a:xfrm>
          <a:prstGeom prst="rect">
            <a:avLst/>
          </a:prstGeom>
        </p:spPr>
      </p:pic>
      <p:sp>
        <p:nvSpPr>
          <p:cNvPr id="23" name="Text 18"/>
          <p:cNvSpPr/>
          <p:nvPr/>
        </p:nvSpPr>
        <p:spPr>
          <a:xfrm>
            <a:off x="4856931" y="2452315"/>
            <a:ext cx="3667125" cy="145331"/>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Alexandria Medium" pitchFamily="34" charset="0"/>
                <a:ea typeface="Alexandria Medium" pitchFamily="34" charset="-122"/>
                <a:cs typeface="Alexandria Medium" pitchFamily="34" charset="-120"/>
              </a:rPr>
              <a:t>Analogical</a:t>
            </a:r>
            <a:endParaRPr lang="en-US" sz="900" dirty="0"/>
          </a:p>
        </p:txBody>
      </p:sp>
      <p:sp>
        <p:nvSpPr>
          <p:cNvPr id="24" name="Text 19"/>
          <p:cNvSpPr/>
          <p:nvPr/>
        </p:nvSpPr>
        <p:spPr>
          <a:xfrm>
            <a:off x="4856931" y="2667372"/>
            <a:ext cx="3667125"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000000"/>
                </a:solidFill>
                <a:latin typeface="Manrope" pitchFamily="34" charset="0"/>
                <a:ea typeface="Manrope" pitchFamily="34" charset="-122"/>
                <a:cs typeface="Manrope" pitchFamily="34" charset="-120"/>
              </a:rPr>
              <a:t>Between these lies analogy. When we call God Father, Mother, or Shepherd, we speak analogically — neither exactly the same as the human use nor entirely different from it</a:t>
            </a:r>
            <a:endParaRPr lang="en-US" sz="700" dirty="0"/>
          </a:p>
        </p:txBody>
      </p:sp>
      <p:sp>
        <p:nvSpPr>
          <p:cNvPr id="25" name="Text 20"/>
          <p:cNvSpPr/>
          <p:nvPr/>
        </p:nvSpPr>
        <p:spPr>
          <a:xfrm>
            <a:off x="4716289" y="3108796"/>
            <a:ext cx="3910310" cy="520898"/>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000000"/>
                </a:solidFill>
                <a:latin typeface="Manrope" pitchFamily="34" charset="0"/>
                <a:ea typeface="Manrope" pitchFamily="34" charset="-122"/>
                <a:cs typeface="Manrope" pitchFamily="34" charset="-120"/>
              </a:rPr>
              <a:t>Analogy rests on the bond between the Creator and the creature, for creation is the expression of the love of God and reflects the rays of his perfection and beauty. The First Vatican Council, in </a:t>
            </a:r>
            <a:r>
              <a:rPr lang="en-US" sz="700" i="1" dirty="0">
                <a:solidFill>
                  <a:srgbClr val="000000"/>
                </a:solidFill>
                <a:latin typeface="Manrope" pitchFamily="34" charset="0"/>
                <a:ea typeface="Manrope" pitchFamily="34" charset="-122"/>
                <a:cs typeface="Manrope" pitchFamily="34" charset="-120"/>
              </a:rPr>
              <a:t>Dei Filius</a:t>
            </a:r>
            <a:r>
              <a:rPr lang="en-US" sz="700" dirty="0">
                <a:solidFill>
                  <a:srgbClr val="000000"/>
                </a:solidFill>
                <a:latin typeface="Manrope" pitchFamily="34" charset="0"/>
                <a:ea typeface="Manrope" pitchFamily="34" charset="-122"/>
                <a:cs typeface="Manrope" pitchFamily="34" charset="-120"/>
              </a:rPr>
              <a:t>, and </a:t>
            </a:r>
            <a:r>
              <a:rPr lang="en-US" sz="700" i="1" dirty="0">
                <a:solidFill>
                  <a:srgbClr val="000000"/>
                </a:solidFill>
                <a:latin typeface="Manrope" pitchFamily="34" charset="0"/>
                <a:ea typeface="Manrope" pitchFamily="34" charset="-122"/>
                <a:cs typeface="Manrope" pitchFamily="34" charset="-120"/>
              </a:rPr>
              <a:t>Dei Verbum</a:t>
            </a:r>
            <a:r>
              <a:rPr lang="en-US" sz="700" dirty="0">
                <a:solidFill>
                  <a:srgbClr val="000000"/>
                </a:solidFill>
                <a:latin typeface="Manrope" pitchFamily="34" charset="0"/>
                <a:ea typeface="Manrope" pitchFamily="34" charset="-122"/>
                <a:cs typeface="Manrope" pitchFamily="34" charset="-120"/>
              </a:rPr>
              <a:t> both teach that God can be known with certainty from the created world by the natural light of human reason.</a:t>
            </a:r>
            <a:endParaRPr lang="en-US" sz="700" dirty="0"/>
          </a:p>
        </p:txBody>
      </p:sp>
      <p:sp>
        <p:nvSpPr>
          <p:cNvPr id="26" name="Text 21"/>
          <p:cNvSpPr/>
          <p:nvPr/>
        </p:nvSpPr>
        <p:spPr>
          <a:xfrm>
            <a:off x="496119" y="3821609"/>
            <a:ext cx="8151763" cy="145331"/>
          </a:xfrm>
          <a:prstGeom prst="rect">
            <a:avLst/>
          </a:prstGeom>
          <a:noFill/>
          <a:ln/>
        </p:spPr>
        <p:txBody>
          <a:bodyPr wrap="none" lIns="0" tIns="0" rIns="0" bIns="0" rtlCol="0" anchor="t"/>
          <a:lstStyle/>
          <a:p>
            <a:pPr marL="0" indent="0" algn="l">
              <a:lnSpc>
                <a:spcPct val="104000"/>
              </a:lnSpc>
              <a:buNone/>
            </a:pPr>
            <a:r>
              <a:rPr lang="en-US" sz="900" dirty="0">
                <a:solidFill>
                  <a:srgbClr val="5B6E8C"/>
                </a:solidFill>
                <a:latin typeface="Alexandria Medium" pitchFamily="34" charset="0"/>
                <a:ea typeface="Alexandria Medium" pitchFamily="34" charset="-122"/>
                <a:cs typeface="Alexandria Medium" pitchFamily="34" charset="-120"/>
              </a:rPr>
              <a:t>Moments of Encounter with the Holy</a:t>
            </a:r>
            <a:endParaRPr lang="en-US" sz="900" dirty="0"/>
          </a:p>
        </p:txBody>
      </p:sp>
      <p:sp>
        <p:nvSpPr>
          <p:cNvPr id="27" name="Text 22"/>
          <p:cNvSpPr/>
          <p:nvPr/>
        </p:nvSpPr>
        <p:spPr>
          <a:xfrm>
            <a:off x="496119" y="4071565"/>
            <a:ext cx="8151763" cy="651123"/>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5B6E8C"/>
                </a:solidFill>
                <a:latin typeface="Manrope" pitchFamily="34" charset="0"/>
                <a:ea typeface="Manrope" pitchFamily="34" charset="-122"/>
                <a:cs typeface="Manrope" pitchFamily="34" charset="-120"/>
              </a:rPr>
              <a:t>At its root, all theology is the putting into words of an experience of God. Every people has some experience of the divine — what Rudolf Otto called the encounter with a mystery at once tremendous and fascinating, the immediate awareness of being touched and gripped by the holy. Scripture is full of such moments: the strange burning bush of Exodus 3, the blinding brightness of the Transfiguration, the </a:t>
            </a:r>
            <a:r>
              <a:rPr lang="en-US" sz="700" i="1" dirty="0">
                <a:solidFill>
                  <a:srgbClr val="5B6E8C"/>
                </a:solidFill>
                <a:latin typeface="Manrope" pitchFamily="34" charset="0"/>
                <a:ea typeface="Manrope" pitchFamily="34" charset="-122"/>
                <a:cs typeface="Manrope" pitchFamily="34" charset="-120"/>
              </a:rPr>
              <a:t>divyarupadarshana</a:t>
            </a:r>
            <a:r>
              <a:rPr lang="en-US" sz="700" dirty="0">
                <a:solidFill>
                  <a:srgbClr val="5B6E8C"/>
                </a:solidFill>
                <a:latin typeface="Manrope" pitchFamily="34" charset="0"/>
                <a:ea typeface="Manrope" pitchFamily="34" charset="-122"/>
                <a:cs typeface="Manrope" pitchFamily="34" charset="-120"/>
              </a:rPr>
              <a:t> in the eleventh chapter of the Bhagavad Gita, the hearts burning within the two disciples on the road to Emmaus. Because God is incomprehensible and transcendent, this experience cannot be captured in everyday speech, and so theology takes ordinary language and uses it in an extraordinary way. And because the Christian experience of God happens within history, the expression of faith can never be only a confession of doctrine — it must also be a commitment lived out in history.</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46100"/>
            <a:ext cx="8151763" cy="248320"/>
          </a:xfrm>
          <a:prstGeom prst="rect">
            <a:avLst/>
          </a:prstGeom>
          <a:noFill/>
          <a:ln/>
        </p:spPr>
        <p:txBody>
          <a:bodyPr wrap="none" lIns="0" tIns="0" rIns="0" bIns="0" rtlCol="0" anchor="t"/>
          <a:lstStyle/>
          <a:p>
            <a:pPr marL="0" indent="0" algn="l">
              <a:lnSpc>
                <a:spcPct val="104000"/>
              </a:lnSpc>
              <a:buNone/>
            </a:pPr>
            <a:r>
              <a:rPr lang="en-US" sz="1550" dirty="0">
                <a:solidFill>
                  <a:srgbClr val="5B6E8C"/>
                </a:solidFill>
                <a:latin typeface="Alexandria Medium" pitchFamily="34" charset="0"/>
                <a:ea typeface="Alexandria Medium" pitchFamily="34" charset="-122"/>
                <a:cs typeface="Alexandria Medium" pitchFamily="34" charset="-120"/>
              </a:rPr>
              <a:t>7. The Seven Polarities Theology Must Hold</a:t>
            </a:r>
            <a:endParaRPr lang="en-US" sz="1550" dirty="0"/>
          </a:p>
        </p:txBody>
      </p:sp>
      <p:sp>
        <p:nvSpPr>
          <p:cNvPr id="3" name="Text 1"/>
          <p:cNvSpPr/>
          <p:nvPr/>
        </p:nvSpPr>
        <p:spPr>
          <a:xfrm>
            <a:off x="496119" y="696218"/>
            <a:ext cx="8151763"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5B6E8C"/>
                </a:solidFill>
                <a:latin typeface="Manrope" pitchFamily="34" charset="0"/>
                <a:ea typeface="Manrope" pitchFamily="34" charset="-122"/>
                <a:cs typeface="Manrope" pitchFamily="34" charset="-120"/>
              </a:rPr>
              <a:t>Good theology lives in tension. It does not collapse one truth into another but holds opposites together, the way a bridge holds its load by pulling against itself. There are seven of these balances, and a theologian who loses any one of them goes wrong.</a:t>
            </a:r>
            <a:endParaRPr lang="en-US" sz="6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961951"/>
            <a:ext cx="8151763" cy="476771"/>
          </a:xfrm>
          <a:prstGeom prst="rect">
            <a:avLst/>
          </a:prstGeom>
        </p:spPr>
      </p:pic>
      <p:sp>
        <p:nvSpPr>
          <p:cNvPr id="5" name="Text 2"/>
          <p:cNvSpPr/>
          <p:nvPr/>
        </p:nvSpPr>
        <p:spPr>
          <a:xfrm>
            <a:off x="602605" y="1125810"/>
            <a:ext cx="119137" cy="148977"/>
          </a:xfrm>
          <a:prstGeom prst="rect">
            <a:avLst/>
          </a:prstGeom>
          <a:noFill/>
          <a:ln/>
        </p:spPr>
        <p:txBody>
          <a:bodyPr wrap="none" lIns="0" tIns="0" rIns="0" bIns="0" rtlCol="0" anchor="ctr"/>
          <a:lstStyle/>
          <a:p>
            <a:pPr marL="0" indent="0" algn="ctr">
              <a:lnSpc>
                <a:spcPct val="100000"/>
              </a:lnSpc>
              <a:buNone/>
            </a:pPr>
            <a:r>
              <a:rPr lang="en-US" sz="900" dirty="0">
                <a:solidFill>
                  <a:srgbClr val="000000"/>
                </a:solidFill>
                <a:latin typeface="Alexandria Medium" pitchFamily="34" charset="0"/>
                <a:ea typeface="Alexandria Medium" pitchFamily="34" charset="-122"/>
                <a:cs typeface="Alexandria Medium" pitchFamily="34" charset="-120"/>
              </a:rPr>
              <a:t>1</a:t>
            </a:r>
            <a:endParaRPr lang="en-US" sz="900" dirty="0"/>
          </a:p>
        </p:txBody>
      </p:sp>
      <p:sp>
        <p:nvSpPr>
          <p:cNvPr id="6" name="Text 3"/>
          <p:cNvSpPr/>
          <p:nvPr/>
        </p:nvSpPr>
        <p:spPr>
          <a:xfrm>
            <a:off x="874365" y="1050875"/>
            <a:ext cx="7684591" cy="124123"/>
          </a:xfrm>
          <a:prstGeom prst="rect">
            <a:avLst/>
          </a:prstGeom>
          <a:noFill/>
          <a:ln/>
        </p:spPr>
        <p:txBody>
          <a:bodyPr wrap="none" lIns="0" tIns="0" rIns="0" bIns="0" rtlCol="0" anchor="t"/>
          <a:lstStyle/>
          <a:p>
            <a:pPr marL="0" indent="0" algn="l">
              <a:lnSpc>
                <a:spcPct val="104000"/>
              </a:lnSpc>
              <a:buNone/>
            </a:pPr>
            <a:r>
              <a:rPr lang="en-US" sz="750" dirty="0">
                <a:solidFill>
                  <a:srgbClr val="5B6E8C"/>
                </a:solidFill>
                <a:latin typeface="Alexandria Medium" pitchFamily="34" charset="0"/>
                <a:ea typeface="Alexandria Medium" pitchFamily="34" charset="-122"/>
                <a:cs typeface="Alexandria Medium" pitchFamily="34" charset="-120"/>
              </a:rPr>
              <a:t>Mystery and Intelligibility</a:t>
            </a:r>
            <a:endParaRPr lang="en-US" sz="750" dirty="0"/>
          </a:p>
        </p:txBody>
      </p:sp>
      <p:sp>
        <p:nvSpPr>
          <p:cNvPr id="7" name="Text 4"/>
          <p:cNvSpPr/>
          <p:nvPr/>
        </p:nvSpPr>
        <p:spPr>
          <a:xfrm>
            <a:off x="874365" y="1205508"/>
            <a:ext cx="7684591" cy="104254"/>
          </a:xfrm>
          <a:prstGeom prst="rect">
            <a:avLst/>
          </a:prstGeom>
          <a:noFill/>
          <a:ln/>
        </p:spPr>
        <p:txBody>
          <a:bodyPr wrap="none" lIns="0" tIns="0" rIns="0" bIns="0" rtlCol="0" anchor="t"/>
          <a:lstStyle/>
          <a:p>
            <a:pPr marL="0" indent="0" algn="l">
              <a:lnSpc>
                <a:spcPct val="109000"/>
              </a:lnSpc>
              <a:buNone/>
            </a:pPr>
            <a:r>
              <a:rPr lang="en-US" sz="600" dirty="0">
                <a:solidFill>
                  <a:srgbClr val="5B6E8C"/>
                </a:solidFill>
                <a:latin typeface="Manrope" pitchFamily="34" charset="0"/>
                <a:ea typeface="Manrope" pitchFamily="34" charset="-122"/>
                <a:cs typeface="Manrope" pitchFamily="34" charset="-120"/>
              </a:rPr>
              <a:t>Theology is a reasoning activity and must be intelligible, and yet it must always guard the mystery of God and of his revelation. A theology that explains everything has explained God away.</a:t>
            </a:r>
            <a:endParaRPr lang="en-US" sz="6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489621"/>
            <a:ext cx="8151763" cy="476771"/>
          </a:xfrm>
          <a:prstGeom prst="rect">
            <a:avLst/>
          </a:prstGeom>
        </p:spPr>
      </p:pic>
      <p:sp>
        <p:nvSpPr>
          <p:cNvPr id="9" name="Text 5"/>
          <p:cNvSpPr/>
          <p:nvPr/>
        </p:nvSpPr>
        <p:spPr>
          <a:xfrm>
            <a:off x="602605" y="1653480"/>
            <a:ext cx="119137" cy="148977"/>
          </a:xfrm>
          <a:prstGeom prst="rect">
            <a:avLst/>
          </a:prstGeom>
          <a:noFill/>
          <a:ln/>
        </p:spPr>
        <p:txBody>
          <a:bodyPr wrap="none" lIns="0" tIns="0" rIns="0" bIns="0" rtlCol="0" anchor="ctr"/>
          <a:lstStyle/>
          <a:p>
            <a:pPr marL="0" indent="0" algn="ctr">
              <a:lnSpc>
                <a:spcPct val="100000"/>
              </a:lnSpc>
              <a:buNone/>
            </a:pPr>
            <a:r>
              <a:rPr lang="en-US" sz="900" dirty="0">
                <a:solidFill>
                  <a:srgbClr val="000000"/>
                </a:solidFill>
                <a:latin typeface="Alexandria Medium" pitchFamily="34" charset="0"/>
                <a:ea typeface="Alexandria Medium" pitchFamily="34" charset="-122"/>
                <a:cs typeface="Alexandria Medium" pitchFamily="34" charset="-120"/>
              </a:rPr>
              <a:t>2</a:t>
            </a:r>
            <a:endParaRPr lang="en-US" sz="900" dirty="0"/>
          </a:p>
        </p:txBody>
      </p:sp>
      <p:sp>
        <p:nvSpPr>
          <p:cNvPr id="10" name="Text 6"/>
          <p:cNvSpPr/>
          <p:nvPr/>
        </p:nvSpPr>
        <p:spPr>
          <a:xfrm>
            <a:off x="874365" y="1578546"/>
            <a:ext cx="7684591" cy="124123"/>
          </a:xfrm>
          <a:prstGeom prst="rect">
            <a:avLst/>
          </a:prstGeom>
          <a:noFill/>
          <a:ln/>
        </p:spPr>
        <p:txBody>
          <a:bodyPr wrap="none" lIns="0" tIns="0" rIns="0" bIns="0" rtlCol="0" anchor="t"/>
          <a:lstStyle/>
          <a:p>
            <a:pPr marL="0" indent="0" algn="l">
              <a:lnSpc>
                <a:spcPct val="104000"/>
              </a:lnSpc>
              <a:buNone/>
            </a:pPr>
            <a:r>
              <a:rPr lang="en-US" sz="750" dirty="0">
                <a:solidFill>
                  <a:srgbClr val="5B6E8C"/>
                </a:solidFill>
                <a:latin typeface="Alexandria Medium" pitchFamily="34" charset="0"/>
                <a:ea typeface="Alexandria Medium" pitchFamily="34" charset="-122"/>
                <a:cs typeface="Alexandria Medium" pitchFamily="34" charset="-120"/>
              </a:rPr>
              <a:t>Identity and Change</a:t>
            </a:r>
            <a:endParaRPr lang="en-US" sz="750" dirty="0"/>
          </a:p>
        </p:txBody>
      </p:sp>
      <p:sp>
        <p:nvSpPr>
          <p:cNvPr id="11" name="Text 7"/>
          <p:cNvSpPr/>
          <p:nvPr/>
        </p:nvSpPr>
        <p:spPr>
          <a:xfrm>
            <a:off x="874365" y="1733178"/>
            <a:ext cx="7684591" cy="104254"/>
          </a:xfrm>
          <a:prstGeom prst="rect">
            <a:avLst/>
          </a:prstGeom>
          <a:noFill/>
          <a:ln/>
        </p:spPr>
        <p:txBody>
          <a:bodyPr wrap="none" lIns="0" tIns="0" rIns="0" bIns="0" rtlCol="0" anchor="t"/>
          <a:lstStyle/>
          <a:p>
            <a:pPr marL="0" indent="0" algn="l">
              <a:lnSpc>
                <a:spcPct val="109000"/>
              </a:lnSpc>
              <a:buNone/>
            </a:pPr>
            <a:r>
              <a:rPr lang="en-US" sz="600" dirty="0">
                <a:solidFill>
                  <a:srgbClr val="5B6E8C"/>
                </a:solidFill>
                <a:latin typeface="Manrope" pitchFamily="34" charset="0"/>
                <a:ea typeface="Manrope" pitchFamily="34" charset="-122"/>
                <a:cs typeface="Manrope" pitchFamily="34" charset="-120"/>
              </a:rPr>
              <a:t>The original language of faith in the Scriptures has a lasting value that does not pass, and yet it calls for continual reinterpretation and restatement in every age.</a:t>
            </a:r>
            <a:endParaRPr lang="en-US" sz="6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2017291"/>
            <a:ext cx="8151763" cy="540990"/>
          </a:xfrm>
          <a:prstGeom prst="rect">
            <a:avLst/>
          </a:prstGeom>
        </p:spPr>
      </p:pic>
      <p:sp>
        <p:nvSpPr>
          <p:cNvPr id="13" name="Text 8"/>
          <p:cNvSpPr/>
          <p:nvPr/>
        </p:nvSpPr>
        <p:spPr>
          <a:xfrm>
            <a:off x="602605" y="2213297"/>
            <a:ext cx="119137" cy="148977"/>
          </a:xfrm>
          <a:prstGeom prst="rect">
            <a:avLst/>
          </a:prstGeom>
          <a:noFill/>
          <a:ln/>
        </p:spPr>
        <p:txBody>
          <a:bodyPr wrap="none" lIns="0" tIns="0" rIns="0" bIns="0" rtlCol="0" anchor="ctr"/>
          <a:lstStyle/>
          <a:p>
            <a:pPr marL="0" indent="0" algn="ctr">
              <a:lnSpc>
                <a:spcPct val="100000"/>
              </a:lnSpc>
              <a:buNone/>
            </a:pPr>
            <a:r>
              <a:rPr lang="en-US" sz="900" dirty="0">
                <a:solidFill>
                  <a:srgbClr val="000000"/>
                </a:solidFill>
                <a:latin typeface="Alexandria Medium" pitchFamily="34" charset="0"/>
                <a:ea typeface="Alexandria Medium" pitchFamily="34" charset="-122"/>
                <a:cs typeface="Alexandria Medium" pitchFamily="34" charset="-120"/>
              </a:rPr>
              <a:t>3</a:t>
            </a:r>
            <a:endParaRPr lang="en-US" sz="900" dirty="0"/>
          </a:p>
        </p:txBody>
      </p:sp>
      <p:sp>
        <p:nvSpPr>
          <p:cNvPr id="14" name="Text 9"/>
          <p:cNvSpPr/>
          <p:nvPr/>
        </p:nvSpPr>
        <p:spPr>
          <a:xfrm>
            <a:off x="874365" y="2106216"/>
            <a:ext cx="7684591" cy="124123"/>
          </a:xfrm>
          <a:prstGeom prst="rect">
            <a:avLst/>
          </a:prstGeom>
          <a:noFill/>
          <a:ln/>
        </p:spPr>
        <p:txBody>
          <a:bodyPr wrap="none" lIns="0" tIns="0" rIns="0" bIns="0" rtlCol="0" anchor="t"/>
          <a:lstStyle/>
          <a:p>
            <a:pPr marL="0" indent="0" algn="l">
              <a:lnSpc>
                <a:spcPct val="104000"/>
              </a:lnSpc>
              <a:buNone/>
            </a:pPr>
            <a:r>
              <a:rPr lang="en-US" sz="750" dirty="0">
                <a:solidFill>
                  <a:srgbClr val="5B6E8C"/>
                </a:solidFill>
                <a:latin typeface="Alexandria Medium" pitchFamily="34" charset="0"/>
                <a:ea typeface="Alexandria Medium" pitchFamily="34" charset="-122"/>
                <a:cs typeface="Alexandria Medium" pitchFamily="34" charset="-120"/>
              </a:rPr>
              <a:t>Committed and Searching</a:t>
            </a:r>
            <a:endParaRPr lang="en-US" sz="750" dirty="0"/>
          </a:p>
        </p:txBody>
      </p:sp>
      <p:sp>
        <p:nvSpPr>
          <p:cNvPr id="15" name="Text 10"/>
          <p:cNvSpPr/>
          <p:nvPr/>
        </p:nvSpPr>
        <p:spPr>
          <a:xfrm>
            <a:off x="874365" y="2260848"/>
            <a:ext cx="7684591"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5B6E8C"/>
                </a:solidFill>
                <a:latin typeface="Manrope" pitchFamily="34" charset="0"/>
                <a:ea typeface="Manrope" pitchFamily="34" charset="-122"/>
                <a:cs typeface="Manrope" pitchFamily="34" charset="-120"/>
              </a:rPr>
              <a:t>Theology is a committed engagement that challenges and changes our lives, and at the same time it is a searching activity that examines all Christian beliefs, practices, and traditions in the light of present knowledge and experience.</a:t>
            </a:r>
            <a:endParaRPr lang="en-US" sz="60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2609180"/>
            <a:ext cx="8151763" cy="540990"/>
          </a:xfrm>
          <a:prstGeom prst="rect">
            <a:avLst/>
          </a:prstGeom>
        </p:spPr>
      </p:pic>
      <p:sp>
        <p:nvSpPr>
          <p:cNvPr id="17" name="Text 11"/>
          <p:cNvSpPr/>
          <p:nvPr/>
        </p:nvSpPr>
        <p:spPr>
          <a:xfrm>
            <a:off x="602605" y="2805187"/>
            <a:ext cx="119137" cy="148977"/>
          </a:xfrm>
          <a:prstGeom prst="rect">
            <a:avLst/>
          </a:prstGeom>
          <a:noFill/>
          <a:ln/>
        </p:spPr>
        <p:txBody>
          <a:bodyPr wrap="none" lIns="0" tIns="0" rIns="0" bIns="0" rtlCol="0" anchor="ctr"/>
          <a:lstStyle/>
          <a:p>
            <a:pPr marL="0" indent="0" algn="ctr">
              <a:lnSpc>
                <a:spcPct val="100000"/>
              </a:lnSpc>
              <a:buNone/>
            </a:pPr>
            <a:r>
              <a:rPr lang="en-US" sz="900" dirty="0">
                <a:solidFill>
                  <a:srgbClr val="000000"/>
                </a:solidFill>
                <a:latin typeface="Alexandria Medium" pitchFamily="34" charset="0"/>
                <a:ea typeface="Alexandria Medium" pitchFamily="34" charset="-122"/>
                <a:cs typeface="Alexandria Medium" pitchFamily="34" charset="-120"/>
              </a:rPr>
              <a:t>4</a:t>
            </a:r>
            <a:endParaRPr lang="en-US" sz="900" dirty="0"/>
          </a:p>
        </p:txBody>
      </p:sp>
      <p:sp>
        <p:nvSpPr>
          <p:cNvPr id="18" name="Text 12"/>
          <p:cNvSpPr/>
          <p:nvPr/>
        </p:nvSpPr>
        <p:spPr>
          <a:xfrm>
            <a:off x="874365" y="2698105"/>
            <a:ext cx="7684591" cy="124123"/>
          </a:xfrm>
          <a:prstGeom prst="rect">
            <a:avLst/>
          </a:prstGeom>
          <a:noFill/>
          <a:ln/>
        </p:spPr>
        <p:txBody>
          <a:bodyPr wrap="none" lIns="0" tIns="0" rIns="0" bIns="0" rtlCol="0" anchor="t"/>
          <a:lstStyle/>
          <a:p>
            <a:pPr marL="0" indent="0" algn="l">
              <a:lnSpc>
                <a:spcPct val="104000"/>
              </a:lnSpc>
              <a:buNone/>
            </a:pPr>
            <a:r>
              <a:rPr lang="en-US" sz="750" dirty="0">
                <a:solidFill>
                  <a:srgbClr val="5B6E8C"/>
                </a:solidFill>
                <a:latin typeface="Alexandria Medium" pitchFamily="34" charset="0"/>
                <a:ea typeface="Alexandria Medium" pitchFamily="34" charset="-122"/>
                <a:cs typeface="Alexandria Medium" pitchFamily="34" charset="-120"/>
              </a:rPr>
              <a:t>Community and the Individual Theologian</a:t>
            </a:r>
            <a:endParaRPr lang="en-US" sz="750" dirty="0"/>
          </a:p>
        </p:txBody>
      </p:sp>
      <p:sp>
        <p:nvSpPr>
          <p:cNvPr id="19" name="Text 13"/>
          <p:cNvSpPr/>
          <p:nvPr/>
        </p:nvSpPr>
        <p:spPr>
          <a:xfrm>
            <a:off x="874365" y="2852737"/>
            <a:ext cx="7684591"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5B6E8C"/>
                </a:solidFill>
                <a:latin typeface="Manrope" pitchFamily="34" charset="0"/>
                <a:ea typeface="Manrope" pitchFamily="34" charset="-122"/>
                <a:cs typeface="Manrope" pitchFamily="34" charset="-120"/>
              </a:rPr>
              <a:t>Christian faith is held and handed on within a community — the </a:t>
            </a:r>
            <a:r>
              <a:rPr lang="en-US" sz="600" i="1" dirty="0">
                <a:solidFill>
                  <a:srgbClr val="5B6E8C"/>
                </a:solidFill>
                <a:latin typeface="Manrope" pitchFamily="34" charset="0"/>
                <a:ea typeface="Manrope" pitchFamily="34" charset="-122"/>
                <a:cs typeface="Manrope" pitchFamily="34" charset="-120"/>
              </a:rPr>
              <a:t>locus theologicus</a:t>
            </a:r>
            <a:r>
              <a:rPr lang="en-US" sz="600" dirty="0">
                <a:solidFill>
                  <a:srgbClr val="5B6E8C"/>
                </a:solidFill>
                <a:latin typeface="Manrope" pitchFamily="34" charset="0"/>
                <a:ea typeface="Manrope" pitchFamily="34" charset="-122"/>
                <a:cs typeface="Manrope" pitchFamily="34" charset="-120"/>
              </a:rPr>
              <a:t>. The individual theologian shares the faith and the charism of that community, and yet also carries a prophetic role within it, sometimes calling it to conversion.</a:t>
            </a:r>
            <a:endParaRPr lang="en-US" sz="60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3201070"/>
            <a:ext cx="8151763" cy="476771"/>
          </a:xfrm>
          <a:prstGeom prst="rect">
            <a:avLst/>
          </a:prstGeom>
        </p:spPr>
      </p:pic>
      <p:sp>
        <p:nvSpPr>
          <p:cNvPr id="21" name="Text 14"/>
          <p:cNvSpPr/>
          <p:nvPr/>
        </p:nvSpPr>
        <p:spPr>
          <a:xfrm>
            <a:off x="602605" y="3364929"/>
            <a:ext cx="119137" cy="148977"/>
          </a:xfrm>
          <a:prstGeom prst="rect">
            <a:avLst/>
          </a:prstGeom>
          <a:noFill/>
          <a:ln/>
        </p:spPr>
        <p:txBody>
          <a:bodyPr wrap="none" lIns="0" tIns="0" rIns="0" bIns="0" rtlCol="0" anchor="ctr"/>
          <a:lstStyle/>
          <a:p>
            <a:pPr marL="0" indent="0" algn="ctr">
              <a:lnSpc>
                <a:spcPct val="100000"/>
              </a:lnSpc>
              <a:buNone/>
            </a:pPr>
            <a:r>
              <a:rPr lang="en-US" sz="900" dirty="0">
                <a:solidFill>
                  <a:srgbClr val="000000"/>
                </a:solidFill>
                <a:latin typeface="Alexandria Medium" pitchFamily="34" charset="0"/>
                <a:ea typeface="Alexandria Medium" pitchFamily="34" charset="-122"/>
                <a:cs typeface="Alexandria Medium" pitchFamily="34" charset="-120"/>
              </a:rPr>
              <a:t>5</a:t>
            </a:r>
            <a:endParaRPr lang="en-US" sz="900" dirty="0"/>
          </a:p>
        </p:txBody>
      </p:sp>
      <p:sp>
        <p:nvSpPr>
          <p:cNvPr id="22" name="Text 15"/>
          <p:cNvSpPr/>
          <p:nvPr/>
        </p:nvSpPr>
        <p:spPr>
          <a:xfrm>
            <a:off x="874365" y="3289995"/>
            <a:ext cx="7684591" cy="124123"/>
          </a:xfrm>
          <a:prstGeom prst="rect">
            <a:avLst/>
          </a:prstGeom>
          <a:noFill/>
          <a:ln/>
        </p:spPr>
        <p:txBody>
          <a:bodyPr wrap="none" lIns="0" tIns="0" rIns="0" bIns="0" rtlCol="0" anchor="t"/>
          <a:lstStyle/>
          <a:p>
            <a:pPr marL="0" indent="0" algn="l">
              <a:lnSpc>
                <a:spcPct val="104000"/>
              </a:lnSpc>
              <a:buNone/>
            </a:pPr>
            <a:r>
              <a:rPr lang="en-US" sz="750" dirty="0">
                <a:solidFill>
                  <a:srgbClr val="5B6E8C"/>
                </a:solidFill>
                <a:latin typeface="Alexandria Medium" pitchFamily="34" charset="0"/>
                <a:ea typeface="Alexandria Medium" pitchFamily="34" charset="-122"/>
                <a:cs typeface="Alexandria Medium" pitchFamily="34" charset="-120"/>
              </a:rPr>
              <a:t>The One and the Many</a:t>
            </a:r>
            <a:endParaRPr lang="en-US" sz="750" dirty="0"/>
          </a:p>
        </p:txBody>
      </p:sp>
      <p:sp>
        <p:nvSpPr>
          <p:cNvPr id="23" name="Text 16"/>
          <p:cNvSpPr/>
          <p:nvPr/>
        </p:nvSpPr>
        <p:spPr>
          <a:xfrm>
            <a:off x="874365" y="3444627"/>
            <a:ext cx="7684591" cy="104254"/>
          </a:xfrm>
          <a:prstGeom prst="rect">
            <a:avLst/>
          </a:prstGeom>
          <a:noFill/>
          <a:ln/>
        </p:spPr>
        <p:txBody>
          <a:bodyPr wrap="none" lIns="0" tIns="0" rIns="0" bIns="0" rtlCol="0" anchor="t"/>
          <a:lstStyle/>
          <a:p>
            <a:pPr marL="0" indent="0" algn="l">
              <a:lnSpc>
                <a:spcPct val="109000"/>
              </a:lnSpc>
              <a:buNone/>
            </a:pPr>
            <a:r>
              <a:rPr lang="en-US" sz="600" dirty="0">
                <a:solidFill>
                  <a:srgbClr val="5B6E8C"/>
                </a:solidFill>
                <a:latin typeface="Manrope" pitchFamily="34" charset="0"/>
                <a:ea typeface="Manrope" pitchFamily="34" charset="-122"/>
                <a:cs typeface="Manrope" pitchFamily="34" charset="-120"/>
              </a:rPr>
              <a:t>The heart of Christian theology is the single Christ-event, and yet within Christianity there are many traditions. </a:t>
            </a:r>
            <a:r>
              <a:rPr lang="en-US" sz="600" i="1" dirty="0">
                <a:solidFill>
                  <a:srgbClr val="5B6E8C"/>
                </a:solidFill>
                <a:latin typeface="Manrope" pitchFamily="34" charset="0"/>
                <a:ea typeface="Manrope" pitchFamily="34" charset="-122"/>
                <a:cs typeface="Manrope" pitchFamily="34" charset="-120"/>
              </a:rPr>
              <a:t>Ekam sat viprah bahudha vadanti</a:t>
            </a:r>
            <a:r>
              <a:rPr lang="en-US" sz="600" dirty="0">
                <a:solidFill>
                  <a:srgbClr val="5B6E8C"/>
                </a:solidFill>
                <a:latin typeface="Manrope" pitchFamily="34" charset="0"/>
                <a:ea typeface="Manrope" pitchFamily="34" charset="-122"/>
                <a:cs typeface="Manrope" pitchFamily="34" charset="-120"/>
              </a:rPr>
              <a:t> — the truth is one, the wise call it by many names.</a:t>
            </a:r>
            <a:endParaRPr lang="en-US" sz="600" dirty="0"/>
          </a:p>
        </p:txBody>
      </p:sp>
      <p:pic>
        <p:nvPicPr>
          <p:cNvPr id="24"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3728740"/>
            <a:ext cx="8151763" cy="476771"/>
          </a:xfrm>
          <a:prstGeom prst="rect">
            <a:avLst/>
          </a:prstGeom>
        </p:spPr>
      </p:pic>
      <p:sp>
        <p:nvSpPr>
          <p:cNvPr id="25" name="Text 17"/>
          <p:cNvSpPr/>
          <p:nvPr/>
        </p:nvSpPr>
        <p:spPr>
          <a:xfrm>
            <a:off x="602605" y="3892600"/>
            <a:ext cx="119137" cy="148977"/>
          </a:xfrm>
          <a:prstGeom prst="rect">
            <a:avLst/>
          </a:prstGeom>
          <a:noFill/>
          <a:ln/>
        </p:spPr>
        <p:txBody>
          <a:bodyPr wrap="none" lIns="0" tIns="0" rIns="0" bIns="0" rtlCol="0" anchor="ctr"/>
          <a:lstStyle/>
          <a:p>
            <a:pPr marL="0" indent="0" algn="ctr">
              <a:lnSpc>
                <a:spcPct val="100000"/>
              </a:lnSpc>
              <a:buNone/>
            </a:pPr>
            <a:r>
              <a:rPr lang="en-US" sz="900" dirty="0">
                <a:solidFill>
                  <a:srgbClr val="000000"/>
                </a:solidFill>
                <a:latin typeface="Alexandria Medium" pitchFamily="34" charset="0"/>
                <a:ea typeface="Alexandria Medium" pitchFamily="34" charset="-122"/>
                <a:cs typeface="Alexandria Medium" pitchFamily="34" charset="-120"/>
              </a:rPr>
              <a:t>6</a:t>
            </a:r>
            <a:endParaRPr lang="en-US" sz="900" dirty="0"/>
          </a:p>
        </p:txBody>
      </p:sp>
      <p:sp>
        <p:nvSpPr>
          <p:cNvPr id="26" name="Text 18"/>
          <p:cNvSpPr/>
          <p:nvPr/>
        </p:nvSpPr>
        <p:spPr>
          <a:xfrm>
            <a:off x="874365" y="3817665"/>
            <a:ext cx="7684591" cy="124123"/>
          </a:xfrm>
          <a:prstGeom prst="rect">
            <a:avLst/>
          </a:prstGeom>
          <a:noFill/>
          <a:ln/>
        </p:spPr>
        <p:txBody>
          <a:bodyPr wrap="none" lIns="0" tIns="0" rIns="0" bIns="0" rtlCol="0" anchor="t"/>
          <a:lstStyle/>
          <a:p>
            <a:pPr marL="0" indent="0" algn="l">
              <a:lnSpc>
                <a:spcPct val="104000"/>
              </a:lnSpc>
              <a:buNone/>
            </a:pPr>
            <a:r>
              <a:rPr lang="en-US" sz="750" dirty="0">
                <a:solidFill>
                  <a:srgbClr val="5B6E8C"/>
                </a:solidFill>
                <a:latin typeface="Alexandria Medium" pitchFamily="34" charset="0"/>
                <a:ea typeface="Alexandria Medium" pitchFamily="34" charset="-122"/>
                <a:cs typeface="Alexandria Medium" pitchFamily="34" charset="-120"/>
              </a:rPr>
              <a:t>Universal and Contextual</a:t>
            </a:r>
            <a:endParaRPr lang="en-US" sz="750" dirty="0"/>
          </a:p>
        </p:txBody>
      </p:sp>
      <p:sp>
        <p:nvSpPr>
          <p:cNvPr id="27" name="Text 19"/>
          <p:cNvSpPr/>
          <p:nvPr/>
        </p:nvSpPr>
        <p:spPr>
          <a:xfrm>
            <a:off x="874365" y="3972297"/>
            <a:ext cx="7684591" cy="104254"/>
          </a:xfrm>
          <a:prstGeom prst="rect">
            <a:avLst/>
          </a:prstGeom>
          <a:noFill/>
          <a:ln/>
        </p:spPr>
        <p:txBody>
          <a:bodyPr wrap="none" lIns="0" tIns="0" rIns="0" bIns="0" rtlCol="0" anchor="t"/>
          <a:lstStyle/>
          <a:p>
            <a:pPr marL="0" indent="0" algn="l">
              <a:lnSpc>
                <a:spcPct val="109000"/>
              </a:lnSpc>
              <a:buNone/>
            </a:pPr>
            <a:r>
              <a:rPr lang="en-US" sz="600" dirty="0">
                <a:solidFill>
                  <a:srgbClr val="5B6E8C"/>
                </a:solidFill>
                <a:latin typeface="Manrope" pitchFamily="34" charset="0"/>
                <a:ea typeface="Manrope" pitchFamily="34" charset="-122"/>
                <a:cs typeface="Manrope" pitchFamily="34" charset="-120"/>
              </a:rPr>
              <a:t>No theology is final. Every theology is contextual, shaped by its history, its society, and its culture — which is why we have liberation, feminist, black, Dalit, tribal, and ecological theologies.</a:t>
            </a:r>
            <a:endParaRPr lang="en-US" sz="600" dirty="0"/>
          </a:p>
        </p:txBody>
      </p:sp>
      <p:pic>
        <p:nvPicPr>
          <p:cNvPr id="28" name="Image 6"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4256410"/>
            <a:ext cx="8151763" cy="540990"/>
          </a:xfrm>
          <a:prstGeom prst="rect">
            <a:avLst/>
          </a:prstGeom>
        </p:spPr>
      </p:pic>
      <p:sp>
        <p:nvSpPr>
          <p:cNvPr id="29" name="Text 20"/>
          <p:cNvSpPr/>
          <p:nvPr/>
        </p:nvSpPr>
        <p:spPr>
          <a:xfrm>
            <a:off x="602605" y="4452417"/>
            <a:ext cx="119137" cy="148977"/>
          </a:xfrm>
          <a:prstGeom prst="rect">
            <a:avLst/>
          </a:prstGeom>
          <a:noFill/>
          <a:ln/>
        </p:spPr>
        <p:txBody>
          <a:bodyPr wrap="none" lIns="0" tIns="0" rIns="0" bIns="0" rtlCol="0" anchor="ctr"/>
          <a:lstStyle/>
          <a:p>
            <a:pPr marL="0" indent="0" algn="ctr">
              <a:lnSpc>
                <a:spcPct val="100000"/>
              </a:lnSpc>
              <a:buNone/>
            </a:pPr>
            <a:r>
              <a:rPr lang="en-US" sz="900" dirty="0">
                <a:solidFill>
                  <a:srgbClr val="000000"/>
                </a:solidFill>
                <a:latin typeface="Alexandria Medium" pitchFamily="34" charset="0"/>
                <a:ea typeface="Alexandria Medium" pitchFamily="34" charset="-122"/>
                <a:cs typeface="Alexandria Medium" pitchFamily="34" charset="-120"/>
              </a:rPr>
              <a:t>7</a:t>
            </a:r>
            <a:endParaRPr lang="en-US" sz="900" dirty="0"/>
          </a:p>
        </p:txBody>
      </p:sp>
      <p:sp>
        <p:nvSpPr>
          <p:cNvPr id="30" name="Text 21"/>
          <p:cNvSpPr/>
          <p:nvPr/>
        </p:nvSpPr>
        <p:spPr>
          <a:xfrm>
            <a:off x="874365" y="4345335"/>
            <a:ext cx="7684591" cy="124123"/>
          </a:xfrm>
          <a:prstGeom prst="rect">
            <a:avLst/>
          </a:prstGeom>
          <a:noFill/>
          <a:ln/>
        </p:spPr>
        <p:txBody>
          <a:bodyPr wrap="none" lIns="0" tIns="0" rIns="0" bIns="0" rtlCol="0" anchor="t"/>
          <a:lstStyle/>
          <a:p>
            <a:pPr marL="0" indent="0" algn="l">
              <a:lnSpc>
                <a:spcPct val="104000"/>
              </a:lnSpc>
              <a:buNone/>
            </a:pPr>
            <a:r>
              <a:rPr lang="en-US" sz="750" dirty="0">
                <a:solidFill>
                  <a:srgbClr val="5B6E8C"/>
                </a:solidFill>
                <a:latin typeface="Alexandria Medium" pitchFamily="34" charset="0"/>
                <a:ea typeface="Alexandria Medium" pitchFamily="34" charset="-122"/>
                <a:cs typeface="Alexandria Medium" pitchFamily="34" charset="-120"/>
              </a:rPr>
              <a:t>Orthodoxy and Orthopraxis</a:t>
            </a:r>
            <a:endParaRPr lang="en-US" sz="750" dirty="0"/>
          </a:p>
        </p:txBody>
      </p:sp>
      <p:sp>
        <p:nvSpPr>
          <p:cNvPr id="31" name="Text 22"/>
          <p:cNvSpPr/>
          <p:nvPr/>
        </p:nvSpPr>
        <p:spPr>
          <a:xfrm>
            <a:off x="874365" y="4499967"/>
            <a:ext cx="7684591" cy="208508"/>
          </a:xfrm>
          <a:prstGeom prst="rect">
            <a:avLst/>
          </a:prstGeom>
          <a:noFill/>
          <a:ln/>
        </p:spPr>
        <p:txBody>
          <a:bodyPr wrap="square" lIns="0" tIns="0" rIns="0" bIns="0" rtlCol="0" anchor="t">
            <a:normAutofit/>
          </a:bodyPr>
          <a:lstStyle/>
          <a:p>
            <a:pPr marL="0" indent="0" algn="l">
              <a:lnSpc>
                <a:spcPct val="109000"/>
              </a:lnSpc>
              <a:buNone/>
            </a:pPr>
            <a:r>
              <a:rPr lang="en-US" sz="600" dirty="0">
                <a:solidFill>
                  <a:srgbClr val="5B6E8C"/>
                </a:solidFill>
                <a:latin typeface="Manrope" pitchFamily="34" charset="0"/>
                <a:ea typeface="Manrope" pitchFamily="34" charset="-122"/>
                <a:cs typeface="Manrope" pitchFamily="34" charset="-120"/>
              </a:rPr>
              <a:t>Orthodoxy is faithfulness to the original and authentic Christian faith. Orthopraxis is right doing, the concern to change the world and society. Doctrine that never touches life is empty, and action without truth loses its way.</a:t>
            </a:r>
            <a:endParaRPr lang="en-US" sz="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75791"/>
            <a:ext cx="8151763" cy="302865"/>
          </a:xfrm>
          <a:prstGeom prst="rect">
            <a:avLst/>
          </a:prstGeom>
          <a:noFill/>
          <a:ln/>
        </p:spPr>
        <p:txBody>
          <a:bodyPr wrap="none" lIns="0" tIns="0" rIns="0" bIns="0" rtlCol="0" anchor="t"/>
          <a:lstStyle/>
          <a:p>
            <a:pPr marL="0" indent="0" algn="l">
              <a:lnSpc>
                <a:spcPct val="104000"/>
              </a:lnSpc>
              <a:buNone/>
            </a:pPr>
            <a:r>
              <a:rPr lang="en-US" sz="1900" dirty="0">
                <a:solidFill>
                  <a:srgbClr val="5B6E8C"/>
                </a:solidFill>
                <a:latin typeface="Alexandria Medium" pitchFamily="34" charset="0"/>
                <a:ea typeface="Alexandria Medium" pitchFamily="34" charset="-122"/>
                <a:cs typeface="Alexandria Medium" pitchFamily="34" charset="-120"/>
              </a:rPr>
              <a:t>8. The Two Foundations: Faith and Revelation</a:t>
            </a:r>
            <a:endParaRPr lang="en-US" sz="1900" dirty="0"/>
          </a:p>
        </p:txBody>
      </p:sp>
      <p:sp>
        <p:nvSpPr>
          <p:cNvPr id="3" name="Text 1"/>
          <p:cNvSpPr/>
          <p:nvPr/>
        </p:nvSpPr>
        <p:spPr>
          <a:xfrm>
            <a:off x="496119" y="867891"/>
            <a:ext cx="3957712" cy="151433"/>
          </a:xfrm>
          <a:prstGeom prst="rect">
            <a:avLst/>
          </a:prstGeom>
          <a:noFill/>
          <a:ln/>
        </p:spPr>
        <p:txBody>
          <a:bodyPr wrap="none" lIns="0" tIns="0" rIns="0" bIns="0" rtlCol="0" anchor="t"/>
          <a:lstStyle/>
          <a:p>
            <a:pPr marL="0" indent="0" algn="l">
              <a:lnSpc>
                <a:spcPct val="104000"/>
              </a:lnSpc>
              <a:buNone/>
            </a:pPr>
            <a:r>
              <a:rPr lang="en-US" sz="950" dirty="0">
                <a:solidFill>
                  <a:srgbClr val="5B6E8C"/>
                </a:solidFill>
                <a:latin typeface="Alexandria Medium" pitchFamily="34" charset="0"/>
                <a:ea typeface="Alexandria Medium" pitchFamily="34" charset="-122"/>
                <a:cs typeface="Alexandria Medium" pitchFamily="34" charset="-120"/>
              </a:rPr>
              <a:t>Faith</a:t>
            </a:r>
            <a:endParaRPr lang="en-US" sz="950" dirty="0"/>
          </a:p>
        </p:txBody>
      </p:sp>
      <p:sp>
        <p:nvSpPr>
          <p:cNvPr id="4" name="Text 2"/>
          <p:cNvSpPr/>
          <p:nvPr/>
        </p:nvSpPr>
        <p:spPr>
          <a:xfrm>
            <a:off x="496119" y="1095003"/>
            <a:ext cx="3957712" cy="1724546"/>
          </a:xfrm>
          <a:prstGeom prst="rect">
            <a:avLst/>
          </a:prstGeom>
          <a:noFill/>
          <a:ln/>
        </p:spPr>
        <p:txBody>
          <a:bodyPr wrap="square" lIns="0" tIns="0" rIns="0" bIns="0" rtlCol="0" anchor="t">
            <a:normAutofit/>
          </a:bodyPr>
          <a:lstStyle/>
          <a:p>
            <a:pPr marL="0" indent="0" algn="l">
              <a:lnSpc>
                <a:spcPct val="119000"/>
              </a:lnSpc>
              <a:spcAft>
                <a:spcPts val="500"/>
              </a:spcAft>
              <a:buNone/>
            </a:pPr>
            <a:r>
              <a:rPr lang="en-US" sz="750" dirty="0">
                <a:solidFill>
                  <a:srgbClr val="5B6E8C"/>
                </a:solidFill>
                <a:latin typeface="Manrope" pitchFamily="34" charset="0"/>
                <a:ea typeface="Manrope" pitchFamily="34" charset="-122"/>
                <a:cs typeface="Manrope" pitchFamily="34" charset="-120"/>
              </a:rPr>
              <a:t>Faith is not merely the assent of the mind to a set of truths. The Letter to the Hebrews calls it the assurance of things hoped for and the conviction of things not seen, and Scripture shows it again and again as a personal encounter that transforms the whole person: the encounter of Moses at the bush, of the Samaritan woman at the well, of the disciples at the Transfiguration and at Emmaus.</a:t>
            </a:r>
            <a:endParaRPr lang="en-US" sz="750" dirty="0"/>
          </a:p>
          <a:p>
            <a:pPr marL="0" indent="0" algn="l">
              <a:lnSpc>
                <a:spcPct val="119000"/>
              </a:lnSpc>
              <a:buNone/>
            </a:pPr>
            <a:r>
              <a:rPr lang="en-US" sz="750" dirty="0">
                <a:solidFill>
                  <a:srgbClr val="5B6E8C"/>
                </a:solidFill>
                <a:latin typeface="Manrope" pitchFamily="34" charset="0"/>
                <a:ea typeface="Manrope" pitchFamily="34" charset="-122"/>
                <a:cs typeface="Manrope" pitchFamily="34" charset="-120"/>
              </a:rPr>
              <a:t>For the Christian this encounter is with Jesus Christ, and faith is the total response and self-gift of the whole person to God as he is revealed in Jesus. In the Old Testament, Abraham is called the father of all who believe, and faith there is rooted in the fidelity of God to his promises and his covenant. In the New Testament, faith is the acceptance of Jesus and his message, centred on the risen Lord. Mary, Joseph, Zachariah, Elizabeth, and the disciples are its models, and above all Jesus himself, whose "yes" to the Father was total and irrevocable. Our own faith is meant to take the shape of his.</a:t>
            </a:r>
            <a:endParaRPr lang="en-US" sz="750" dirty="0"/>
          </a:p>
        </p:txBody>
      </p:sp>
      <p:sp>
        <p:nvSpPr>
          <p:cNvPr id="5" name="Shape 3"/>
          <p:cNvSpPr/>
          <p:nvPr/>
        </p:nvSpPr>
        <p:spPr>
          <a:xfrm>
            <a:off x="4625206" y="792212"/>
            <a:ext cx="4097164" cy="3284041"/>
          </a:xfrm>
          <a:prstGeom prst="roundRect">
            <a:avLst>
              <a:gd name="adj" fmla="val 7082"/>
            </a:avLst>
          </a:prstGeom>
          <a:solidFill>
            <a:srgbClr val="AAE4FE"/>
          </a:solidFill>
          <a:ln/>
        </p:spPr>
        <p:txBody>
          <a:bodyPr/>
          <a:lstStyle/>
          <a:p>
            <a:endParaRPr lang="en-IN"/>
          </a:p>
        </p:txBody>
      </p:sp>
      <p:sp>
        <p:nvSpPr>
          <p:cNvPr id="6" name="Text 4"/>
          <p:cNvSpPr/>
          <p:nvPr/>
        </p:nvSpPr>
        <p:spPr>
          <a:xfrm>
            <a:off x="4722093" y="867891"/>
            <a:ext cx="3903390" cy="151433"/>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Alexandria Medium" pitchFamily="34" charset="0"/>
                <a:ea typeface="Alexandria Medium" pitchFamily="34" charset="-122"/>
                <a:cs typeface="Alexandria Medium" pitchFamily="34" charset="-120"/>
              </a:rPr>
              <a:t>Revelation</a:t>
            </a:r>
            <a:endParaRPr lang="en-US" sz="950" dirty="0"/>
          </a:p>
        </p:txBody>
      </p:sp>
      <p:sp>
        <p:nvSpPr>
          <p:cNvPr id="7" name="Text 5"/>
          <p:cNvSpPr/>
          <p:nvPr/>
        </p:nvSpPr>
        <p:spPr>
          <a:xfrm>
            <a:off x="4722093" y="1095003"/>
            <a:ext cx="3903390" cy="276076"/>
          </a:xfrm>
          <a:prstGeom prst="rect">
            <a:avLst/>
          </a:prstGeom>
          <a:noFill/>
          <a:ln/>
        </p:spPr>
        <p:txBody>
          <a:bodyPr wrap="square" lIns="0" tIns="0" rIns="0" bIns="0" rtlCol="0" anchor="t">
            <a:normAutofit/>
          </a:bodyPr>
          <a:lstStyle/>
          <a:p>
            <a:pPr marL="0" indent="0" algn="l">
              <a:lnSpc>
                <a:spcPct val="119000"/>
              </a:lnSpc>
              <a:buNone/>
            </a:pPr>
            <a:r>
              <a:rPr lang="en-US" sz="750" dirty="0">
                <a:solidFill>
                  <a:srgbClr val="000000"/>
                </a:solidFill>
                <a:latin typeface="Manrope" pitchFamily="34" charset="0"/>
                <a:ea typeface="Manrope" pitchFamily="34" charset="-122"/>
                <a:cs typeface="Manrope" pitchFamily="34" charset="-120"/>
              </a:rPr>
              <a:t>Revelation is the utterly free self-gift of God. God reveals himself through his deeds in history.</a:t>
            </a:r>
            <a:endParaRPr lang="en-US" sz="75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07806" y="1441921"/>
            <a:ext cx="3917677" cy="393725"/>
          </a:xfrm>
          <a:prstGeom prst="rect">
            <a:avLst/>
          </a:prstGeom>
        </p:spPr>
      </p:pic>
      <p:sp>
        <p:nvSpPr>
          <p:cNvPr id="9" name="Text 6"/>
          <p:cNvSpPr/>
          <p:nvPr/>
        </p:nvSpPr>
        <p:spPr>
          <a:xfrm>
            <a:off x="4847555" y="1456209"/>
            <a:ext cx="3777928" cy="151433"/>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Alexandria Medium" pitchFamily="34" charset="0"/>
                <a:ea typeface="Alexandria Medium" pitchFamily="34" charset="-122"/>
                <a:cs typeface="Alexandria Medium" pitchFamily="34" charset="-120"/>
              </a:rPr>
              <a:t>In Creation</a:t>
            </a:r>
            <a:endParaRPr lang="en-US" sz="950" dirty="0"/>
          </a:p>
        </p:txBody>
      </p:sp>
      <p:sp>
        <p:nvSpPr>
          <p:cNvPr id="10" name="Text 7"/>
          <p:cNvSpPr/>
          <p:nvPr/>
        </p:nvSpPr>
        <p:spPr>
          <a:xfrm>
            <a:off x="4847555" y="1683321"/>
            <a:ext cx="3777928" cy="138038"/>
          </a:xfrm>
          <a:prstGeom prst="rect">
            <a:avLst/>
          </a:prstGeom>
          <a:noFill/>
          <a:ln/>
        </p:spPr>
        <p:txBody>
          <a:bodyPr wrap="none" lIns="0" tIns="0" rIns="0" bIns="0" rtlCol="0" anchor="t"/>
          <a:lstStyle/>
          <a:p>
            <a:pPr marL="0" indent="0" algn="l">
              <a:lnSpc>
                <a:spcPct val="119000"/>
              </a:lnSpc>
              <a:buNone/>
            </a:pPr>
            <a:r>
              <a:rPr lang="en-US" sz="750" dirty="0">
                <a:solidFill>
                  <a:srgbClr val="000000"/>
                </a:solidFill>
                <a:latin typeface="Manrope" pitchFamily="34" charset="0"/>
                <a:ea typeface="Manrope" pitchFamily="34" charset="-122"/>
                <a:cs typeface="Manrope" pitchFamily="34" charset="-120"/>
              </a:rPr>
              <a:t>He shows himself as the author of life</a:t>
            </a:r>
            <a:endParaRPr lang="en-US" sz="75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07806" y="1958429"/>
            <a:ext cx="3917677" cy="393725"/>
          </a:xfrm>
          <a:prstGeom prst="rect">
            <a:avLst/>
          </a:prstGeom>
        </p:spPr>
      </p:pic>
      <p:sp>
        <p:nvSpPr>
          <p:cNvPr id="12" name="Text 8"/>
          <p:cNvSpPr/>
          <p:nvPr/>
        </p:nvSpPr>
        <p:spPr>
          <a:xfrm>
            <a:off x="4847555" y="1972717"/>
            <a:ext cx="3777928" cy="151433"/>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Alexandria Medium" pitchFamily="34" charset="0"/>
                <a:ea typeface="Alexandria Medium" pitchFamily="34" charset="-122"/>
                <a:cs typeface="Alexandria Medium" pitchFamily="34" charset="-120"/>
              </a:rPr>
              <a:t>In the Exodus</a:t>
            </a:r>
            <a:endParaRPr lang="en-US" sz="950" dirty="0"/>
          </a:p>
        </p:txBody>
      </p:sp>
      <p:sp>
        <p:nvSpPr>
          <p:cNvPr id="13" name="Text 9"/>
          <p:cNvSpPr/>
          <p:nvPr/>
        </p:nvSpPr>
        <p:spPr>
          <a:xfrm>
            <a:off x="4847555" y="2199829"/>
            <a:ext cx="3777928" cy="138038"/>
          </a:xfrm>
          <a:prstGeom prst="rect">
            <a:avLst/>
          </a:prstGeom>
          <a:noFill/>
          <a:ln/>
        </p:spPr>
        <p:txBody>
          <a:bodyPr wrap="none" lIns="0" tIns="0" rIns="0" bIns="0" rtlCol="0" anchor="t"/>
          <a:lstStyle/>
          <a:p>
            <a:pPr marL="0" indent="0" algn="l">
              <a:lnSpc>
                <a:spcPct val="119000"/>
              </a:lnSpc>
              <a:buNone/>
            </a:pPr>
            <a:r>
              <a:rPr lang="en-US" sz="750" dirty="0">
                <a:solidFill>
                  <a:srgbClr val="000000"/>
                </a:solidFill>
                <a:latin typeface="Manrope" pitchFamily="34" charset="0"/>
                <a:ea typeface="Manrope" pitchFamily="34" charset="-122"/>
                <a:cs typeface="Manrope" pitchFamily="34" charset="-120"/>
              </a:rPr>
              <a:t>He shows himself as liberator</a:t>
            </a:r>
            <a:endParaRPr lang="en-US" sz="75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07806" y="2474937"/>
            <a:ext cx="3917677" cy="393725"/>
          </a:xfrm>
          <a:prstGeom prst="rect">
            <a:avLst/>
          </a:prstGeom>
        </p:spPr>
      </p:pic>
      <p:sp>
        <p:nvSpPr>
          <p:cNvPr id="15" name="Text 10"/>
          <p:cNvSpPr/>
          <p:nvPr/>
        </p:nvSpPr>
        <p:spPr>
          <a:xfrm>
            <a:off x="4847555" y="2489225"/>
            <a:ext cx="3777928" cy="151433"/>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Alexandria Medium" pitchFamily="34" charset="0"/>
                <a:ea typeface="Alexandria Medium" pitchFamily="34" charset="-122"/>
                <a:cs typeface="Alexandria Medium" pitchFamily="34" charset="-120"/>
              </a:rPr>
              <a:t>In the Paschal Mystery</a:t>
            </a:r>
            <a:endParaRPr lang="en-US" sz="950" dirty="0"/>
          </a:p>
        </p:txBody>
      </p:sp>
      <p:sp>
        <p:nvSpPr>
          <p:cNvPr id="16" name="Text 11"/>
          <p:cNvSpPr/>
          <p:nvPr/>
        </p:nvSpPr>
        <p:spPr>
          <a:xfrm>
            <a:off x="4847555" y="2716337"/>
            <a:ext cx="3777928" cy="138038"/>
          </a:xfrm>
          <a:prstGeom prst="rect">
            <a:avLst/>
          </a:prstGeom>
          <a:noFill/>
          <a:ln/>
        </p:spPr>
        <p:txBody>
          <a:bodyPr wrap="none" lIns="0" tIns="0" rIns="0" bIns="0" rtlCol="0" anchor="t"/>
          <a:lstStyle/>
          <a:p>
            <a:pPr marL="0" indent="0" algn="l">
              <a:lnSpc>
                <a:spcPct val="119000"/>
              </a:lnSpc>
              <a:buNone/>
            </a:pPr>
            <a:r>
              <a:rPr lang="en-US" sz="750" dirty="0">
                <a:solidFill>
                  <a:srgbClr val="000000"/>
                </a:solidFill>
                <a:latin typeface="Manrope" pitchFamily="34" charset="0"/>
                <a:ea typeface="Manrope" pitchFamily="34" charset="-122"/>
                <a:cs typeface="Manrope" pitchFamily="34" charset="-120"/>
              </a:rPr>
              <a:t>He shows himself as the one who loves to the end</a:t>
            </a:r>
            <a:endParaRPr lang="en-US" sz="75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07806" y="2991445"/>
            <a:ext cx="3917677" cy="393725"/>
          </a:xfrm>
          <a:prstGeom prst="rect">
            <a:avLst/>
          </a:prstGeom>
        </p:spPr>
      </p:pic>
      <p:sp>
        <p:nvSpPr>
          <p:cNvPr id="18" name="Text 12"/>
          <p:cNvSpPr/>
          <p:nvPr/>
        </p:nvSpPr>
        <p:spPr>
          <a:xfrm>
            <a:off x="4847555" y="3005733"/>
            <a:ext cx="3777928" cy="151433"/>
          </a:xfrm>
          <a:prstGeom prst="rect">
            <a:avLst/>
          </a:prstGeom>
          <a:noFill/>
          <a:ln/>
        </p:spPr>
        <p:txBody>
          <a:bodyPr wrap="none" lIns="0" tIns="0" rIns="0" bIns="0" rtlCol="0" anchor="t"/>
          <a:lstStyle/>
          <a:p>
            <a:pPr marL="0" indent="0" algn="l">
              <a:lnSpc>
                <a:spcPct val="104000"/>
              </a:lnSpc>
              <a:buNone/>
            </a:pPr>
            <a:r>
              <a:rPr lang="en-US" sz="950" dirty="0">
                <a:solidFill>
                  <a:srgbClr val="000000"/>
                </a:solidFill>
                <a:latin typeface="Alexandria Medium" pitchFamily="34" charset="0"/>
                <a:ea typeface="Alexandria Medium" pitchFamily="34" charset="-122"/>
                <a:cs typeface="Alexandria Medium" pitchFamily="34" charset="-120"/>
              </a:rPr>
              <a:t>In the Church</a:t>
            </a:r>
            <a:endParaRPr lang="en-US" sz="950" dirty="0"/>
          </a:p>
        </p:txBody>
      </p:sp>
      <p:sp>
        <p:nvSpPr>
          <p:cNvPr id="19" name="Text 13"/>
          <p:cNvSpPr/>
          <p:nvPr/>
        </p:nvSpPr>
        <p:spPr>
          <a:xfrm>
            <a:off x="4847555" y="3232845"/>
            <a:ext cx="3777928" cy="138038"/>
          </a:xfrm>
          <a:prstGeom prst="rect">
            <a:avLst/>
          </a:prstGeom>
          <a:noFill/>
          <a:ln/>
        </p:spPr>
        <p:txBody>
          <a:bodyPr wrap="none" lIns="0" tIns="0" rIns="0" bIns="0" rtlCol="0" anchor="t"/>
          <a:lstStyle/>
          <a:p>
            <a:pPr marL="0" indent="0" algn="l">
              <a:lnSpc>
                <a:spcPct val="119000"/>
              </a:lnSpc>
              <a:buNone/>
            </a:pPr>
            <a:r>
              <a:rPr lang="en-US" sz="750" dirty="0">
                <a:solidFill>
                  <a:srgbClr val="000000"/>
                </a:solidFill>
                <a:latin typeface="Manrope" pitchFamily="34" charset="0"/>
                <a:ea typeface="Manrope" pitchFamily="34" charset="-122"/>
                <a:cs typeface="Manrope" pitchFamily="34" charset="-120"/>
              </a:rPr>
              <a:t>He shows himself as the God of a new people</a:t>
            </a:r>
            <a:endParaRPr lang="en-US" sz="750" dirty="0"/>
          </a:p>
        </p:txBody>
      </p:sp>
      <p:sp>
        <p:nvSpPr>
          <p:cNvPr id="20" name="Text 14"/>
          <p:cNvSpPr/>
          <p:nvPr/>
        </p:nvSpPr>
        <p:spPr>
          <a:xfrm>
            <a:off x="4722093" y="3456012"/>
            <a:ext cx="3903390" cy="552152"/>
          </a:xfrm>
          <a:prstGeom prst="rect">
            <a:avLst/>
          </a:prstGeom>
          <a:noFill/>
          <a:ln/>
        </p:spPr>
        <p:txBody>
          <a:bodyPr wrap="square" lIns="0" tIns="0" rIns="0" bIns="0" rtlCol="0" anchor="t">
            <a:normAutofit/>
          </a:bodyPr>
          <a:lstStyle/>
          <a:p>
            <a:pPr marL="0" indent="0" algn="l">
              <a:lnSpc>
                <a:spcPct val="119000"/>
              </a:lnSpc>
              <a:buNone/>
            </a:pPr>
            <a:r>
              <a:rPr lang="en-US" sz="750" dirty="0">
                <a:solidFill>
                  <a:srgbClr val="000000"/>
                </a:solidFill>
                <a:latin typeface="Manrope" pitchFamily="34" charset="0"/>
                <a:ea typeface="Manrope" pitchFamily="34" charset="-122"/>
                <a:cs typeface="Manrope" pitchFamily="34" charset="-120"/>
              </a:rPr>
              <a:t>Jesus Christ is the fullness of revelation. With his resurrection and the sending of the Spirit, no new public revelation is to be expected before his glorious return. The Second Vatican Council affirms that God is present and at work in other cultures and religions and wills the salvation of all.</a:t>
            </a:r>
            <a:endParaRPr lang="en-US" sz="750" dirty="0"/>
          </a:p>
        </p:txBody>
      </p:sp>
      <p:sp>
        <p:nvSpPr>
          <p:cNvPr id="21" name="Shape 15"/>
          <p:cNvSpPr/>
          <p:nvPr/>
        </p:nvSpPr>
        <p:spPr>
          <a:xfrm>
            <a:off x="496119" y="4161383"/>
            <a:ext cx="8151763" cy="606251"/>
          </a:xfrm>
          <a:prstGeom prst="roundRect">
            <a:avLst>
              <a:gd name="adj" fmla="val 23978"/>
            </a:avLst>
          </a:prstGeom>
          <a:solidFill>
            <a:srgbClr val="CDEFFE"/>
          </a:solidFill>
          <a:ln/>
        </p:spPr>
        <p:txBody>
          <a:bodyPr/>
          <a:lstStyle/>
          <a:p>
            <a:endParaRPr lang="en-IN"/>
          </a:p>
        </p:txBody>
      </p:sp>
      <p:pic>
        <p:nvPicPr>
          <p:cNvPr id="22" name="Image 4" descr="preencoded.png"/>
          <p:cNvPicPr>
            <a:picLocks noChangeAspect="1"/>
          </p:cNvPicPr>
          <p:nvPr/>
        </p:nvPicPr>
        <p:blipFill>
          <a:blip r:embed="rId4"/>
          <a:stretch>
            <a:fillRect/>
          </a:stretch>
        </p:blipFill>
        <p:spPr>
          <a:xfrm>
            <a:off x="593006" y="4288110"/>
            <a:ext cx="121072" cy="96887"/>
          </a:xfrm>
          <a:prstGeom prst="rect">
            <a:avLst/>
          </a:prstGeom>
        </p:spPr>
      </p:pic>
      <p:sp>
        <p:nvSpPr>
          <p:cNvPr id="23" name="Text 16"/>
          <p:cNvSpPr/>
          <p:nvPr/>
        </p:nvSpPr>
        <p:spPr>
          <a:xfrm>
            <a:off x="810964" y="4261247"/>
            <a:ext cx="7740030" cy="414114"/>
          </a:xfrm>
          <a:prstGeom prst="rect">
            <a:avLst/>
          </a:prstGeom>
          <a:noFill/>
          <a:ln/>
        </p:spPr>
        <p:txBody>
          <a:bodyPr wrap="square" lIns="0" tIns="0" rIns="0" bIns="0" rtlCol="0" anchor="t">
            <a:normAutofit/>
          </a:bodyPr>
          <a:lstStyle/>
          <a:p>
            <a:pPr marL="0" indent="0" algn="l">
              <a:lnSpc>
                <a:spcPct val="119000"/>
              </a:lnSpc>
              <a:buNone/>
            </a:pPr>
            <a:r>
              <a:rPr lang="en-US" sz="750" dirty="0">
                <a:solidFill>
                  <a:srgbClr val="000000"/>
                </a:solidFill>
                <a:latin typeface="Manrope" pitchFamily="34" charset="0"/>
                <a:ea typeface="Manrope" pitchFamily="34" charset="-122"/>
                <a:cs typeface="Manrope" pitchFamily="34" charset="-120"/>
              </a:rPr>
              <a:t>All study of theology begins with its two foundations, faith and revelation, which is why the first discipline a student meets is called fundamental theology. The Abba experience of Jesus, the Kingdom of God that the disciples saw in him, is the starting point of Christianity. At the centre of Christian revelation stands the Trinity — the source, the model, and the reference point of every human community.</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383381"/>
            <a:ext cx="8151763" cy="333077"/>
          </a:xfrm>
          <a:prstGeom prst="rect">
            <a:avLst/>
          </a:prstGeom>
          <a:noFill/>
          <a:ln/>
        </p:spPr>
        <p:txBody>
          <a:bodyPr wrap="none" lIns="0" tIns="0" rIns="0" bIns="0" rtlCol="0" anchor="t"/>
          <a:lstStyle/>
          <a:p>
            <a:pPr marL="0" indent="0" algn="l">
              <a:lnSpc>
                <a:spcPct val="104000"/>
              </a:lnSpc>
              <a:buNone/>
            </a:pPr>
            <a:r>
              <a:rPr lang="en-US" sz="2050" dirty="0">
                <a:solidFill>
                  <a:srgbClr val="5B6E8C"/>
                </a:solidFill>
                <a:latin typeface="Alexandria Medium" pitchFamily="34" charset="0"/>
                <a:ea typeface="Alexandria Medium" pitchFamily="34" charset="-122"/>
                <a:cs typeface="Alexandria Medium" pitchFamily="34" charset="-120"/>
              </a:rPr>
              <a:t>9. The Sources of Theology</a:t>
            </a:r>
            <a:endParaRPr lang="en-US" sz="2050" dirty="0"/>
          </a:p>
        </p:txBody>
      </p:sp>
      <p:sp>
        <p:nvSpPr>
          <p:cNvPr id="3" name="Text 1"/>
          <p:cNvSpPr/>
          <p:nvPr/>
        </p:nvSpPr>
        <p:spPr>
          <a:xfrm>
            <a:off x="496119" y="899666"/>
            <a:ext cx="8151763" cy="475729"/>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5B6E8C"/>
                </a:solidFill>
                <a:latin typeface="Manrope" pitchFamily="34" charset="0"/>
                <a:ea typeface="Manrope" pitchFamily="34" charset="-122"/>
                <a:cs typeface="Manrope" pitchFamily="34" charset="-120"/>
              </a:rPr>
              <a:t>Theology draws its content from sources, and the three primary sources are Sacred Scripture, Sacred Tradition, and the Magisterium of the Church. The Second Vatican Council teaches that these three are so joined that none of them can stand without the others, each serving in its own way under the action of the one Holy Spirit for the salvation of the world.</a:t>
            </a:r>
            <a:endParaRPr lang="en-US" sz="800" dirty="0"/>
          </a:p>
        </p:txBody>
      </p:sp>
      <p:sp>
        <p:nvSpPr>
          <p:cNvPr id="4" name="Shape 2"/>
          <p:cNvSpPr/>
          <p:nvPr/>
        </p:nvSpPr>
        <p:spPr>
          <a:xfrm>
            <a:off x="496119" y="1478384"/>
            <a:ext cx="2656136" cy="1395561"/>
          </a:xfrm>
          <a:prstGeom prst="roundRect">
            <a:avLst>
              <a:gd name="adj" fmla="val 11458"/>
            </a:avLst>
          </a:prstGeom>
          <a:solidFill>
            <a:srgbClr val="E6F7FF"/>
          </a:solidFill>
          <a:ln w="4763">
            <a:solidFill>
              <a:srgbClr val="B3D5E4"/>
            </a:solidFill>
            <a:prstDash val="solid"/>
          </a:ln>
        </p:spPr>
        <p:txBody>
          <a:bodyPr/>
          <a:lstStyle/>
          <a:p>
            <a:endParaRPr lang="en-IN"/>
          </a:p>
        </p:txBody>
      </p:sp>
      <p:sp>
        <p:nvSpPr>
          <p:cNvPr id="5" name="Text 3"/>
          <p:cNvSpPr/>
          <p:nvPr/>
        </p:nvSpPr>
        <p:spPr>
          <a:xfrm>
            <a:off x="607442" y="1589708"/>
            <a:ext cx="2433489" cy="166539"/>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Alexandria Medium" pitchFamily="34" charset="0"/>
                <a:ea typeface="Alexandria Medium" pitchFamily="34" charset="-122"/>
                <a:cs typeface="Alexandria Medium" pitchFamily="34" charset="-120"/>
              </a:rPr>
              <a:t>Sacred Scripture</a:t>
            </a:r>
            <a:endParaRPr lang="en-US" sz="1000" dirty="0"/>
          </a:p>
        </p:txBody>
      </p:sp>
      <p:sp>
        <p:nvSpPr>
          <p:cNvPr id="6" name="Text 4"/>
          <p:cNvSpPr/>
          <p:nvPr/>
        </p:nvSpPr>
        <p:spPr>
          <a:xfrm>
            <a:off x="607442" y="1811164"/>
            <a:ext cx="2433489" cy="951458"/>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000000"/>
                </a:solidFill>
                <a:latin typeface="Manrope" pitchFamily="34" charset="0"/>
                <a:ea typeface="Manrope" pitchFamily="34" charset="-122"/>
                <a:cs typeface="Manrope" pitchFamily="34" charset="-120"/>
              </a:rPr>
              <a:t>The Bible — 73 books (46 Old Testament, 27 New Testament). The four Gospels hold the central place. Scripture is the norm that norms all other norms and is itself normed by none. </a:t>
            </a:r>
            <a:r>
              <a:rPr lang="en-US" sz="800" i="1" dirty="0">
                <a:solidFill>
                  <a:srgbClr val="000000"/>
                </a:solidFill>
                <a:latin typeface="Manrope" pitchFamily="34" charset="0"/>
                <a:ea typeface="Manrope" pitchFamily="34" charset="-122"/>
                <a:cs typeface="Manrope" pitchFamily="34" charset="-120"/>
              </a:rPr>
              <a:t>Dei Verbum</a:t>
            </a:r>
            <a:r>
              <a:rPr lang="en-US" sz="800" dirty="0">
                <a:solidFill>
                  <a:srgbClr val="000000"/>
                </a:solidFill>
                <a:latin typeface="Manrope" pitchFamily="34" charset="0"/>
                <a:ea typeface="Manrope" pitchFamily="34" charset="-122"/>
                <a:cs typeface="Manrope" pitchFamily="34" charset="-120"/>
              </a:rPr>
              <a:t> calls it the soul of theology. The New lies hidden in the Old; the Old is unveiled in the New.</a:t>
            </a:r>
            <a:endParaRPr lang="en-US" sz="800" dirty="0"/>
          </a:p>
        </p:txBody>
      </p:sp>
      <p:sp>
        <p:nvSpPr>
          <p:cNvPr id="7" name="Shape 5"/>
          <p:cNvSpPr/>
          <p:nvPr/>
        </p:nvSpPr>
        <p:spPr>
          <a:xfrm>
            <a:off x="3243858" y="1478384"/>
            <a:ext cx="2656210" cy="1395561"/>
          </a:xfrm>
          <a:prstGeom prst="roundRect">
            <a:avLst>
              <a:gd name="adj" fmla="val 11458"/>
            </a:avLst>
          </a:prstGeom>
          <a:solidFill>
            <a:srgbClr val="E6F7FF"/>
          </a:solidFill>
          <a:ln w="4763">
            <a:solidFill>
              <a:srgbClr val="B3D5E4"/>
            </a:solidFill>
            <a:prstDash val="solid"/>
          </a:ln>
        </p:spPr>
        <p:txBody>
          <a:bodyPr/>
          <a:lstStyle/>
          <a:p>
            <a:endParaRPr lang="en-IN"/>
          </a:p>
        </p:txBody>
      </p:sp>
      <p:sp>
        <p:nvSpPr>
          <p:cNvPr id="8" name="Text 6"/>
          <p:cNvSpPr/>
          <p:nvPr/>
        </p:nvSpPr>
        <p:spPr>
          <a:xfrm>
            <a:off x="3355181" y="1589708"/>
            <a:ext cx="2433563" cy="166539"/>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Alexandria Medium" pitchFamily="34" charset="0"/>
                <a:ea typeface="Alexandria Medium" pitchFamily="34" charset="-122"/>
                <a:cs typeface="Alexandria Medium" pitchFamily="34" charset="-120"/>
              </a:rPr>
              <a:t>Sacred Tradition</a:t>
            </a:r>
            <a:endParaRPr lang="en-US" sz="1000" dirty="0"/>
          </a:p>
        </p:txBody>
      </p:sp>
      <p:sp>
        <p:nvSpPr>
          <p:cNvPr id="9" name="Text 7"/>
          <p:cNvSpPr/>
          <p:nvPr/>
        </p:nvSpPr>
        <p:spPr>
          <a:xfrm>
            <a:off x="3355181" y="1811164"/>
            <a:ext cx="2433563" cy="951458"/>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000000"/>
                </a:solidFill>
                <a:latin typeface="Manrope" pitchFamily="34" charset="0"/>
                <a:ea typeface="Manrope" pitchFamily="34" charset="-122"/>
                <a:cs typeface="Manrope" pitchFamily="34" charset="-120"/>
              </a:rPr>
              <a:t>From the Latin </a:t>
            </a:r>
            <a:r>
              <a:rPr lang="en-US" sz="800" i="1" dirty="0">
                <a:solidFill>
                  <a:srgbClr val="000000"/>
                </a:solidFill>
                <a:latin typeface="Manrope" pitchFamily="34" charset="0"/>
                <a:ea typeface="Manrope" pitchFamily="34" charset="-122"/>
                <a:cs typeface="Manrope" pitchFamily="34" charset="-120"/>
              </a:rPr>
              <a:t>tradere</a:t>
            </a:r>
            <a:r>
              <a:rPr lang="en-US" sz="800" dirty="0">
                <a:solidFill>
                  <a:srgbClr val="000000"/>
                </a:solidFill>
                <a:latin typeface="Manrope" pitchFamily="34" charset="0"/>
                <a:ea typeface="Manrope" pitchFamily="34" charset="-122"/>
                <a:cs typeface="Manrope" pitchFamily="34" charset="-120"/>
              </a:rPr>
              <a:t>, to hand over. The whole living life of the Church, rooted in the apostolic preaching and continuing to grow today — the sum of the belief, worship, and practice of the community. Carried through liturgy, creeds, doctrines, canon law, and the Catechism.</a:t>
            </a:r>
            <a:endParaRPr lang="en-US" sz="800" dirty="0"/>
          </a:p>
        </p:txBody>
      </p:sp>
      <p:sp>
        <p:nvSpPr>
          <p:cNvPr id="10" name="Shape 8"/>
          <p:cNvSpPr/>
          <p:nvPr/>
        </p:nvSpPr>
        <p:spPr>
          <a:xfrm>
            <a:off x="5991671" y="1478384"/>
            <a:ext cx="2656210" cy="1395561"/>
          </a:xfrm>
          <a:prstGeom prst="roundRect">
            <a:avLst>
              <a:gd name="adj" fmla="val 11458"/>
            </a:avLst>
          </a:prstGeom>
          <a:solidFill>
            <a:srgbClr val="E6F7FF"/>
          </a:solidFill>
          <a:ln w="4763">
            <a:solidFill>
              <a:srgbClr val="B3D5E4"/>
            </a:solidFill>
            <a:prstDash val="solid"/>
          </a:ln>
        </p:spPr>
        <p:txBody>
          <a:bodyPr/>
          <a:lstStyle/>
          <a:p>
            <a:endParaRPr lang="en-IN"/>
          </a:p>
        </p:txBody>
      </p:sp>
      <p:sp>
        <p:nvSpPr>
          <p:cNvPr id="11" name="Text 9"/>
          <p:cNvSpPr/>
          <p:nvPr/>
        </p:nvSpPr>
        <p:spPr>
          <a:xfrm>
            <a:off x="6102995" y="1589708"/>
            <a:ext cx="2433563" cy="166539"/>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Alexandria Medium" pitchFamily="34" charset="0"/>
                <a:ea typeface="Alexandria Medium" pitchFamily="34" charset="-122"/>
                <a:cs typeface="Alexandria Medium" pitchFamily="34" charset="-120"/>
              </a:rPr>
              <a:t>The Magisterium</a:t>
            </a:r>
            <a:endParaRPr lang="en-US" sz="1000" dirty="0"/>
          </a:p>
        </p:txBody>
      </p:sp>
      <p:sp>
        <p:nvSpPr>
          <p:cNvPr id="12" name="Text 10"/>
          <p:cNvSpPr/>
          <p:nvPr/>
        </p:nvSpPr>
        <p:spPr>
          <a:xfrm>
            <a:off x="6102995" y="1811164"/>
            <a:ext cx="2433563" cy="951458"/>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000000"/>
                </a:solidFill>
                <a:latin typeface="Manrope" pitchFamily="34" charset="0"/>
                <a:ea typeface="Manrope" pitchFamily="34" charset="-122"/>
                <a:cs typeface="Manrope" pitchFamily="34" charset="-120"/>
              </a:rPr>
              <a:t>The teaching office of the Church — the Pope and the bishops. Not above the Word of God but its servant. Two modes: ordinary (daily preaching and guidance) and extraordinary (ecumenical council or papal definition from the chair of Peter).</a:t>
            </a:r>
            <a:endParaRPr lang="en-US" sz="800" dirty="0"/>
          </a:p>
        </p:txBody>
      </p:sp>
      <p:sp>
        <p:nvSpPr>
          <p:cNvPr id="13" name="Text 11"/>
          <p:cNvSpPr/>
          <p:nvPr/>
        </p:nvSpPr>
        <p:spPr>
          <a:xfrm>
            <a:off x="496119" y="3068538"/>
            <a:ext cx="3945880" cy="166539"/>
          </a:xfrm>
          <a:prstGeom prst="rect">
            <a:avLst/>
          </a:prstGeom>
          <a:noFill/>
          <a:ln/>
        </p:spPr>
        <p:txBody>
          <a:bodyPr wrap="none" lIns="0" tIns="0" rIns="0" bIns="0" rtlCol="0" anchor="t"/>
          <a:lstStyle/>
          <a:p>
            <a:pPr marL="0" indent="0" algn="l">
              <a:lnSpc>
                <a:spcPct val="104000"/>
              </a:lnSpc>
              <a:buNone/>
            </a:pPr>
            <a:r>
              <a:rPr lang="en-US" sz="1000" dirty="0">
                <a:solidFill>
                  <a:srgbClr val="5B6E8C"/>
                </a:solidFill>
                <a:latin typeface="Alexandria Medium" pitchFamily="34" charset="0"/>
                <a:ea typeface="Alexandria Medium" pitchFamily="34" charset="-122"/>
                <a:cs typeface="Alexandria Medium" pitchFamily="34" charset="-120"/>
              </a:rPr>
              <a:t>The Eastern Catholic Churches</a:t>
            </a:r>
            <a:endParaRPr lang="en-US" sz="1000" dirty="0"/>
          </a:p>
        </p:txBody>
      </p:sp>
      <p:sp>
        <p:nvSpPr>
          <p:cNvPr id="14" name="Text 12"/>
          <p:cNvSpPr/>
          <p:nvPr/>
        </p:nvSpPr>
        <p:spPr>
          <a:xfrm>
            <a:off x="496119" y="3326681"/>
            <a:ext cx="3945880" cy="951458"/>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5B6E8C"/>
                </a:solidFill>
                <a:latin typeface="Manrope" pitchFamily="34" charset="0"/>
                <a:ea typeface="Manrope" pitchFamily="34" charset="-122"/>
                <a:cs typeface="Manrope" pitchFamily="34" charset="-120"/>
              </a:rPr>
              <a:t>Among the living traditions are the Eastern and the Western Churches, of equal dignity — twenty-three Eastern Catholic Churches together with the Latin Church, making twenty-four Churches in full communion, following the great liturgical families of Rome, Alexandria, Antioch, Armenia, Chaldea, and Byzantium. Two of these Eastern Catholic Churches are in India: the Syro-Malabar and the Syro-Malankara.</a:t>
            </a:r>
            <a:endParaRPr lang="en-US" sz="800" dirty="0"/>
          </a:p>
        </p:txBody>
      </p:sp>
      <p:sp>
        <p:nvSpPr>
          <p:cNvPr id="15" name="Shape 13"/>
          <p:cNvSpPr/>
          <p:nvPr/>
        </p:nvSpPr>
        <p:spPr>
          <a:xfrm>
            <a:off x="4630043" y="2976935"/>
            <a:ext cx="4099322" cy="1783110"/>
          </a:xfrm>
          <a:prstGeom prst="roundRect">
            <a:avLst>
              <a:gd name="adj" fmla="val 14348"/>
            </a:avLst>
          </a:prstGeom>
          <a:solidFill>
            <a:srgbClr val="AAE4FE"/>
          </a:solidFill>
          <a:ln/>
        </p:spPr>
        <p:txBody>
          <a:bodyPr/>
          <a:lstStyle/>
          <a:p>
            <a:endParaRPr lang="en-IN"/>
          </a:p>
        </p:txBody>
      </p:sp>
      <p:sp>
        <p:nvSpPr>
          <p:cNvPr id="16" name="Text 14"/>
          <p:cNvSpPr/>
          <p:nvPr/>
        </p:nvSpPr>
        <p:spPr>
          <a:xfrm>
            <a:off x="4736604" y="3068538"/>
            <a:ext cx="3886200" cy="166539"/>
          </a:xfrm>
          <a:prstGeom prst="rect">
            <a:avLst/>
          </a:prstGeom>
          <a:noFill/>
          <a:ln/>
        </p:spPr>
        <p:txBody>
          <a:bodyPr wrap="none" lIns="0" tIns="0" rIns="0" bIns="0" rtlCol="0" anchor="t"/>
          <a:lstStyle/>
          <a:p>
            <a:pPr marL="0" indent="0" algn="l">
              <a:lnSpc>
                <a:spcPct val="104000"/>
              </a:lnSpc>
              <a:buNone/>
            </a:pPr>
            <a:r>
              <a:rPr lang="en-US" sz="1000" dirty="0">
                <a:solidFill>
                  <a:srgbClr val="000000"/>
                </a:solidFill>
                <a:latin typeface="Alexandria Medium" pitchFamily="34" charset="0"/>
                <a:ea typeface="Alexandria Medium" pitchFamily="34" charset="-122"/>
                <a:cs typeface="Alexandria Medium" pitchFamily="34" charset="-120"/>
              </a:rPr>
              <a:t>Synodality and the </a:t>
            </a:r>
            <a:r>
              <a:rPr lang="en-US" sz="1000" i="1" dirty="0">
                <a:solidFill>
                  <a:srgbClr val="000000"/>
                </a:solidFill>
                <a:latin typeface="Alexandria Medium" pitchFamily="34" charset="0"/>
                <a:ea typeface="Alexandria Medium" pitchFamily="34" charset="-122"/>
                <a:cs typeface="Alexandria Medium" pitchFamily="34" charset="-120"/>
              </a:rPr>
              <a:t>Sensus Fidei</a:t>
            </a:r>
            <a:endParaRPr lang="en-US" sz="1000" dirty="0"/>
          </a:p>
        </p:txBody>
      </p:sp>
      <p:sp>
        <p:nvSpPr>
          <p:cNvPr id="17" name="Text 15"/>
          <p:cNvSpPr/>
          <p:nvPr/>
        </p:nvSpPr>
        <p:spPr>
          <a:xfrm>
            <a:off x="4736604" y="3326681"/>
            <a:ext cx="3886200" cy="1350987"/>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000000"/>
                </a:solidFill>
                <a:latin typeface="Manrope" pitchFamily="34" charset="0"/>
                <a:ea typeface="Manrope" pitchFamily="34" charset="-122"/>
                <a:cs typeface="Manrope" pitchFamily="34" charset="-120"/>
              </a:rPr>
              <a:t>Synodality — from the Greek </a:t>
            </a:r>
            <a:r>
              <a:rPr lang="en-US" sz="800" i="1" dirty="0">
                <a:solidFill>
                  <a:srgbClr val="000000"/>
                </a:solidFill>
                <a:latin typeface="Manrope" pitchFamily="34" charset="0"/>
                <a:ea typeface="Manrope" pitchFamily="34" charset="-122"/>
                <a:cs typeface="Manrope" pitchFamily="34" charset="-120"/>
              </a:rPr>
              <a:t>synodos</a:t>
            </a:r>
            <a:r>
              <a:rPr lang="en-US" sz="800" dirty="0">
                <a:solidFill>
                  <a:srgbClr val="000000"/>
                </a:solidFill>
                <a:latin typeface="Manrope" pitchFamily="34" charset="0"/>
                <a:ea typeface="Manrope" pitchFamily="34" charset="-122"/>
                <a:cs typeface="Manrope" pitchFamily="34" charset="-120"/>
              </a:rPr>
              <a:t>, the path walked together — is the way the whole Church listens together for the voice of the Spirit. Pope Francis names the hardest thing: listening, because while another is speaking we are already preparing our reply. The cure: the apostolate of the ear.</a:t>
            </a:r>
            <a:endParaRPr lang="en-US" sz="800" dirty="0"/>
          </a:p>
          <a:p>
            <a:pPr marL="0" indent="0" algn="l">
              <a:lnSpc>
                <a:spcPct val="124000"/>
              </a:lnSpc>
              <a:buNone/>
            </a:pPr>
            <a:r>
              <a:rPr lang="en-US" sz="800" dirty="0">
                <a:solidFill>
                  <a:srgbClr val="000000"/>
                </a:solidFill>
                <a:latin typeface="Manrope" pitchFamily="34" charset="0"/>
                <a:ea typeface="Manrope" pitchFamily="34" charset="-122"/>
                <a:cs typeface="Manrope" pitchFamily="34" charset="-120"/>
              </a:rPr>
              <a:t>The </a:t>
            </a:r>
            <a:r>
              <a:rPr lang="en-US" sz="800" i="1" dirty="0">
                <a:solidFill>
                  <a:srgbClr val="000000"/>
                </a:solidFill>
                <a:latin typeface="Manrope" pitchFamily="34" charset="0"/>
                <a:ea typeface="Manrope" pitchFamily="34" charset="-122"/>
                <a:cs typeface="Manrope" pitchFamily="34" charset="-120"/>
              </a:rPr>
              <a:t>sensus fidei</a:t>
            </a:r>
            <a:r>
              <a:rPr lang="en-US" sz="800" dirty="0">
                <a:solidFill>
                  <a:srgbClr val="000000"/>
                </a:solidFill>
                <a:latin typeface="Manrope" pitchFamily="34" charset="0"/>
                <a:ea typeface="Manrope" pitchFamily="34" charset="-122"/>
                <a:cs typeface="Manrope" pitchFamily="34" charset="-120"/>
              </a:rPr>
              <a:t> — the sense of the faith — and the </a:t>
            </a:r>
            <a:r>
              <a:rPr lang="en-US" sz="800" i="1" dirty="0">
                <a:solidFill>
                  <a:srgbClr val="000000"/>
                </a:solidFill>
                <a:latin typeface="Manrope" pitchFamily="34" charset="0"/>
                <a:ea typeface="Manrope" pitchFamily="34" charset="-122"/>
                <a:cs typeface="Manrope" pitchFamily="34" charset="-120"/>
              </a:rPr>
              <a:t>sensus fidelium</a:t>
            </a:r>
            <a:r>
              <a:rPr lang="en-US" sz="800" dirty="0">
                <a:solidFill>
                  <a:srgbClr val="000000"/>
                </a:solidFill>
                <a:latin typeface="Manrope" pitchFamily="34" charset="0"/>
                <a:ea typeface="Manrope" pitchFamily="34" charset="-122"/>
                <a:cs typeface="Manrope" pitchFamily="34" charset="-120"/>
              </a:rPr>
              <a:t> — the sense of the faithful — affirm that the deposit of faith lives in the whole body of the baptised. The Magisterium listens to and consults this sense before it judges in matters of faith and morals.</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341114"/>
            <a:ext cx="8151763" cy="193849"/>
          </a:xfrm>
          <a:prstGeom prst="rect">
            <a:avLst/>
          </a:prstGeom>
          <a:noFill/>
          <a:ln/>
        </p:spPr>
        <p:txBody>
          <a:bodyPr wrap="none" lIns="0" tIns="0" rIns="0" bIns="0" rtlCol="0" anchor="t"/>
          <a:lstStyle/>
          <a:p>
            <a:pPr marL="0" indent="0" algn="l">
              <a:lnSpc>
                <a:spcPct val="104000"/>
              </a:lnSpc>
              <a:buNone/>
            </a:pPr>
            <a:r>
              <a:rPr lang="en-US" sz="1200" dirty="0">
                <a:solidFill>
                  <a:srgbClr val="5B6E8C"/>
                </a:solidFill>
                <a:latin typeface="Alexandria Medium" pitchFamily="34" charset="0"/>
                <a:ea typeface="Alexandria Medium" pitchFamily="34" charset="-122"/>
                <a:cs typeface="Alexandria Medium" pitchFamily="34" charset="-120"/>
              </a:rPr>
              <a:t>10. The Resources of Theology</a:t>
            </a:r>
            <a:endParaRPr lang="en-US" sz="1200" dirty="0"/>
          </a:p>
        </p:txBody>
      </p:sp>
      <p:sp>
        <p:nvSpPr>
          <p:cNvPr id="3" name="Text 1"/>
          <p:cNvSpPr/>
          <p:nvPr/>
        </p:nvSpPr>
        <p:spPr>
          <a:xfrm>
            <a:off x="496119" y="596950"/>
            <a:ext cx="8608963" cy="74340"/>
          </a:xfrm>
          <a:prstGeom prst="rect">
            <a:avLst/>
          </a:prstGeom>
          <a:noFill/>
          <a:ln/>
        </p:spPr>
        <p:txBody>
          <a:bodyPr wrap="none" lIns="0" tIns="0" rIns="0" bIns="0" rtlCol="0" anchor="t"/>
          <a:lstStyle/>
          <a:p>
            <a:pPr marL="0" indent="0" algn="l">
              <a:lnSpc>
                <a:spcPct val="100000"/>
              </a:lnSpc>
              <a:buNone/>
            </a:pPr>
            <a:r>
              <a:rPr lang="en-US" sz="450" dirty="0">
                <a:solidFill>
                  <a:srgbClr val="5B6E8C"/>
                </a:solidFill>
                <a:latin typeface="Manrope" pitchFamily="34" charset="0"/>
                <a:ea typeface="Manrope" pitchFamily="34" charset="-122"/>
                <a:cs typeface="Manrope" pitchFamily="34" charset="-120"/>
              </a:rPr>
              <a:t>Besides its sources, theology has resources — places where God is present and active in the world through people and their experience.</a:t>
            </a:r>
            <a:endParaRPr lang="en-US" sz="4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706115"/>
            <a:ext cx="155004" cy="155004"/>
          </a:xfrm>
          <a:prstGeom prst="rect">
            <a:avLst/>
          </a:prstGeom>
        </p:spPr>
      </p:pic>
      <p:sp>
        <p:nvSpPr>
          <p:cNvPr id="5" name="Text 2"/>
          <p:cNvSpPr/>
          <p:nvPr/>
        </p:nvSpPr>
        <p:spPr>
          <a:xfrm>
            <a:off x="496119" y="899815"/>
            <a:ext cx="2691408" cy="96887"/>
          </a:xfrm>
          <a:prstGeom prst="rect">
            <a:avLst/>
          </a:prstGeom>
          <a:noFill/>
          <a:ln/>
        </p:spPr>
        <p:txBody>
          <a:bodyPr wrap="none" lIns="0" tIns="0" rIns="0" bIns="0" rtlCol="0" anchor="t"/>
          <a:lstStyle/>
          <a:p>
            <a:pPr marL="0" indent="0" algn="l">
              <a:lnSpc>
                <a:spcPct val="104000"/>
              </a:lnSpc>
              <a:buNone/>
            </a:pPr>
            <a:r>
              <a:rPr lang="en-US" sz="600" dirty="0">
                <a:solidFill>
                  <a:srgbClr val="5B6E8C"/>
                </a:solidFill>
                <a:latin typeface="Alexandria Medium" pitchFamily="34" charset="0"/>
                <a:ea typeface="Alexandria Medium" pitchFamily="34" charset="-122"/>
                <a:cs typeface="Alexandria Medium" pitchFamily="34" charset="-120"/>
              </a:rPr>
              <a:t>Human Experience</a:t>
            </a:r>
            <a:endParaRPr lang="en-US" sz="600" dirty="0"/>
          </a:p>
        </p:txBody>
      </p:sp>
      <p:sp>
        <p:nvSpPr>
          <p:cNvPr id="6" name="Text 3"/>
          <p:cNvSpPr/>
          <p:nvPr/>
        </p:nvSpPr>
        <p:spPr>
          <a:xfrm>
            <a:off x="496119" y="1015305"/>
            <a:ext cx="2691408" cy="22301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5B6E8C"/>
                </a:solidFill>
                <a:latin typeface="Manrope" pitchFamily="34" charset="0"/>
                <a:ea typeface="Manrope" pitchFamily="34" charset="-122"/>
                <a:cs typeface="Manrope" pitchFamily="34" charset="-120"/>
              </a:rPr>
              <a:t>The revelation of God reaches the human person through experience, and so experience is the starting point of all religious and theological searching. Human experience is stored in art, architecture, music, dance, story, poetry, literature, and philosophy.</a:t>
            </a:r>
            <a:endParaRPr lang="en-US" sz="4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6222" y="706115"/>
            <a:ext cx="155004" cy="155004"/>
          </a:xfrm>
          <a:prstGeom prst="rect">
            <a:avLst/>
          </a:prstGeom>
        </p:spPr>
      </p:pic>
      <p:sp>
        <p:nvSpPr>
          <p:cNvPr id="8" name="Text 4"/>
          <p:cNvSpPr/>
          <p:nvPr/>
        </p:nvSpPr>
        <p:spPr>
          <a:xfrm>
            <a:off x="3226222" y="899815"/>
            <a:ext cx="2691482" cy="96887"/>
          </a:xfrm>
          <a:prstGeom prst="rect">
            <a:avLst/>
          </a:prstGeom>
          <a:noFill/>
          <a:ln/>
        </p:spPr>
        <p:txBody>
          <a:bodyPr wrap="none" lIns="0" tIns="0" rIns="0" bIns="0" rtlCol="0" anchor="t"/>
          <a:lstStyle/>
          <a:p>
            <a:pPr marL="0" indent="0" algn="l">
              <a:lnSpc>
                <a:spcPct val="104000"/>
              </a:lnSpc>
              <a:buNone/>
            </a:pPr>
            <a:r>
              <a:rPr lang="en-US" sz="600" dirty="0">
                <a:solidFill>
                  <a:srgbClr val="5B6E8C"/>
                </a:solidFill>
                <a:latin typeface="Alexandria Medium" pitchFamily="34" charset="0"/>
                <a:ea typeface="Alexandria Medium" pitchFamily="34" charset="-122"/>
                <a:cs typeface="Alexandria Medium" pitchFamily="34" charset="-120"/>
              </a:rPr>
              <a:t>Socio-Cultural Heritage</a:t>
            </a:r>
            <a:endParaRPr lang="en-US" sz="600" dirty="0"/>
          </a:p>
        </p:txBody>
      </p:sp>
      <p:sp>
        <p:nvSpPr>
          <p:cNvPr id="9" name="Text 5"/>
          <p:cNvSpPr/>
          <p:nvPr/>
        </p:nvSpPr>
        <p:spPr>
          <a:xfrm>
            <a:off x="3226222" y="1015305"/>
            <a:ext cx="2691482" cy="22301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5B6E8C"/>
                </a:solidFill>
                <a:latin typeface="Manrope" pitchFamily="34" charset="0"/>
                <a:ea typeface="Manrope" pitchFamily="34" charset="-122"/>
                <a:cs typeface="Manrope" pitchFamily="34" charset="-120"/>
              </a:rPr>
              <a:t>That whole vision and way of life that holds together a people's values, signs, symbols, customs, arts, myths, and folklore. No culture is higher or lower than another. All are unique and equally valid.</a:t>
            </a:r>
            <a:endParaRPr lang="en-US" sz="4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56399" y="706115"/>
            <a:ext cx="155004" cy="155004"/>
          </a:xfrm>
          <a:prstGeom prst="rect">
            <a:avLst/>
          </a:prstGeom>
        </p:spPr>
      </p:pic>
      <p:sp>
        <p:nvSpPr>
          <p:cNvPr id="11" name="Text 6"/>
          <p:cNvSpPr/>
          <p:nvPr/>
        </p:nvSpPr>
        <p:spPr>
          <a:xfrm>
            <a:off x="5956399" y="899815"/>
            <a:ext cx="2691482" cy="96887"/>
          </a:xfrm>
          <a:prstGeom prst="rect">
            <a:avLst/>
          </a:prstGeom>
          <a:noFill/>
          <a:ln/>
        </p:spPr>
        <p:txBody>
          <a:bodyPr wrap="none" lIns="0" tIns="0" rIns="0" bIns="0" rtlCol="0" anchor="t"/>
          <a:lstStyle/>
          <a:p>
            <a:pPr marL="0" indent="0" algn="l">
              <a:lnSpc>
                <a:spcPct val="104000"/>
              </a:lnSpc>
              <a:buNone/>
            </a:pPr>
            <a:r>
              <a:rPr lang="en-US" sz="600" dirty="0">
                <a:solidFill>
                  <a:srgbClr val="5B6E8C"/>
                </a:solidFill>
                <a:latin typeface="Alexandria Medium" pitchFamily="34" charset="0"/>
                <a:ea typeface="Alexandria Medium" pitchFamily="34" charset="-122"/>
                <a:cs typeface="Alexandria Medium" pitchFamily="34" charset="-120"/>
              </a:rPr>
              <a:t>Religious Traditions</a:t>
            </a:r>
            <a:endParaRPr lang="en-US" sz="600" dirty="0"/>
          </a:p>
        </p:txBody>
      </p:sp>
      <p:sp>
        <p:nvSpPr>
          <p:cNvPr id="12" name="Text 7"/>
          <p:cNvSpPr/>
          <p:nvPr/>
        </p:nvSpPr>
        <p:spPr>
          <a:xfrm>
            <a:off x="5956399" y="1015305"/>
            <a:ext cx="2691482" cy="22301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5B6E8C"/>
                </a:solidFill>
                <a:latin typeface="Manrope" pitchFamily="34" charset="0"/>
                <a:ea typeface="Manrope" pitchFamily="34" charset="-122"/>
                <a:cs typeface="Manrope" pitchFamily="34" charset="-120"/>
              </a:rPr>
              <a:t>The Church has moved from "outside the Church there is no salvation" to the teaching of the universal saving will of God. Every religion reflects a ray of the truth that enlightens everyone. People are saved not in spite of their religions but, in a real sense, in and through them.</a:t>
            </a:r>
            <a:endParaRPr lang="en-US" sz="4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6119" y="1300311"/>
            <a:ext cx="155004" cy="155004"/>
          </a:xfrm>
          <a:prstGeom prst="rect">
            <a:avLst/>
          </a:prstGeom>
        </p:spPr>
      </p:pic>
      <p:sp>
        <p:nvSpPr>
          <p:cNvPr id="14" name="Text 8"/>
          <p:cNvSpPr/>
          <p:nvPr/>
        </p:nvSpPr>
        <p:spPr>
          <a:xfrm>
            <a:off x="496119" y="1494011"/>
            <a:ext cx="2691408" cy="96887"/>
          </a:xfrm>
          <a:prstGeom prst="rect">
            <a:avLst/>
          </a:prstGeom>
          <a:noFill/>
          <a:ln/>
        </p:spPr>
        <p:txBody>
          <a:bodyPr wrap="none" lIns="0" tIns="0" rIns="0" bIns="0" rtlCol="0" anchor="t"/>
          <a:lstStyle/>
          <a:p>
            <a:pPr marL="0" indent="0" algn="l">
              <a:lnSpc>
                <a:spcPct val="104000"/>
              </a:lnSpc>
              <a:buNone/>
            </a:pPr>
            <a:r>
              <a:rPr lang="en-US" sz="600" dirty="0">
                <a:solidFill>
                  <a:srgbClr val="5B6E8C"/>
                </a:solidFill>
                <a:latin typeface="Alexandria Medium" pitchFamily="34" charset="0"/>
                <a:ea typeface="Alexandria Medium" pitchFamily="34" charset="-122"/>
                <a:cs typeface="Alexandria Medium" pitchFamily="34" charset="-120"/>
              </a:rPr>
              <a:t>Movements of the People</a:t>
            </a:r>
            <a:endParaRPr lang="en-US" sz="600" dirty="0"/>
          </a:p>
        </p:txBody>
      </p:sp>
      <p:sp>
        <p:nvSpPr>
          <p:cNvPr id="15" name="Text 9"/>
          <p:cNvSpPr/>
          <p:nvPr/>
        </p:nvSpPr>
        <p:spPr>
          <a:xfrm>
            <a:off x="496119" y="1609502"/>
            <a:ext cx="2691408" cy="22301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5B6E8C"/>
                </a:solidFill>
                <a:latin typeface="Manrope" pitchFamily="34" charset="0"/>
                <a:ea typeface="Manrope" pitchFamily="34" charset="-122"/>
                <a:cs typeface="Manrope" pitchFamily="34" charset="-120"/>
              </a:rPr>
              <a:t>The Exodus marks the beginning of the movements of the people, and the story of Jesus and the Kingdom is their summit. Theology must attend to the voices of the marginalised — the </a:t>
            </a:r>
            <a:r>
              <a:rPr lang="en-US" sz="450" i="1" dirty="0">
                <a:solidFill>
                  <a:srgbClr val="5B6E8C"/>
                </a:solidFill>
                <a:latin typeface="Manrope" pitchFamily="34" charset="0"/>
                <a:ea typeface="Manrope" pitchFamily="34" charset="-122"/>
                <a:cs typeface="Manrope" pitchFamily="34" charset="-120"/>
              </a:rPr>
              <a:t>anawim</a:t>
            </a:r>
            <a:r>
              <a:rPr lang="en-US" sz="450" dirty="0">
                <a:solidFill>
                  <a:srgbClr val="5B6E8C"/>
                </a:solidFill>
                <a:latin typeface="Manrope" pitchFamily="34" charset="0"/>
                <a:ea typeface="Manrope" pitchFamily="34" charset="-122"/>
                <a:cs typeface="Manrope" pitchFamily="34" charset="-120"/>
              </a:rPr>
              <a:t>, always the beloved of God in both Testaments.</a:t>
            </a:r>
            <a:endParaRPr lang="en-US" sz="4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26222" y="1300311"/>
            <a:ext cx="155004" cy="155004"/>
          </a:xfrm>
          <a:prstGeom prst="rect">
            <a:avLst/>
          </a:prstGeom>
        </p:spPr>
      </p:pic>
      <p:sp>
        <p:nvSpPr>
          <p:cNvPr id="17" name="Text 10"/>
          <p:cNvSpPr/>
          <p:nvPr/>
        </p:nvSpPr>
        <p:spPr>
          <a:xfrm>
            <a:off x="3226222" y="1494011"/>
            <a:ext cx="2691482" cy="96887"/>
          </a:xfrm>
          <a:prstGeom prst="rect">
            <a:avLst/>
          </a:prstGeom>
          <a:noFill/>
          <a:ln/>
        </p:spPr>
        <p:txBody>
          <a:bodyPr wrap="none" lIns="0" tIns="0" rIns="0" bIns="0" rtlCol="0" anchor="t"/>
          <a:lstStyle/>
          <a:p>
            <a:pPr marL="0" indent="0" algn="l">
              <a:lnSpc>
                <a:spcPct val="104000"/>
              </a:lnSpc>
              <a:buNone/>
            </a:pPr>
            <a:r>
              <a:rPr lang="en-US" sz="600" dirty="0">
                <a:solidFill>
                  <a:srgbClr val="5B6E8C"/>
                </a:solidFill>
                <a:latin typeface="Alexandria Medium" pitchFamily="34" charset="0"/>
                <a:ea typeface="Alexandria Medium" pitchFamily="34" charset="-122"/>
                <a:cs typeface="Alexandria Medium" pitchFamily="34" charset="-120"/>
              </a:rPr>
              <a:t>The Other Sciences</a:t>
            </a:r>
            <a:endParaRPr lang="en-US" sz="600" dirty="0"/>
          </a:p>
        </p:txBody>
      </p:sp>
      <p:sp>
        <p:nvSpPr>
          <p:cNvPr id="18" name="Text 11"/>
          <p:cNvSpPr/>
          <p:nvPr/>
        </p:nvSpPr>
        <p:spPr>
          <a:xfrm>
            <a:off x="3226222" y="1609502"/>
            <a:ext cx="2691482" cy="29735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5B6E8C"/>
                </a:solidFill>
                <a:latin typeface="Manrope" pitchFamily="34" charset="0"/>
                <a:ea typeface="Manrope" pitchFamily="34" charset="-122"/>
                <a:cs typeface="Manrope" pitchFamily="34" charset="-120"/>
              </a:rPr>
              <a:t>The natural sciences answer questions of how; theology answers questions of why. The human and social sciences — sociology, anthropology, psychology, economics, political science — give theology tools to understand reality, and contemporary theology uses them and then reaches past understanding toward the transforming of reality.</a:t>
            </a:r>
            <a:endParaRPr lang="en-US" sz="450" dirty="0"/>
          </a:p>
        </p:txBody>
      </p:sp>
      <p:sp>
        <p:nvSpPr>
          <p:cNvPr id="19" name="Text 12"/>
          <p:cNvSpPr/>
          <p:nvPr/>
        </p:nvSpPr>
        <p:spPr>
          <a:xfrm>
            <a:off x="496119" y="1953369"/>
            <a:ext cx="8151763" cy="96887"/>
          </a:xfrm>
          <a:prstGeom prst="rect">
            <a:avLst/>
          </a:prstGeom>
          <a:noFill/>
          <a:ln/>
        </p:spPr>
        <p:txBody>
          <a:bodyPr wrap="none" lIns="0" tIns="0" rIns="0" bIns="0" rtlCol="0" anchor="t"/>
          <a:lstStyle/>
          <a:p>
            <a:pPr marL="0" indent="0" algn="l">
              <a:lnSpc>
                <a:spcPct val="104000"/>
              </a:lnSpc>
              <a:buNone/>
            </a:pPr>
            <a:r>
              <a:rPr lang="en-US" sz="600" dirty="0">
                <a:solidFill>
                  <a:srgbClr val="5B6E8C"/>
                </a:solidFill>
                <a:latin typeface="Alexandria Medium" pitchFamily="34" charset="0"/>
                <a:ea typeface="Alexandria Medium" pitchFamily="34" charset="-122"/>
                <a:cs typeface="Alexandria Medium" pitchFamily="34" charset="-120"/>
              </a:rPr>
              <a:t>The Method of Theologising: Four Steps</a:t>
            </a:r>
            <a:endParaRPr lang="en-US" sz="600" dirty="0"/>
          </a:p>
        </p:txBody>
      </p:sp>
      <p:pic>
        <p:nvPicPr>
          <p:cNvPr id="20" name="Image 5" descr="preencoded.png"/>
          <p:cNvPicPr>
            <a:picLocks noChangeAspect="1"/>
          </p:cNvPicPr>
          <p:nvPr/>
        </p:nvPicPr>
        <p:blipFill>
          <a:blip r:embed="rId8"/>
          <a:stretch>
            <a:fillRect/>
          </a:stretch>
        </p:blipFill>
        <p:spPr>
          <a:xfrm>
            <a:off x="638324" y="2096765"/>
            <a:ext cx="7867352" cy="3845570"/>
          </a:xfrm>
          <a:prstGeom prst="rect">
            <a:avLst/>
          </a:prstGeom>
        </p:spPr>
      </p:pic>
      <p:sp>
        <p:nvSpPr>
          <p:cNvPr id="21" name="Text 13"/>
          <p:cNvSpPr/>
          <p:nvPr/>
        </p:nvSpPr>
        <p:spPr>
          <a:xfrm>
            <a:off x="1233942" y="3419896"/>
            <a:ext cx="1834107" cy="229263"/>
          </a:xfrm>
          <a:prstGeom prst="rect">
            <a:avLst/>
          </a:prstGeom>
          <a:noFill/>
          <a:ln/>
        </p:spPr>
        <p:txBody>
          <a:bodyPr wrap="none" lIns="0" tIns="0" rIns="0" bIns="0" rtlCol="0" anchor="t"/>
          <a:lstStyle/>
          <a:p>
            <a:pPr marL="0" indent="0" algn="ctr">
              <a:lnSpc>
                <a:spcPct val="104000"/>
              </a:lnSpc>
              <a:buNone/>
            </a:pPr>
            <a:r>
              <a:rPr lang="en-US" sz="1400" dirty="0">
                <a:solidFill>
                  <a:srgbClr val="5B6E8C"/>
                </a:solidFill>
                <a:latin typeface="Alexandria Medium" pitchFamily="34" charset="0"/>
                <a:ea typeface="Alexandria Medium" pitchFamily="34" charset="-122"/>
                <a:cs typeface="Alexandria Medium" pitchFamily="34" charset="-120"/>
              </a:rPr>
              <a:t>Commitment</a:t>
            </a:r>
            <a:endParaRPr lang="en-US" sz="1400" dirty="0"/>
          </a:p>
        </p:txBody>
      </p:sp>
      <p:sp>
        <p:nvSpPr>
          <p:cNvPr id="22" name="Text 14"/>
          <p:cNvSpPr/>
          <p:nvPr/>
        </p:nvSpPr>
        <p:spPr>
          <a:xfrm>
            <a:off x="5171158" y="2539525"/>
            <a:ext cx="1834107" cy="229263"/>
          </a:xfrm>
          <a:prstGeom prst="rect">
            <a:avLst/>
          </a:prstGeom>
          <a:noFill/>
          <a:ln/>
        </p:spPr>
        <p:txBody>
          <a:bodyPr wrap="none" lIns="0" tIns="0" rIns="0" bIns="0" rtlCol="0" anchor="t"/>
          <a:lstStyle/>
          <a:p>
            <a:pPr marL="0" indent="0" algn="ctr">
              <a:lnSpc>
                <a:spcPct val="104000"/>
              </a:lnSpc>
              <a:buNone/>
            </a:pPr>
            <a:r>
              <a:rPr lang="en-US" sz="1400" dirty="0">
                <a:solidFill>
                  <a:srgbClr val="5B6E8C"/>
                </a:solidFill>
                <a:latin typeface="Alexandria Medium" pitchFamily="34" charset="0"/>
                <a:ea typeface="Alexandria Medium" pitchFamily="34" charset="-122"/>
                <a:cs typeface="Alexandria Medium" pitchFamily="34" charset="-120"/>
              </a:rPr>
              <a:t>Social Analysis</a:t>
            </a:r>
            <a:endParaRPr lang="en-US" sz="1400" dirty="0"/>
          </a:p>
        </p:txBody>
      </p:sp>
      <p:sp>
        <p:nvSpPr>
          <p:cNvPr id="23" name="Text 15"/>
          <p:cNvSpPr/>
          <p:nvPr/>
        </p:nvSpPr>
        <p:spPr>
          <a:xfrm>
            <a:off x="5970523" y="4349178"/>
            <a:ext cx="2044775" cy="229263"/>
          </a:xfrm>
          <a:prstGeom prst="rect">
            <a:avLst/>
          </a:prstGeom>
          <a:noFill/>
          <a:ln/>
        </p:spPr>
        <p:txBody>
          <a:bodyPr wrap="none" lIns="0" tIns="0" rIns="0" bIns="0" rtlCol="0" anchor="t"/>
          <a:lstStyle/>
          <a:p>
            <a:pPr marL="0" indent="0" algn="ctr">
              <a:lnSpc>
                <a:spcPct val="104000"/>
              </a:lnSpc>
              <a:buNone/>
            </a:pPr>
            <a:r>
              <a:rPr lang="en-US" sz="1400" dirty="0">
                <a:solidFill>
                  <a:srgbClr val="5B6E8C"/>
                </a:solidFill>
                <a:latin typeface="Alexandria Medium" pitchFamily="34" charset="0"/>
                <a:ea typeface="Alexandria Medium" pitchFamily="34" charset="-122"/>
                <a:cs typeface="Alexandria Medium" pitchFamily="34" charset="-120"/>
              </a:rPr>
              <a:t>Theological Reflection</a:t>
            </a:r>
            <a:endParaRPr lang="en-US" sz="1400" dirty="0"/>
          </a:p>
        </p:txBody>
      </p:sp>
      <p:sp>
        <p:nvSpPr>
          <p:cNvPr id="24" name="Text 16"/>
          <p:cNvSpPr/>
          <p:nvPr/>
        </p:nvSpPr>
        <p:spPr>
          <a:xfrm>
            <a:off x="2130616" y="5245852"/>
            <a:ext cx="1834107" cy="229263"/>
          </a:xfrm>
          <a:prstGeom prst="rect">
            <a:avLst/>
          </a:prstGeom>
          <a:noFill/>
          <a:ln/>
        </p:spPr>
        <p:txBody>
          <a:bodyPr wrap="none" lIns="0" tIns="0" rIns="0" bIns="0" rtlCol="0" anchor="t"/>
          <a:lstStyle/>
          <a:p>
            <a:pPr marL="0" indent="0" algn="ctr">
              <a:lnSpc>
                <a:spcPct val="104000"/>
              </a:lnSpc>
              <a:buNone/>
            </a:pPr>
            <a:r>
              <a:rPr lang="en-US" sz="1400" dirty="0">
                <a:solidFill>
                  <a:srgbClr val="5B6E8C"/>
                </a:solidFill>
                <a:latin typeface="Alexandria Medium" pitchFamily="34" charset="0"/>
                <a:ea typeface="Alexandria Medium" pitchFamily="34" charset="-122"/>
                <a:cs typeface="Alexandria Medium" pitchFamily="34" charset="-120"/>
              </a:rPr>
              <a:t>Action Plan</a:t>
            </a:r>
            <a:endParaRPr lang="en-US" sz="1400" dirty="0"/>
          </a:p>
        </p:txBody>
      </p:sp>
      <p:sp>
        <p:nvSpPr>
          <p:cNvPr id="25" name="Text 17"/>
          <p:cNvSpPr/>
          <p:nvPr/>
        </p:nvSpPr>
        <p:spPr>
          <a:xfrm>
            <a:off x="496119" y="5977161"/>
            <a:ext cx="8151763" cy="148679"/>
          </a:xfrm>
          <a:prstGeom prst="rect">
            <a:avLst/>
          </a:prstGeom>
          <a:noFill/>
          <a:ln/>
        </p:spPr>
        <p:txBody>
          <a:bodyPr wrap="square" lIns="0" tIns="0" rIns="0" bIns="0" rtlCol="0" anchor="t">
            <a:normAutofit/>
          </a:bodyPr>
          <a:lstStyle/>
          <a:p>
            <a:pPr marL="0" indent="0" algn="l">
              <a:lnSpc>
                <a:spcPct val="100000"/>
              </a:lnSpc>
              <a:buNone/>
            </a:pPr>
            <a:r>
              <a:rPr lang="en-US" sz="450" dirty="0">
                <a:solidFill>
                  <a:srgbClr val="5B6E8C"/>
                </a:solidFill>
                <a:latin typeface="Manrope" pitchFamily="34" charset="0"/>
                <a:ea typeface="Manrope" pitchFamily="34" charset="-122"/>
                <a:cs typeface="Manrope" pitchFamily="34" charset="-120"/>
              </a:rPr>
              <a:t>India is a land rich in culture, religion, and natural and human resources, and yet it is marked by harsh poverty, by inhuman discrimination, by religious bigotry and fundamentalism, by a growing disregard for the weaker sections, and by violence, corruption, and consumerism. To these realities theology must speak.</a:t>
            </a:r>
            <a:endParaRPr lang="en-US" sz="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96119" y="410542"/>
            <a:ext cx="8151763" cy="260449"/>
          </a:xfrm>
          <a:prstGeom prst="rect">
            <a:avLst/>
          </a:prstGeom>
          <a:noFill/>
          <a:ln/>
        </p:spPr>
        <p:txBody>
          <a:bodyPr wrap="none" lIns="0" tIns="0" rIns="0" bIns="0" rtlCol="0" anchor="t"/>
          <a:lstStyle/>
          <a:p>
            <a:pPr marL="0" indent="0" algn="l">
              <a:lnSpc>
                <a:spcPct val="104000"/>
              </a:lnSpc>
              <a:buNone/>
            </a:pPr>
            <a:r>
              <a:rPr lang="en-US" sz="1600" dirty="0">
                <a:solidFill>
                  <a:srgbClr val="5B6E8C"/>
                </a:solidFill>
                <a:latin typeface="Alexandria Medium" pitchFamily="34" charset="0"/>
                <a:ea typeface="Alexandria Medium" pitchFamily="34" charset="-122"/>
                <a:cs typeface="Alexandria Medium" pitchFamily="34" charset="-120"/>
              </a:rPr>
              <a:t>11. The History of Theology</a:t>
            </a:r>
            <a:endParaRPr lang="en-US" sz="1600" dirty="0"/>
          </a:p>
        </p:txBody>
      </p:sp>
      <p:sp>
        <p:nvSpPr>
          <p:cNvPr id="3" name="Text 1"/>
          <p:cNvSpPr/>
          <p:nvPr/>
        </p:nvSpPr>
        <p:spPr>
          <a:xfrm>
            <a:off x="496119" y="810890"/>
            <a:ext cx="3974232" cy="130225"/>
          </a:xfrm>
          <a:prstGeom prst="rect">
            <a:avLst/>
          </a:prstGeom>
          <a:noFill/>
          <a:ln/>
        </p:spPr>
        <p:txBody>
          <a:bodyPr wrap="none" lIns="0" tIns="0" rIns="0" bIns="0" rtlCol="0" anchor="t"/>
          <a:lstStyle/>
          <a:p>
            <a:pPr marL="0" indent="0" algn="l">
              <a:lnSpc>
                <a:spcPct val="104000"/>
              </a:lnSpc>
              <a:buNone/>
            </a:pPr>
            <a:endParaRPr lang="en-US" sz="800" dirty="0"/>
          </a:p>
        </p:txBody>
      </p:sp>
      <p:sp>
        <p:nvSpPr>
          <p:cNvPr id="4" name="Text 2"/>
          <p:cNvSpPr/>
          <p:nvPr/>
        </p:nvSpPr>
        <p:spPr>
          <a:xfrm>
            <a:off x="496119" y="733945"/>
            <a:ext cx="3974232" cy="3524697"/>
          </a:xfrm>
          <a:prstGeom prst="rect">
            <a:avLst/>
          </a:prstGeom>
          <a:noFill/>
          <a:ln/>
        </p:spPr>
        <p:txBody>
          <a:bodyPr wrap="square" lIns="0" tIns="0" rIns="0" bIns="0" rtlCol="0" anchor="t">
            <a:normAutofit/>
          </a:bodyPr>
          <a:lstStyle/>
          <a:p>
            <a:pPr>
              <a:lnSpc>
                <a:spcPct val="111000"/>
              </a:lnSpc>
            </a:pPr>
            <a:r>
              <a:rPr lang="en-US" sz="900" dirty="0">
                <a:solidFill>
                  <a:srgbClr val="5B6E8C"/>
                </a:solidFill>
                <a:latin typeface="Alexandria Medium" pitchFamily="34" charset="0"/>
                <a:ea typeface="Alexandria Medium" pitchFamily="34" charset="-122"/>
                <a:cs typeface="Alexandria Medium" pitchFamily="34" charset="-120"/>
              </a:rPr>
              <a:t>Biblical Theology</a:t>
            </a:r>
            <a:endParaRPr lang="en-US" sz="900" dirty="0"/>
          </a:p>
          <a:p>
            <a:pPr marL="0" indent="0" algn="l">
              <a:lnSpc>
                <a:spcPct val="111000"/>
              </a:lnSpc>
              <a:buNone/>
            </a:pPr>
            <a:r>
              <a:rPr lang="en-US" sz="900" dirty="0">
                <a:solidFill>
                  <a:srgbClr val="5B6E8C"/>
                </a:solidFill>
                <a:latin typeface="Manrope" pitchFamily="34" charset="0"/>
                <a:ea typeface="Manrope" pitchFamily="34" charset="-122"/>
                <a:cs typeface="Manrope" pitchFamily="34" charset="-120"/>
              </a:rPr>
              <a:t>The reflection of the inspired authors themselves. God did not dictate the words mechanically — he chose human authors who used their own powers fully. In the Old Testament: the Yahwist, Elohist, Priestly, Deuteronomic, wisdom, and prophetic streams, gathered around creation, election, liberation, law, covenant, the chosen people, and the expectation of the Kingdom. In the New Testament: the Christ-event as centre, with many Christologies — Logos in John, Messiah in the Synoptics, cosmic Christ in Ephesians and Colossians, high priest in Hebrews. All share one centre: Jesus is the bearer of salvation from God.</a:t>
            </a:r>
          </a:p>
          <a:p>
            <a:pPr>
              <a:lnSpc>
                <a:spcPct val="111000"/>
              </a:lnSpc>
            </a:pPr>
            <a:r>
              <a:rPr lang="en-US" sz="900" dirty="0">
                <a:solidFill>
                  <a:srgbClr val="5B6E8C"/>
                </a:solidFill>
                <a:latin typeface="Alexandria Medium" pitchFamily="34" charset="0"/>
                <a:ea typeface="Alexandria Medium" pitchFamily="34" charset="-122"/>
                <a:cs typeface="Alexandria Medium" pitchFamily="34" charset="-120"/>
              </a:rPr>
              <a:t>Patristic Theology</a:t>
            </a:r>
            <a:endParaRPr lang="en-US" sz="900" dirty="0"/>
          </a:p>
          <a:p>
            <a:pPr>
              <a:lnSpc>
                <a:spcPct val="111000"/>
              </a:lnSpc>
            </a:pPr>
            <a:r>
              <a:rPr lang="en-US" sz="900" dirty="0">
                <a:solidFill>
                  <a:srgbClr val="5B6E8C"/>
                </a:solidFill>
                <a:latin typeface="Manrope" pitchFamily="34" charset="0"/>
                <a:ea typeface="Manrope" pitchFamily="34" charset="-122"/>
                <a:cs typeface="Manrope" pitchFamily="34" charset="-120"/>
              </a:rPr>
              <a:t>The work of the Fathers of the Church, from the apostolic age until roughly the eighth century. In their time the canon of the New Testament was fixed, the creeds were formed, the doctrine of the Trinity was clarified, and the Christological question was settled at the Council of Chalcedon in 451: one person in two natures, truly divine and truly human. Two schools shaped this work: the Alexandrian (stressing divinity) and the Antiochene (stressing full humanity). The Syriac model, carried by Ephrem the Syrian, brought a Semitic vision and gave us the first Christian tradition in India — the Thomas Christians of the Malabar coast.</a:t>
            </a:r>
            <a:endParaRPr lang="en-US" sz="900" dirty="0"/>
          </a:p>
        </p:txBody>
      </p:sp>
      <p:sp>
        <p:nvSpPr>
          <p:cNvPr id="5" name="Text 3"/>
          <p:cNvSpPr/>
          <p:nvPr/>
        </p:nvSpPr>
        <p:spPr>
          <a:xfrm>
            <a:off x="496119" y="1833339"/>
            <a:ext cx="3974232" cy="130225"/>
          </a:xfrm>
          <a:prstGeom prst="rect">
            <a:avLst/>
          </a:prstGeom>
          <a:noFill/>
          <a:ln/>
        </p:spPr>
        <p:txBody>
          <a:bodyPr wrap="none" lIns="0" tIns="0" rIns="0" bIns="0" rtlCol="0" anchor="t"/>
          <a:lstStyle/>
          <a:p>
            <a:pPr marL="0" indent="0" algn="l">
              <a:lnSpc>
                <a:spcPct val="104000"/>
              </a:lnSpc>
              <a:buNone/>
            </a:pPr>
            <a:endParaRPr lang="en-US" sz="800" dirty="0"/>
          </a:p>
        </p:txBody>
      </p:sp>
      <p:sp>
        <p:nvSpPr>
          <p:cNvPr id="6" name="Text 4"/>
          <p:cNvSpPr/>
          <p:nvPr/>
        </p:nvSpPr>
        <p:spPr>
          <a:xfrm>
            <a:off x="496119" y="2019523"/>
            <a:ext cx="3974232" cy="780306"/>
          </a:xfrm>
          <a:prstGeom prst="rect">
            <a:avLst/>
          </a:prstGeom>
          <a:noFill/>
          <a:ln/>
        </p:spPr>
        <p:txBody>
          <a:bodyPr wrap="square" lIns="0" tIns="0" rIns="0" bIns="0" rtlCol="0" anchor="t">
            <a:normAutofit/>
          </a:bodyPr>
          <a:lstStyle/>
          <a:p>
            <a:pPr>
              <a:lnSpc>
                <a:spcPct val="111000"/>
              </a:lnSpc>
            </a:pPr>
            <a:endParaRPr lang="en-US" sz="650" dirty="0"/>
          </a:p>
        </p:txBody>
      </p:sp>
      <p:sp>
        <p:nvSpPr>
          <p:cNvPr id="7" name="Shape 5"/>
          <p:cNvSpPr/>
          <p:nvPr/>
        </p:nvSpPr>
        <p:spPr>
          <a:xfrm>
            <a:off x="4618434" y="141983"/>
            <a:ext cx="4388932" cy="4157068"/>
          </a:xfrm>
          <a:prstGeom prst="roundRect">
            <a:avLst>
              <a:gd name="adj" fmla="val 5644"/>
            </a:avLst>
          </a:prstGeom>
          <a:solidFill>
            <a:srgbClr val="AAE4FE"/>
          </a:solidFill>
          <a:ln/>
        </p:spPr>
        <p:txBody>
          <a:bodyPr/>
          <a:lstStyle/>
          <a:p>
            <a:endParaRPr lang="en-IN"/>
          </a:p>
        </p:txBody>
      </p:sp>
      <p:sp>
        <p:nvSpPr>
          <p:cNvPr id="9" name="Text 7"/>
          <p:cNvSpPr/>
          <p:nvPr/>
        </p:nvSpPr>
        <p:spPr>
          <a:xfrm>
            <a:off x="4701778" y="141984"/>
            <a:ext cx="4158442" cy="4079228"/>
          </a:xfrm>
          <a:prstGeom prst="rect">
            <a:avLst/>
          </a:prstGeom>
          <a:noFill/>
          <a:ln/>
        </p:spPr>
        <p:txBody>
          <a:bodyPr wrap="square" lIns="0" tIns="0" rIns="0" bIns="0" rtlCol="0" anchor="t">
            <a:normAutofit fontScale="92500" lnSpcReduction="10000"/>
          </a:bodyPr>
          <a:lstStyle/>
          <a:p>
            <a:pPr>
              <a:lnSpc>
                <a:spcPct val="111000"/>
              </a:lnSpc>
            </a:pPr>
            <a:r>
              <a:rPr lang="en-GB" sz="1200" b="1" dirty="0"/>
              <a:t>Scholastic Theology</a:t>
            </a:r>
          </a:p>
          <a:p>
            <a:pPr>
              <a:lnSpc>
                <a:spcPct val="111000"/>
              </a:lnSpc>
            </a:pPr>
            <a:r>
              <a:rPr lang="en-GB" sz="1200" dirty="0"/>
              <a:t>Arose in the medieval schools, seeking to unite the philosophy of Aristotle with Christian doctrine. Key figures and their emphases:</a:t>
            </a:r>
          </a:p>
          <a:p>
            <a:pPr>
              <a:lnSpc>
                <a:spcPct val="111000"/>
              </a:lnSpc>
            </a:pPr>
            <a:r>
              <a:rPr lang="en-GB" sz="1200" b="1" dirty="0"/>
              <a:t>Anselm of Canterbury</a:t>
            </a:r>
          </a:p>
          <a:p>
            <a:pPr>
              <a:lnSpc>
                <a:spcPct val="111000"/>
              </a:lnSpc>
            </a:pPr>
            <a:r>
              <a:rPr lang="en-GB" sz="1200" dirty="0"/>
              <a:t>Father of Scholasticism — fides </a:t>
            </a:r>
            <a:r>
              <a:rPr lang="en-GB" sz="1200" dirty="0" err="1"/>
              <a:t>quaerens</a:t>
            </a:r>
            <a:r>
              <a:rPr lang="en-GB" sz="1200" dirty="0"/>
              <a:t> </a:t>
            </a:r>
            <a:r>
              <a:rPr lang="en-GB" sz="1200" dirty="0" err="1"/>
              <a:t>intellectum</a:t>
            </a:r>
            <a:endParaRPr lang="en-GB" sz="1200" dirty="0"/>
          </a:p>
          <a:p>
            <a:pPr>
              <a:lnSpc>
                <a:spcPct val="111000"/>
              </a:lnSpc>
            </a:pPr>
            <a:r>
              <a:rPr lang="en-GB" sz="1200" b="1" dirty="0"/>
              <a:t>Thomas Aquinas</a:t>
            </a:r>
          </a:p>
          <a:p>
            <a:pPr>
              <a:lnSpc>
                <a:spcPct val="111000"/>
              </a:lnSpc>
            </a:pPr>
            <a:r>
              <a:rPr lang="en-GB" sz="1200" dirty="0"/>
              <a:t>Great synthesis with the primacy of the intellect</a:t>
            </a:r>
          </a:p>
          <a:p>
            <a:pPr>
              <a:lnSpc>
                <a:spcPct val="111000"/>
              </a:lnSpc>
            </a:pPr>
            <a:r>
              <a:rPr lang="en-GB" sz="1200" b="1" dirty="0"/>
              <a:t>Bonaventure</a:t>
            </a:r>
          </a:p>
          <a:p>
            <a:pPr>
              <a:lnSpc>
                <a:spcPct val="111000"/>
              </a:lnSpc>
            </a:pPr>
            <a:r>
              <a:rPr lang="en-GB" sz="1200" dirty="0"/>
              <a:t>Synthesis with the primacy of the will</a:t>
            </a:r>
          </a:p>
          <a:p>
            <a:pPr>
              <a:lnSpc>
                <a:spcPct val="111000"/>
              </a:lnSpc>
            </a:pPr>
            <a:r>
              <a:rPr lang="en-GB" sz="1200" b="1" dirty="0"/>
              <a:t>John Duns Scotus</a:t>
            </a:r>
          </a:p>
          <a:p>
            <a:pPr>
              <a:lnSpc>
                <a:spcPct val="111000"/>
              </a:lnSpc>
            </a:pPr>
            <a:r>
              <a:rPr lang="en-GB" sz="1200" dirty="0"/>
              <a:t>Christ-centred synthesis — God reveals his love in the incarnation</a:t>
            </a:r>
          </a:p>
          <a:p>
            <a:pPr>
              <a:lnSpc>
                <a:spcPct val="111000"/>
              </a:lnSpc>
            </a:pPr>
            <a:r>
              <a:rPr lang="en-GB" sz="1200" b="1" dirty="0"/>
              <a:t>William of Ockham</a:t>
            </a:r>
          </a:p>
          <a:p>
            <a:pPr>
              <a:lnSpc>
                <a:spcPct val="111000"/>
              </a:lnSpc>
            </a:pPr>
            <a:r>
              <a:rPr lang="en-GB" sz="1200" dirty="0"/>
              <a:t>Nothing should be affirmed without reason, unless self-evident, known by experience, or held on the authority of Scripture</a:t>
            </a:r>
          </a:p>
          <a:p>
            <a:pPr>
              <a:lnSpc>
                <a:spcPct val="111000"/>
              </a:lnSpc>
            </a:pPr>
            <a:r>
              <a:rPr lang="en-GB" sz="1200" b="1" dirty="0"/>
              <a:t>The Reformation and After</a:t>
            </a:r>
          </a:p>
          <a:p>
            <a:pPr>
              <a:lnSpc>
                <a:spcPct val="111000"/>
              </a:lnSpc>
            </a:pPr>
            <a:r>
              <a:rPr lang="en-GB" sz="1200" dirty="0"/>
              <a:t>The sixteenth century brought the key dynamic model: sola scriptura, sola fide, sola gratia. The East-West Schism of 1054 had already divided the Church over the </a:t>
            </a:r>
            <a:r>
              <a:rPr lang="en-GB" sz="1200" dirty="0" err="1"/>
              <a:t>Rogate</a:t>
            </a:r>
            <a:r>
              <a:rPr lang="en-GB" sz="1200" dirty="0"/>
              <a:t> and questions of authority. The Second Vatican Council (1962–1965) — the twenty-first ecumenical council — renewed the understanding of the Church, of formation, of the world, of other religions, of salvation, of dialogue, of culture, and of the liturgy through sixteen documents. Its twofold purpose: aggiornamento and </a:t>
            </a:r>
            <a:r>
              <a:rPr lang="en-GB" sz="1200" dirty="0" err="1"/>
              <a:t>rinunce</a:t>
            </a:r>
            <a:r>
              <a:rPr lang="en-GB" sz="1200" dirty="0"/>
              <a:t>.</a:t>
            </a:r>
          </a:p>
          <a:p>
            <a:pPr marL="0" indent="0" algn="l">
              <a:lnSpc>
                <a:spcPct val="111000"/>
              </a:lnSpc>
              <a:buNone/>
            </a:pPr>
            <a:endParaRPr lang="en-US" sz="1200" dirty="0"/>
          </a:p>
        </p:txBody>
      </p:sp>
      <p:sp>
        <p:nvSpPr>
          <p:cNvPr id="27" name="Shape 20"/>
          <p:cNvSpPr/>
          <p:nvPr/>
        </p:nvSpPr>
        <p:spPr>
          <a:xfrm>
            <a:off x="94593" y="4362004"/>
            <a:ext cx="8912773" cy="780306"/>
          </a:xfrm>
          <a:prstGeom prst="roundRect">
            <a:avLst>
              <a:gd name="adj" fmla="val 33701"/>
            </a:avLst>
          </a:prstGeom>
          <a:solidFill>
            <a:srgbClr val="CDEFFE"/>
          </a:solidFill>
          <a:ln/>
        </p:spPr>
        <p:txBody>
          <a:bodyPr/>
          <a:lstStyle/>
          <a:p>
            <a:endParaRPr lang="en-IN"/>
          </a:p>
        </p:txBody>
      </p:sp>
      <p:sp>
        <p:nvSpPr>
          <p:cNvPr id="29" name="Text 21"/>
          <p:cNvSpPr/>
          <p:nvPr/>
        </p:nvSpPr>
        <p:spPr>
          <a:xfrm>
            <a:off x="304799" y="4438799"/>
            <a:ext cx="8555421" cy="562719"/>
          </a:xfrm>
          <a:prstGeom prst="rect">
            <a:avLst/>
          </a:prstGeom>
          <a:noFill/>
          <a:ln/>
        </p:spPr>
        <p:txBody>
          <a:bodyPr wrap="square" lIns="0" tIns="0" rIns="0" bIns="0" rtlCol="0" anchor="t">
            <a:normAutofit/>
          </a:bodyPr>
          <a:lstStyle/>
          <a:p>
            <a:pPr marL="0" indent="0" algn="just">
              <a:lnSpc>
                <a:spcPct val="111000"/>
              </a:lnSpc>
              <a:buNone/>
            </a:pPr>
            <a:r>
              <a:rPr lang="en-US" sz="1100" dirty="0">
                <a:solidFill>
                  <a:srgbClr val="000000"/>
                </a:solidFill>
                <a:latin typeface="Manrope" pitchFamily="34" charset="0"/>
                <a:ea typeface="Manrope" pitchFamily="34" charset="-122"/>
                <a:cs typeface="Manrope" pitchFamily="34" charset="-120"/>
              </a:rPr>
              <a:t>Karl Rahner's theological anthropology: the human being is the finite creature who is open to the infinite, whose very existence is oriented toward God — the supernatural existential. God and humanity are correlative terms, and all the questions of theology can rightly be approached through the human person.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385316"/>
            <a:ext cx="8151763" cy="278532"/>
          </a:xfrm>
          <a:prstGeom prst="rect">
            <a:avLst/>
          </a:prstGeom>
          <a:noFill/>
          <a:ln/>
        </p:spPr>
        <p:txBody>
          <a:bodyPr wrap="none" lIns="0" tIns="0" rIns="0" bIns="0" rtlCol="0" anchor="t"/>
          <a:lstStyle/>
          <a:p>
            <a:pPr marL="0" indent="0" algn="l">
              <a:lnSpc>
                <a:spcPct val="104000"/>
              </a:lnSpc>
              <a:buNone/>
            </a:pPr>
            <a:r>
              <a:rPr lang="en-US" sz="1750" dirty="0">
                <a:solidFill>
                  <a:srgbClr val="5B6E8C"/>
                </a:solidFill>
                <a:latin typeface="Alexandria Medium" pitchFamily="34" charset="0"/>
                <a:ea typeface="Alexandria Medium" pitchFamily="34" charset="-122"/>
                <a:cs typeface="Alexandria Medium" pitchFamily="34" charset="-120"/>
              </a:rPr>
              <a:t>12. The Models of Theology</a:t>
            </a:r>
            <a:endParaRPr lang="en-US" sz="1750" dirty="0"/>
          </a:p>
        </p:txBody>
      </p:sp>
      <p:sp>
        <p:nvSpPr>
          <p:cNvPr id="3" name="Text 1"/>
          <p:cNvSpPr/>
          <p:nvPr/>
        </p:nvSpPr>
        <p:spPr>
          <a:xfrm>
            <a:off x="496119" y="791989"/>
            <a:ext cx="8151763" cy="245120"/>
          </a:xfrm>
          <a:prstGeom prst="rect">
            <a:avLst/>
          </a:prstGeom>
          <a:noFill/>
          <a:ln/>
        </p:spPr>
        <p:txBody>
          <a:bodyPr wrap="square" lIns="0" tIns="0" rIns="0" bIns="0" rtlCol="0" anchor="t">
            <a:normAutofit/>
          </a:bodyPr>
          <a:lstStyle/>
          <a:p>
            <a:pPr marL="0" indent="0" algn="l">
              <a:lnSpc>
                <a:spcPct val="115000"/>
              </a:lnSpc>
              <a:buNone/>
            </a:pPr>
            <a:r>
              <a:rPr lang="en-US" sz="700" dirty="0">
                <a:solidFill>
                  <a:srgbClr val="5B6E8C"/>
                </a:solidFill>
                <a:latin typeface="Manrope" pitchFamily="34" charset="0"/>
                <a:ea typeface="Manrope" pitchFamily="34" charset="-122"/>
                <a:cs typeface="Manrope" pitchFamily="34" charset="-120"/>
              </a:rPr>
              <a:t>Because every theology is contextual, theologians have described several models of how faith and culture are brought together. Stephen Bevans sets out six models in all, and the streams of contextual theology — liberation, Dalit, Indian, and the rest — are not a confusion but different models doing the same work in different ways.</a:t>
            </a:r>
            <a:endParaRPr lang="en-US" sz="700" dirty="0"/>
          </a:p>
        </p:txBody>
      </p:sp>
      <p:sp>
        <p:nvSpPr>
          <p:cNvPr id="4" name="Shape 2"/>
          <p:cNvSpPr/>
          <p:nvPr/>
        </p:nvSpPr>
        <p:spPr>
          <a:xfrm>
            <a:off x="496119" y="1109142"/>
            <a:ext cx="4043809" cy="620167"/>
          </a:xfrm>
          <a:prstGeom prst="roundRect">
            <a:avLst>
              <a:gd name="adj" fmla="val 21565"/>
            </a:avLst>
          </a:prstGeom>
          <a:solidFill>
            <a:srgbClr val="FFFFFF"/>
          </a:solidFill>
          <a:ln w="9525">
            <a:solidFill>
              <a:srgbClr val="B3D5E4"/>
            </a:solidFill>
            <a:prstDash val="solid"/>
          </a:ln>
        </p:spPr>
        <p:txBody>
          <a:bodyPr/>
          <a:lstStyle/>
          <a:p>
            <a:endParaRPr lang="en-IN"/>
          </a:p>
        </p:txBody>
      </p:sp>
      <p:sp>
        <p:nvSpPr>
          <p:cNvPr id="5" name="Text 3"/>
          <p:cNvSpPr/>
          <p:nvPr/>
        </p:nvSpPr>
        <p:spPr>
          <a:xfrm>
            <a:off x="594792" y="1207815"/>
            <a:ext cx="3846463" cy="139303"/>
          </a:xfrm>
          <a:prstGeom prst="rect">
            <a:avLst/>
          </a:prstGeom>
          <a:noFill/>
          <a:ln/>
        </p:spPr>
        <p:txBody>
          <a:bodyPr wrap="none" lIns="0" tIns="0" rIns="0" bIns="0" rtlCol="0" anchor="t"/>
          <a:lstStyle/>
          <a:p>
            <a:pPr marL="0" indent="0" algn="l">
              <a:lnSpc>
                <a:spcPct val="104000"/>
              </a:lnSpc>
              <a:buNone/>
            </a:pPr>
            <a:r>
              <a:rPr lang="en-US" sz="850" dirty="0">
                <a:solidFill>
                  <a:srgbClr val="5B6E8C"/>
                </a:solidFill>
                <a:latin typeface="Alexandria Medium" pitchFamily="34" charset="0"/>
                <a:ea typeface="Alexandria Medium" pitchFamily="34" charset="-122"/>
                <a:cs typeface="Alexandria Medium" pitchFamily="34" charset="-120"/>
              </a:rPr>
              <a:t>Translation Model</a:t>
            </a:r>
            <a:endParaRPr lang="en-US" sz="850" dirty="0"/>
          </a:p>
        </p:txBody>
      </p:sp>
      <p:sp>
        <p:nvSpPr>
          <p:cNvPr id="6" name="Text 4"/>
          <p:cNvSpPr/>
          <p:nvPr/>
        </p:nvSpPr>
        <p:spPr>
          <a:xfrm>
            <a:off x="594792" y="1385515"/>
            <a:ext cx="3846463" cy="245120"/>
          </a:xfrm>
          <a:prstGeom prst="rect">
            <a:avLst/>
          </a:prstGeom>
          <a:noFill/>
          <a:ln/>
        </p:spPr>
        <p:txBody>
          <a:bodyPr wrap="square" lIns="0" tIns="0" rIns="0" bIns="0" rtlCol="0" anchor="t">
            <a:normAutofit/>
          </a:bodyPr>
          <a:lstStyle/>
          <a:p>
            <a:pPr marL="0" indent="0" algn="l">
              <a:lnSpc>
                <a:spcPct val="115000"/>
              </a:lnSpc>
              <a:buNone/>
            </a:pPr>
            <a:r>
              <a:rPr lang="en-US" sz="700" dirty="0">
                <a:solidFill>
                  <a:srgbClr val="5B6E8C"/>
                </a:solidFill>
                <a:latin typeface="Manrope" pitchFamily="34" charset="0"/>
                <a:ea typeface="Manrope" pitchFamily="34" charset="-122"/>
                <a:cs typeface="Manrope" pitchFamily="34" charset="-120"/>
              </a:rPr>
              <a:t>Stays faithful to the inherited faith tradition and carries it into a new culture, though at times at the cost of the culture itself</a:t>
            </a:r>
            <a:endParaRPr lang="en-US" sz="700" dirty="0"/>
          </a:p>
        </p:txBody>
      </p:sp>
      <p:sp>
        <p:nvSpPr>
          <p:cNvPr id="7" name="Shape 5"/>
          <p:cNvSpPr/>
          <p:nvPr/>
        </p:nvSpPr>
        <p:spPr>
          <a:xfrm>
            <a:off x="4603998" y="1109142"/>
            <a:ext cx="4043883" cy="620167"/>
          </a:xfrm>
          <a:prstGeom prst="roundRect">
            <a:avLst>
              <a:gd name="adj" fmla="val 21565"/>
            </a:avLst>
          </a:prstGeom>
          <a:solidFill>
            <a:srgbClr val="FFFFFF"/>
          </a:solidFill>
          <a:ln w="9525">
            <a:solidFill>
              <a:srgbClr val="B3D5E4"/>
            </a:solidFill>
            <a:prstDash val="solid"/>
          </a:ln>
        </p:spPr>
        <p:txBody>
          <a:bodyPr/>
          <a:lstStyle/>
          <a:p>
            <a:endParaRPr lang="en-IN"/>
          </a:p>
        </p:txBody>
      </p:sp>
      <p:sp>
        <p:nvSpPr>
          <p:cNvPr id="8" name="Text 6"/>
          <p:cNvSpPr/>
          <p:nvPr/>
        </p:nvSpPr>
        <p:spPr>
          <a:xfrm>
            <a:off x="4702671" y="1207815"/>
            <a:ext cx="3846537" cy="139303"/>
          </a:xfrm>
          <a:prstGeom prst="rect">
            <a:avLst/>
          </a:prstGeom>
          <a:noFill/>
          <a:ln/>
        </p:spPr>
        <p:txBody>
          <a:bodyPr wrap="none" lIns="0" tIns="0" rIns="0" bIns="0" rtlCol="0" anchor="t"/>
          <a:lstStyle/>
          <a:p>
            <a:pPr marL="0" indent="0" algn="l">
              <a:lnSpc>
                <a:spcPct val="104000"/>
              </a:lnSpc>
              <a:buNone/>
            </a:pPr>
            <a:r>
              <a:rPr lang="en-US" sz="850" dirty="0">
                <a:solidFill>
                  <a:srgbClr val="5B6E8C"/>
                </a:solidFill>
                <a:latin typeface="Alexandria Medium" pitchFamily="34" charset="0"/>
                <a:ea typeface="Alexandria Medium" pitchFamily="34" charset="-122"/>
                <a:cs typeface="Alexandria Medium" pitchFamily="34" charset="-120"/>
              </a:rPr>
              <a:t>Anthropological Model</a:t>
            </a:r>
            <a:endParaRPr lang="en-US" sz="850" dirty="0"/>
          </a:p>
        </p:txBody>
      </p:sp>
      <p:sp>
        <p:nvSpPr>
          <p:cNvPr id="9" name="Text 7"/>
          <p:cNvSpPr/>
          <p:nvPr/>
        </p:nvSpPr>
        <p:spPr>
          <a:xfrm>
            <a:off x="4702671" y="1385515"/>
            <a:ext cx="3846537" cy="122560"/>
          </a:xfrm>
          <a:prstGeom prst="rect">
            <a:avLst/>
          </a:prstGeom>
          <a:noFill/>
          <a:ln/>
        </p:spPr>
        <p:txBody>
          <a:bodyPr wrap="none" lIns="0" tIns="0" rIns="0" bIns="0" rtlCol="0" anchor="t"/>
          <a:lstStyle/>
          <a:p>
            <a:pPr marL="0" indent="0" algn="l">
              <a:lnSpc>
                <a:spcPct val="115000"/>
              </a:lnSpc>
              <a:buNone/>
            </a:pPr>
            <a:r>
              <a:rPr lang="en-US" sz="700" dirty="0">
                <a:solidFill>
                  <a:srgbClr val="5B6E8C"/>
                </a:solidFill>
                <a:latin typeface="Manrope" pitchFamily="34" charset="0"/>
                <a:ea typeface="Manrope" pitchFamily="34" charset="-122"/>
                <a:cs typeface="Manrope" pitchFamily="34" charset="-120"/>
              </a:rPr>
              <a:t>Places the cultural context and the human person within that context at the centre</a:t>
            </a:r>
            <a:endParaRPr lang="en-US" sz="700" dirty="0"/>
          </a:p>
        </p:txBody>
      </p:sp>
      <p:sp>
        <p:nvSpPr>
          <p:cNvPr id="10" name="Shape 8"/>
          <p:cNvSpPr/>
          <p:nvPr/>
        </p:nvSpPr>
        <p:spPr>
          <a:xfrm>
            <a:off x="496119" y="1793379"/>
            <a:ext cx="4043809" cy="620167"/>
          </a:xfrm>
          <a:prstGeom prst="roundRect">
            <a:avLst>
              <a:gd name="adj" fmla="val 21565"/>
            </a:avLst>
          </a:prstGeom>
          <a:solidFill>
            <a:srgbClr val="FFFFFF"/>
          </a:solidFill>
          <a:ln w="9525">
            <a:solidFill>
              <a:srgbClr val="B3D5E4"/>
            </a:solidFill>
            <a:prstDash val="solid"/>
          </a:ln>
        </p:spPr>
        <p:txBody>
          <a:bodyPr/>
          <a:lstStyle/>
          <a:p>
            <a:endParaRPr lang="en-IN"/>
          </a:p>
        </p:txBody>
      </p:sp>
      <p:sp>
        <p:nvSpPr>
          <p:cNvPr id="11" name="Text 9"/>
          <p:cNvSpPr/>
          <p:nvPr/>
        </p:nvSpPr>
        <p:spPr>
          <a:xfrm>
            <a:off x="594792" y="1892052"/>
            <a:ext cx="3846463" cy="139303"/>
          </a:xfrm>
          <a:prstGeom prst="rect">
            <a:avLst/>
          </a:prstGeom>
          <a:noFill/>
          <a:ln/>
        </p:spPr>
        <p:txBody>
          <a:bodyPr wrap="none" lIns="0" tIns="0" rIns="0" bIns="0" rtlCol="0" anchor="t"/>
          <a:lstStyle/>
          <a:p>
            <a:pPr marL="0" indent="0" algn="l">
              <a:lnSpc>
                <a:spcPct val="104000"/>
              </a:lnSpc>
              <a:buNone/>
            </a:pPr>
            <a:r>
              <a:rPr lang="en-US" sz="850" dirty="0">
                <a:solidFill>
                  <a:srgbClr val="5B6E8C"/>
                </a:solidFill>
                <a:latin typeface="Alexandria Medium" pitchFamily="34" charset="0"/>
                <a:ea typeface="Alexandria Medium" pitchFamily="34" charset="-122"/>
                <a:cs typeface="Alexandria Medium" pitchFamily="34" charset="-120"/>
              </a:rPr>
              <a:t>Synthetic Model</a:t>
            </a:r>
            <a:endParaRPr lang="en-US" sz="850" dirty="0"/>
          </a:p>
        </p:txBody>
      </p:sp>
      <p:sp>
        <p:nvSpPr>
          <p:cNvPr id="12" name="Text 10"/>
          <p:cNvSpPr/>
          <p:nvPr/>
        </p:nvSpPr>
        <p:spPr>
          <a:xfrm>
            <a:off x="594792" y="2069753"/>
            <a:ext cx="3846463" cy="122560"/>
          </a:xfrm>
          <a:prstGeom prst="rect">
            <a:avLst/>
          </a:prstGeom>
          <a:noFill/>
          <a:ln/>
        </p:spPr>
        <p:txBody>
          <a:bodyPr wrap="none" lIns="0" tIns="0" rIns="0" bIns="0" rtlCol="0" anchor="t"/>
          <a:lstStyle/>
          <a:p>
            <a:pPr marL="0" indent="0" algn="l">
              <a:lnSpc>
                <a:spcPct val="115000"/>
              </a:lnSpc>
              <a:buNone/>
            </a:pPr>
            <a:r>
              <a:rPr lang="en-US" sz="700" dirty="0">
                <a:solidFill>
                  <a:srgbClr val="5B6E8C"/>
                </a:solidFill>
                <a:latin typeface="Manrope" pitchFamily="34" charset="0"/>
                <a:ea typeface="Manrope" pitchFamily="34" charset="-122"/>
                <a:cs typeface="Manrope" pitchFamily="34" charset="-120"/>
              </a:rPr>
              <a:t>Seeks a balance between the inherited faith and the cultural context</a:t>
            </a:r>
            <a:endParaRPr lang="en-US" sz="700" dirty="0"/>
          </a:p>
        </p:txBody>
      </p:sp>
      <p:sp>
        <p:nvSpPr>
          <p:cNvPr id="13" name="Shape 11"/>
          <p:cNvSpPr/>
          <p:nvPr/>
        </p:nvSpPr>
        <p:spPr>
          <a:xfrm>
            <a:off x="4603998" y="1793379"/>
            <a:ext cx="4043883" cy="620167"/>
          </a:xfrm>
          <a:prstGeom prst="roundRect">
            <a:avLst>
              <a:gd name="adj" fmla="val 21565"/>
            </a:avLst>
          </a:prstGeom>
          <a:solidFill>
            <a:srgbClr val="FFFFFF"/>
          </a:solidFill>
          <a:ln w="9525">
            <a:solidFill>
              <a:srgbClr val="B3D5E4"/>
            </a:solidFill>
            <a:prstDash val="solid"/>
          </a:ln>
        </p:spPr>
        <p:txBody>
          <a:bodyPr/>
          <a:lstStyle/>
          <a:p>
            <a:endParaRPr lang="en-IN"/>
          </a:p>
        </p:txBody>
      </p:sp>
      <p:sp>
        <p:nvSpPr>
          <p:cNvPr id="14" name="Text 12"/>
          <p:cNvSpPr/>
          <p:nvPr/>
        </p:nvSpPr>
        <p:spPr>
          <a:xfrm>
            <a:off x="4702671" y="1892052"/>
            <a:ext cx="3846537" cy="139303"/>
          </a:xfrm>
          <a:prstGeom prst="rect">
            <a:avLst/>
          </a:prstGeom>
          <a:noFill/>
          <a:ln/>
        </p:spPr>
        <p:txBody>
          <a:bodyPr wrap="none" lIns="0" tIns="0" rIns="0" bIns="0" rtlCol="0" anchor="t"/>
          <a:lstStyle/>
          <a:p>
            <a:pPr marL="0" indent="0" algn="l">
              <a:lnSpc>
                <a:spcPct val="104000"/>
              </a:lnSpc>
              <a:buNone/>
            </a:pPr>
            <a:r>
              <a:rPr lang="en-US" sz="850" dirty="0">
                <a:solidFill>
                  <a:srgbClr val="5B6E8C"/>
                </a:solidFill>
                <a:latin typeface="Alexandria Medium" pitchFamily="34" charset="0"/>
                <a:ea typeface="Alexandria Medium" pitchFamily="34" charset="-122"/>
                <a:cs typeface="Alexandria Medium" pitchFamily="34" charset="-120"/>
              </a:rPr>
              <a:t>Transcendental Model</a:t>
            </a:r>
            <a:endParaRPr lang="en-US" sz="850" dirty="0"/>
          </a:p>
        </p:txBody>
      </p:sp>
      <p:sp>
        <p:nvSpPr>
          <p:cNvPr id="15" name="Text 13"/>
          <p:cNvSpPr/>
          <p:nvPr/>
        </p:nvSpPr>
        <p:spPr>
          <a:xfrm>
            <a:off x="4702671" y="2069753"/>
            <a:ext cx="3846537" cy="245120"/>
          </a:xfrm>
          <a:prstGeom prst="rect">
            <a:avLst/>
          </a:prstGeom>
          <a:noFill/>
          <a:ln/>
        </p:spPr>
        <p:txBody>
          <a:bodyPr wrap="square" lIns="0" tIns="0" rIns="0" bIns="0" rtlCol="0" anchor="t">
            <a:normAutofit/>
          </a:bodyPr>
          <a:lstStyle/>
          <a:p>
            <a:pPr marL="0" indent="0" algn="l">
              <a:lnSpc>
                <a:spcPct val="115000"/>
              </a:lnSpc>
              <a:buNone/>
            </a:pPr>
            <a:r>
              <a:rPr lang="en-US" sz="700" dirty="0">
                <a:solidFill>
                  <a:srgbClr val="5B6E8C"/>
                </a:solidFill>
                <a:latin typeface="Manrope" pitchFamily="34" charset="0"/>
                <a:ea typeface="Manrope" pitchFamily="34" charset="-122"/>
                <a:cs typeface="Manrope" pitchFamily="34" charset="-120"/>
              </a:rPr>
              <a:t>Attends to the mysteries of theology and to the knowing subject, moving past a narrow handing-on of formulas</a:t>
            </a:r>
            <a:endParaRPr lang="en-US" sz="700" dirty="0"/>
          </a:p>
        </p:txBody>
      </p:sp>
      <p:sp>
        <p:nvSpPr>
          <p:cNvPr id="16" name="Shape 14"/>
          <p:cNvSpPr/>
          <p:nvPr/>
        </p:nvSpPr>
        <p:spPr>
          <a:xfrm>
            <a:off x="496119" y="2477616"/>
            <a:ext cx="4043809" cy="620167"/>
          </a:xfrm>
          <a:prstGeom prst="roundRect">
            <a:avLst>
              <a:gd name="adj" fmla="val 21565"/>
            </a:avLst>
          </a:prstGeom>
          <a:solidFill>
            <a:srgbClr val="FFFFFF"/>
          </a:solidFill>
          <a:ln w="9525">
            <a:solidFill>
              <a:srgbClr val="B3D5E4"/>
            </a:solidFill>
            <a:prstDash val="solid"/>
          </a:ln>
        </p:spPr>
        <p:txBody>
          <a:bodyPr/>
          <a:lstStyle/>
          <a:p>
            <a:endParaRPr lang="en-IN"/>
          </a:p>
        </p:txBody>
      </p:sp>
      <p:sp>
        <p:nvSpPr>
          <p:cNvPr id="17" name="Text 15"/>
          <p:cNvSpPr/>
          <p:nvPr/>
        </p:nvSpPr>
        <p:spPr>
          <a:xfrm>
            <a:off x="594792" y="2576289"/>
            <a:ext cx="3846463" cy="139303"/>
          </a:xfrm>
          <a:prstGeom prst="rect">
            <a:avLst/>
          </a:prstGeom>
          <a:noFill/>
          <a:ln/>
        </p:spPr>
        <p:txBody>
          <a:bodyPr wrap="none" lIns="0" tIns="0" rIns="0" bIns="0" rtlCol="0" anchor="t"/>
          <a:lstStyle/>
          <a:p>
            <a:pPr marL="0" indent="0" algn="l">
              <a:lnSpc>
                <a:spcPct val="104000"/>
              </a:lnSpc>
              <a:buNone/>
            </a:pPr>
            <a:r>
              <a:rPr lang="en-US" sz="850" dirty="0">
                <a:solidFill>
                  <a:srgbClr val="5B6E8C"/>
                </a:solidFill>
                <a:latin typeface="Alexandria Medium" pitchFamily="34" charset="0"/>
                <a:ea typeface="Alexandria Medium" pitchFamily="34" charset="-122"/>
                <a:cs typeface="Alexandria Medium" pitchFamily="34" charset="-120"/>
              </a:rPr>
              <a:t>Praxis Model</a:t>
            </a:r>
            <a:endParaRPr lang="en-US" sz="850" dirty="0"/>
          </a:p>
        </p:txBody>
      </p:sp>
      <p:sp>
        <p:nvSpPr>
          <p:cNvPr id="18" name="Text 16"/>
          <p:cNvSpPr/>
          <p:nvPr/>
        </p:nvSpPr>
        <p:spPr>
          <a:xfrm>
            <a:off x="594792" y="2753990"/>
            <a:ext cx="3846463" cy="245120"/>
          </a:xfrm>
          <a:prstGeom prst="rect">
            <a:avLst/>
          </a:prstGeom>
          <a:noFill/>
          <a:ln/>
        </p:spPr>
        <p:txBody>
          <a:bodyPr wrap="square" lIns="0" tIns="0" rIns="0" bIns="0" rtlCol="0" anchor="t">
            <a:normAutofit/>
          </a:bodyPr>
          <a:lstStyle/>
          <a:p>
            <a:pPr marL="0" indent="0" algn="l">
              <a:lnSpc>
                <a:spcPct val="115000"/>
              </a:lnSpc>
              <a:buNone/>
            </a:pPr>
            <a:r>
              <a:rPr lang="en-US" sz="700" dirty="0">
                <a:solidFill>
                  <a:srgbClr val="5B6E8C"/>
                </a:solidFill>
                <a:latin typeface="Manrope" pitchFamily="34" charset="0"/>
                <a:ea typeface="Manrope" pitchFamily="34" charset="-122"/>
                <a:cs typeface="Manrope" pitchFamily="34" charset="-120"/>
              </a:rPr>
              <a:t>The model of liberation theology — bound up with action, born in Latin America in the 1960s as a theology from below</a:t>
            </a:r>
            <a:endParaRPr lang="en-US" sz="700" dirty="0"/>
          </a:p>
        </p:txBody>
      </p:sp>
      <p:sp>
        <p:nvSpPr>
          <p:cNvPr id="19" name="Shape 17"/>
          <p:cNvSpPr/>
          <p:nvPr/>
        </p:nvSpPr>
        <p:spPr>
          <a:xfrm>
            <a:off x="4603998" y="2477616"/>
            <a:ext cx="4043883" cy="620167"/>
          </a:xfrm>
          <a:prstGeom prst="roundRect">
            <a:avLst>
              <a:gd name="adj" fmla="val 21565"/>
            </a:avLst>
          </a:prstGeom>
          <a:solidFill>
            <a:srgbClr val="FFFFFF"/>
          </a:solidFill>
          <a:ln w="9525">
            <a:solidFill>
              <a:srgbClr val="B3D5E4"/>
            </a:solidFill>
            <a:prstDash val="solid"/>
          </a:ln>
        </p:spPr>
        <p:txBody>
          <a:bodyPr/>
          <a:lstStyle/>
          <a:p>
            <a:endParaRPr lang="en-IN"/>
          </a:p>
        </p:txBody>
      </p:sp>
      <p:sp>
        <p:nvSpPr>
          <p:cNvPr id="20" name="Text 18"/>
          <p:cNvSpPr/>
          <p:nvPr/>
        </p:nvSpPr>
        <p:spPr>
          <a:xfrm>
            <a:off x="4702671" y="2576289"/>
            <a:ext cx="3846537" cy="139303"/>
          </a:xfrm>
          <a:prstGeom prst="rect">
            <a:avLst/>
          </a:prstGeom>
          <a:noFill/>
          <a:ln/>
        </p:spPr>
        <p:txBody>
          <a:bodyPr wrap="none" lIns="0" tIns="0" rIns="0" bIns="0" rtlCol="0" anchor="t"/>
          <a:lstStyle/>
          <a:p>
            <a:pPr marL="0" indent="0" algn="l">
              <a:lnSpc>
                <a:spcPct val="104000"/>
              </a:lnSpc>
              <a:buNone/>
            </a:pPr>
            <a:r>
              <a:rPr lang="en-US" sz="850" dirty="0">
                <a:solidFill>
                  <a:srgbClr val="5B6E8C"/>
                </a:solidFill>
                <a:latin typeface="Alexandria Medium" pitchFamily="34" charset="0"/>
                <a:ea typeface="Alexandria Medium" pitchFamily="34" charset="-122"/>
                <a:cs typeface="Alexandria Medium" pitchFamily="34" charset="-120"/>
              </a:rPr>
              <a:t>Countercultural Model</a:t>
            </a:r>
            <a:endParaRPr lang="en-US" sz="850" dirty="0"/>
          </a:p>
        </p:txBody>
      </p:sp>
      <p:sp>
        <p:nvSpPr>
          <p:cNvPr id="21" name="Text 19"/>
          <p:cNvSpPr/>
          <p:nvPr/>
        </p:nvSpPr>
        <p:spPr>
          <a:xfrm>
            <a:off x="4702671" y="2753990"/>
            <a:ext cx="3846537" cy="122560"/>
          </a:xfrm>
          <a:prstGeom prst="rect">
            <a:avLst/>
          </a:prstGeom>
          <a:noFill/>
          <a:ln/>
        </p:spPr>
        <p:txBody>
          <a:bodyPr wrap="none" lIns="0" tIns="0" rIns="0" bIns="0" rtlCol="0" anchor="t"/>
          <a:lstStyle/>
          <a:p>
            <a:pPr marL="0" indent="0" algn="l">
              <a:lnSpc>
                <a:spcPct val="115000"/>
              </a:lnSpc>
              <a:buNone/>
            </a:pPr>
            <a:r>
              <a:rPr lang="en-US" sz="700" dirty="0">
                <a:solidFill>
                  <a:srgbClr val="5B6E8C"/>
                </a:solidFill>
                <a:latin typeface="Manrope" pitchFamily="34" charset="0"/>
                <a:ea typeface="Manrope" pitchFamily="34" charset="-122"/>
                <a:cs typeface="Manrope" pitchFamily="34" charset="-120"/>
              </a:rPr>
              <a:t>Holds the Gospel as a prophetic challenge to the dominant culture</a:t>
            </a:r>
            <a:endParaRPr lang="en-US" sz="700" dirty="0"/>
          </a:p>
        </p:txBody>
      </p:sp>
      <p:sp>
        <p:nvSpPr>
          <p:cNvPr id="22" name="Shape 20"/>
          <p:cNvSpPr/>
          <p:nvPr/>
        </p:nvSpPr>
        <p:spPr>
          <a:xfrm>
            <a:off x="431974" y="3169816"/>
            <a:ext cx="4095452" cy="1588294"/>
          </a:xfrm>
          <a:prstGeom prst="roundRect">
            <a:avLst>
              <a:gd name="adj" fmla="val 13472"/>
            </a:avLst>
          </a:prstGeom>
          <a:solidFill>
            <a:srgbClr val="AAE4FE"/>
          </a:solidFill>
          <a:ln/>
        </p:spPr>
        <p:txBody>
          <a:bodyPr/>
          <a:lstStyle/>
          <a:p>
            <a:endParaRPr lang="en-IN"/>
          </a:p>
        </p:txBody>
      </p:sp>
      <p:sp>
        <p:nvSpPr>
          <p:cNvPr id="23" name="Text 21"/>
          <p:cNvSpPr/>
          <p:nvPr/>
        </p:nvSpPr>
        <p:spPr>
          <a:xfrm>
            <a:off x="521122" y="3233886"/>
            <a:ext cx="3917156" cy="139303"/>
          </a:xfrm>
          <a:prstGeom prst="rect">
            <a:avLst/>
          </a:prstGeom>
          <a:noFill/>
          <a:ln/>
        </p:spPr>
        <p:txBody>
          <a:bodyPr wrap="none" lIns="0" tIns="0" rIns="0" bIns="0" rtlCol="0" anchor="t"/>
          <a:lstStyle/>
          <a:p>
            <a:pPr marL="0" indent="0" algn="l">
              <a:lnSpc>
                <a:spcPct val="104000"/>
              </a:lnSpc>
              <a:buNone/>
            </a:pPr>
            <a:r>
              <a:rPr lang="en-US" sz="850" dirty="0">
                <a:solidFill>
                  <a:srgbClr val="000000"/>
                </a:solidFill>
                <a:latin typeface="Alexandria Medium" pitchFamily="34" charset="0"/>
                <a:ea typeface="Alexandria Medium" pitchFamily="34" charset="-122"/>
                <a:cs typeface="Alexandria Medium" pitchFamily="34" charset="-120"/>
              </a:rPr>
              <a:t>The Contemplative Model — India's </a:t>
            </a:r>
            <a:r>
              <a:rPr lang="en-US" sz="850" i="1" dirty="0">
                <a:solidFill>
                  <a:srgbClr val="000000"/>
                </a:solidFill>
                <a:latin typeface="Alexandria Medium" pitchFamily="34" charset="0"/>
                <a:ea typeface="Alexandria Medium" pitchFamily="34" charset="-122"/>
                <a:cs typeface="Alexandria Medium" pitchFamily="34" charset="-120"/>
              </a:rPr>
              <a:t>Ashram</a:t>
            </a:r>
            <a:r>
              <a:rPr lang="en-US" sz="850" dirty="0">
                <a:solidFill>
                  <a:srgbClr val="000000"/>
                </a:solidFill>
                <a:latin typeface="Alexandria Medium" pitchFamily="34" charset="0"/>
                <a:ea typeface="Alexandria Medium" pitchFamily="34" charset="-122"/>
                <a:cs typeface="Alexandria Medium" pitchFamily="34" charset="-120"/>
              </a:rPr>
              <a:t> Tradition</a:t>
            </a:r>
            <a:endParaRPr lang="en-US" sz="850" dirty="0"/>
          </a:p>
        </p:txBody>
      </p:sp>
      <p:sp>
        <p:nvSpPr>
          <p:cNvPr id="24" name="Text 22"/>
          <p:cNvSpPr/>
          <p:nvPr/>
        </p:nvSpPr>
        <p:spPr>
          <a:xfrm>
            <a:off x="521122" y="3437260"/>
            <a:ext cx="4374356" cy="122560"/>
          </a:xfrm>
          <a:prstGeom prst="rect">
            <a:avLst/>
          </a:prstGeom>
          <a:noFill/>
          <a:ln/>
        </p:spPr>
        <p:txBody>
          <a:bodyPr wrap="none" lIns="0" tIns="0" rIns="0" bIns="0" rtlCol="0" anchor="t"/>
          <a:lstStyle/>
          <a:p>
            <a:pPr marL="0" indent="0" algn="l">
              <a:lnSpc>
                <a:spcPct val="115000"/>
              </a:lnSpc>
              <a:buNone/>
            </a:pPr>
            <a:r>
              <a:rPr lang="en-US" sz="700" dirty="0">
                <a:solidFill>
                  <a:srgbClr val="000000"/>
                </a:solidFill>
                <a:latin typeface="Manrope" pitchFamily="34" charset="0"/>
                <a:ea typeface="Manrope" pitchFamily="34" charset="-122"/>
                <a:cs typeface="Manrope" pitchFamily="34" charset="-120"/>
              </a:rPr>
              <a:t>Reads Christian faith through the threefold Indian path to God:</a:t>
            </a:r>
            <a:endParaRPr lang="en-US" sz="700" dirty="0"/>
          </a:p>
        </p:txBody>
      </p:sp>
      <p:sp>
        <p:nvSpPr>
          <p:cNvPr id="25" name="Text 23"/>
          <p:cNvSpPr/>
          <p:nvPr/>
        </p:nvSpPr>
        <p:spPr>
          <a:xfrm>
            <a:off x="521122" y="3617491"/>
            <a:ext cx="3917156" cy="780157"/>
          </a:xfrm>
          <a:prstGeom prst="rect">
            <a:avLst/>
          </a:prstGeom>
          <a:noFill/>
          <a:ln/>
        </p:spPr>
        <p:txBody>
          <a:bodyPr wrap="square" lIns="0" tIns="0" rIns="0" bIns="0" rtlCol="0" anchor="t">
            <a:normAutofit/>
          </a:bodyPr>
          <a:lstStyle/>
          <a:p>
            <a:pPr marL="142240" indent="-142240" algn="l">
              <a:lnSpc>
                <a:spcPct val="115000"/>
              </a:lnSpc>
              <a:buSzPct val="100000"/>
              <a:buChar char="•"/>
            </a:pPr>
            <a:r>
              <a:rPr lang="en-US" sz="700" b="1" i="1" dirty="0">
                <a:solidFill>
                  <a:srgbClr val="000000"/>
                </a:solidFill>
                <a:latin typeface="Manrope Bold" pitchFamily="34" charset="0"/>
                <a:ea typeface="Manrope Bold" pitchFamily="34" charset="-122"/>
                <a:cs typeface="Manrope Bold" pitchFamily="34" charset="-120"/>
              </a:rPr>
              <a:t>Jnana marga</a:t>
            </a:r>
            <a:r>
              <a:rPr lang="en-US" sz="700" dirty="0">
                <a:solidFill>
                  <a:srgbClr val="000000"/>
                </a:solidFill>
                <a:latin typeface="Manrope" pitchFamily="34" charset="0"/>
                <a:ea typeface="Manrope" pitchFamily="34" charset="-122"/>
                <a:cs typeface="Manrope" pitchFamily="34" charset="-120"/>
              </a:rPr>
              <a:t> (knowledge): God found in the cave of the heart as </a:t>
            </a:r>
            <a:r>
              <a:rPr lang="en-US" sz="700" i="1" dirty="0">
                <a:solidFill>
                  <a:srgbClr val="000000"/>
                </a:solidFill>
                <a:latin typeface="Manrope" pitchFamily="34" charset="0"/>
                <a:ea typeface="Manrope" pitchFamily="34" charset="-122"/>
                <a:cs typeface="Manrope" pitchFamily="34" charset="-120"/>
              </a:rPr>
              <a:t>Saccidananda</a:t>
            </a:r>
            <a:r>
              <a:rPr lang="en-US" sz="700" dirty="0">
                <a:solidFill>
                  <a:srgbClr val="000000"/>
                </a:solidFill>
                <a:latin typeface="Manrope" pitchFamily="34" charset="0"/>
                <a:ea typeface="Manrope" pitchFamily="34" charset="-122"/>
                <a:cs typeface="Manrope" pitchFamily="34" charset="-120"/>
              </a:rPr>
              <a:t> — being, awareness, and bliss — </a:t>
            </a:r>
            <a:r>
              <a:rPr lang="en-US" sz="700" i="1" dirty="0">
                <a:solidFill>
                  <a:srgbClr val="000000"/>
                </a:solidFill>
                <a:latin typeface="Manrope" pitchFamily="34" charset="0"/>
                <a:ea typeface="Manrope" pitchFamily="34" charset="-122"/>
                <a:cs typeface="Manrope" pitchFamily="34" charset="-120"/>
              </a:rPr>
              <a:t>aham brahmasmi</a:t>
            </a:r>
            <a:r>
              <a:rPr lang="en-US" sz="700" dirty="0">
                <a:solidFill>
                  <a:srgbClr val="000000"/>
                </a:solidFill>
                <a:latin typeface="Manrope" pitchFamily="34" charset="0"/>
                <a:ea typeface="Manrope" pitchFamily="34" charset="-122"/>
                <a:cs typeface="Manrope" pitchFamily="34" charset="-120"/>
              </a:rPr>
              <a:t> / </a:t>
            </a:r>
            <a:r>
              <a:rPr lang="en-US" sz="700" i="1" dirty="0">
                <a:solidFill>
                  <a:srgbClr val="000000"/>
                </a:solidFill>
                <a:latin typeface="Manrope" pitchFamily="34" charset="0"/>
                <a:ea typeface="Manrope" pitchFamily="34" charset="-122"/>
                <a:cs typeface="Manrope" pitchFamily="34" charset="-120"/>
              </a:rPr>
              <a:t>koinonia</a:t>
            </a:r>
            <a:endParaRPr lang="en-US" sz="700" dirty="0"/>
          </a:p>
          <a:p>
            <a:pPr marL="142240" indent="-142240" algn="l">
              <a:lnSpc>
                <a:spcPct val="115000"/>
              </a:lnSpc>
              <a:buSzPct val="100000"/>
              <a:buChar char="•"/>
            </a:pPr>
            <a:r>
              <a:rPr lang="en-US" sz="700" b="1" i="1" dirty="0">
                <a:solidFill>
                  <a:srgbClr val="000000"/>
                </a:solidFill>
                <a:latin typeface="Manrope Bold" pitchFamily="34" charset="0"/>
                <a:ea typeface="Manrope Bold" pitchFamily="34" charset="-122"/>
                <a:cs typeface="Manrope Bold" pitchFamily="34" charset="-120"/>
              </a:rPr>
              <a:t>Bhakti marga</a:t>
            </a:r>
            <a:r>
              <a:rPr lang="en-US" sz="700" dirty="0">
                <a:solidFill>
                  <a:srgbClr val="000000"/>
                </a:solidFill>
                <a:latin typeface="Manrope" pitchFamily="34" charset="0"/>
                <a:ea typeface="Manrope" pitchFamily="34" charset="-122"/>
                <a:cs typeface="Manrope" pitchFamily="34" charset="-120"/>
              </a:rPr>
              <a:t> (devotion): God related to as the personal Lord — the bond of the vine and the branches</a:t>
            </a:r>
            <a:endParaRPr lang="en-US" sz="700" dirty="0"/>
          </a:p>
          <a:p>
            <a:pPr marL="142240" indent="-142240" algn="l">
              <a:lnSpc>
                <a:spcPct val="115000"/>
              </a:lnSpc>
              <a:buSzPct val="100000"/>
              <a:buChar char="•"/>
            </a:pPr>
            <a:r>
              <a:rPr lang="en-US" sz="700" b="1" i="1" dirty="0">
                <a:solidFill>
                  <a:srgbClr val="000000"/>
                </a:solidFill>
                <a:latin typeface="Manrope Bold" pitchFamily="34" charset="0"/>
                <a:ea typeface="Manrope Bold" pitchFamily="34" charset="-122"/>
                <a:cs typeface="Manrope Bold" pitchFamily="34" charset="-120"/>
              </a:rPr>
              <a:t>Karma marga</a:t>
            </a:r>
            <a:r>
              <a:rPr lang="en-US" sz="700" dirty="0">
                <a:solidFill>
                  <a:srgbClr val="000000"/>
                </a:solidFill>
                <a:latin typeface="Manrope" pitchFamily="34" charset="0"/>
                <a:ea typeface="Manrope" pitchFamily="34" charset="-122"/>
                <a:cs typeface="Manrope" pitchFamily="34" charset="-120"/>
              </a:rPr>
              <a:t> (action): God found on the Indian road in the building of human community — </a:t>
            </a:r>
            <a:r>
              <a:rPr lang="en-US" sz="700" i="1" dirty="0">
                <a:solidFill>
                  <a:srgbClr val="000000"/>
                </a:solidFill>
                <a:latin typeface="Manrope" pitchFamily="34" charset="0"/>
                <a:ea typeface="Manrope" pitchFamily="34" charset="-122"/>
                <a:cs typeface="Manrope" pitchFamily="34" charset="-120"/>
              </a:rPr>
              <a:t>vasudhaiva kutumbakam</a:t>
            </a:r>
            <a:r>
              <a:rPr lang="en-US" sz="700" dirty="0">
                <a:solidFill>
                  <a:srgbClr val="000000"/>
                </a:solidFill>
                <a:latin typeface="Manrope" pitchFamily="34" charset="0"/>
                <a:ea typeface="Manrope" pitchFamily="34" charset="-122"/>
                <a:cs typeface="Manrope" pitchFamily="34" charset="-120"/>
              </a:rPr>
              <a:t>, the whole world as one family</a:t>
            </a:r>
            <a:endParaRPr lang="en-US" sz="700" dirty="0"/>
          </a:p>
        </p:txBody>
      </p:sp>
      <p:sp>
        <p:nvSpPr>
          <p:cNvPr id="26" name="Text 24"/>
          <p:cNvSpPr/>
          <p:nvPr/>
        </p:nvSpPr>
        <p:spPr>
          <a:xfrm>
            <a:off x="521122" y="4455319"/>
            <a:ext cx="3917156" cy="245120"/>
          </a:xfrm>
          <a:prstGeom prst="rect">
            <a:avLst/>
          </a:prstGeom>
          <a:noFill/>
          <a:ln/>
        </p:spPr>
        <p:txBody>
          <a:bodyPr wrap="square" lIns="0" tIns="0" rIns="0" bIns="0" rtlCol="0" anchor="t">
            <a:normAutofit/>
          </a:bodyPr>
          <a:lstStyle/>
          <a:p>
            <a:pPr marL="0" indent="0" algn="l">
              <a:lnSpc>
                <a:spcPct val="115000"/>
              </a:lnSpc>
              <a:buNone/>
            </a:pPr>
            <a:r>
              <a:rPr lang="en-US" sz="700" dirty="0">
                <a:solidFill>
                  <a:srgbClr val="000000"/>
                </a:solidFill>
                <a:latin typeface="Manrope" pitchFamily="34" charset="0"/>
                <a:ea typeface="Manrope" pitchFamily="34" charset="-122"/>
                <a:cs typeface="Manrope" pitchFamily="34" charset="-120"/>
              </a:rPr>
              <a:t>Pioneers: Swami Parama Arubi Anandam, Swami Abhishiktananda, and Bede Griffiths (Swami Dayananda) of the Saccidananda Ashram at Shantivanam.</a:t>
            </a:r>
            <a:endParaRPr lang="en-US" sz="700" dirty="0"/>
          </a:p>
        </p:txBody>
      </p:sp>
      <p:sp>
        <p:nvSpPr>
          <p:cNvPr id="27" name="Text 25"/>
          <p:cNvSpPr/>
          <p:nvPr/>
        </p:nvSpPr>
        <p:spPr>
          <a:xfrm>
            <a:off x="4685481" y="3233886"/>
            <a:ext cx="3967163" cy="139303"/>
          </a:xfrm>
          <a:prstGeom prst="rect">
            <a:avLst/>
          </a:prstGeom>
          <a:noFill/>
          <a:ln/>
        </p:spPr>
        <p:txBody>
          <a:bodyPr wrap="none" lIns="0" tIns="0" rIns="0" bIns="0" rtlCol="0" anchor="t"/>
          <a:lstStyle/>
          <a:p>
            <a:pPr marL="0" indent="0" algn="l">
              <a:lnSpc>
                <a:spcPct val="104000"/>
              </a:lnSpc>
              <a:buNone/>
            </a:pPr>
            <a:r>
              <a:rPr lang="en-US" sz="850" dirty="0">
                <a:solidFill>
                  <a:srgbClr val="5B6E8C"/>
                </a:solidFill>
                <a:latin typeface="Alexandria Medium" pitchFamily="34" charset="0"/>
                <a:ea typeface="Alexandria Medium" pitchFamily="34" charset="-122"/>
                <a:cs typeface="Alexandria Medium" pitchFamily="34" charset="-120"/>
              </a:rPr>
              <a:t>The Praxis Model — Liberation Theology</a:t>
            </a:r>
            <a:endParaRPr lang="en-US" sz="850" dirty="0"/>
          </a:p>
        </p:txBody>
      </p:sp>
      <p:sp>
        <p:nvSpPr>
          <p:cNvPr id="28" name="Text 26"/>
          <p:cNvSpPr/>
          <p:nvPr/>
        </p:nvSpPr>
        <p:spPr>
          <a:xfrm>
            <a:off x="4685481" y="3437260"/>
            <a:ext cx="3967163" cy="915591"/>
          </a:xfrm>
          <a:prstGeom prst="rect">
            <a:avLst/>
          </a:prstGeom>
          <a:noFill/>
          <a:ln/>
        </p:spPr>
        <p:txBody>
          <a:bodyPr wrap="square" lIns="0" tIns="0" rIns="0" bIns="0" rtlCol="0" anchor="t">
            <a:normAutofit/>
          </a:bodyPr>
          <a:lstStyle/>
          <a:p>
            <a:pPr marL="0" indent="0" algn="l">
              <a:lnSpc>
                <a:spcPct val="115000"/>
              </a:lnSpc>
              <a:spcAft>
                <a:spcPts val="450"/>
              </a:spcAft>
              <a:buNone/>
            </a:pPr>
            <a:r>
              <a:rPr lang="en-US" sz="700" dirty="0">
                <a:solidFill>
                  <a:srgbClr val="5B6E8C"/>
                </a:solidFill>
                <a:latin typeface="Manrope" pitchFamily="34" charset="0"/>
                <a:ea typeface="Manrope" pitchFamily="34" charset="-122"/>
                <a:cs typeface="Manrope" pitchFamily="34" charset="-120"/>
              </a:rPr>
              <a:t>Reads the God of history in the burning bush of Exodus, in the manifesto of Jesus in Luke 4, and in the judgment scene of Matthew 25. Holds that genuine theology is possible only where there is a freeing commitment to the poor. Analyses the situation, sees the human person as one who carries the dignity of God, and announces the promise of salvation given in Jesus.</a:t>
            </a:r>
            <a:endParaRPr lang="en-US" sz="700" dirty="0"/>
          </a:p>
          <a:p>
            <a:pPr marL="0" indent="0" algn="l">
              <a:lnSpc>
                <a:spcPct val="115000"/>
              </a:lnSpc>
              <a:buNone/>
            </a:pPr>
            <a:r>
              <a:rPr lang="en-US" sz="700" dirty="0">
                <a:solidFill>
                  <a:srgbClr val="5B6E8C"/>
                </a:solidFill>
                <a:latin typeface="Manrope" pitchFamily="34" charset="0"/>
                <a:ea typeface="Manrope" pitchFamily="34" charset="-122"/>
                <a:cs typeface="Manrope" pitchFamily="34" charset="-120"/>
              </a:rPr>
              <a:t>This model has given rise to many others: the subaltern, the black, the feminist, the Dalit, the tribal, and the Korean Minjung theologies. It presses us to theologise out of the many-sided reality of India.</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96119" y="344388"/>
            <a:ext cx="8151763" cy="254347"/>
          </a:xfrm>
          <a:prstGeom prst="rect">
            <a:avLst/>
          </a:prstGeom>
          <a:noFill/>
          <a:ln/>
        </p:spPr>
        <p:txBody>
          <a:bodyPr wrap="none" lIns="0" tIns="0" rIns="0" bIns="0" rtlCol="0" anchor="t"/>
          <a:lstStyle/>
          <a:p>
            <a:pPr marL="0" indent="0" algn="l">
              <a:lnSpc>
                <a:spcPct val="104000"/>
              </a:lnSpc>
              <a:buNone/>
            </a:pPr>
            <a:r>
              <a:rPr lang="en-US" sz="1600" dirty="0">
                <a:solidFill>
                  <a:srgbClr val="5B6E8C"/>
                </a:solidFill>
                <a:latin typeface="Alexandria Medium" pitchFamily="34" charset="0"/>
                <a:ea typeface="Alexandria Medium" pitchFamily="34" charset="-122"/>
                <a:cs typeface="Alexandria Medium" pitchFamily="34" charset="-120"/>
              </a:rPr>
              <a:t>13. Theologizing in India</a:t>
            </a:r>
            <a:endParaRPr lang="en-US" sz="1600" dirty="0"/>
          </a:p>
        </p:txBody>
      </p:sp>
      <p:sp>
        <p:nvSpPr>
          <p:cNvPr id="3" name="Shape 1"/>
          <p:cNvSpPr/>
          <p:nvPr/>
        </p:nvSpPr>
        <p:spPr>
          <a:xfrm>
            <a:off x="437480" y="678805"/>
            <a:ext cx="3258815" cy="3702472"/>
          </a:xfrm>
          <a:prstGeom prst="roundRect">
            <a:avLst>
              <a:gd name="adj" fmla="val 5995"/>
            </a:avLst>
          </a:prstGeom>
          <a:solidFill>
            <a:srgbClr val="AAE4FE"/>
          </a:solidFill>
          <a:ln/>
        </p:spPr>
        <p:txBody>
          <a:bodyPr/>
          <a:lstStyle/>
          <a:p>
            <a:endParaRPr lang="en-IN"/>
          </a:p>
        </p:txBody>
      </p:sp>
      <p:sp>
        <p:nvSpPr>
          <p:cNvPr id="4" name="Text 2"/>
          <p:cNvSpPr/>
          <p:nvPr/>
        </p:nvSpPr>
        <p:spPr>
          <a:xfrm>
            <a:off x="518815" y="732160"/>
            <a:ext cx="3096146" cy="127099"/>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Alexandria Medium" pitchFamily="34" charset="0"/>
                <a:ea typeface="Alexandria Medium" pitchFamily="34" charset="-122"/>
                <a:cs typeface="Alexandria Medium" pitchFamily="34" charset="-120"/>
              </a:rPr>
              <a:t>The Paradigm Shift</a:t>
            </a:r>
            <a:endParaRPr lang="en-US" sz="800" dirty="0"/>
          </a:p>
        </p:txBody>
      </p:sp>
      <p:sp>
        <p:nvSpPr>
          <p:cNvPr id="5" name="Text 3"/>
          <p:cNvSpPr/>
          <p:nvPr/>
        </p:nvSpPr>
        <p:spPr>
          <a:xfrm>
            <a:off x="518815" y="912614"/>
            <a:ext cx="3096146" cy="215652"/>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000000"/>
                </a:solidFill>
                <a:latin typeface="Manrope" pitchFamily="34" charset="0"/>
                <a:ea typeface="Manrope" pitchFamily="34" charset="-122"/>
                <a:cs typeface="Manrope" pitchFamily="34" charset="-120"/>
              </a:rPr>
              <a:t>To do theology in India is to enter the Jordan of the religions and the Calvary of poverty, and to be crucified there with the struggles of the people.</a:t>
            </a:r>
            <a:endParaRPr lang="en-US" sz="600" dirty="0"/>
          </a:p>
        </p:txBody>
      </p:sp>
      <p:sp>
        <p:nvSpPr>
          <p:cNvPr id="6" name="Shape 4"/>
          <p:cNvSpPr/>
          <p:nvPr/>
        </p:nvSpPr>
        <p:spPr>
          <a:xfrm>
            <a:off x="518815" y="1208633"/>
            <a:ext cx="3096146" cy="9525"/>
          </a:xfrm>
          <a:prstGeom prst="roundRect">
            <a:avLst>
              <a:gd name="adj" fmla="val 60000"/>
            </a:avLst>
          </a:prstGeom>
          <a:solidFill>
            <a:srgbClr val="000000">
              <a:alpha val="50000"/>
            </a:srgbClr>
          </a:solidFill>
          <a:ln/>
        </p:spPr>
        <p:txBody>
          <a:bodyPr/>
          <a:lstStyle/>
          <a:p>
            <a:endParaRPr lang="en-IN"/>
          </a:p>
        </p:txBody>
      </p:sp>
      <p:sp>
        <p:nvSpPr>
          <p:cNvPr id="7" name="Shape 5"/>
          <p:cNvSpPr/>
          <p:nvPr/>
        </p:nvSpPr>
        <p:spPr>
          <a:xfrm>
            <a:off x="518815" y="1298525"/>
            <a:ext cx="3096146" cy="1019249"/>
          </a:xfrm>
          <a:prstGeom prst="roundRect">
            <a:avLst>
              <a:gd name="adj" fmla="val 11980"/>
            </a:avLst>
          </a:prstGeom>
          <a:solidFill>
            <a:srgbClr val="BCEAFE"/>
          </a:solidFill>
          <a:ln w="4763">
            <a:solidFill>
              <a:srgbClr val="B3D5E4"/>
            </a:solidFill>
            <a:prstDash val="solid"/>
          </a:ln>
        </p:spPr>
        <p:txBody>
          <a:bodyPr/>
          <a:lstStyle/>
          <a:p>
            <a:endParaRPr lang="en-IN"/>
          </a:p>
        </p:txBody>
      </p:sp>
      <p:sp>
        <p:nvSpPr>
          <p:cNvPr id="8" name="Shape 6"/>
          <p:cNvSpPr/>
          <p:nvPr/>
        </p:nvSpPr>
        <p:spPr>
          <a:xfrm>
            <a:off x="523577" y="1303288"/>
            <a:ext cx="3086621" cy="450949"/>
          </a:xfrm>
          <a:prstGeom prst="rect">
            <a:avLst/>
          </a:prstGeom>
          <a:solidFill>
            <a:srgbClr val="BCEAFE"/>
          </a:solidFill>
          <a:ln/>
        </p:spPr>
        <p:txBody>
          <a:bodyPr/>
          <a:lstStyle/>
          <a:p>
            <a:endParaRPr lang="en-IN"/>
          </a:p>
        </p:txBody>
      </p:sp>
      <p:sp>
        <p:nvSpPr>
          <p:cNvPr id="9" name="Text 7"/>
          <p:cNvSpPr/>
          <p:nvPr/>
        </p:nvSpPr>
        <p:spPr>
          <a:xfrm>
            <a:off x="604912" y="1384622"/>
            <a:ext cx="2923952" cy="127099"/>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Alexandria Medium" pitchFamily="34" charset="0"/>
                <a:ea typeface="Alexandria Medium" pitchFamily="34" charset="-122"/>
                <a:cs typeface="Alexandria Medium" pitchFamily="34" charset="-120"/>
              </a:rPr>
              <a:t>Bird View</a:t>
            </a:r>
            <a:endParaRPr lang="en-US" sz="800" dirty="0"/>
          </a:p>
        </p:txBody>
      </p:sp>
      <p:sp>
        <p:nvSpPr>
          <p:cNvPr id="10" name="Text 8"/>
          <p:cNvSpPr/>
          <p:nvPr/>
        </p:nvSpPr>
        <p:spPr>
          <a:xfrm>
            <a:off x="604912" y="1565077"/>
            <a:ext cx="2923952" cy="107826"/>
          </a:xfrm>
          <a:prstGeom prst="rect">
            <a:avLst/>
          </a:prstGeom>
          <a:noFill/>
          <a:ln/>
        </p:spPr>
        <p:txBody>
          <a:bodyPr wrap="none" lIns="0" tIns="0" rIns="0" bIns="0" rtlCol="0" anchor="t"/>
          <a:lstStyle/>
          <a:p>
            <a:pPr marL="0" indent="0" algn="l">
              <a:lnSpc>
                <a:spcPct val="110000"/>
              </a:lnSpc>
              <a:buNone/>
            </a:pPr>
            <a:r>
              <a:rPr lang="en-US" sz="600" dirty="0">
                <a:solidFill>
                  <a:srgbClr val="000000"/>
                </a:solidFill>
                <a:latin typeface="Manrope" pitchFamily="34" charset="0"/>
                <a:ea typeface="Manrope" pitchFamily="34" charset="-122"/>
                <a:cs typeface="Manrope" pitchFamily="34" charset="-120"/>
              </a:rPr>
              <a:t>Dogmatic, Sanskritic, advaitic, Church-oriented — done from a helicopter</a:t>
            </a:r>
            <a:endParaRPr lang="en-US" sz="600" dirty="0"/>
          </a:p>
        </p:txBody>
      </p:sp>
      <p:sp>
        <p:nvSpPr>
          <p:cNvPr id="11" name="Shape 9"/>
          <p:cNvSpPr/>
          <p:nvPr/>
        </p:nvSpPr>
        <p:spPr>
          <a:xfrm>
            <a:off x="523577" y="1754237"/>
            <a:ext cx="3086621" cy="558775"/>
          </a:xfrm>
          <a:prstGeom prst="rect">
            <a:avLst/>
          </a:prstGeom>
          <a:solidFill>
            <a:srgbClr val="BCEAFE"/>
          </a:solidFill>
          <a:ln/>
        </p:spPr>
        <p:txBody>
          <a:bodyPr/>
          <a:lstStyle/>
          <a:p>
            <a:endParaRPr lang="en-IN"/>
          </a:p>
        </p:txBody>
      </p:sp>
      <p:sp>
        <p:nvSpPr>
          <p:cNvPr id="12" name="Shape 10"/>
          <p:cNvSpPr/>
          <p:nvPr/>
        </p:nvSpPr>
        <p:spPr>
          <a:xfrm>
            <a:off x="523577" y="1754237"/>
            <a:ext cx="3086621" cy="9525"/>
          </a:xfrm>
          <a:prstGeom prst="roundRect">
            <a:avLst>
              <a:gd name="adj" fmla="val 1281978"/>
            </a:avLst>
          </a:prstGeom>
          <a:solidFill>
            <a:srgbClr val="B3D5E4"/>
          </a:solidFill>
          <a:ln/>
        </p:spPr>
        <p:txBody>
          <a:bodyPr/>
          <a:lstStyle/>
          <a:p>
            <a:endParaRPr lang="en-IN"/>
          </a:p>
        </p:txBody>
      </p:sp>
      <p:sp>
        <p:nvSpPr>
          <p:cNvPr id="13" name="Text 11"/>
          <p:cNvSpPr/>
          <p:nvPr/>
        </p:nvSpPr>
        <p:spPr>
          <a:xfrm>
            <a:off x="604912" y="1835572"/>
            <a:ext cx="2923952" cy="127099"/>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Alexandria Medium" pitchFamily="34" charset="0"/>
                <a:ea typeface="Alexandria Medium" pitchFamily="34" charset="-122"/>
                <a:cs typeface="Alexandria Medium" pitchFamily="34" charset="-120"/>
              </a:rPr>
              <a:t>Worm View</a:t>
            </a:r>
            <a:endParaRPr lang="en-US" sz="800" dirty="0"/>
          </a:p>
        </p:txBody>
      </p:sp>
      <p:sp>
        <p:nvSpPr>
          <p:cNvPr id="14" name="Text 12"/>
          <p:cNvSpPr/>
          <p:nvPr/>
        </p:nvSpPr>
        <p:spPr>
          <a:xfrm>
            <a:off x="604912" y="2016026"/>
            <a:ext cx="2923952" cy="215652"/>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000000"/>
                </a:solidFill>
                <a:latin typeface="Manrope" pitchFamily="34" charset="0"/>
                <a:ea typeface="Manrope" pitchFamily="34" charset="-122"/>
                <a:cs typeface="Manrope" pitchFamily="34" charset="-120"/>
              </a:rPr>
              <a:t>Dalit, tribal, woman, marginalised — done from the ground, like a bullock cart, oriented to a people-centred Church</a:t>
            </a:r>
            <a:endParaRPr lang="en-US" sz="600" dirty="0"/>
          </a:p>
        </p:txBody>
      </p:sp>
      <p:sp>
        <p:nvSpPr>
          <p:cNvPr id="15" name="Text 13"/>
          <p:cNvSpPr/>
          <p:nvPr/>
        </p:nvSpPr>
        <p:spPr>
          <a:xfrm>
            <a:off x="518815" y="2377827"/>
            <a:ext cx="3096146" cy="127099"/>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Alexandria Medium" pitchFamily="34" charset="0"/>
                <a:ea typeface="Alexandria Medium" pitchFamily="34" charset="-122"/>
                <a:cs typeface="Alexandria Medium" pitchFamily="34" charset="-120"/>
              </a:rPr>
              <a:t>Christian Traditions in India</a:t>
            </a:r>
            <a:endParaRPr lang="en-US" sz="800" dirty="0"/>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9290" y="2555453"/>
            <a:ext cx="3105671" cy="415156"/>
          </a:xfrm>
          <a:prstGeom prst="rect">
            <a:avLst/>
          </a:prstGeom>
        </p:spPr>
      </p:pic>
      <p:sp>
        <p:nvSpPr>
          <p:cNvPr id="17" name="Text 14"/>
          <p:cNvSpPr/>
          <p:nvPr/>
        </p:nvSpPr>
        <p:spPr>
          <a:xfrm>
            <a:off x="619199" y="2564978"/>
            <a:ext cx="2995761" cy="127099"/>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Alexandria Medium" pitchFamily="34" charset="0"/>
                <a:ea typeface="Alexandria Medium" pitchFamily="34" charset="-122"/>
                <a:cs typeface="Alexandria Medium" pitchFamily="34" charset="-120"/>
              </a:rPr>
              <a:t>The Thomas Christians</a:t>
            </a:r>
            <a:endParaRPr lang="en-US" sz="800" dirty="0"/>
          </a:p>
        </p:txBody>
      </p:sp>
      <p:sp>
        <p:nvSpPr>
          <p:cNvPr id="18" name="Text 15"/>
          <p:cNvSpPr/>
          <p:nvPr/>
        </p:nvSpPr>
        <p:spPr>
          <a:xfrm>
            <a:off x="619199" y="2745432"/>
            <a:ext cx="2995761" cy="215652"/>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000000"/>
                </a:solidFill>
                <a:latin typeface="Manrope" pitchFamily="34" charset="0"/>
                <a:ea typeface="Manrope" pitchFamily="34" charset="-122"/>
                <a:cs typeface="Manrope" pitchFamily="34" charset="-120"/>
              </a:rPr>
              <a:t>Apostle Thomas — Kodungallur, 52 AD; martyred Mylapore, 72 AD. Hindu in culture, Christian in faith, Syrian in worship.</a:t>
            </a:r>
            <a:endParaRPr lang="en-US" sz="600" dirty="0"/>
          </a:p>
        </p:txBody>
      </p:sp>
      <p:pic>
        <p:nvPicPr>
          <p:cNvPr id="1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9290" y="3058344"/>
            <a:ext cx="3105671" cy="415156"/>
          </a:xfrm>
          <a:prstGeom prst="rect">
            <a:avLst/>
          </a:prstGeom>
        </p:spPr>
      </p:pic>
      <p:sp>
        <p:nvSpPr>
          <p:cNvPr id="20" name="Text 16"/>
          <p:cNvSpPr/>
          <p:nvPr/>
        </p:nvSpPr>
        <p:spPr>
          <a:xfrm>
            <a:off x="619199" y="3067869"/>
            <a:ext cx="2995761" cy="127099"/>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Alexandria Medium" pitchFamily="34" charset="0"/>
                <a:ea typeface="Alexandria Medium" pitchFamily="34" charset="-122"/>
                <a:cs typeface="Alexandria Medium" pitchFamily="34" charset="-120"/>
              </a:rPr>
              <a:t>Roman Catholic Tradition</a:t>
            </a:r>
            <a:endParaRPr lang="en-US" sz="800" dirty="0"/>
          </a:p>
        </p:txBody>
      </p:sp>
      <p:sp>
        <p:nvSpPr>
          <p:cNvPr id="21" name="Text 17"/>
          <p:cNvSpPr/>
          <p:nvPr/>
        </p:nvSpPr>
        <p:spPr>
          <a:xfrm>
            <a:off x="619199" y="3248323"/>
            <a:ext cx="2995761" cy="215652"/>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000000"/>
                </a:solidFill>
                <a:latin typeface="Manrope" pitchFamily="34" charset="0"/>
                <a:ea typeface="Manrope" pitchFamily="34" charset="-122"/>
                <a:cs typeface="Manrope" pitchFamily="34" charset="-120"/>
              </a:rPr>
              <a:t>From the 16th century — Franciscans, first bishopric at Goa (1534), Francis Xavier. Robert de Nobili as </a:t>
            </a:r>
            <a:r>
              <a:rPr lang="en-US" sz="600" i="1" dirty="0">
                <a:solidFill>
                  <a:srgbClr val="000000"/>
                </a:solidFill>
                <a:latin typeface="Manrope" pitchFamily="34" charset="0"/>
                <a:ea typeface="Manrope" pitchFamily="34" charset="-122"/>
                <a:cs typeface="Manrope" pitchFamily="34" charset="-120"/>
              </a:rPr>
              <a:t>sannyasi</a:t>
            </a:r>
            <a:r>
              <a:rPr lang="en-US" sz="600" dirty="0">
                <a:solidFill>
                  <a:srgbClr val="000000"/>
                </a:solidFill>
                <a:latin typeface="Manrope" pitchFamily="34" charset="0"/>
                <a:ea typeface="Manrope" pitchFamily="34" charset="-122"/>
                <a:cs typeface="Manrope" pitchFamily="34" charset="-120"/>
              </a:rPr>
              <a:t>; Thomas Stephens' </a:t>
            </a:r>
            <a:r>
              <a:rPr lang="en-US" sz="600" i="1" dirty="0">
                <a:solidFill>
                  <a:srgbClr val="000000"/>
                </a:solidFill>
                <a:latin typeface="Manrope" pitchFamily="34" charset="0"/>
                <a:ea typeface="Manrope" pitchFamily="34" charset="-122"/>
                <a:cs typeface="Manrope" pitchFamily="34" charset="-120"/>
              </a:rPr>
              <a:t>Kristapurana</a:t>
            </a:r>
            <a:r>
              <a:rPr lang="en-US" sz="600" dirty="0">
                <a:solidFill>
                  <a:srgbClr val="000000"/>
                </a:solidFill>
                <a:latin typeface="Manrope" pitchFamily="34" charset="0"/>
                <a:ea typeface="Manrope" pitchFamily="34" charset="-122"/>
                <a:cs typeface="Manrope" pitchFamily="34" charset="-120"/>
              </a:rPr>
              <a:t>.</a:t>
            </a:r>
            <a:endParaRPr lang="en-US" sz="600" dirty="0"/>
          </a:p>
        </p:txBody>
      </p:sp>
      <p:pic>
        <p:nvPicPr>
          <p:cNvPr id="2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9290" y="3561234"/>
            <a:ext cx="3105671" cy="415156"/>
          </a:xfrm>
          <a:prstGeom prst="rect">
            <a:avLst/>
          </a:prstGeom>
        </p:spPr>
      </p:pic>
      <p:sp>
        <p:nvSpPr>
          <p:cNvPr id="23" name="Text 18"/>
          <p:cNvSpPr/>
          <p:nvPr/>
        </p:nvSpPr>
        <p:spPr>
          <a:xfrm>
            <a:off x="619199" y="3570759"/>
            <a:ext cx="2995761" cy="127099"/>
          </a:xfrm>
          <a:prstGeom prst="rect">
            <a:avLst/>
          </a:prstGeom>
          <a:noFill/>
          <a:ln/>
        </p:spPr>
        <p:txBody>
          <a:bodyPr wrap="none" lIns="0" tIns="0" rIns="0" bIns="0" rtlCol="0" anchor="t"/>
          <a:lstStyle/>
          <a:p>
            <a:pPr marL="0" indent="0" algn="l">
              <a:lnSpc>
                <a:spcPct val="104000"/>
              </a:lnSpc>
              <a:buNone/>
            </a:pPr>
            <a:r>
              <a:rPr lang="en-US" sz="800" dirty="0">
                <a:solidFill>
                  <a:srgbClr val="000000"/>
                </a:solidFill>
                <a:latin typeface="Alexandria Medium" pitchFamily="34" charset="0"/>
                <a:ea typeface="Alexandria Medium" pitchFamily="34" charset="-122"/>
                <a:cs typeface="Alexandria Medium" pitchFamily="34" charset="-120"/>
              </a:rPr>
              <a:t>Protestant Tradition</a:t>
            </a:r>
            <a:endParaRPr lang="en-US" sz="800" dirty="0"/>
          </a:p>
        </p:txBody>
      </p:sp>
      <p:sp>
        <p:nvSpPr>
          <p:cNvPr id="24" name="Text 19"/>
          <p:cNvSpPr/>
          <p:nvPr/>
        </p:nvSpPr>
        <p:spPr>
          <a:xfrm>
            <a:off x="619199" y="3751213"/>
            <a:ext cx="2995761" cy="215652"/>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000000"/>
                </a:solidFill>
                <a:latin typeface="Manrope" pitchFamily="34" charset="0"/>
                <a:ea typeface="Manrope" pitchFamily="34" charset="-122"/>
                <a:cs typeface="Manrope" pitchFamily="34" charset="-120"/>
              </a:rPr>
              <a:t>William Carey and companions at Serampore — translation work and the printing press.</a:t>
            </a:r>
            <a:endParaRPr lang="en-US" sz="600" dirty="0"/>
          </a:p>
        </p:txBody>
      </p:sp>
      <p:sp>
        <p:nvSpPr>
          <p:cNvPr id="25" name="Text 20"/>
          <p:cNvSpPr/>
          <p:nvPr/>
        </p:nvSpPr>
        <p:spPr>
          <a:xfrm>
            <a:off x="3840956" y="732160"/>
            <a:ext cx="4811613" cy="127099"/>
          </a:xfrm>
          <a:prstGeom prst="rect">
            <a:avLst/>
          </a:prstGeom>
          <a:noFill/>
          <a:ln/>
        </p:spPr>
        <p:txBody>
          <a:bodyPr wrap="none" lIns="0" tIns="0" rIns="0" bIns="0" rtlCol="0" anchor="t"/>
          <a:lstStyle/>
          <a:p>
            <a:pPr marL="0" indent="0" algn="l">
              <a:lnSpc>
                <a:spcPct val="104000"/>
              </a:lnSpc>
              <a:buNone/>
            </a:pPr>
            <a:r>
              <a:rPr lang="en-US" sz="800" dirty="0">
                <a:solidFill>
                  <a:srgbClr val="5B6E8C"/>
                </a:solidFill>
                <a:latin typeface="Alexandria Medium" pitchFamily="34" charset="0"/>
                <a:ea typeface="Alexandria Medium" pitchFamily="34" charset="-122"/>
                <a:cs typeface="Alexandria Medium" pitchFamily="34" charset="-120"/>
              </a:rPr>
              <a:t>The Contextual Theologies of India</a:t>
            </a:r>
            <a:endParaRPr lang="en-US" sz="800" dirty="0"/>
          </a:p>
        </p:txBody>
      </p:sp>
      <p:sp>
        <p:nvSpPr>
          <p:cNvPr id="26" name="Shape 21"/>
          <p:cNvSpPr/>
          <p:nvPr/>
        </p:nvSpPr>
        <p:spPr>
          <a:xfrm>
            <a:off x="3840956" y="919311"/>
            <a:ext cx="183133" cy="183133"/>
          </a:xfrm>
          <a:prstGeom prst="ellipse">
            <a:avLst/>
          </a:prstGeom>
          <a:solidFill>
            <a:srgbClr val="E6F7FF"/>
          </a:solidFill>
          <a:ln w="4763">
            <a:solidFill>
              <a:srgbClr val="B3D5E4"/>
            </a:solidFill>
            <a:prstDash val="solid"/>
          </a:ln>
        </p:spPr>
        <p:txBody>
          <a:bodyPr/>
          <a:lstStyle/>
          <a:p>
            <a:endParaRPr lang="en-IN"/>
          </a:p>
        </p:txBody>
      </p:sp>
      <p:sp>
        <p:nvSpPr>
          <p:cNvPr id="27" name="Text 22"/>
          <p:cNvSpPr/>
          <p:nvPr/>
        </p:nvSpPr>
        <p:spPr>
          <a:xfrm>
            <a:off x="4077444" y="947291"/>
            <a:ext cx="4575125" cy="127099"/>
          </a:xfrm>
          <a:prstGeom prst="rect">
            <a:avLst/>
          </a:prstGeom>
          <a:noFill/>
          <a:ln/>
        </p:spPr>
        <p:txBody>
          <a:bodyPr wrap="none" lIns="0" tIns="0" rIns="0" bIns="0" rtlCol="0" anchor="t"/>
          <a:lstStyle/>
          <a:p>
            <a:pPr marL="0" indent="0" algn="l">
              <a:lnSpc>
                <a:spcPct val="104000"/>
              </a:lnSpc>
              <a:buNone/>
            </a:pPr>
            <a:r>
              <a:rPr lang="en-US" sz="800" dirty="0">
                <a:solidFill>
                  <a:srgbClr val="5B6E8C"/>
                </a:solidFill>
                <a:latin typeface="Alexandria Medium" pitchFamily="34" charset="0"/>
                <a:ea typeface="Alexandria Medium" pitchFamily="34" charset="-122"/>
                <a:cs typeface="Alexandria Medium" pitchFamily="34" charset="-120"/>
              </a:rPr>
              <a:t>Indian Liberation Theology</a:t>
            </a:r>
            <a:endParaRPr lang="en-US" sz="800" dirty="0"/>
          </a:p>
        </p:txBody>
      </p:sp>
      <p:sp>
        <p:nvSpPr>
          <p:cNvPr id="28" name="Text 23"/>
          <p:cNvSpPr/>
          <p:nvPr/>
        </p:nvSpPr>
        <p:spPr>
          <a:xfrm>
            <a:off x="4077444" y="1127745"/>
            <a:ext cx="4575125" cy="215652"/>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5B6E8C"/>
                </a:solidFill>
                <a:latin typeface="Manrope" pitchFamily="34" charset="0"/>
                <a:ea typeface="Manrope" pitchFamily="34" charset="-122"/>
                <a:cs typeface="Manrope" pitchFamily="34" charset="-120"/>
              </a:rPr>
              <a:t>Discerns the action of God in history and works with God in the transforming of the world. The special love of the Church for the poor and the marginalised must never be bargained away.</a:t>
            </a:r>
            <a:endParaRPr lang="en-US" sz="600" dirty="0"/>
          </a:p>
        </p:txBody>
      </p:sp>
      <p:sp>
        <p:nvSpPr>
          <p:cNvPr id="29" name="Shape 24"/>
          <p:cNvSpPr/>
          <p:nvPr/>
        </p:nvSpPr>
        <p:spPr>
          <a:xfrm>
            <a:off x="3840956" y="1450181"/>
            <a:ext cx="183133" cy="183133"/>
          </a:xfrm>
          <a:prstGeom prst="ellipse">
            <a:avLst/>
          </a:prstGeom>
          <a:solidFill>
            <a:srgbClr val="E6F7FF"/>
          </a:solidFill>
          <a:ln w="4763">
            <a:solidFill>
              <a:srgbClr val="B3D5E4"/>
            </a:solidFill>
            <a:prstDash val="solid"/>
          </a:ln>
        </p:spPr>
        <p:txBody>
          <a:bodyPr/>
          <a:lstStyle/>
          <a:p>
            <a:endParaRPr lang="en-IN"/>
          </a:p>
        </p:txBody>
      </p:sp>
      <p:sp>
        <p:nvSpPr>
          <p:cNvPr id="30" name="Text 25"/>
          <p:cNvSpPr/>
          <p:nvPr/>
        </p:nvSpPr>
        <p:spPr>
          <a:xfrm>
            <a:off x="4077444" y="1478161"/>
            <a:ext cx="4575125" cy="127099"/>
          </a:xfrm>
          <a:prstGeom prst="rect">
            <a:avLst/>
          </a:prstGeom>
          <a:noFill/>
          <a:ln/>
        </p:spPr>
        <p:txBody>
          <a:bodyPr wrap="none" lIns="0" tIns="0" rIns="0" bIns="0" rtlCol="0" anchor="t"/>
          <a:lstStyle/>
          <a:p>
            <a:pPr marL="0" indent="0" algn="l">
              <a:lnSpc>
                <a:spcPct val="104000"/>
              </a:lnSpc>
              <a:buNone/>
            </a:pPr>
            <a:r>
              <a:rPr lang="en-US" sz="800" dirty="0">
                <a:solidFill>
                  <a:srgbClr val="5B6E8C"/>
                </a:solidFill>
                <a:latin typeface="Alexandria Medium" pitchFamily="34" charset="0"/>
                <a:ea typeface="Alexandria Medium" pitchFamily="34" charset="-122"/>
                <a:cs typeface="Alexandria Medium" pitchFamily="34" charset="-120"/>
              </a:rPr>
              <a:t>Subaltern Theology</a:t>
            </a:r>
            <a:endParaRPr lang="en-US" sz="800" dirty="0"/>
          </a:p>
        </p:txBody>
      </p:sp>
      <p:sp>
        <p:nvSpPr>
          <p:cNvPr id="31" name="Text 26"/>
          <p:cNvSpPr/>
          <p:nvPr/>
        </p:nvSpPr>
        <p:spPr>
          <a:xfrm>
            <a:off x="4077444" y="1658615"/>
            <a:ext cx="4575125" cy="215652"/>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5B6E8C"/>
                </a:solidFill>
                <a:latin typeface="Manrope" pitchFamily="34" charset="0"/>
                <a:ea typeface="Manrope" pitchFamily="34" charset="-122"/>
                <a:cs typeface="Manrope" pitchFamily="34" charset="-120"/>
              </a:rPr>
              <a:t>The cry of groups of lower rank — by caste, class, gender, or ethnicity — drawing on their own myths, stories, songs, and rituals. The crucified Jesus gives meaning to their suffering; the risen Lord gives hope for a new world.</a:t>
            </a:r>
            <a:endParaRPr lang="en-US" sz="600" dirty="0"/>
          </a:p>
        </p:txBody>
      </p:sp>
      <p:sp>
        <p:nvSpPr>
          <p:cNvPr id="32" name="Shape 27"/>
          <p:cNvSpPr/>
          <p:nvPr/>
        </p:nvSpPr>
        <p:spPr>
          <a:xfrm>
            <a:off x="3840956" y="1981051"/>
            <a:ext cx="183133" cy="183133"/>
          </a:xfrm>
          <a:prstGeom prst="ellipse">
            <a:avLst/>
          </a:prstGeom>
          <a:solidFill>
            <a:srgbClr val="E6F7FF"/>
          </a:solidFill>
          <a:ln w="4763">
            <a:solidFill>
              <a:srgbClr val="B3D5E4"/>
            </a:solidFill>
            <a:prstDash val="solid"/>
          </a:ln>
        </p:spPr>
        <p:txBody>
          <a:bodyPr/>
          <a:lstStyle/>
          <a:p>
            <a:endParaRPr lang="en-IN"/>
          </a:p>
        </p:txBody>
      </p:sp>
      <p:sp>
        <p:nvSpPr>
          <p:cNvPr id="33" name="Text 28"/>
          <p:cNvSpPr/>
          <p:nvPr/>
        </p:nvSpPr>
        <p:spPr>
          <a:xfrm>
            <a:off x="4077444" y="2009031"/>
            <a:ext cx="4575125" cy="127099"/>
          </a:xfrm>
          <a:prstGeom prst="rect">
            <a:avLst/>
          </a:prstGeom>
          <a:noFill/>
          <a:ln/>
        </p:spPr>
        <p:txBody>
          <a:bodyPr wrap="none" lIns="0" tIns="0" rIns="0" bIns="0" rtlCol="0" anchor="t"/>
          <a:lstStyle/>
          <a:p>
            <a:pPr marL="0" indent="0" algn="l">
              <a:lnSpc>
                <a:spcPct val="104000"/>
              </a:lnSpc>
              <a:buNone/>
            </a:pPr>
            <a:r>
              <a:rPr lang="en-US" sz="800" dirty="0">
                <a:solidFill>
                  <a:srgbClr val="5B6E8C"/>
                </a:solidFill>
                <a:latin typeface="Alexandria Medium" pitchFamily="34" charset="0"/>
                <a:ea typeface="Alexandria Medium" pitchFamily="34" charset="-122"/>
                <a:cs typeface="Alexandria Medium" pitchFamily="34" charset="-120"/>
              </a:rPr>
              <a:t>Dalit Theology</a:t>
            </a:r>
            <a:endParaRPr lang="en-US" sz="800" dirty="0"/>
          </a:p>
        </p:txBody>
      </p:sp>
      <p:sp>
        <p:nvSpPr>
          <p:cNvPr id="34" name="Text 29"/>
          <p:cNvSpPr/>
          <p:nvPr/>
        </p:nvSpPr>
        <p:spPr>
          <a:xfrm>
            <a:off x="4077444" y="2189485"/>
            <a:ext cx="4575125" cy="323478"/>
          </a:xfrm>
          <a:prstGeom prst="rect">
            <a:avLst/>
          </a:prstGeom>
          <a:noFill/>
          <a:ln/>
        </p:spPr>
        <p:txBody>
          <a:bodyPr wrap="square" lIns="0" tIns="0" rIns="0" bIns="0" rtlCol="0" anchor="t">
            <a:normAutofit/>
          </a:bodyPr>
          <a:lstStyle/>
          <a:p>
            <a:pPr marL="0" indent="0" algn="l">
              <a:lnSpc>
                <a:spcPct val="110000"/>
              </a:lnSpc>
              <a:buNone/>
            </a:pPr>
            <a:r>
              <a:rPr lang="en-US" sz="600" i="1" dirty="0">
                <a:solidFill>
                  <a:srgbClr val="5B6E8C"/>
                </a:solidFill>
                <a:latin typeface="Manrope" pitchFamily="34" charset="0"/>
                <a:ea typeface="Manrope" pitchFamily="34" charset="-122"/>
                <a:cs typeface="Manrope" pitchFamily="34" charset="-120"/>
              </a:rPr>
              <a:t>Dalit</a:t>
            </a:r>
            <a:r>
              <a:rPr lang="en-US" sz="600" dirty="0">
                <a:solidFill>
                  <a:srgbClr val="5B6E8C"/>
                </a:solidFill>
                <a:latin typeface="Manrope" pitchFamily="34" charset="0"/>
                <a:ea typeface="Manrope" pitchFamily="34" charset="-122"/>
                <a:cs typeface="Manrope" pitchFamily="34" charset="-120"/>
              </a:rPr>
              <a:t> — broken, crushed, torn apart. Reflection by Dalit Christians on the Gospel in the light of their own circumstances. Draws on human dignity, the image and likeness of God, the table fellowship of Jesus, and Jesus himself as the Dalit — the suffering servant raised by God.</a:t>
            </a:r>
            <a:endParaRPr lang="en-US" sz="600" dirty="0"/>
          </a:p>
        </p:txBody>
      </p:sp>
      <p:sp>
        <p:nvSpPr>
          <p:cNvPr id="35" name="Shape 30"/>
          <p:cNvSpPr/>
          <p:nvPr/>
        </p:nvSpPr>
        <p:spPr>
          <a:xfrm>
            <a:off x="3840956" y="2619747"/>
            <a:ext cx="183133" cy="183133"/>
          </a:xfrm>
          <a:prstGeom prst="ellipse">
            <a:avLst/>
          </a:prstGeom>
          <a:solidFill>
            <a:srgbClr val="E6F7FF"/>
          </a:solidFill>
          <a:ln w="4763">
            <a:solidFill>
              <a:srgbClr val="B3D5E4"/>
            </a:solidFill>
            <a:prstDash val="solid"/>
          </a:ln>
        </p:spPr>
        <p:txBody>
          <a:bodyPr/>
          <a:lstStyle/>
          <a:p>
            <a:endParaRPr lang="en-IN"/>
          </a:p>
        </p:txBody>
      </p:sp>
      <p:sp>
        <p:nvSpPr>
          <p:cNvPr id="36" name="Text 31"/>
          <p:cNvSpPr/>
          <p:nvPr/>
        </p:nvSpPr>
        <p:spPr>
          <a:xfrm>
            <a:off x="4077444" y="2647727"/>
            <a:ext cx="4575125" cy="127099"/>
          </a:xfrm>
          <a:prstGeom prst="rect">
            <a:avLst/>
          </a:prstGeom>
          <a:noFill/>
          <a:ln/>
        </p:spPr>
        <p:txBody>
          <a:bodyPr wrap="none" lIns="0" tIns="0" rIns="0" bIns="0" rtlCol="0" anchor="t"/>
          <a:lstStyle/>
          <a:p>
            <a:pPr marL="0" indent="0" algn="l">
              <a:lnSpc>
                <a:spcPct val="104000"/>
              </a:lnSpc>
              <a:buNone/>
            </a:pPr>
            <a:r>
              <a:rPr lang="en-US" sz="800" dirty="0">
                <a:solidFill>
                  <a:srgbClr val="5B6E8C"/>
                </a:solidFill>
                <a:latin typeface="Alexandria Medium" pitchFamily="34" charset="0"/>
                <a:ea typeface="Alexandria Medium" pitchFamily="34" charset="-122"/>
                <a:cs typeface="Alexandria Medium" pitchFamily="34" charset="-120"/>
              </a:rPr>
              <a:t>Tribal Theology</a:t>
            </a:r>
            <a:endParaRPr lang="en-US" sz="800" dirty="0"/>
          </a:p>
        </p:txBody>
      </p:sp>
      <p:sp>
        <p:nvSpPr>
          <p:cNvPr id="37" name="Text 32"/>
          <p:cNvSpPr/>
          <p:nvPr/>
        </p:nvSpPr>
        <p:spPr>
          <a:xfrm>
            <a:off x="4077444" y="2828181"/>
            <a:ext cx="4575125" cy="323478"/>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5B6E8C"/>
                </a:solidFill>
                <a:latin typeface="Manrope" pitchFamily="34" charset="0"/>
                <a:ea typeface="Manrope" pitchFamily="34" charset="-122"/>
                <a:cs typeface="Manrope" pitchFamily="34" charset="-120"/>
              </a:rPr>
              <a:t>For the </a:t>
            </a:r>
            <a:r>
              <a:rPr lang="en-US" sz="600" i="1" dirty="0">
                <a:solidFill>
                  <a:srgbClr val="5B6E8C"/>
                </a:solidFill>
                <a:latin typeface="Manrope" pitchFamily="34" charset="0"/>
                <a:ea typeface="Manrope" pitchFamily="34" charset="-122"/>
                <a:cs typeface="Manrope" pitchFamily="34" charset="-120"/>
              </a:rPr>
              <a:t>adivasis</a:t>
            </a:r>
            <a:r>
              <a:rPr lang="en-US" sz="600" dirty="0">
                <a:solidFill>
                  <a:srgbClr val="5B6E8C"/>
                </a:solidFill>
                <a:latin typeface="Manrope" pitchFamily="34" charset="0"/>
                <a:ea typeface="Manrope" pitchFamily="34" charset="-122"/>
                <a:cs typeface="Manrope" pitchFamily="34" charset="-120"/>
              </a:rPr>
              <a:t> — the most exploited owners of the land. Heart: the bond of </a:t>
            </a:r>
            <a:r>
              <a:rPr lang="en-US" sz="600" i="1" dirty="0">
                <a:solidFill>
                  <a:srgbClr val="5B6E8C"/>
                </a:solidFill>
                <a:latin typeface="Manrope" pitchFamily="34" charset="0"/>
                <a:ea typeface="Manrope" pitchFamily="34" charset="-122"/>
                <a:cs typeface="Manrope" pitchFamily="34" charset="-120"/>
              </a:rPr>
              <a:t>jal, jangal, jamin</a:t>
            </a:r>
            <a:r>
              <a:rPr lang="en-US" sz="600" dirty="0">
                <a:solidFill>
                  <a:srgbClr val="5B6E8C"/>
                </a:solidFill>
                <a:latin typeface="Manrope" pitchFamily="34" charset="0"/>
                <a:ea typeface="Manrope" pitchFamily="34" charset="-122"/>
                <a:cs typeface="Manrope" pitchFamily="34" charset="-120"/>
              </a:rPr>
              <a:t> (water, forest, land). The land is mother and holy ground. A holistic liberation joining the social, economic, cultural, political, and ecological — expressed in symbol and life, in dance and drum, earth and water, fire and air.</a:t>
            </a:r>
            <a:endParaRPr lang="en-US" sz="600" dirty="0"/>
          </a:p>
        </p:txBody>
      </p:sp>
      <p:sp>
        <p:nvSpPr>
          <p:cNvPr id="38" name="Shape 33"/>
          <p:cNvSpPr/>
          <p:nvPr/>
        </p:nvSpPr>
        <p:spPr>
          <a:xfrm>
            <a:off x="3840956" y="3258443"/>
            <a:ext cx="183133" cy="183133"/>
          </a:xfrm>
          <a:prstGeom prst="ellipse">
            <a:avLst/>
          </a:prstGeom>
          <a:solidFill>
            <a:srgbClr val="E6F7FF"/>
          </a:solidFill>
          <a:ln w="4763">
            <a:solidFill>
              <a:srgbClr val="B3D5E4"/>
            </a:solidFill>
            <a:prstDash val="solid"/>
          </a:ln>
        </p:spPr>
        <p:txBody>
          <a:bodyPr/>
          <a:lstStyle/>
          <a:p>
            <a:endParaRPr lang="en-IN"/>
          </a:p>
        </p:txBody>
      </p:sp>
      <p:sp>
        <p:nvSpPr>
          <p:cNvPr id="39" name="Text 34"/>
          <p:cNvSpPr/>
          <p:nvPr/>
        </p:nvSpPr>
        <p:spPr>
          <a:xfrm>
            <a:off x="4077444" y="3286423"/>
            <a:ext cx="4575125" cy="127099"/>
          </a:xfrm>
          <a:prstGeom prst="rect">
            <a:avLst/>
          </a:prstGeom>
          <a:noFill/>
          <a:ln/>
        </p:spPr>
        <p:txBody>
          <a:bodyPr wrap="none" lIns="0" tIns="0" rIns="0" bIns="0" rtlCol="0" anchor="t"/>
          <a:lstStyle/>
          <a:p>
            <a:pPr marL="0" indent="0" algn="l">
              <a:lnSpc>
                <a:spcPct val="104000"/>
              </a:lnSpc>
              <a:buNone/>
            </a:pPr>
            <a:r>
              <a:rPr lang="en-US" sz="800" dirty="0">
                <a:solidFill>
                  <a:srgbClr val="5B6E8C"/>
                </a:solidFill>
                <a:latin typeface="Alexandria Medium" pitchFamily="34" charset="0"/>
                <a:ea typeface="Alexandria Medium" pitchFamily="34" charset="-122"/>
                <a:cs typeface="Alexandria Medium" pitchFamily="34" charset="-120"/>
              </a:rPr>
              <a:t>Feminist Theology</a:t>
            </a:r>
            <a:endParaRPr lang="en-US" sz="800" dirty="0"/>
          </a:p>
        </p:txBody>
      </p:sp>
      <p:sp>
        <p:nvSpPr>
          <p:cNvPr id="40" name="Text 35"/>
          <p:cNvSpPr/>
          <p:nvPr/>
        </p:nvSpPr>
        <p:spPr>
          <a:xfrm>
            <a:off x="4077444" y="3466877"/>
            <a:ext cx="4575125" cy="215652"/>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5B6E8C"/>
                </a:solidFill>
                <a:latin typeface="Manrope" pitchFamily="34" charset="0"/>
                <a:ea typeface="Manrope" pitchFamily="34" charset="-122"/>
                <a:cs typeface="Manrope" pitchFamily="34" charset="-120"/>
              </a:rPr>
              <a:t>Arises from the long history in which theologies have carried the standpoint and domination of men. The standpoint, insights, and intuitions of women are not optional extras but are needed for an authentic and balanced theology.</a:t>
            </a:r>
            <a:endParaRPr lang="en-US" sz="600" dirty="0"/>
          </a:p>
        </p:txBody>
      </p:sp>
      <p:sp>
        <p:nvSpPr>
          <p:cNvPr id="41" name="Shape 36"/>
          <p:cNvSpPr/>
          <p:nvPr/>
        </p:nvSpPr>
        <p:spPr>
          <a:xfrm>
            <a:off x="3840956" y="3789313"/>
            <a:ext cx="183133" cy="183133"/>
          </a:xfrm>
          <a:prstGeom prst="ellipse">
            <a:avLst/>
          </a:prstGeom>
          <a:solidFill>
            <a:srgbClr val="E6F7FF"/>
          </a:solidFill>
          <a:ln w="4763">
            <a:solidFill>
              <a:srgbClr val="B3D5E4"/>
            </a:solidFill>
            <a:prstDash val="solid"/>
          </a:ln>
        </p:spPr>
        <p:txBody>
          <a:bodyPr/>
          <a:lstStyle/>
          <a:p>
            <a:endParaRPr lang="en-IN"/>
          </a:p>
        </p:txBody>
      </p:sp>
      <p:sp>
        <p:nvSpPr>
          <p:cNvPr id="42" name="Text 37"/>
          <p:cNvSpPr/>
          <p:nvPr/>
        </p:nvSpPr>
        <p:spPr>
          <a:xfrm>
            <a:off x="4077444" y="3817293"/>
            <a:ext cx="4575125" cy="127099"/>
          </a:xfrm>
          <a:prstGeom prst="rect">
            <a:avLst/>
          </a:prstGeom>
          <a:noFill/>
          <a:ln/>
        </p:spPr>
        <p:txBody>
          <a:bodyPr wrap="none" lIns="0" tIns="0" rIns="0" bIns="0" rtlCol="0" anchor="t"/>
          <a:lstStyle/>
          <a:p>
            <a:pPr marL="0" indent="0" algn="l">
              <a:lnSpc>
                <a:spcPct val="104000"/>
              </a:lnSpc>
              <a:buNone/>
            </a:pPr>
            <a:r>
              <a:rPr lang="en-US" sz="800" dirty="0">
                <a:solidFill>
                  <a:srgbClr val="5B6E8C"/>
                </a:solidFill>
                <a:latin typeface="Alexandria Medium" pitchFamily="34" charset="0"/>
                <a:ea typeface="Alexandria Medium" pitchFamily="34" charset="-122"/>
                <a:cs typeface="Alexandria Medium" pitchFamily="34" charset="-120"/>
              </a:rPr>
              <a:t>Ecological Theology</a:t>
            </a:r>
            <a:endParaRPr lang="en-US" sz="800" dirty="0"/>
          </a:p>
        </p:txBody>
      </p:sp>
      <p:sp>
        <p:nvSpPr>
          <p:cNvPr id="43" name="Text 38"/>
          <p:cNvSpPr/>
          <p:nvPr/>
        </p:nvSpPr>
        <p:spPr>
          <a:xfrm>
            <a:off x="4077444" y="3997747"/>
            <a:ext cx="4575125" cy="323478"/>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5B6E8C"/>
                </a:solidFill>
                <a:latin typeface="Manrope" pitchFamily="34" charset="0"/>
                <a:ea typeface="Manrope" pitchFamily="34" charset="-122"/>
                <a:cs typeface="Manrope" pitchFamily="34" charset="-120"/>
              </a:rPr>
              <a:t>Reads the whole creation as the dwelling of God. The earth is crammed with heaven, and every common bush is afire with God. The whole world is an unconsecrated host, longing to be transformed by our love and commitment into the host of Christ, moving toward the Omega who is Christ. </a:t>
            </a:r>
            <a:r>
              <a:rPr lang="en-US" sz="600" i="1" dirty="0">
                <a:solidFill>
                  <a:srgbClr val="5B6E8C"/>
                </a:solidFill>
                <a:latin typeface="Manrope" pitchFamily="34" charset="0"/>
                <a:ea typeface="Manrope" pitchFamily="34" charset="-122"/>
                <a:cs typeface="Manrope" pitchFamily="34" charset="-120"/>
              </a:rPr>
              <a:t>Ishavasyam idam sarvam</a:t>
            </a:r>
            <a:r>
              <a:rPr lang="en-US" sz="600" dirty="0">
                <a:solidFill>
                  <a:srgbClr val="5B6E8C"/>
                </a:solidFill>
                <a:latin typeface="Manrope" pitchFamily="34" charset="0"/>
                <a:ea typeface="Manrope" pitchFamily="34" charset="-122"/>
                <a:cs typeface="Manrope" pitchFamily="34" charset="-120"/>
              </a:rPr>
              <a:t> — the Lord dwells in all that is.</a:t>
            </a:r>
            <a:endParaRPr lang="en-US" sz="600" dirty="0"/>
          </a:p>
        </p:txBody>
      </p:sp>
      <p:sp>
        <p:nvSpPr>
          <p:cNvPr id="44" name="Shape 39"/>
          <p:cNvSpPr/>
          <p:nvPr/>
        </p:nvSpPr>
        <p:spPr>
          <a:xfrm>
            <a:off x="496119" y="4441329"/>
            <a:ext cx="8151763" cy="357708"/>
          </a:xfrm>
          <a:prstGeom prst="roundRect">
            <a:avLst>
              <a:gd name="adj" fmla="val 34136"/>
            </a:avLst>
          </a:prstGeom>
          <a:solidFill>
            <a:srgbClr val="CDEFFE"/>
          </a:solidFill>
          <a:ln/>
        </p:spPr>
        <p:txBody>
          <a:bodyPr/>
          <a:lstStyle/>
          <a:p>
            <a:endParaRPr lang="en-IN"/>
          </a:p>
        </p:txBody>
      </p:sp>
      <p:pic>
        <p:nvPicPr>
          <p:cNvPr id="45" name="Image 3" descr="preencoded.png"/>
          <p:cNvPicPr>
            <a:picLocks noChangeAspect="1"/>
          </p:cNvPicPr>
          <p:nvPr/>
        </p:nvPicPr>
        <p:blipFill>
          <a:blip r:embed="rId4"/>
          <a:stretch>
            <a:fillRect/>
          </a:stretch>
        </p:blipFill>
        <p:spPr>
          <a:xfrm>
            <a:off x="577453" y="4547964"/>
            <a:ext cx="101724" cy="81335"/>
          </a:xfrm>
          <a:prstGeom prst="rect">
            <a:avLst/>
          </a:prstGeom>
        </p:spPr>
      </p:pic>
      <p:sp>
        <p:nvSpPr>
          <p:cNvPr id="46" name="Text 40"/>
          <p:cNvSpPr/>
          <p:nvPr/>
        </p:nvSpPr>
        <p:spPr>
          <a:xfrm>
            <a:off x="760512" y="4514999"/>
            <a:ext cx="7806035" cy="215652"/>
          </a:xfrm>
          <a:prstGeom prst="rect">
            <a:avLst/>
          </a:prstGeom>
          <a:noFill/>
          <a:ln/>
        </p:spPr>
        <p:txBody>
          <a:bodyPr wrap="square" lIns="0" tIns="0" rIns="0" bIns="0" rtlCol="0" anchor="t">
            <a:normAutofit/>
          </a:bodyPr>
          <a:lstStyle/>
          <a:p>
            <a:pPr marL="0" indent="0" algn="l">
              <a:lnSpc>
                <a:spcPct val="110000"/>
              </a:lnSpc>
              <a:buNone/>
            </a:pPr>
            <a:r>
              <a:rPr lang="en-US" sz="600" dirty="0">
                <a:solidFill>
                  <a:srgbClr val="000000"/>
                </a:solidFill>
                <a:latin typeface="Manrope" pitchFamily="34" charset="0"/>
                <a:ea typeface="Manrope" pitchFamily="34" charset="-122"/>
                <a:cs typeface="Manrope" pitchFamily="34" charset="-120"/>
              </a:rPr>
              <a:t>Theology of dialogue rests on the conviction that God is greater than every religion, that the truth is one though the wise name it in many ways, and that no one holds a monopoly on the knowledge of God. Pluralism in India is not a problem to be removed but a reality to be lived.</a:t>
            </a:r>
            <a:endParaRPr lang="en-US" sz="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96119" y="369094"/>
            <a:ext cx="8151763" cy="308893"/>
          </a:xfrm>
          <a:prstGeom prst="rect">
            <a:avLst/>
          </a:prstGeom>
          <a:noFill/>
          <a:ln/>
        </p:spPr>
        <p:txBody>
          <a:bodyPr wrap="none" lIns="0" tIns="0" rIns="0" bIns="0" rtlCol="0" anchor="t"/>
          <a:lstStyle/>
          <a:p>
            <a:pPr marL="0" indent="0" algn="l">
              <a:lnSpc>
                <a:spcPct val="104000"/>
              </a:lnSpc>
              <a:buNone/>
            </a:pPr>
            <a:r>
              <a:rPr lang="en-US" sz="1900" dirty="0">
                <a:solidFill>
                  <a:srgbClr val="5B6E8C"/>
                </a:solidFill>
                <a:latin typeface="Alexandria Medium" pitchFamily="34" charset="0"/>
                <a:ea typeface="Alexandria Medium" pitchFamily="34" charset="-122"/>
                <a:cs typeface="Alexandria Medium" pitchFamily="34" charset="-120"/>
              </a:rPr>
              <a:t>14. The Branches of Theology</a:t>
            </a:r>
            <a:endParaRPr lang="en-US" sz="1900" dirty="0"/>
          </a:p>
        </p:txBody>
      </p:sp>
      <p:sp>
        <p:nvSpPr>
          <p:cNvPr id="3" name="Text 1"/>
          <p:cNvSpPr/>
          <p:nvPr/>
        </p:nvSpPr>
        <p:spPr>
          <a:xfrm>
            <a:off x="496119" y="835521"/>
            <a:ext cx="8608963" cy="142056"/>
          </a:xfrm>
          <a:prstGeom prst="rect">
            <a:avLst/>
          </a:prstGeom>
          <a:noFill/>
          <a:ln/>
        </p:spPr>
        <p:txBody>
          <a:bodyPr wrap="none" lIns="0" tIns="0" rIns="0" bIns="0" rtlCol="0" anchor="t"/>
          <a:lstStyle/>
          <a:p>
            <a:pPr marL="0" indent="0" algn="l">
              <a:lnSpc>
                <a:spcPct val="120000"/>
              </a:lnSpc>
              <a:buNone/>
            </a:pPr>
            <a:r>
              <a:rPr lang="en-US" sz="750" dirty="0">
                <a:solidFill>
                  <a:srgbClr val="5B6E8C"/>
                </a:solidFill>
                <a:latin typeface="Manrope" pitchFamily="34" charset="0"/>
                <a:ea typeface="Manrope" pitchFamily="34" charset="-122"/>
                <a:cs typeface="Manrope" pitchFamily="34" charset="-120"/>
              </a:rPr>
              <a:t>The one work of theology divides into branches, each studying the one mystery from its own angle. A student should know the map before setting out.</a:t>
            </a:r>
            <a:endParaRPr lang="en-US" sz="7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066130"/>
            <a:ext cx="2664768" cy="1420341"/>
          </a:xfrm>
          <a:prstGeom prst="rect">
            <a:avLst/>
          </a:prstGeom>
        </p:spPr>
      </p:pic>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9157" y="1155055"/>
            <a:ext cx="118616" cy="118616"/>
          </a:xfrm>
          <a:prstGeom prst="rect">
            <a:avLst/>
          </a:prstGeom>
        </p:spPr>
      </p:pic>
      <p:sp>
        <p:nvSpPr>
          <p:cNvPr id="6" name="Text 2"/>
          <p:cNvSpPr/>
          <p:nvPr/>
        </p:nvSpPr>
        <p:spPr>
          <a:xfrm>
            <a:off x="609228" y="1461418"/>
            <a:ext cx="2438549" cy="154409"/>
          </a:xfrm>
          <a:prstGeom prst="rect">
            <a:avLst/>
          </a:prstGeom>
          <a:noFill/>
          <a:ln/>
        </p:spPr>
        <p:txBody>
          <a:bodyPr wrap="none" lIns="0" tIns="0" rIns="0" bIns="0" rtlCol="0" anchor="t"/>
          <a:lstStyle/>
          <a:p>
            <a:pPr marL="0" indent="0" algn="l">
              <a:lnSpc>
                <a:spcPct val="104000"/>
              </a:lnSpc>
              <a:buNone/>
            </a:pPr>
            <a:r>
              <a:rPr lang="en-US" sz="950" dirty="0">
                <a:solidFill>
                  <a:srgbClr val="5B6E8C"/>
                </a:solidFill>
                <a:latin typeface="Alexandria Medium" pitchFamily="34" charset="0"/>
                <a:ea typeface="Alexandria Medium" pitchFamily="34" charset="-122"/>
                <a:cs typeface="Alexandria Medium" pitchFamily="34" charset="-120"/>
              </a:rPr>
              <a:t>Fundamental Theology</a:t>
            </a:r>
            <a:endParaRPr lang="en-US" sz="950" dirty="0"/>
          </a:p>
        </p:txBody>
      </p:sp>
      <p:sp>
        <p:nvSpPr>
          <p:cNvPr id="7" name="Text 3"/>
          <p:cNvSpPr/>
          <p:nvPr/>
        </p:nvSpPr>
        <p:spPr>
          <a:xfrm>
            <a:off x="609228" y="1663080"/>
            <a:ext cx="2438549" cy="568226"/>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5B6E8C"/>
                </a:solidFill>
                <a:latin typeface="Manrope" pitchFamily="34" charset="0"/>
                <a:ea typeface="Manrope" pitchFamily="34" charset="-122"/>
                <a:cs typeface="Manrope" pitchFamily="34" charset="-120"/>
              </a:rPr>
              <a:t>Reflects on the foundations themselves — the revelation of the Triune God in Jesus Christ, the reception of revelation in faith, the credibility of revelation, and its handing on and interpretation</a:t>
            </a:r>
            <a:endParaRPr lang="en-US" sz="7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39616" y="1066130"/>
            <a:ext cx="2664768" cy="1420341"/>
          </a:xfrm>
          <a:prstGeom prst="rect">
            <a:avLst/>
          </a:prstGeom>
        </p:spPr>
      </p:pic>
      <p:pic>
        <p:nvPicPr>
          <p:cNvPr id="9"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12655" y="1155055"/>
            <a:ext cx="118616" cy="118616"/>
          </a:xfrm>
          <a:prstGeom prst="rect">
            <a:avLst/>
          </a:prstGeom>
        </p:spPr>
      </p:pic>
      <p:sp>
        <p:nvSpPr>
          <p:cNvPr id="10" name="Text 4"/>
          <p:cNvSpPr/>
          <p:nvPr/>
        </p:nvSpPr>
        <p:spPr>
          <a:xfrm>
            <a:off x="3352726" y="1461418"/>
            <a:ext cx="2438549" cy="154409"/>
          </a:xfrm>
          <a:prstGeom prst="rect">
            <a:avLst/>
          </a:prstGeom>
          <a:noFill/>
          <a:ln/>
        </p:spPr>
        <p:txBody>
          <a:bodyPr wrap="none" lIns="0" tIns="0" rIns="0" bIns="0" rtlCol="0" anchor="t"/>
          <a:lstStyle/>
          <a:p>
            <a:pPr marL="0" indent="0" algn="l">
              <a:lnSpc>
                <a:spcPct val="104000"/>
              </a:lnSpc>
              <a:buNone/>
            </a:pPr>
            <a:r>
              <a:rPr lang="en-US" sz="950" dirty="0">
                <a:solidFill>
                  <a:srgbClr val="5B6E8C"/>
                </a:solidFill>
                <a:latin typeface="Alexandria Medium" pitchFamily="34" charset="0"/>
                <a:ea typeface="Alexandria Medium" pitchFamily="34" charset="-122"/>
                <a:cs typeface="Alexandria Medium" pitchFamily="34" charset="-120"/>
              </a:rPr>
              <a:t>Biblical Theology</a:t>
            </a:r>
            <a:endParaRPr lang="en-US" sz="950" dirty="0"/>
          </a:p>
        </p:txBody>
      </p:sp>
      <p:sp>
        <p:nvSpPr>
          <p:cNvPr id="11" name="Text 5"/>
          <p:cNvSpPr/>
          <p:nvPr/>
        </p:nvSpPr>
        <p:spPr>
          <a:xfrm>
            <a:off x="3352726" y="1663080"/>
            <a:ext cx="2438549" cy="710282"/>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5B6E8C"/>
                </a:solidFill>
                <a:latin typeface="Manrope" pitchFamily="34" charset="0"/>
                <a:ea typeface="Manrope" pitchFamily="34" charset="-122"/>
                <a:cs typeface="Manrope" pitchFamily="34" charset="-120"/>
              </a:rPr>
              <a:t>Studies the Word of God in the Old and New Testaments with the proper tools of interpretation. Scripture is the unique source and norm of the faith experience of the community, set down in writing under the inspiration of the Holy Spirit</a:t>
            </a:r>
            <a:endParaRPr lang="en-US" sz="750" dirty="0"/>
          </a:p>
        </p:txBody>
      </p:sp>
      <p:pic>
        <p:nvPicPr>
          <p:cNvPr id="12"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3114" y="1066130"/>
            <a:ext cx="2664768" cy="1420341"/>
          </a:xfrm>
          <a:prstGeom prst="rect">
            <a:avLst/>
          </a:prstGeom>
        </p:spPr>
      </p:pic>
      <p:pic>
        <p:nvPicPr>
          <p:cNvPr id="13"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56152" y="1155055"/>
            <a:ext cx="118616" cy="118616"/>
          </a:xfrm>
          <a:prstGeom prst="rect">
            <a:avLst/>
          </a:prstGeom>
        </p:spPr>
      </p:pic>
      <p:sp>
        <p:nvSpPr>
          <p:cNvPr id="14" name="Text 6"/>
          <p:cNvSpPr/>
          <p:nvPr/>
        </p:nvSpPr>
        <p:spPr>
          <a:xfrm>
            <a:off x="6096223" y="1461418"/>
            <a:ext cx="2438549" cy="154409"/>
          </a:xfrm>
          <a:prstGeom prst="rect">
            <a:avLst/>
          </a:prstGeom>
          <a:noFill/>
          <a:ln/>
        </p:spPr>
        <p:txBody>
          <a:bodyPr wrap="none" lIns="0" tIns="0" rIns="0" bIns="0" rtlCol="0" anchor="t"/>
          <a:lstStyle/>
          <a:p>
            <a:pPr marL="0" indent="0" algn="l">
              <a:lnSpc>
                <a:spcPct val="104000"/>
              </a:lnSpc>
              <a:buNone/>
            </a:pPr>
            <a:r>
              <a:rPr lang="en-US" sz="950" dirty="0">
                <a:solidFill>
                  <a:srgbClr val="5B6E8C"/>
                </a:solidFill>
                <a:latin typeface="Alexandria Medium" pitchFamily="34" charset="0"/>
                <a:ea typeface="Alexandria Medium" pitchFamily="34" charset="-122"/>
                <a:cs typeface="Alexandria Medium" pitchFamily="34" charset="-120"/>
              </a:rPr>
              <a:t>Systematic / Dogmatic Theology</a:t>
            </a:r>
            <a:endParaRPr lang="en-US" sz="950" dirty="0"/>
          </a:p>
        </p:txBody>
      </p:sp>
      <p:sp>
        <p:nvSpPr>
          <p:cNvPr id="15" name="Text 7"/>
          <p:cNvSpPr/>
          <p:nvPr/>
        </p:nvSpPr>
        <p:spPr>
          <a:xfrm>
            <a:off x="6096223" y="1663080"/>
            <a:ext cx="2438549" cy="568226"/>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5B6E8C"/>
                </a:solidFill>
                <a:latin typeface="Manrope" pitchFamily="34" charset="0"/>
                <a:ea typeface="Manrope" pitchFamily="34" charset="-122"/>
                <a:cs typeface="Manrope" pitchFamily="34" charset="-120"/>
              </a:rPr>
              <a:t>Reflects in an orderly way on the doctrines of the Church — Christology, the Trinity, the Holy Spirit, Mary, the Church, theological anthropology, grace, the sacraments, and the last things</a:t>
            </a:r>
            <a:endParaRPr lang="en-US" sz="750" dirty="0"/>
          </a:p>
        </p:txBody>
      </p:sp>
      <p:pic>
        <p:nvPicPr>
          <p:cNvPr id="16"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119" y="2565202"/>
            <a:ext cx="2664768" cy="1136228"/>
          </a:xfrm>
          <a:prstGeom prst="rect">
            <a:avLst/>
          </a:prstGeom>
        </p:spPr>
      </p:pic>
      <p:pic>
        <p:nvPicPr>
          <p:cNvPr id="17" name="Image 7"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769157" y="2654126"/>
            <a:ext cx="118616" cy="118616"/>
          </a:xfrm>
          <a:prstGeom prst="rect">
            <a:avLst/>
          </a:prstGeom>
        </p:spPr>
      </p:pic>
      <p:sp>
        <p:nvSpPr>
          <p:cNvPr id="18" name="Text 8"/>
          <p:cNvSpPr/>
          <p:nvPr/>
        </p:nvSpPr>
        <p:spPr>
          <a:xfrm>
            <a:off x="609228" y="2960489"/>
            <a:ext cx="2438549" cy="154409"/>
          </a:xfrm>
          <a:prstGeom prst="rect">
            <a:avLst/>
          </a:prstGeom>
          <a:noFill/>
          <a:ln/>
        </p:spPr>
        <p:txBody>
          <a:bodyPr wrap="none" lIns="0" tIns="0" rIns="0" bIns="0" rtlCol="0" anchor="t"/>
          <a:lstStyle/>
          <a:p>
            <a:pPr marL="0" indent="0" algn="l">
              <a:lnSpc>
                <a:spcPct val="104000"/>
              </a:lnSpc>
              <a:buNone/>
            </a:pPr>
            <a:r>
              <a:rPr lang="en-US" sz="950" dirty="0">
                <a:solidFill>
                  <a:srgbClr val="5B6E8C"/>
                </a:solidFill>
                <a:latin typeface="Alexandria Medium" pitchFamily="34" charset="0"/>
                <a:ea typeface="Alexandria Medium" pitchFamily="34" charset="-122"/>
                <a:cs typeface="Alexandria Medium" pitchFamily="34" charset="-120"/>
              </a:rPr>
              <a:t>Moral Theology and Canon Law</a:t>
            </a:r>
            <a:endParaRPr lang="en-US" sz="950" dirty="0"/>
          </a:p>
        </p:txBody>
      </p:sp>
      <p:sp>
        <p:nvSpPr>
          <p:cNvPr id="19" name="Text 9"/>
          <p:cNvSpPr/>
          <p:nvPr/>
        </p:nvSpPr>
        <p:spPr>
          <a:xfrm>
            <a:off x="609228" y="3162151"/>
            <a:ext cx="2438549" cy="426169"/>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5B6E8C"/>
                </a:solidFill>
                <a:latin typeface="Manrope" pitchFamily="34" charset="0"/>
                <a:ea typeface="Manrope" pitchFamily="34" charset="-122"/>
                <a:cs typeface="Manrope" pitchFamily="34" charset="-120"/>
              </a:rPr>
              <a:t>Studies the shape of Christian living on the basis of the revealed Word — human life, medical and sexual ethics, marriage, and social justice</a:t>
            </a:r>
            <a:endParaRPr lang="en-US" sz="750" dirty="0"/>
          </a:p>
        </p:txBody>
      </p:sp>
      <p:pic>
        <p:nvPicPr>
          <p:cNvPr id="20" name="Image 8"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39616" y="2565202"/>
            <a:ext cx="2664768" cy="1136228"/>
          </a:xfrm>
          <a:prstGeom prst="rect">
            <a:avLst/>
          </a:prstGeom>
        </p:spPr>
      </p:pic>
      <p:pic>
        <p:nvPicPr>
          <p:cNvPr id="21" name="Image 9"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512655" y="2654126"/>
            <a:ext cx="118616" cy="118616"/>
          </a:xfrm>
          <a:prstGeom prst="rect">
            <a:avLst/>
          </a:prstGeom>
        </p:spPr>
      </p:pic>
      <p:sp>
        <p:nvSpPr>
          <p:cNvPr id="22" name="Text 10"/>
          <p:cNvSpPr/>
          <p:nvPr/>
        </p:nvSpPr>
        <p:spPr>
          <a:xfrm>
            <a:off x="3352726" y="2960489"/>
            <a:ext cx="2438549" cy="154409"/>
          </a:xfrm>
          <a:prstGeom prst="rect">
            <a:avLst/>
          </a:prstGeom>
          <a:noFill/>
          <a:ln/>
        </p:spPr>
        <p:txBody>
          <a:bodyPr wrap="none" lIns="0" tIns="0" rIns="0" bIns="0" rtlCol="0" anchor="t"/>
          <a:lstStyle/>
          <a:p>
            <a:pPr marL="0" indent="0" algn="l">
              <a:lnSpc>
                <a:spcPct val="104000"/>
              </a:lnSpc>
              <a:buNone/>
            </a:pPr>
            <a:r>
              <a:rPr lang="en-US" sz="950" dirty="0">
                <a:solidFill>
                  <a:srgbClr val="5B6E8C"/>
                </a:solidFill>
                <a:latin typeface="Alexandria Medium" pitchFamily="34" charset="0"/>
                <a:ea typeface="Alexandria Medium" pitchFamily="34" charset="-122"/>
                <a:cs typeface="Alexandria Medium" pitchFamily="34" charset="-120"/>
              </a:rPr>
              <a:t>Spiritual Theology</a:t>
            </a:r>
            <a:endParaRPr lang="en-US" sz="950" dirty="0"/>
          </a:p>
        </p:txBody>
      </p:sp>
      <p:sp>
        <p:nvSpPr>
          <p:cNvPr id="23" name="Text 11"/>
          <p:cNvSpPr/>
          <p:nvPr/>
        </p:nvSpPr>
        <p:spPr>
          <a:xfrm>
            <a:off x="3352726" y="3162151"/>
            <a:ext cx="2438549" cy="426169"/>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5B6E8C"/>
                </a:solidFill>
                <a:latin typeface="Manrope" pitchFamily="34" charset="0"/>
                <a:ea typeface="Manrope" pitchFamily="34" charset="-122"/>
                <a:cs typeface="Manrope" pitchFamily="34" charset="-120"/>
              </a:rPr>
              <a:t>Studies the life of prayer and holiness in the various spiritualities of East and West and of the founders and mystics</a:t>
            </a:r>
            <a:endParaRPr lang="en-US" sz="750" dirty="0"/>
          </a:p>
        </p:txBody>
      </p:sp>
      <p:pic>
        <p:nvPicPr>
          <p:cNvPr id="24" name="Image 10"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83114" y="2565202"/>
            <a:ext cx="2664768" cy="1136228"/>
          </a:xfrm>
          <a:prstGeom prst="rect">
            <a:avLst/>
          </a:prstGeom>
        </p:spPr>
      </p:pic>
      <p:pic>
        <p:nvPicPr>
          <p:cNvPr id="25" name="Image 11"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256152" y="2654126"/>
            <a:ext cx="118616" cy="118616"/>
          </a:xfrm>
          <a:prstGeom prst="rect">
            <a:avLst/>
          </a:prstGeom>
        </p:spPr>
      </p:pic>
      <p:sp>
        <p:nvSpPr>
          <p:cNvPr id="26" name="Text 12"/>
          <p:cNvSpPr/>
          <p:nvPr/>
        </p:nvSpPr>
        <p:spPr>
          <a:xfrm>
            <a:off x="6096223" y="2960489"/>
            <a:ext cx="2438549" cy="154409"/>
          </a:xfrm>
          <a:prstGeom prst="rect">
            <a:avLst/>
          </a:prstGeom>
          <a:noFill/>
          <a:ln/>
        </p:spPr>
        <p:txBody>
          <a:bodyPr wrap="none" lIns="0" tIns="0" rIns="0" bIns="0" rtlCol="0" anchor="t"/>
          <a:lstStyle/>
          <a:p>
            <a:pPr marL="0" indent="0" algn="l">
              <a:lnSpc>
                <a:spcPct val="104000"/>
              </a:lnSpc>
              <a:buNone/>
            </a:pPr>
            <a:r>
              <a:rPr lang="en-US" sz="950" dirty="0">
                <a:solidFill>
                  <a:srgbClr val="5B6E8C"/>
                </a:solidFill>
                <a:latin typeface="Alexandria Medium" pitchFamily="34" charset="0"/>
                <a:ea typeface="Alexandria Medium" pitchFamily="34" charset="-122"/>
                <a:cs typeface="Alexandria Medium" pitchFamily="34" charset="-120"/>
              </a:rPr>
              <a:t>Pastoral Theology</a:t>
            </a:r>
            <a:endParaRPr lang="en-US" sz="950" dirty="0"/>
          </a:p>
        </p:txBody>
      </p:sp>
      <p:sp>
        <p:nvSpPr>
          <p:cNvPr id="27" name="Text 13"/>
          <p:cNvSpPr/>
          <p:nvPr/>
        </p:nvSpPr>
        <p:spPr>
          <a:xfrm>
            <a:off x="6096223" y="3162151"/>
            <a:ext cx="2438549" cy="426169"/>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5B6E8C"/>
                </a:solidFill>
                <a:latin typeface="Manrope" pitchFamily="34" charset="0"/>
                <a:ea typeface="Manrope" pitchFamily="34" charset="-122"/>
                <a:cs typeface="Manrope" pitchFamily="34" charset="-120"/>
              </a:rPr>
              <a:t>Studies the care of the community — the Word, the liturgy, catechesis, counselling, preaching, and the celebration of the sacraments</a:t>
            </a:r>
            <a:endParaRPr lang="en-US" sz="750" dirty="0"/>
          </a:p>
        </p:txBody>
      </p:sp>
      <p:pic>
        <p:nvPicPr>
          <p:cNvPr id="28" name="Image 12"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96119" y="3780160"/>
            <a:ext cx="8151763" cy="994172"/>
          </a:xfrm>
          <a:prstGeom prst="rect">
            <a:avLst/>
          </a:prstGeom>
        </p:spPr>
      </p:pic>
      <p:pic>
        <p:nvPicPr>
          <p:cNvPr id="29" name="Image 13"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512655" y="3869085"/>
            <a:ext cx="118616" cy="118616"/>
          </a:xfrm>
          <a:prstGeom prst="rect">
            <a:avLst/>
          </a:prstGeom>
        </p:spPr>
      </p:pic>
      <p:sp>
        <p:nvSpPr>
          <p:cNvPr id="30" name="Text 14"/>
          <p:cNvSpPr/>
          <p:nvPr/>
        </p:nvSpPr>
        <p:spPr>
          <a:xfrm>
            <a:off x="609228" y="4175447"/>
            <a:ext cx="7925544" cy="154409"/>
          </a:xfrm>
          <a:prstGeom prst="rect">
            <a:avLst/>
          </a:prstGeom>
          <a:noFill/>
          <a:ln/>
        </p:spPr>
        <p:txBody>
          <a:bodyPr wrap="none" lIns="0" tIns="0" rIns="0" bIns="0" rtlCol="0" anchor="t"/>
          <a:lstStyle/>
          <a:p>
            <a:pPr marL="0" indent="0" algn="l">
              <a:lnSpc>
                <a:spcPct val="104000"/>
              </a:lnSpc>
              <a:buNone/>
            </a:pPr>
            <a:r>
              <a:rPr lang="en-US" sz="950" dirty="0">
                <a:solidFill>
                  <a:srgbClr val="5B6E8C"/>
                </a:solidFill>
                <a:latin typeface="Alexandria Medium" pitchFamily="34" charset="0"/>
                <a:ea typeface="Alexandria Medium" pitchFamily="34" charset="-122"/>
                <a:cs typeface="Alexandria Medium" pitchFamily="34" charset="-120"/>
              </a:rPr>
              <a:t>Historical Theology and Missiology</a:t>
            </a:r>
            <a:endParaRPr lang="en-US" sz="950" dirty="0"/>
          </a:p>
        </p:txBody>
      </p:sp>
      <p:sp>
        <p:nvSpPr>
          <p:cNvPr id="31" name="Text 15"/>
          <p:cNvSpPr/>
          <p:nvPr/>
        </p:nvSpPr>
        <p:spPr>
          <a:xfrm>
            <a:off x="609228" y="4377110"/>
            <a:ext cx="7925544" cy="284113"/>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5B6E8C"/>
                </a:solidFill>
                <a:latin typeface="Manrope" pitchFamily="34" charset="0"/>
                <a:ea typeface="Manrope" pitchFamily="34" charset="-122"/>
                <a:cs typeface="Manrope" pitchFamily="34" charset="-120"/>
              </a:rPr>
              <a:t>Studies the history of the Church, the development of doctrine, the methods of evangelisation, and the meeting of cultures and religions — with special attention to the Christian traditions of India and to the dialogue with other religions</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96119" y="358527"/>
            <a:ext cx="8151763" cy="290736"/>
          </a:xfrm>
          <a:prstGeom prst="rect">
            <a:avLst/>
          </a:prstGeom>
          <a:noFill/>
          <a:ln/>
        </p:spPr>
        <p:txBody>
          <a:bodyPr wrap="none" lIns="0" tIns="0" rIns="0" bIns="0" rtlCol="0" anchor="t"/>
          <a:lstStyle/>
          <a:p>
            <a:pPr marL="0" indent="0" algn="l">
              <a:lnSpc>
                <a:spcPct val="104000"/>
              </a:lnSpc>
              <a:buNone/>
            </a:pPr>
            <a:r>
              <a:rPr lang="en-US" sz="1800" dirty="0">
                <a:solidFill>
                  <a:srgbClr val="5B6E8C"/>
                </a:solidFill>
                <a:latin typeface="Alexandria Medium" pitchFamily="34" charset="0"/>
                <a:ea typeface="Alexandria Medium" pitchFamily="34" charset="-122"/>
                <a:cs typeface="Alexandria Medium" pitchFamily="34" charset="-120"/>
              </a:rPr>
              <a:t>15. A Closing Word: The Burning Bush</a:t>
            </a:r>
            <a:endParaRPr lang="en-US" sz="1800" dirty="0"/>
          </a:p>
        </p:txBody>
      </p:sp>
      <p:sp>
        <p:nvSpPr>
          <p:cNvPr id="3" name="Shape 1"/>
          <p:cNvSpPr/>
          <p:nvPr/>
        </p:nvSpPr>
        <p:spPr>
          <a:xfrm>
            <a:off x="496119" y="788789"/>
            <a:ext cx="9525" cy="417314"/>
          </a:xfrm>
          <a:prstGeom prst="roundRect">
            <a:avLst>
              <a:gd name="adj" fmla="val 60000"/>
            </a:avLst>
          </a:prstGeom>
          <a:solidFill>
            <a:srgbClr val="AAE4FE"/>
          </a:solidFill>
          <a:ln/>
        </p:spPr>
        <p:txBody>
          <a:bodyPr/>
          <a:lstStyle/>
          <a:p>
            <a:endParaRPr lang="en-IN"/>
          </a:p>
        </p:txBody>
      </p:sp>
      <p:sp>
        <p:nvSpPr>
          <p:cNvPr id="4" name="Text 2"/>
          <p:cNvSpPr/>
          <p:nvPr/>
        </p:nvSpPr>
        <p:spPr>
          <a:xfrm>
            <a:off x="635645" y="867221"/>
            <a:ext cx="8012237" cy="260449"/>
          </a:xfrm>
          <a:prstGeom prst="rect">
            <a:avLst/>
          </a:prstGeom>
          <a:noFill/>
          <a:ln/>
        </p:spPr>
        <p:txBody>
          <a:bodyPr wrap="square" lIns="0" tIns="0" rIns="0" bIns="0" rtlCol="0" anchor="t">
            <a:normAutofit/>
          </a:bodyPr>
          <a:lstStyle/>
          <a:p>
            <a:pPr marL="0" indent="0" algn="l">
              <a:lnSpc>
                <a:spcPct val="117000"/>
              </a:lnSpc>
              <a:buNone/>
            </a:pPr>
            <a:r>
              <a:rPr lang="en-US" sz="700" dirty="0">
                <a:solidFill>
                  <a:srgbClr val="5B6E8C"/>
                </a:solidFill>
                <a:latin typeface="Manrope" pitchFamily="34" charset="0"/>
                <a:ea typeface="Manrope" pitchFamily="34" charset="-122"/>
                <a:cs typeface="Manrope" pitchFamily="34" charset="-120"/>
              </a:rPr>
              <a:t>The bush still burns in India, in the cry of the poor, of the Dalit, of the tribal, of the woman, and of the wounded earth, and the same God still says, "I have heard the cry of my people; come, I will send you."</a:t>
            </a:r>
            <a:endParaRPr lang="en-US" sz="700" dirty="0"/>
          </a:p>
        </p:txBody>
      </p:sp>
      <p:sp>
        <p:nvSpPr>
          <p:cNvPr id="5" name="Text 3"/>
          <p:cNvSpPr/>
          <p:nvPr/>
        </p:nvSpPr>
        <p:spPr>
          <a:xfrm>
            <a:off x="496119" y="1347267"/>
            <a:ext cx="3962400" cy="974303"/>
          </a:xfrm>
          <a:prstGeom prst="rect">
            <a:avLst/>
          </a:prstGeom>
          <a:noFill/>
          <a:ln/>
        </p:spPr>
        <p:txBody>
          <a:bodyPr wrap="square" lIns="0" tIns="0" rIns="0" bIns="0" rtlCol="0" anchor="t">
            <a:normAutofit/>
          </a:bodyPr>
          <a:lstStyle/>
          <a:p>
            <a:pPr marL="0" indent="0" algn="l">
              <a:lnSpc>
                <a:spcPct val="117000"/>
              </a:lnSpc>
              <a:spcAft>
                <a:spcPts val="450"/>
              </a:spcAft>
              <a:buNone/>
            </a:pPr>
            <a:r>
              <a:rPr lang="en-US" sz="700" dirty="0">
                <a:solidFill>
                  <a:srgbClr val="5B6E8C"/>
                </a:solidFill>
                <a:latin typeface="Manrope" pitchFamily="34" charset="0"/>
                <a:ea typeface="Manrope" pitchFamily="34" charset="-122"/>
                <a:cs typeface="Manrope" pitchFamily="34" charset="-120"/>
              </a:rPr>
              <a:t>The course returns at its end to where it began, to the burning bush. The question for each of us is whether the bush is beckoning us, and whether we will turn aside to look, and take off our sandals, and listen. Theology done with rigour and with prayer, immersed in the context, celebrated in the liturgy, and grounded in a strong personal faith in Christ and his mission of the Kingdom, is one of the ways we answer that call.</a:t>
            </a:r>
            <a:endParaRPr lang="en-US" sz="700" dirty="0"/>
          </a:p>
          <a:p>
            <a:pPr marL="0" indent="0" algn="l">
              <a:lnSpc>
                <a:spcPct val="117000"/>
              </a:lnSpc>
              <a:buNone/>
            </a:pPr>
            <a:r>
              <a:rPr lang="en-US" sz="700" dirty="0">
                <a:solidFill>
                  <a:srgbClr val="5B6E8C"/>
                </a:solidFill>
                <a:latin typeface="Manrope" pitchFamily="34" charset="0"/>
                <a:ea typeface="Manrope" pitchFamily="34" charset="-122"/>
                <a:cs typeface="Manrope" pitchFamily="34" charset="-120"/>
              </a:rPr>
              <a:t>May the light of knowledge and the light of a holy life shine together in you, so that, in the words of the seminary, your light may shine before others.</a:t>
            </a:r>
            <a:endParaRPr lang="en-US" sz="700" dirty="0"/>
          </a:p>
        </p:txBody>
      </p:sp>
      <p:sp>
        <p:nvSpPr>
          <p:cNvPr id="6" name="Shape 4"/>
          <p:cNvSpPr/>
          <p:nvPr/>
        </p:nvSpPr>
        <p:spPr>
          <a:xfrm>
            <a:off x="496119" y="2423220"/>
            <a:ext cx="3962400" cy="9525"/>
          </a:xfrm>
          <a:prstGeom prst="roundRect">
            <a:avLst>
              <a:gd name="adj" fmla="val 60000"/>
            </a:avLst>
          </a:prstGeom>
          <a:solidFill>
            <a:srgbClr val="5B6E8C">
              <a:alpha val="50000"/>
            </a:srgbClr>
          </a:solidFill>
          <a:ln/>
        </p:spPr>
        <p:txBody>
          <a:bodyPr/>
          <a:lstStyle/>
          <a:p>
            <a:endParaRPr lang="en-IN"/>
          </a:p>
        </p:txBody>
      </p:sp>
      <p:sp>
        <p:nvSpPr>
          <p:cNvPr id="7" name="Text 5"/>
          <p:cNvSpPr/>
          <p:nvPr/>
        </p:nvSpPr>
        <p:spPr>
          <a:xfrm>
            <a:off x="496119" y="2534394"/>
            <a:ext cx="3962400" cy="260449"/>
          </a:xfrm>
          <a:prstGeom prst="rect">
            <a:avLst/>
          </a:prstGeom>
          <a:noFill/>
          <a:ln/>
        </p:spPr>
        <p:txBody>
          <a:bodyPr wrap="square" lIns="0" tIns="0" rIns="0" bIns="0" rtlCol="0" anchor="t">
            <a:normAutofit/>
          </a:bodyPr>
          <a:lstStyle/>
          <a:p>
            <a:pPr marL="0" indent="0" algn="l">
              <a:lnSpc>
                <a:spcPct val="117000"/>
              </a:lnSpc>
              <a:buNone/>
            </a:pPr>
            <a:r>
              <a:rPr lang="en-US" sz="700" i="1" dirty="0">
                <a:solidFill>
                  <a:srgbClr val="5B6E8C"/>
                </a:solidFill>
                <a:latin typeface="Manrope" pitchFamily="34" charset="0"/>
                <a:ea typeface="Manrope" pitchFamily="34" charset="-122"/>
                <a:cs typeface="Manrope" pitchFamily="34" charset="-120"/>
              </a:rPr>
              <a:t>Prepared by Rev. Prof. William Anthony, MSFS — Morning Star Regional Seminary, Barrackpore, June 2026</a:t>
            </a:r>
            <a:endParaRPr lang="en-US" sz="700" dirty="0"/>
          </a:p>
        </p:txBody>
      </p:sp>
      <p:sp>
        <p:nvSpPr>
          <p:cNvPr id="8" name="Shape 6"/>
          <p:cNvSpPr/>
          <p:nvPr/>
        </p:nvSpPr>
        <p:spPr>
          <a:xfrm>
            <a:off x="4623271" y="1284536"/>
            <a:ext cx="4096345" cy="3500438"/>
          </a:xfrm>
          <a:prstGeom prst="roundRect">
            <a:avLst>
              <a:gd name="adj" fmla="val 6379"/>
            </a:avLst>
          </a:prstGeom>
          <a:solidFill>
            <a:srgbClr val="AAE4FE"/>
          </a:solidFill>
          <a:ln/>
        </p:spPr>
        <p:txBody>
          <a:bodyPr/>
          <a:lstStyle/>
          <a:p>
            <a:endParaRPr lang="en-IN"/>
          </a:p>
        </p:txBody>
      </p:sp>
      <p:sp>
        <p:nvSpPr>
          <p:cNvPr id="9" name="Text 7"/>
          <p:cNvSpPr/>
          <p:nvPr/>
        </p:nvSpPr>
        <p:spPr>
          <a:xfrm>
            <a:off x="4716289" y="1354262"/>
            <a:ext cx="3910310" cy="145331"/>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Alexandria Medium" pitchFamily="34" charset="0"/>
                <a:ea typeface="Alexandria Medium" pitchFamily="34" charset="-122"/>
                <a:cs typeface="Alexandria Medium" pitchFamily="34" charset="-120"/>
              </a:rPr>
              <a:t>The Call of the Burning Bush — A Summary</a:t>
            </a:r>
            <a:endParaRPr lang="en-US" sz="90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16289" y="1626840"/>
            <a:ext cx="93018" cy="93018"/>
          </a:xfrm>
          <a:prstGeom prst="rect">
            <a:avLst/>
          </a:prstGeom>
        </p:spPr>
      </p:pic>
      <p:sp>
        <p:nvSpPr>
          <p:cNvPr id="11" name="Shape 8"/>
          <p:cNvSpPr/>
          <p:nvPr/>
        </p:nvSpPr>
        <p:spPr>
          <a:xfrm>
            <a:off x="4716289" y="1726555"/>
            <a:ext cx="3910310" cy="9525"/>
          </a:xfrm>
          <a:prstGeom prst="rect">
            <a:avLst/>
          </a:prstGeom>
          <a:solidFill>
            <a:srgbClr val="D4CCFA"/>
          </a:solidFill>
          <a:ln/>
        </p:spPr>
        <p:txBody>
          <a:bodyPr/>
          <a:lstStyle/>
          <a:p>
            <a:endParaRPr lang="en-IN"/>
          </a:p>
        </p:txBody>
      </p:sp>
      <p:sp>
        <p:nvSpPr>
          <p:cNvPr id="12" name="Text 9"/>
          <p:cNvSpPr/>
          <p:nvPr/>
        </p:nvSpPr>
        <p:spPr>
          <a:xfrm>
            <a:off x="4716289" y="1792114"/>
            <a:ext cx="3910310" cy="145331"/>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Alexandria Medium" pitchFamily="34" charset="0"/>
                <a:ea typeface="Alexandria Medium" pitchFamily="34" charset="-122"/>
                <a:cs typeface="Alexandria Medium" pitchFamily="34" charset="-120"/>
              </a:rPr>
              <a:t>Turn Aside to Look</a:t>
            </a:r>
            <a:endParaRPr lang="en-US" sz="900" dirty="0"/>
          </a:p>
        </p:txBody>
      </p:sp>
      <p:sp>
        <p:nvSpPr>
          <p:cNvPr id="13" name="Text 10"/>
          <p:cNvSpPr/>
          <p:nvPr/>
        </p:nvSpPr>
        <p:spPr>
          <a:xfrm>
            <a:off x="4716289" y="2007171"/>
            <a:ext cx="3910310" cy="130225"/>
          </a:xfrm>
          <a:prstGeom prst="rect">
            <a:avLst/>
          </a:prstGeom>
          <a:noFill/>
          <a:ln/>
        </p:spPr>
        <p:txBody>
          <a:bodyPr wrap="none" lIns="0" tIns="0" rIns="0" bIns="0" rtlCol="0" anchor="t"/>
          <a:lstStyle/>
          <a:p>
            <a:pPr marL="0" indent="0" algn="l">
              <a:lnSpc>
                <a:spcPct val="117000"/>
              </a:lnSpc>
              <a:buNone/>
            </a:pPr>
            <a:r>
              <a:rPr lang="en-US" sz="700" dirty="0">
                <a:solidFill>
                  <a:srgbClr val="000000"/>
                </a:solidFill>
                <a:latin typeface="Manrope" pitchFamily="34" charset="0"/>
                <a:ea typeface="Manrope" pitchFamily="34" charset="-122"/>
                <a:cs typeface="Manrope" pitchFamily="34" charset="-120"/>
              </a:rPr>
              <a:t>Curiosity, openness, and the willingness to be surprised by God in the ordinary</a:t>
            </a:r>
            <a:endParaRPr lang="en-US" sz="700" dirty="0"/>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16289" y="2307059"/>
            <a:ext cx="93018" cy="93018"/>
          </a:xfrm>
          <a:prstGeom prst="rect">
            <a:avLst/>
          </a:prstGeom>
        </p:spPr>
      </p:pic>
      <p:sp>
        <p:nvSpPr>
          <p:cNvPr id="15" name="Shape 11"/>
          <p:cNvSpPr/>
          <p:nvPr/>
        </p:nvSpPr>
        <p:spPr>
          <a:xfrm>
            <a:off x="4716289" y="2416076"/>
            <a:ext cx="3910310" cy="9525"/>
          </a:xfrm>
          <a:prstGeom prst="rect">
            <a:avLst/>
          </a:prstGeom>
          <a:solidFill>
            <a:srgbClr val="D4CCFA"/>
          </a:solidFill>
          <a:ln/>
        </p:spPr>
        <p:txBody>
          <a:bodyPr/>
          <a:lstStyle/>
          <a:p>
            <a:endParaRPr lang="en-IN"/>
          </a:p>
        </p:txBody>
      </p:sp>
      <p:sp>
        <p:nvSpPr>
          <p:cNvPr id="16" name="Text 12"/>
          <p:cNvSpPr/>
          <p:nvPr/>
        </p:nvSpPr>
        <p:spPr>
          <a:xfrm>
            <a:off x="4716289" y="2490936"/>
            <a:ext cx="3910310" cy="145331"/>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Alexandria Medium" pitchFamily="34" charset="0"/>
                <a:ea typeface="Alexandria Medium" pitchFamily="34" charset="-122"/>
                <a:cs typeface="Alexandria Medium" pitchFamily="34" charset="-120"/>
              </a:rPr>
              <a:t>Take Off Your Sandals</a:t>
            </a:r>
            <a:endParaRPr lang="en-US" sz="900" dirty="0"/>
          </a:p>
        </p:txBody>
      </p:sp>
      <p:sp>
        <p:nvSpPr>
          <p:cNvPr id="17" name="Text 13"/>
          <p:cNvSpPr/>
          <p:nvPr/>
        </p:nvSpPr>
        <p:spPr>
          <a:xfrm>
            <a:off x="4716289" y="2705993"/>
            <a:ext cx="3910310" cy="130225"/>
          </a:xfrm>
          <a:prstGeom prst="rect">
            <a:avLst/>
          </a:prstGeom>
          <a:noFill/>
          <a:ln/>
        </p:spPr>
        <p:txBody>
          <a:bodyPr wrap="none" lIns="0" tIns="0" rIns="0" bIns="0" rtlCol="0" anchor="t"/>
          <a:lstStyle/>
          <a:p>
            <a:pPr marL="0" indent="0" algn="l">
              <a:lnSpc>
                <a:spcPct val="117000"/>
              </a:lnSpc>
              <a:buNone/>
            </a:pPr>
            <a:r>
              <a:rPr lang="en-US" sz="700" dirty="0">
                <a:solidFill>
                  <a:srgbClr val="000000"/>
                </a:solidFill>
                <a:latin typeface="Manrope" pitchFamily="34" charset="0"/>
                <a:ea typeface="Manrope" pitchFamily="34" charset="-122"/>
                <a:cs typeface="Manrope" pitchFamily="34" charset="-120"/>
              </a:rPr>
              <a:t>Humility before the mystery — the beginning of good theology</a:t>
            </a:r>
            <a:endParaRPr lang="en-US" sz="700"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16289" y="2987278"/>
            <a:ext cx="93018" cy="93018"/>
          </a:xfrm>
          <a:prstGeom prst="rect">
            <a:avLst/>
          </a:prstGeom>
        </p:spPr>
      </p:pic>
      <p:sp>
        <p:nvSpPr>
          <p:cNvPr id="19" name="Shape 14"/>
          <p:cNvSpPr/>
          <p:nvPr/>
        </p:nvSpPr>
        <p:spPr>
          <a:xfrm>
            <a:off x="4716289" y="3105596"/>
            <a:ext cx="3910310" cy="9525"/>
          </a:xfrm>
          <a:prstGeom prst="rect">
            <a:avLst/>
          </a:prstGeom>
          <a:solidFill>
            <a:srgbClr val="D4CCFA"/>
          </a:solidFill>
          <a:ln/>
        </p:spPr>
        <p:txBody>
          <a:bodyPr/>
          <a:lstStyle/>
          <a:p>
            <a:endParaRPr lang="en-IN"/>
          </a:p>
        </p:txBody>
      </p:sp>
      <p:sp>
        <p:nvSpPr>
          <p:cNvPr id="20" name="Text 15"/>
          <p:cNvSpPr/>
          <p:nvPr/>
        </p:nvSpPr>
        <p:spPr>
          <a:xfrm>
            <a:off x="4716289" y="3189759"/>
            <a:ext cx="3910310" cy="145331"/>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Alexandria Medium" pitchFamily="34" charset="0"/>
                <a:ea typeface="Alexandria Medium" pitchFamily="34" charset="-122"/>
                <a:cs typeface="Alexandria Medium" pitchFamily="34" charset="-120"/>
              </a:rPr>
              <a:t>Listen</a:t>
            </a:r>
            <a:endParaRPr lang="en-US" sz="900" dirty="0"/>
          </a:p>
        </p:txBody>
      </p:sp>
      <p:sp>
        <p:nvSpPr>
          <p:cNvPr id="21" name="Text 16"/>
          <p:cNvSpPr/>
          <p:nvPr/>
        </p:nvSpPr>
        <p:spPr>
          <a:xfrm>
            <a:off x="4716289" y="3404815"/>
            <a:ext cx="3910310" cy="130225"/>
          </a:xfrm>
          <a:prstGeom prst="rect">
            <a:avLst/>
          </a:prstGeom>
          <a:noFill/>
          <a:ln/>
        </p:spPr>
        <p:txBody>
          <a:bodyPr wrap="none" lIns="0" tIns="0" rIns="0" bIns="0" rtlCol="0" anchor="t"/>
          <a:lstStyle/>
          <a:p>
            <a:pPr marL="0" indent="0" algn="l">
              <a:lnSpc>
                <a:spcPct val="117000"/>
              </a:lnSpc>
              <a:buNone/>
            </a:pPr>
            <a:r>
              <a:rPr lang="en-US" sz="700" dirty="0">
                <a:solidFill>
                  <a:srgbClr val="000000"/>
                </a:solidFill>
                <a:latin typeface="Manrope" pitchFamily="34" charset="0"/>
                <a:ea typeface="Manrope" pitchFamily="34" charset="-122"/>
                <a:cs typeface="Manrope" pitchFamily="34" charset="-120"/>
              </a:rPr>
              <a:t>The apostolate of the ear — to God, to the community, to the poor, to the signs of the times</a:t>
            </a:r>
            <a:endParaRPr lang="en-US" sz="700" dirty="0"/>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16289" y="3667497"/>
            <a:ext cx="93018" cy="93018"/>
          </a:xfrm>
          <a:prstGeom prst="rect">
            <a:avLst/>
          </a:prstGeom>
        </p:spPr>
      </p:pic>
      <p:sp>
        <p:nvSpPr>
          <p:cNvPr id="23" name="Shape 17"/>
          <p:cNvSpPr/>
          <p:nvPr/>
        </p:nvSpPr>
        <p:spPr>
          <a:xfrm>
            <a:off x="4716289" y="3795117"/>
            <a:ext cx="3910310" cy="9525"/>
          </a:xfrm>
          <a:prstGeom prst="rect">
            <a:avLst/>
          </a:prstGeom>
          <a:solidFill>
            <a:srgbClr val="D4CCFA"/>
          </a:solidFill>
          <a:ln/>
        </p:spPr>
        <p:txBody>
          <a:bodyPr/>
          <a:lstStyle/>
          <a:p>
            <a:endParaRPr lang="en-IN"/>
          </a:p>
        </p:txBody>
      </p:sp>
      <p:sp>
        <p:nvSpPr>
          <p:cNvPr id="24" name="Text 18"/>
          <p:cNvSpPr/>
          <p:nvPr/>
        </p:nvSpPr>
        <p:spPr>
          <a:xfrm>
            <a:off x="4716289" y="3888581"/>
            <a:ext cx="3910310" cy="145331"/>
          </a:xfrm>
          <a:prstGeom prst="rect">
            <a:avLst/>
          </a:prstGeom>
          <a:noFill/>
          <a:ln/>
        </p:spPr>
        <p:txBody>
          <a:bodyPr wrap="none" lIns="0" tIns="0" rIns="0" bIns="0" rtlCol="0" anchor="t"/>
          <a:lstStyle/>
          <a:p>
            <a:pPr marL="0" indent="0" algn="l">
              <a:lnSpc>
                <a:spcPct val="104000"/>
              </a:lnSpc>
              <a:buNone/>
            </a:pPr>
            <a:r>
              <a:rPr lang="en-US" sz="900" dirty="0">
                <a:solidFill>
                  <a:srgbClr val="000000"/>
                </a:solidFill>
                <a:latin typeface="Alexandria Medium" pitchFamily="34" charset="0"/>
                <a:ea typeface="Alexandria Medium" pitchFamily="34" charset="-122"/>
                <a:cs typeface="Alexandria Medium" pitchFamily="34" charset="-120"/>
              </a:rPr>
              <a:t>Go — Be Sent</a:t>
            </a:r>
            <a:endParaRPr lang="en-US" sz="900" dirty="0"/>
          </a:p>
        </p:txBody>
      </p:sp>
      <p:sp>
        <p:nvSpPr>
          <p:cNvPr id="25" name="Text 19"/>
          <p:cNvSpPr/>
          <p:nvPr/>
        </p:nvSpPr>
        <p:spPr>
          <a:xfrm>
            <a:off x="4716289" y="4103638"/>
            <a:ext cx="3910310" cy="130225"/>
          </a:xfrm>
          <a:prstGeom prst="rect">
            <a:avLst/>
          </a:prstGeom>
          <a:noFill/>
          <a:ln/>
        </p:spPr>
        <p:txBody>
          <a:bodyPr wrap="none" lIns="0" tIns="0" rIns="0" bIns="0" rtlCol="0" anchor="t"/>
          <a:lstStyle/>
          <a:p>
            <a:pPr marL="0" indent="0" algn="l">
              <a:lnSpc>
                <a:spcPct val="117000"/>
              </a:lnSpc>
              <a:buNone/>
            </a:pPr>
            <a:r>
              <a:rPr lang="en-US" sz="700" dirty="0">
                <a:solidFill>
                  <a:srgbClr val="000000"/>
                </a:solidFill>
                <a:latin typeface="Manrope" pitchFamily="34" charset="0"/>
                <a:ea typeface="Manrope" pitchFamily="34" charset="-122"/>
                <a:cs typeface="Manrope" pitchFamily="34" charset="-120"/>
              </a:rPr>
              <a:t>Theology that does not end in mission has not yet finished its work</a:t>
            </a:r>
            <a:endParaRPr lang="en-US" sz="700" dirty="0"/>
          </a:p>
        </p:txBody>
      </p:sp>
      <p:sp>
        <p:nvSpPr>
          <p:cNvPr id="26" name="Shape 20"/>
          <p:cNvSpPr/>
          <p:nvPr/>
        </p:nvSpPr>
        <p:spPr>
          <a:xfrm>
            <a:off x="4716289" y="4344814"/>
            <a:ext cx="627906" cy="159990"/>
          </a:xfrm>
          <a:prstGeom prst="roundRect">
            <a:avLst>
              <a:gd name="adj" fmla="val 69781"/>
            </a:avLst>
          </a:prstGeom>
          <a:solidFill>
            <a:srgbClr val="CDEFFE"/>
          </a:solidFill>
          <a:ln/>
        </p:spPr>
        <p:txBody>
          <a:bodyPr/>
          <a:lstStyle/>
          <a:p>
            <a:endParaRPr lang="en-IN"/>
          </a:p>
        </p:txBody>
      </p:sp>
      <p:sp>
        <p:nvSpPr>
          <p:cNvPr id="27" name="Text 21"/>
          <p:cNvSpPr/>
          <p:nvPr/>
        </p:nvSpPr>
        <p:spPr>
          <a:xfrm>
            <a:off x="4772099" y="4409926"/>
            <a:ext cx="973485" cy="104180"/>
          </a:xfrm>
          <a:prstGeom prst="rect">
            <a:avLst/>
          </a:prstGeom>
          <a:noFill/>
          <a:ln/>
        </p:spPr>
        <p:txBody>
          <a:bodyPr wrap="none" lIns="0" tIns="0" rIns="0" bIns="0" rtlCol="0" anchor="t"/>
          <a:lstStyle/>
          <a:p>
            <a:pPr marL="0" indent="0" algn="l">
              <a:lnSpc>
                <a:spcPct val="117000"/>
              </a:lnSpc>
              <a:buNone/>
            </a:pPr>
            <a:r>
              <a:rPr lang="en-US" sz="550" dirty="0">
                <a:solidFill>
                  <a:srgbClr val="5B6E8C"/>
                </a:solidFill>
                <a:latin typeface="Manrope" pitchFamily="34" charset="0"/>
                <a:ea typeface="Manrope" pitchFamily="34" charset="-122"/>
                <a:cs typeface="Manrope" pitchFamily="34" charset="-120"/>
              </a:rPr>
              <a:t>MATTHEW 5:16</a:t>
            </a:r>
            <a:endParaRPr lang="en-US" sz="550" dirty="0"/>
          </a:p>
        </p:txBody>
      </p:sp>
      <p:sp>
        <p:nvSpPr>
          <p:cNvPr id="28" name="Text 22"/>
          <p:cNvSpPr/>
          <p:nvPr/>
        </p:nvSpPr>
        <p:spPr>
          <a:xfrm>
            <a:off x="4716289" y="4569916"/>
            <a:ext cx="3910310" cy="145331"/>
          </a:xfrm>
          <a:prstGeom prst="rect">
            <a:avLst/>
          </a:prstGeom>
          <a:noFill/>
          <a:ln/>
        </p:spPr>
        <p:txBody>
          <a:bodyPr wrap="none" lIns="0" tIns="0" rIns="0" bIns="0" rtlCol="0" anchor="t"/>
          <a:lstStyle/>
          <a:p>
            <a:pPr marL="0" indent="0" algn="ctr">
              <a:lnSpc>
                <a:spcPct val="104000"/>
              </a:lnSpc>
              <a:buNone/>
            </a:pPr>
            <a:r>
              <a:rPr lang="en-US" sz="900" i="1" dirty="0">
                <a:solidFill>
                  <a:srgbClr val="000000"/>
                </a:solidFill>
                <a:latin typeface="Alexandria Medium" pitchFamily="34" charset="0"/>
                <a:ea typeface="Alexandria Medium" pitchFamily="34" charset="-122"/>
                <a:cs typeface="Alexandria Medium" pitchFamily="34" charset="-120"/>
              </a:rPr>
              <a:t>"Let your light shine."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7386</Words>
  <Application>Microsoft Office PowerPoint</Application>
  <PresentationFormat>On-screen Show (16:9)</PresentationFormat>
  <Paragraphs>389</Paragraphs>
  <Slides>26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Manrope</vt:lpstr>
      <vt:lpstr>Arial</vt:lpstr>
      <vt:lpstr>Wingdings</vt:lpstr>
      <vt:lpstr>Manrope Bold</vt:lpstr>
      <vt:lpstr>Times New Roman</vt:lpstr>
      <vt:lpstr>Alexandria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William Anthony</cp:lastModifiedBy>
  <cp:revision>17</cp:revision>
  <dcterms:created xsi:type="dcterms:W3CDTF">2026-07-07T03:28:11Z</dcterms:created>
  <dcterms:modified xsi:type="dcterms:W3CDTF">2026-07-09T04:34:42Z</dcterms:modified>
</cp:coreProperties>
</file>