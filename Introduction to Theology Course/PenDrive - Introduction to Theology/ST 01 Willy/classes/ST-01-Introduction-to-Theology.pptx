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embeddedFontLst>
    <p:embeddedFont>
      <p:font typeface="Alexandria Light" panose="020B0604020202020204" charset="-78"/>
      <p:regular r:id="rId19"/>
    </p:embeddedFont>
    <p:embeddedFont>
      <p:font typeface="Alexandria Medium" panose="020B0604020202020204" charset="-78"/>
      <p:regular r:id="rId20"/>
    </p:embeddedFont>
    <p:embeddedFont>
      <p:font typeface="Manrope" panose="020B0604020202020204" charset="0"/>
      <p:regular r:id="rId21"/>
    </p:embeddedFont>
    <p:embeddedFont>
      <p:font typeface="Manrope Bold" panose="020B0604020202020204" charset="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6535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98016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ST 01: Introduction to Theology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235125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Architecture of the Course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1645965"/>
            <a:ext cx="8151763" cy="14288"/>
          </a:xfrm>
          <a:prstGeom prst="roundRect">
            <a:avLst>
              <a:gd name="adj" fmla="val 59998"/>
            </a:avLst>
          </a:prstGeom>
          <a:solidFill>
            <a:srgbClr val="5B6E8C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06822" y="1830735"/>
            <a:ext cx="2632819" cy="570675"/>
          </a:xfrm>
          <a:prstGeom prst="roundRect">
            <a:avLst>
              <a:gd name="adj" fmla="val 18032"/>
            </a:avLst>
          </a:prstGeom>
          <a:solidFill>
            <a:srgbClr val="AAE4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96119" y="2016950"/>
            <a:ext cx="2632818" cy="299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Morning Star Regional Seminary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18233" y="1847403"/>
            <a:ext cx="54296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What These Notes Cover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18233" y="2193331"/>
            <a:ext cx="5429647" cy="1165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rationale for structuring the course around </a:t>
            </a:r>
            <a:r>
              <a:rPr lang="en-US" sz="14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six questions</a:t>
            </a:r>
            <a:endParaRPr lang="en-US" sz="140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</a:t>
            </a:r>
            <a:r>
              <a:rPr lang="en-US" sz="14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six course goals</a:t>
            </a: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and the units they govern</a:t>
            </a:r>
            <a:endParaRPr lang="en-US" sz="140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</a:t>
            </a:r>
            <a:r>
              <a:rPr lang="en-US" sz="14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Lonergan spine</a:t>
            </a: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four precepts that order the whole</a:t>
            </a:r>
            <a:endParaRPr lang="en-US" sz="140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</a:t>
            </a:r>
            <a:r>
              <a:rPr lang="en-US" sz="14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five-phase class rhythm</a:t>
            </a: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used every session</a:t>
            </a:r>
            <a:endParaRPr lang="en-US" sz="140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guide for </a:t>
            </a:r>
            <a:r>
              <a:rPr lang="en-US" sz="14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delivering all of this on Day 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6119" y="3621286"/>
            <a:ext cx="1944960" cy="724198"/>
          </a:xfrm>
          <a:prstGeom prst="roundRect">
            <a:avLst>
              <a:gd name="adj" fmla="val 2569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11" name="Text 9"/>
          <p:cNvSpPr/>
          <p:nvPr/>
        </p:nvSpPr>
        <p:spPr>
          <a:xfrm>
            <a:off x="624855" y="3750022"/>
            <a:ext cx="168748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6 Goals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24855" y="4018285"/>
            <a:ext cx="168748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Questions, not topics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5053" y="3621286"/>
            <a:ext cx="1944960" cy="724198"/>
          </a:xfrm>
          <a:prstGeom prst="roundRect">
            <a:avLst>
              <a:gd name="adj" fmla="val 2569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14" name="Text 12"/>
          <p:cNvSpPr/>
          <p:nvPr/>
        </p:nvSpPr>
        <p:spPr>
          <a:xfrm>
            <a:off x="2693789" y="3750022"/>
            <a:ext cx="168748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 Precepts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93789" y="4018285"/>
            <a:ext cx="168748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Lonergan's spine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33987" y="3621286"/>
            <a:ext cx="1944960" cy="724198"/>
          </a:xfrm>
          <a:prstGeom prst="roundRect">
            <a:avLst>
              <a:gd name="adj" fmla="val 2569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17" name="Text 15"/>
          <p:cNvSpPr/>
          <p:nvPr/>
        </p:nvSpPr>
        <p:spPr>
          <a:xfrm>
            <a:off x="4762723" y="3750022"/>
            <a:ext cx="168748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5 Phases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62723" y="4018285"/>
            <a:ext cx="168748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Rhythm of each class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02921" y="3621286"/>
            <a:ext cx="1944960" cy="724198"/>
          </a:xfrm>
          <a:prstGeom prst="roundRect">
            <a:avLst>
              <a:gd name="adj" fmla="val 2569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 sz="3200"/>
          </a:p>
        </p:txBody>
      </p:sp>
      <p:sp>
        <p:nvSpPr>
          <p:cNvPr id="20" name="Text 18"/>
          <p:cNvSpPr/>
          <p:nvPr/>
        </p:nvSpPr>
        <p:spPr>
          <a:xfrm>
            <a:off x="6831657" y="3750022"/>
            <a:ext cx="168748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 Manifesto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831657" y="4018285"/>
            <a:ext cx="168748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Capstone: Lecture 35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84597"/>
            <a:ext cx="1279847" cy="233214"/>
          </a:xfrm>
          <a:prstGeom prst="roundRect">
            <a:avLst>
              <a:gd name="adj" fmla="val 63828"/>
            </a:avLst>
          </a:prstGeom>
          <a:solidFill>
            <a:srgbClr val="CDEF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70533" y="621804"/>
            <a:ext cx="1588219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COURSE ARCHITECTURE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867370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Why Six Questions, Not a List of Topics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564928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The Problem with List-Based Courses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1882750"/>
            <a:ext cx="3924598" cy="880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Most intro courses: definition → sources → history → branches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list invites </a:t>
            </a: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storage</a:t>
            </a: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; a question invites </a:t>
            </a: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thought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Students memorise and forget; a searching mind remembers what it finds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96119" y="2933849"/>
            <a:ext cx="3924598" cy="14288"/>
          </a:xfrm>
          <a:prstGeom prst="roundRect">
            <a:avLst>
              <a:gd name="adj" fmla="val 59998"/>
            </a:avLst>
          </a:prstGeom>
          <a:solidFill>
            <a:srgbClr val="5B6E8C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96119" y="3118619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The Shift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6119" y="3436441"/>
            <a:ext cx="3924598" cy="1079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Six questions move students from </a:t>
            </a: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collecting</a:t>
            </a: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to </a:t>
            </a: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searching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contextual theologians' move: from </a:t>
            </a:r>
            <a:r>
              <a:rPr lang="en-US" sz="95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studying</a:t>
            </a: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theology to </a:t>
            </a:r>
            <a:r>
              <a:rPr lang="en-US" sz="95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doing</a:t>
            </a: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theology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Rests on four pillars: Scripture, Tradition, faith experience, social context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38749" y="1440954"/>
            <a:ext cx="4103191" cy="3117949"/>
          </a:xfrm>
          <a:prstGeom prst="roundRect">
            <a:avLst>
              <a:gd name="adj" fmla="val 9548"/>
            </a:avLst>
          </a:prstGeom>
          <a:solidFill>
            <a:srgbClr val="AAE4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62723" y="1564928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Practical Implementation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62723" y="1882750"/>
            <a:ext cx="3855244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Keep all six questions on the board </a:t>
            </a:r>
            <a:r>
              <a:rPr lang="en-US" sz="9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all term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Point to the current question at the start of each unit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Ask which goal the day served at the end of each lecture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62723" y="2735387"/>
            <a:ext cx="3855244" cy="14288"/>
          </a:xfrm>
          <a:prstGeom prst="roundRect">
            <a:avLst>
              <a:gd name="adj" fmla="val 59998"/>
            </a:avLst>
          </a:prstGeom>
          <a:solidFill>
            <a:srgbClr val="000000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62723" y="2920157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Day 1 Opener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62723" y="3237979"/>
            <a:ext cx="3855244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Read all six questions aloud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Ask: </a:t>
            </a:r>
            <a:r>
              <a:rPr lang="en-US" sz="950" i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Which is the hardest?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Students almost always pick the </a:t>
            </a:r>
            <a:r>
              <a:rPr lang="en-US" sz="9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sixth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Your opening: </a:t>
            </a:r>
            <a:r>
              <a:rPr lang="en-US" sz="950" i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"The hardest question is also the most important"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79363"/>
            <a:ext cx="1477789" cy="213792"/>
          </a:xfrm>
          <a:prstGeom prst="roundRect">
            <a:avLst>
              <a:gd name="adj" fmla="val 65275"/>
            </a:avLst>
          </a:prstGeom>
          <a:solidFill>
            <a:srgbClr val="CDEF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65845" y="414189"/>
            <a:ext cx="1795537" cy="144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7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GOAL 1 · UNIT II · LECTURES 6–10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636761"/>
            <a:ext cx="8151763" cy="36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What Is Theology?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96119" y="1272629"/>
            <a:ext cx="3934048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Core Definition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6119" y="1563291"/>
            <a:ext cx="3934048" cy="616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29000"/>
              </a:lnSpc>
              <a:buSzPct val="100000"/>
              <a:buChar char="•"/>
            </a:pPr>
            <a:r>
              <a:rPr lang="en-US" sz="9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Fides quaerens intellectum</a:t>
            </a: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</a:t>
            </a:r>
            <a:r>
              <a:rPr lang="en-US" sz="9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faith seeking understanding</a:t>
            </a: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(Anselm)</a:t>
            </a:r>
            <a:endParaRPr lang="en-US" sz="900" dirty="0"/>
          </a:p>
          <a:p>
            <a:pPr marL="182880" indent="-182880" algn="l">
              <a:lnSpc>
                <a:spcPct val="129000"/>
              </a:lnSpc>
              <a:buSzPct val="100000"/>
              <a:buChar char="•"/>
            </a:pPr>
            <a:r>
              <a:rPr lang="en-US" sz="9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Theos + logos</a:t>
            </a: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= God-talk, discourse on God</a:t>
            </a:r>
            <a:endParaRPr lang="en-US" sz="900" dirty="0"/>
          </a:p>
          <a:p>
            <a:pPr marL="182880" indent="-182880" algn="l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Working definition set in </a:t>
            </a:r>
            <a:r>
              <a:rPr lang="en-US" sz="9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Lecture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6119" y="2331839"/>
            <a:ext cx="3934048" cy="14288"/>
          </a:xfrm>
          <a:prstGeom prst="roundRect">
            <a:avLst>
              <a:gd name="adj" fmla="val 59998"/>
            </a:avLst>
          </a:prstGeom>
          <a:solidFill>
            <a:srgbClr val="5B6E8C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96119" y="2497782"/>
            <a:ext cx="3934048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Three Layers to Press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119" y="2788444"/>
            <a:ext cx="3934048" cy="1157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Theology begins in </a:t>
            </a:r>
            <a:r>
              <a:rPr lang="en-US" sz="9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faith</a:t>
            </a: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not neutral curiosity — faith is the enabling condition</a:t>
            </a:r>
            <a:endParaRPr lang="en-US" sz="900" dirty="0"/>
          </a:p>
          <a:p>
            <a:pPr marL="182880" indent="-182880" algn="l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Theology is orderly and searching — rightly called a </a:t>
            </a:r>
            <a:r>
              <a:rPr lang="en-US" sz="9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science</a:t>
            </a: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though its object gives himself in revelation</a:t>
            </a:r>
            <a:endParaRPr lang="en-US" sz="900" dirty="0"/>
          </a:p>
          <a:p>
            <a:pPr marL="182880" indent="-182880" algn="l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Theology aims at </a:t>
            </a:r>
            <a:r>
              <a:rPr lang="en-US" sz="9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transformation</a:t>
            </a: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: information → formation → transformation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18596" y="1272629"/>
            <a:ext cx="3934048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Scholastic Axiom (Aquinas)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18596" y="1576908"/>
            <a:ext cx="14288" cy="556617"/>
          </a:xfrm>
          <a:prstGeom prst="roundRect">
            <a:avLst>
              <a:gd name="adj" fmla="val 59998"/>
            </a:avLst>
          </a:prstGeom>
          <a:solidFill>
            <a:srgbClr val="AAE4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93022" y="1674986"/>
            <a:ext cx="3759622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Deo docetur, Deum docet, et ad Deum ducit</a:t>
            </a: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Theology is taught by God, teaches of God, and leads to God.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18596" y="2285181"/>
            <a:ext cx="3934048" cy="14288"/>
          </a:xfrm>
          <a:prstGeom prst="roundRect">
            <a:avLst>
              <a:gd name="adj" fmla="val 59998"/>
            </a:avLst>
          </a:prstGeom>
          <a:solidFill>
            <a:srgbClr val="5B6E8C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18596" y="2451125"/>
            <a:ext cx="3934048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Illustration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18596" y="2741786"/>
            <a:ext cx="3934048" cy="540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Augustine watching a child pour the sea into a hole in the sand — </a:t>
            </a:r>
            <a:r>
              <a:rPr lang="en-US" sz="9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the theologian who thinks his thought is complete has stopped being a good theologian.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18596" y="3434135"/>
            <a:ext cx="3934048" cy="14288"/>
          </a:xfrm>
          <a:prstGeom prst="roundRect">
            <a:avLst>
              <a:gd name="adj" fmla="val 59998"/>
            </a:avLst>
          </a:prstGeom>
          <a:solidFill>
            <a:srgbClr val="5B6E8C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18596" y="3600078"/>
            <a:ext cx="3934048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Key References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8596" y="3890739"/>
            <a:ext cx="3934048" cy="835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Anselm, </a:t>
            </a:r>
            <a:r>
              <a:rPr lang="en-US" sz="9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Proslogion</a:t>
            </a:r>
            <a:endParaRPr lang="en-US" sz="900" dirty="0"/>
          </a:p>
          <a:p>
            <a:pPr marL="182880" indent="-182880" algn="l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Aquinas, </a:t>
            </a:r>
            <a:r>
              <a:rPr lang="en-US" sz="9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Summa Theologiae</a:t>
            </a: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1a q.1</a:t>
            </a:r>
            <a:endParaRPr lang="en-US" sz="900" dirty="0"/>
          </a:p>
          <a:p>
            <a:pPr marL="182880" indent="-182880" algn="l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Haight, </a:t>
            </a:r>
            <a:r>
              <a:rPr lang="en-US" sz="9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Dynamics of Theology</a:t>
            </a:r>
            <a:endParaRPr lang="en-US" sz="900" dirty="0"/>
          </a:p>
          <a:p>
            <a:pPr marL="182880" indent="-182880" algn="l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Amaladoss, "Towards an Indian Theology"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79363"/>
            <a:ext cx="1461492" cy="223391"/>
          </a:xfrm>
          <a:prstGeom prst="roundRect">
            <a:avLst>
              <a:gd name="adj" fmla="val 64552"/>
            </a:avLst>
          </a:prstGeom>
          <a:solidFill>
            <a:srgbClr val="CDEF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68151" y="415379"/>
            <a:ext cx="1774627" cy="151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GOAL 2 · UNIT I · LECTURES 1–5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49263"/>
            <a:ext cx="8151763" cy="375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Why Do Theology?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496119" y="1199331"/>
            <a:ext cx="2639616" cy="1074986"/>
          </a:xfrm>
          <a:prstGeom prst="roundRect">
            <a:avLst>
              <a:gd name="adj" fmla="val 16768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0985" y="1324198"/>
            <a:ext cx="2389882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For the Believer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0985" y="1581745"/>
            <a:ext cx="2389882" cy="5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Lets faith understand itself and give an account of its own hope — </a:t>
            </a:r>
            <a:r>
              <a:rPr lang="en-US" sz="900" i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"Be ready to give an account"</a:t>
            </a: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(1 Pet 3:15)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52118" y="1199331"/>
            <a:ext cx="2639690" cy="1074986"/>
          </a:xfrm>
          <a:prstGeom prst="roundRect">
            <a:avLst>
              <a:gd name="adj" fmla="val 16768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376985" y="1324198"/>
            <a:ext cx="2389956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For the Church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76985" y="1581745"/>
            <a:ext cx="2389956" cy="5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Guards the faith from corruption; states it </a:t>
            </a:r>
            <a:r>
              <a:rPr lang="en-US" sz="9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freshly in each age</a:t>
            </a: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without losing what was handed 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008191" y="1199331"/>
            <a:ext cx="2639690" cy="1074986"/>
          </a:xfrm>
          <a:prstGeom prst="roundRect">
            <a:avLst>
              <a:gd name="adj" fmla="val 16768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33058" y="1324198"/>
            <a:ext cx="2389956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For the World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133058" y="1581745"/>
            <a:ext cx="2389956" cy="5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Throws light on life, death, suffering, evil, liberation, and redemption — a service owed to the community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09575" y="2405211"/>
            <a:ext cx="4102373" cy="2358926"/>
          </a:xfrm>
          <a:prstGeom prst="roundRect">
            <a:avLst>
              <a:gd name="adj" fmla="val 12226"/>
            </a:avLst>
          </a:prstGeom>
          <a:solidFill>
            <a:srgbClr val="AAE4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29679" y="2521595"/>
            <a:ext cx="3862164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Charter Text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9679" y="2840236"/>
            <a:ext cx="14288" cy="587871"/>
          </a:xfrm>
          <a:prstGeom prst="roundRect">
            <a:avLst>
              <a:gd name="adj" fmla="val 59998"/>
            </a:avLst>
          </a:prstGeom>
          <a:solidFill>
            <a:srgbClr val="AAE4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09910" y="2944937"/>
            <a:ext cx="3681933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Peter 3:15 — </a:t>
            </a:r>
            <a:r>
              <a:rPr lang="en-US" sz="900" i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"Be ready to give an account, with gentleness, of the hope that is in you."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9679" y="3559001"/>
            <a:ext cx="3862164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Theology is </a:t>
            </a:r>
            <a:r>
              <a:rPr lang="en-US" sz="9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not a private hobby of the clever</a:t>
            </a: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it is a service owed to the community.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23358" y="2521595"/>
            <a:ext cx="3929286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Illustration: Two Cooks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23358" y="2825725"/>
            <a:ext cx="3929286" cy="838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31000"/>
              </a:lnSpc>
              <a:buSzPct val="100000"/>
              <a:buChar char="•"/>
            </a:pPr>
            <a:r>
              <a:rPr lang="en-US" sz="9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Cook 1:</a:t>
            </a: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follows a recipe he does not understand; cannot adapt when the kitchen changes</a:t>
            </a:r>
            <a:endParaRPr lang="en-US" sz="900" dirty="0"/>
          </a:p>
          <a:p>
            <a:pPr marL="182880" indent="-182880" algn="l">
              <a:lnSpc>
                <a:spcPct val="131000"/>
              </a:lnSpc>
              <a:buSzPct val="100000"/>
              <a:buChar char="•"/>
            </a:pPr>
            <a:r>
              <a:rPr lang="en-US" sz="9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Cook 2:</a:t>
            </a: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knows why each step is there; can adapt to any kitchen</a:t>
            </a:r>
            <a:endParaRPr lang="en-US" sz="900" dirty="0"/>
          </a:p>
          <a:p>
            <a:pPr marL="182880" indent="-182880" algn="l">
              <a:lnSpc>
                <a:spcPct val="131000"/>
              </a:lnSpc>
              <a:buSzPct val="100000"/>
              <a:buChar char="•"/>
            </a:pPr>
            <a:r>
              <a:rPr lang="en-US" sz="9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The priest who preaches without theology is the first cook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23358" y="3824957"/>
            <a:ext cx="3929286" cy="14288"/>
          </a:xfrm>
          <a:prstGeom prst="roundRect">
            <a:avLst>
              <a:gd name="adj" fmla="val 59998"/>
            </a:avLst>
          </a:prstGeom>
          <a:solidFill>
            <a:srgbClr val="5B6E8C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23358" y="4000128"/>
            <a:ext cx="3929286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Key References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23358" y="4304258"/>
            <a:ext cx="3929286" cy="419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31000"/>
              </a:lnSpc>
              <a:buSzPct val="100000"/>
              <a:buChar char="•"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Francis, </a:t>
            </a:r>
            <a:r>
              <a:rPr lang="en-US" sz="9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Veritatis Gaudium</a:t>
            </a:r>
            <a:endParaRPr lang="en-US" sz="900" dirty="0"/>
          </a:p>
          <a:p>
            <a:pPr marL="182880" indent="-182880" algn="l">
              <a:lnSpc>
                <a:spcPct val="131000"/>
              </a:lnSpc>
              <a:buSzPct val="100000"/>
              <a:buChar char="•"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John Paul II, </a:t>
            </a:r>
            <a:r>
              <a:rPr lang="en-US" sz="9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Fides et Ratio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3774" y="314324"/>
            <a:ext cx="3964781" cy="701873"/>
          </a:xfrm>
          <a:prstGeom prst="roundRect">
            <a:avLst>
              <a:gd name="adj" fmla="val 70221"/>
            </a:avLst>
          </a:prstGeom>
          <a:solidFill>
            <a:srgbClr val="CDEFFE"/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4" name="Text 2"/>
          <p:cNvSpPr/>
          <p:nvPr/>
        </p:nvSpPr>
        <p:spPr>
          <a:xfrm>
            <a:off x="500882" y="491653"/>
            <a:ext cx="3661216" cy="284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How Is Theology Done?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96119" y="1225376"/>
            <a:ext cx="3964781" cy="252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6000"/>
              </a:lnSpc>
            </a:pPr>
            <a:r>
              <a:rPr lang="en-US" sz="1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Method Shapes What the Theologian Can See</a:t>
            </a:r>
            <a:endParaRPr lang="en-US" sz="1400" dirty="0"/>
          </a:p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Two theologians can read the same Scripture and reach different conclusions because they begin from different places. </a:t>
            </a:r>
            <a:r>
              <a:rPr lang="en-US" sz="14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Method is not neutral.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2036" y="2842803"/>
            <a:ext cx="3964781" cy="2025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6000"/>
              </a:lnSpc>
              <a:buSzPct val="100000"/>
            </a:pPr>
            <a:r>
              <a:rPr lang="en-US" sz="1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Four Elements to Hold Together</a:t>
            </a:r>
            <a:endParaRPr lang="en-US" sz="1200" dirty="0"/>
          </a:p>
          <a:p>
            <a:pPr marL="142240" indent="-142240" algn="l">
              <a:lnSpc>
                <a:spcPct val="116000"/>
              </a:lnSpc>
              <a:buSzPct val="100000"/>
              <a:buChar char="•"/>
            </a:pPr>
            <a:r>
              <a:rPr lang="en-US" sz="12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</a:t>
            </a:r>
            <a:r>
              <a:rPr lang="en-US" sz="12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four pillars</a:t>
            </a:r>
            <a:r>
              <a:rPr lang="en-US" sz="12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of doing theology (Scripture, Tradition, faith experience, social context)</a:t>
            </a:r>
            <a:endParaRPr lang="en-US" sz="1200" dirty="0"/>
          </a:p>
          <a:p>
            <a:pPr marL="142240" indent="-142240" algn="l">
              <a:lnSpc>
                <a:spcPct val="116000"/>
              </a:lnSpc>
              <a:buSzPct val="100000"/>
              <a:buChar char="•"/>
            </a:pPr>
            <a:r>
              <a:rPr lang="en-US" sz="12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</a:t>
            </a:r>
            <a:r>
              <a:rPr lang="en-US" sz="12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pastoral cycle</a:t>
            </a:r>
            <a:r>
              <a:rPr lang="en-US" sz="12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: See → Judge → Act</a:t>
            </a:r>
            <a:endParaRPr lang="en-US" sz="1200" dirty="0"/>
          </a:p>
          <a:p>
            <a:pPr marL="142240" indent="-142240" algn="l">
              <a:lnSpc>
                <a:spcPct val="116000"/>
              </a:lnSpc>
              <a:buSzPct val="100000"/>
              <a:buChar char="•"/>
            </a:pPr>
            <a:r>
              <a:rPr lang="en-US" sz="12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Segundo's hermeneutic circle</a:t>
            </a:r>
            <a:r>
              <a:rPr lang="en-US" sz="12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our questions reshape our reading of the text</a:t>
            </a:r>
            <a:endParaRPr lang="en-US" sz="1200" dirty="0"/>
          </a:p>
          <a:p>
            <a:pPr marL="142240" indent="-142240" algn="l">
              <a:lnSpc>
                <a:spcPct val="116000"/>
              </a:lnSpc>
              <a:buSzPct val="100000"/>
              <a:buChar char="•"/>
            </a:pPr>
            <a:r>
              <a:rPr lang="en-US" sz="12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Bevans' six models</a:t>
            </a:r>
            <a:r>
              <a:rPr lang="en-US" sz="12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of contextual theology — liberation, Dalit, and Indian theology are different models doing one work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87863" y="1016198"/>
            <a:ext cx="3964781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Illustration: The Doctor</a:t>
            </a:r>
            <a:endParaRPr lang="en-US" sz="10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7863" y="1233711"/>
            <a:ext cx="455414" cy="54657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210175" y="1324794"/>
            <a:ext cx="3442469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Attend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210175" y="1533971"/>
            <a:ext cx="3442469" cy="1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Symptoms</a:t>
            </a:r>
            <a:endParaRPr lang="en-US" sz="1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7863" y="1780282"/>
            <a:ext cx="455414" cy="54657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10175" y="1871365"/>
            <a:ext cx="3442469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Understand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210175" y="2080543"/>
            <a:ext cx="3442469" cy="1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Pattern</a:t>
            </a:r>
            <a:endParaRPr lang="en-US" sz="10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7863" y="2326853"/>
            <a:ext cx="455414" cy="54657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10175" y="2417936"/>
            <a:ext cx="3442469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Judge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210175" y="2627114"/>
            <a:ext cx="3442469" cy="1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Diagnosis</a:t>
            </a:r>
            <a:endParaRPr lang="en-US" sz="10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7863" y="2873425"/>
            <a:ext cx="455414" cy="54657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210175" y="2964507"/>
            <a:ext cx="3442469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Decide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5210175" y="3173685"/>
            <a:ext cx="3442469" cy="1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Treatment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687863" y="3495229"/>
            <a:ext cx="3964781" cy="252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Skip a step and the patient suffers.</a:t>
            </a: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Also: worm view (ground) vs. bird view (sky) — method decides from where you look.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687863" y="3845942"/>
            <a:ext cx="3964781" cy="9525"/>
          </a:xfrm>
          <a:prstGeom prst="roundRect">
            <a:avLst>
              <a:gd name="adj" fmla="val 60000"/>
            </a:avLst>
          </a:prstGeom>
          <a:solidFill>
            <a:srgbClr val="5B6E8C">
              <a:alpha val="50000"/>
            </a:srgbClr>
          </a:solidFill>
          <a:ln/>
        </p:spPr>
        <p:txBody>
          <a:bodyPr/>
          <a:lstStyle/>
          <a:p>
            <a:endParaRPr lang="en-IN" sz="2800"/>
          </a:p>
        </p:txBody>
      </p:sp>
      <p:sp>
        <p:nvSpPr>
          <p:cNvPr id="25" name="Text 19"/>
          <p:cNvSpPr/>
          <p:nvPr/>
        </p:nvSpPr>
        <p:spPr>
          <a:xfrm>
            <a:off x="4687863" y="3953470"/>
            <a:ext cx="3964781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Key References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4687863" y="4162648"/>
            <a:ext cx="3964781" cy="575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142240" indent="-142240" algn="l">
              <a:lnSpc>
                <a:spcPct val="116000"/>
              </a:lnSpc>
              <a:buSzPct val="100000"/>
              <a:buChar char="•"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Lonergan, </a:t>
            </a:r>
            <a:r>
              <a:rPr lang="en-US" sz="10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Method in Theology</a:t>
            </a: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(1972)</a:t>
            </a:r>
            <a:endParaRPr lang="en-US" sz="1000" dirty="0"/>
          </a:p>
          <a:p>
            <a:pPr marL="142240" indent="-142240" algn="l">
              <a:lnSpc>
                <a:spcPct val="116000"/>
              </a:lnSpc>
              <a:buSzPct val="100000"/>
              <a:buChar char="•"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Segundo, </a:t>
            </a:r>
            <a:r>
              <a:rPr lang="en-US" sz="10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Liberation of Theology</a:t>
            </a: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(1976)</a:t>
            </a:r>
            <a:endParaRPr lang="en-US" sz="1000" dirty="0"/>
          </a:p>
          <a:p>
            <a:pPr marL="142240" indent="-142240" algn="l">
              <a:lnSpc>
                <a:spcPct val="116000"/>
              </a:lnSpc>
              <a:buSzPct val="100000"/>
              <a:buChar char="•"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Bevans, </a:t>
            </a:r>
            <a:r>
              <a:rPr lang="en-US" sz="10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Models of Contextual Theology</a:t>
            </a: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(2002)</a:t>
            </a:r>
            <a:endParaRPr lang="en-US" sz="1000" dirty="0"/>
          </a:p>
          <a:p>
            <a:pPr marL="142240" indent="-142240" algn="l">
              <a:lnSpc>
                <a:spcPct val="116000"/>
              </a:lnSpc>
              <a:buSzPct val="100000"/>
              <a:buChar char="•"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Gutiérrez, </a:t>
            </a:r>
            <a:r>
              <a:rPr lang="en-US" sz="10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Theology of Liberation</a:t>
            </a: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(1971)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57113"/>
            <a:ext cx="1329928" cy="177329"/>
          </a:xfrm>
          <a:prstGeom prst="roundRect">
            <a:avLst>
              <a:gd name="adj" fmla="val 68204"/>
            </a:avLst>
          </a:prstGeom>
          <a:solidFill>
            <a:srgbClr val="CDEF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56543" y="387325"/>
            <a:ext cx="1666280" cy="116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6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GOAL 4 · UNIT III · LECTURES 11–16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567184"/>
            <a:ext cx="8151763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Who Has Authority in Theology?</a:t>
            </a:r>
            <a:endParaRPr lang="en-US" sz="1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004888"/>
            <a:ext cx="4034954" cy="7288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8313" y="1119932"/>
            <a:ext cx="374771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Scripture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68313" y="1326505"/>
            <a:ext cx="3747715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The norm that norms all others</a:t>
            </a: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the foundational written witness to revelation</a:t>
            </a:r>
            <a:endParaRPr lang="en-US" sz="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2928" y="1004888"/>
            <a:ext cx="4034954" cy="72881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85122" y="1119932"/>
            <a:ext cx="374771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Tradition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4785122" y="1326505"/>
            <a:ext cx="3747715" cy="2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The living handing-on of the faith</a:t>
            </a: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the Church's continuous memory and practice</a:t>
            </a:r>
            <a:endParaRPr lang="en-US" sz="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815554"/>
            <a:ext cx="4034954" cy="7288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8313" y="1930598"/>
            <a:ext cx="374771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Magisterium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668313" y="2137172"/>
            <a:ext cx="3747715" cy="2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Servant, not master, of the Word</a:t>
            </a: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charged with authentic interpretation, not independent source</a:t>
            </a:r>
            <a:endParaRPr lang="en-US" sz="7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2928" y="1815554"/>
            <a:ext cx="4034954" cy="72881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85122" y="1930598"/>
            <a:ext cx="374771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i="1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Sensus Fidelium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4785122" y="2137172"/>
            <a:ext cx="3747715" cy="2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The sense of the whole believing people</a:t>
            </a: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a true source the Magisterium listens to</a:t>
            </a:r>
            <a:endParaRPr lang="en-US" sz="750" dirty="0"/>
          </a:p>
        </p:txBody>
      </p:sp>
      <p:sp>
        <p:nvSpPr>
          <p:cNvPr id="17" name="Shape 11"/>
          <p:cNvSpPr/>
          <p:nvPr/>
        </p:nvSpPr>
        <p:spPr>
          <a:xfrm>
            <a:off x="423565" y="2636490"/>
            <a:ext cx="4098057" cy="2149822"/>
          </a:xfrm>
          <a:prstGeom prst="roundRect">
            <a:avLst>
              <a:gd name="adj" fmla="val 11252"/>
            </a:avLst>
          </a:prstGeom>
          <a:solidFill>
            <a:srgbClr val="AAE4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2"/>
          <p:cNvSpPr/>
          <p:nvPr/>
        </p:nvSpPr>
        <p:spPr>
          <a:xfrm>
            <a:off x="524321" y="2718346"/>
            <a:ext cx="389654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Decisive Teaching — </a:t>
            </a:r>
            <a:r>
              <a:rPr lang="en-US" sz="950" i="1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Dei Verbum</a:t>
            </a:r>
            <a:r>
              <a:rPr lang="en-US" sz="9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10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524321" y="2967930"/>
            <a:ext cx="14288" cy="439415"/>
          </a:xfrm>
          <a:prstGeom prst="roundRect">
            <a:avLst>
              <a:gd name="adj" fmla="val 59998"/>
            </a:avLst>
          </a:prstGeom>
          <a:solidFill>
            <a:srgbClr val="AAE4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4"/>
          <p:cNvSpPr/>
          <p:nvPr/>
        </p:nvSpPr>
        <p:spPr>
          <a:xfrm>
            <a:off x="675456" y="3041600"/>
            <a:ext cx="3745409" cy="2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Scripture, Tradition, and Magisterium are so joined that </a:t>
            </a:r>
            <a:r>
              <a:rPr lang="en-US" sz="7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none can stand without the others.</a:t>
            </a:r>
            <a:endParaRPr lang="en-US" sz="750" dirty="0"/>
          </a:p>
        </p:txBody>
      </p:sp>
      <p:sp>
        <p:nvSpPr>
          <p:cNvPr id="21" name="Text 15"/>
          <p:cNvSpPr/>
          <p:nvPr/>
        </p:nvSpPr>
        <p:spPr>
          <a:xfrm>
            <a:off x="524321" y="3499545"/>
            <a:ext cx="4353744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Carries Lonergan's first precept: </a:t>
            </a:r>
            <a:r>
              <a:rPr lang="en-US" sz="7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Be Attentive.</a:t>
            </a:r>
            <a:endParaRPr lang="en-US" sz="750" dirty="0"/>
          </a:p>
        </p:txBody>
      </p:sp>
      <p:sp>
        <p:nvSpPr>
          <p:cNvPr id="22" name="Text 16"/>
          <p:cNvSpPr/>
          <p:nvPr/>
        </p:nvSpPr>
        <p:spPr>
          <a:xfrm>
            <a:off x="4699695" y="2718346"/>
            <a:ext cx="395294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Illustration: The Orchestra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699695" y="2957661"/>
            <a:ext cx="3952949" cy="991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21000"/>
              </a:lnSpc>
              <a:buSzPct val="100000"/>
              <a:buChar char="•"/>
            </a:pPr>
            <a:r>
              <a:rPr lang="en-US" sz="7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Score</a:t>
            </a: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= Scripture</a:t>
            </a:r>
            <a:endParaRPr lang="en-US" sz="750" dirty="0"/>
          </a:p>
          <a:p>
            <a:pPr marL="152400" indent="-152400" algn="l">
              <a:lnSpc>
                <a:spcPct val="121000"/>
              </a:lnSpc>
              <a:buSzPct val="100000"/>
              <a:buChar char="•"/>
            </a:pPr>
            <a:r>
              <a:rPr lang="en-US" sz="7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Tradition of performance</a:t>
            </a: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= Tradition</a:t>
            </a:r>
            <a:endParaRPr lang="en-US" sz="750" dirty="0"/>
          </a:p>
          <a:p>
            <a:pPr marL="152400" indent="-152400" algn="l">
              <a:lnSpc>
                <a:spcPct val="121000"/>
              </a:lnSpc>
              <a:buSzPct val="100000"/>
              <a:buChar char="•"/>
            </a:pPr>
            <a:r>
              <a:rPr lang="en-US" sz="7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Conductor</a:t>
            </a: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= Magisterium</a:t>
            </a:r>
            <a:endParaRPr lang="en-US" sz="750" dirty="0"/>
          </a:p>
          <a:p>
            <a:pPr marL="152400" indent="-152400" algn="l">
              <a:lnSpc>
                <a:spcPct val="121000"/>
              </a:lnSpc>
              <a:buSzPct val="100000"/>
              <a:buChar char="•"/>
            </a:pPr>
            <a:r>
              <a:rPr lang="en-US" sz="7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Trained ear of the orchestra</a:t>
            </a: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= </a:t>
            </a:r>
            <a:r>
              <a:rPr lang="en-US" sz="75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Sensus fidelium</a:t>
            </a:r>
            <a:endParaRPr lang="en-US" sz="750" dirty="0"/>
          </a:p>
          <a:p>
            <a:pPr marL="152400" indent="-152400" algn="l">
              <a:lnSpc>
                <a:spcPct val="121000"/>
              </a:lnSpc>
              <a:buSzPct val="100000"/>
              <a:buChar char="•"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Hard case: </a:t>
            </a:r>
            <a:r>
              <a:rPr lang="en-US" sz="75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who decides when a theologian and a bishop disagree?</a:t>
            </a: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</a:t>
            </a:r>
            <a:r>
              <a:rPr lang="en-US" sz="7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Schillebeeckx</a:t>
            </a: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is the living example</a:t>
            </a:r>
            <a:endParaRPr lang="en-US" sz="750" dirty="0"/>
          </a:p>
        </p:txBody>
      </p:sp>
      <p:sp>
        <p:nvSpPr>
          <p:cNvPr id="24" name="Shape 18"/>
          <p:cNvSpPr/>
          <p:nvPr/>
        </p:nvSpPr>
        <p:spPr>
          <a:xfrm>
            <a:off x="4699695" y="4065984"/>
            <a:ext cx="3952949" cy="14288"/>
          </a:xfrm>
          <a:prstGeom prst="roundRect">
            <a:avLst>
              <a:gd name="adj" fmla="val 59998"/>
            </a:avLst>
          </a:prstGeom>
          <a:solidFill>
            <a:srgbClr val="5B6E8C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4699695" y="4197548"/>
            <a:ext cx="395294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Key References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699695" y="4436864"/>
            <a:ext cx="3952949" cy="320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 algn="l">
              <a:lnSpc>
                <a:spcPct val="121000"/>
              </a:lnSpc>
              <a:buSzPct val="100000"/>
              <a:buChar char="•"/>
            </a:pPr>
            <a:r>
              <a:rPr lang="en-US" sz="75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Dei Verbum</a:t>
            </a: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10, 24 · </a:t>
            </a:r>
            <a:r>
              <a:rPr lang="en-US" sz="75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Lumen Gentium</a:t>
            </a: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12</a:t>
            </a:r>
            <a:endParaRPr lang="en-US" sz="750" dirty="0"/>
          </a:p>
          <a:p>
            <a:pPr marL="152400" indent="-152400" algn="l">
              <a:lnSpc>
                <a:spcPct val="121000"/>
              </a:lnSpc>
              <a:buSzPct val="100000"/>
              <a:buChar char="•"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CDF, </a:t>
            </a:r>
            <a:r>
              <a:rPr lang="en-US" sz="75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Donum Veritatis</a:t>
            </a: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(1990)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61950"/>
            <a:ext cx="1150293" cy="143098"/>
          </a:xfrm>
          <a:prstGeom prst="roundRect">
            <a:avLst>
              <a:gd name="adj" fmla="val 71516"/>
            </a:avLst>
          </a:prstGeom>
          <a:solidFill>
            <a:srgbClr val="CDEF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47241" y="387474"/>
            <a:ext cx="1505248" cy="92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GOAL 5 · UNIT IV · LECTURES 17–22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96119" y="528489"/>
            <a:ext cx="8151763" cy="266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How Has Theology Developed Through History?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96119" y="818406"/>
            <a:ext cx="8151763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Method: Teach not dates but the </a:t>
            </a:r>
            <a:r>
              <a:rPr lang="en-US" sz="800" i="1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question each age was trying to answer</a:t>
            </a:r>
            <a:r>
              <a:rPr lang="en-US" sz="8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— the Gospel does not change; the questions change.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67238" y="1039564"/>
            <a:ext cx="9525" cy="2412802"/>
          </a:xfrm>
          <a:prstGeom prst="roundRect">
            <a:avLst>
              <a:gd name="adj" fmla="val 1343022"/>
            </a:avLst>
          </a:prstGeom>
          <a:solidFill>
            <a:srgbClr val="B3D5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229770" y="1130722"/>
            <a:ext cx="255836" cy="9525"/>
          </a:xfrm>
          <a:prstGeom prst="roundRect">
            <a:avLst>
              <a:gd name="adj" fmla="val 1343022"/>
            </a:avLst>
          </a:prstGeom>
          <a:solidFill>
            <a:srgbClr val="B3D5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476080" y="1039564"/>
            <a:ext cx="191839" cy="191839"/>
          </a:xfrm>
          <a:prstGeom prst="ellipse">
            <a:avLst/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08041" y="1055563"/>
            <a:ext cx="127918" cy="159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6119" y="1068809"/>
            <a:ext cx="3649489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8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Patristic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96119" y="1237208"/>
            <a:ext cx="3649489" cy="23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65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Who is Jesus?</a:t>
            </a:r>
            <a:endParaRPr lang="en-US" sz="650" dirty="0"/>
          </a:p>
          <a:p>
            <a:pPr marL="0" indent="0" algn="r">
              <a:lnSpc>
                <a:spcPct val="11200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Nicaea and Chalcedon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4658395" y="1589038"/>
            <a:ext cx="255836" cy="9525"/>
          </a:xfrm>
          <a:prstGeom prst="roundRect">
            <a:avLst>
              <a:gd name="adj" fmla="val 1343022"/>
            </a:avLst>
          </a:prstGeom>
          <a:solidFill>
            <a:srgbClr val="B3D5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476080" y="1497881"/>
            <a:ext cx="191839" cy="191839"/>
          </a:xfrm>
          <a:prstGeom prst="ellipse">
            <a:avLst/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08041" y="1513880"/>
            <a:ext cx="127918" cy="159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98393" y="1527125"/>
            <a:ext cx="3649489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Scholastic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98393" y="1695524"/>
            <a:ext cx="3649489" cy="23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Can faith and reason live together?</a:t>
            </a:r>
            <a:endParaRPr lang="en-US" sz="6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Aquinas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4229770" y="2003375"/>
            <a:ext cx="255836" cy="9525"/>
          </a:xfrm>
          <a:prstGeom prst="roundRect">
            <a:avLst>
              <a:gd name="adj" fmla="val 1343022"/>
            </a:avLst>
          </a:prstGeom>
          <a:solidFill>
            <a:srgbClr val="B3D5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476080" y="1912218"/>
            <a:ext cx="191839" cy="191839"/>
          </a:xfrm>
          <a:prstGeom prst="ellipse">
            <a:avLst/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08041" y="1928217"/>
            <a:ext cx="127918" cy="159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6119" y="1941463"/>
            <a:ext cx="3649489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8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Reformation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6119" y="2109862"/>
            <a:ext cx="3649489" cy="23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65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Who saves, and how?</a:t>
            </a:r>
            <a:endParaRPr lang="en-US" sz="650" dirty="0"/>
          </a:p>
          <a:p>
            <a:pPr marL="0" indent="0" algn="r">
              <a:lnSpc>
                <a:spcPct val="11200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Luther, Trent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4658395" y="2417713"/>
            <a:ext cx="255836" cy="9525"/>
          </a:xfrm>
          <a:prstGeom prst="roundRect">
            <a:avLst>
              <a:gd name="adj" fmla="val 1343022"/>
            </a:avLst>
          </a:prstGeom>
          <a:solidFill>
            <a:srgbClr val="B3D5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476080" y="2326556"/>
            <a:ext cx="191839" cy="191839"/>
          </a:xfrm>
          <a:prstGeom prst="ellipse">
            <a:avLst/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508041" y="2342555"/>
            <a:ext cx="127918" cy="159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98393" y="2355800"/>
            <a:ext cx="3649489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Modern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998393" y="2524199"/>
            <a:ext cx="3649489" cy="23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to believe in a doubting, secular world?</a:t>
            </a:r>
            <a:endParaRPr lang="en-US" sz="6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Apologetics, Modernism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4229770" y="2832050"/>
            <a:ext cx="255836" cy="9525"/>
          </a:xfrm>
          <a:prstGeom prst="roundRect">
            <a:avLst>
              <a:gd name="adj" fmla="val 1343022"/>
            </a:avLst>
          </a:prstGeom>
          <a:solidFill>
            <a:srgbClr val="B3D5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476080" y="2740893"/>
            <a:ext cx="191839" cy="191839"/>
          </a:xfrm>
          <a:prstGeom prst="ellipse">
            <a:avLst/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508041" y="2756892"/>
            <a:ext cx="127918" cy="159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6119" y="2770138"/>
            <a:ext cx="3649489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8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Vatican II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6119" y="2938537"/>
            <a:ext cx="3649489" cy="23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65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should the Church read the signs of its own time?</a:t>
            </a:r>
            <a:endParaRPr lang="en-US" sz="650" dirty="0"/>
          </a:p>
          <a:p>
            <a:pPr marL="0" indent="0" algn="r">
              <a:lnSpc>
                <a:spcPct val="11200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</a:t>
            </a:r>
            <a:r>
              <a:rPr lang="en-US" sz="65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Gaudium et Spes</a:t>
            </a:r>
            <a:r>
              <a:rPr lang="en-US" sz="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4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434727" y="3518297"/>
            <a:ext cx="4094634" cy="1263179"/>
          </a:xfrm>
          <a:prstGeom prst="roundRect">
            <a:avLst>
              <a:gd name="adj" fmla="val 16203"/>
            </a:avLst>
          </a:prstGeom>
          <a:solidFill>
            <a:srgbClr val="AAE4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20005" y="3576861"/>
            <a:ext cx="3924077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Illustration: The Family Photo Album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0005" y="3768700"/>
            <a:ext cx="3924077" cy="23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Each generation faced a different storm. To judge the Fathers by the questions of our day is like </a:t>
            </a:r>
            <a:r>
              <a:rPr lang="en-US" sz="6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blaming a grandfather for not owning a mobile phone.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4680793" y="3576861"/>
            <a:ext cx="3971851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The Payoff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80793" y="3768700"/>
            <a:ext cx="3971851" cy="230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When students see history as a chain of </a:t>
            </a:r>
            <a:r>
              <a:rPr lang="en-US" sz="6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real questions</a:t>
            </a:r>
            <a:r>
              <a:rPr lang="en-US" sz="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it stops being a graveyard of councils and becomes a </a:t>
            </a:r>
            <a:r>
              <a:rPr lang="en-US" sz="6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conversation they can join.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4680793" y="4086151"/>
            <a:ext cx="3971851" cy="9525"/>
          </a:xfrm>
          <a:prstGeom prst="roundRect">
            <a:avLst>
              <a:gd name="adj" fmla="val 60000"/>
            </a:avLst>
          </a:prstGeom>
          <a:solidFill>
            <a:srgbClr val="5B6E8C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680793" y="4182889"/>
            <a:ext cx="3971851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Key References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80793" y="4374728"/>
            <a:ext cx="3971851" cy="386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32080" indent="-132080" algn="l">
              <a:lnSpc>
                <a:spcPct val="112000"/>
              </a:lnSpc>
              <a:buSzPct val="100000"/>
              <a:buChar char="•"/>
            </a:pPr>
            <a:r>
              <a:rPr lang="en-US" sz="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Ormerod, </a:t>
            </a:r>
            <a:r>
              <a:rPr lang="en-US" sz="65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Introducing Contemporary Theologies</a:t>
            </a:r>
            <a:r>
              <a:rPr lang="en-US" sz="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Ch. 3</a:t>
            </a:r>
            <a:endParaRPr lang="en-US" sz="650" dirty="0"/>
          </a:p>
          <a:p>
            <a:pPr marL="132080" indent="-132080" algn="l">
              <a:lnSpc>
                <a:spcPct val="112000"/>
              </a:lnSpc>
              <a:buSzPct val="100000"/>
              <a:buChar char="•"/>
            </a:pPr>
            <a:r>
              <a:rPr lang="en-US" sz="65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Gaudium et Spes</a:t>
            </a:r>
            <a:r>
              <a:rPr lang="en-US" sz="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4</a:t>
            </a:r>
            <a:endParaRPr lang="en-US" sz="650" dirty="0"/>
          </a:p>
          <a:p>
            <a:pPr marL="132080" indent="-132080" algn="l">
              <a:lnSpc>
                <a:spcPct val="112000"/>
              </a:lnSpc>
              <a:buSzPct val="100000"/>
              <a:buChar char="•"/>
            </a:pPr>
            <a:r>
              <a:rPr lang="en-US" sz="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Carries Lonergan's second precept: </a:t>
            </a:r>
            <a:r>
              <a:rPr lang="en-US" sz="6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Be Intelligent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79065"/>
            <a:ext cx="1917129" cy="204564"/>
          </a:xfrm>
          <a:prstGeom prst="roundRect">
            <a:avLst>
              <a:gd name="adj" fmla="val 65946"/>
            </a:avLst>
          </a:prstGeom>
          <a:solidFill>
            <a:srgbClr val="CDEF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63538" y="412775"/>
            <a:ext cx="2239491" cy="137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7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GOAL 6 · SEEDED LEC. 5 · CAPSTONE LEC. 35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624334"/>
            <a:ext cx="8151763" cy="351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How Do I Become a Responsible Theologian Today?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96119" y="1128415"/>
            <a:ext cx="8151763" cy="421109"/>
          </a:xfrm>
          <a:prstGeom prst="roundRect">
            <a:avLst>
              <a:gd name="adj" fmla="val 40043"/>
            </a:avLst>
          </a:prstGeom>
          <a:solidFill>
            <a:srgbClr val="CDEF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84" y="1284759"/>
            <a:ext cx="140494" cy="1123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1343" y="1258342"/>
            <a:ext cx="813137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The destination of the whole course.</a:t>
            </a:r>
            <a:r>
              <a:rPr lang="en-US" sz="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Most courses run out of time and never reach it — protect this goal deliberately from Day 1.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96119" y="1765995"/>
            <a:ext cx="3938736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Responsible = Answerable, Ready to Count the Cost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96119" y="1982316"/>
            <a:ext cx="3938736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Four Tensions to Hold Together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272531"/>
            <a:ext cx="1918395" cy="12255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9921" y="2399184"/>
            <a:ext cx="1607939" cy="355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Obedience </a:t>
            </a:r>
            <a:r>
              <a:rPr lang="en-US" sz="11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↔</a:t>
            </a: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Prophecy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79921" y="2857054"/>
            <a:ext cx="160793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Obedience to the Magisterium alongside the prophetic duty to question</a:t>
            </a:r>
            <a:endParaRPr lang="en-US" sz="8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6386" y="2272531"/>
            <a:ext cx="1918469" cy="12255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700189" y="2399184"/>
            <a:ext cx="1608013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Mind </a:t>
            </a:r>
            <a:r>
              <a:rPr lang="en-US" sz="11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↔</a:t>
            </a: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Knees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2700189" y="2681436"/>
            <a:ext cx="16080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Rigour of the intellect alongside the discipline of prayer</a:t>
            </a:r>
            <a:endParaRPr lang="en-US" sz="8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599929"/>
            <a:ext cx="1918395" cy="10499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79921" y="3726582"/>
            <a:ext cx="1607939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Fidelity </a:t>
            </a:r>
            <a:r>
              <a:rPr lang="en-US" sz="11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↔</a:t>
            </a: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Honesty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679921" y="4008834"/>
            <a:ext cx="160793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Faithfulness to inherited faith alongside honesty before the new reality of India</a:t>
            </a:r>
            <a:endParaRPr lang="en-US" sz="8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16386" y="3599929"/>
            <a:ext cx="1918469" cy="104990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700189" y="3726582"/>
            <a:ext cx="1608013" cy="180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Knowing </a:t>
            </a:r>
            <a:r>
              <a:rPr lang="en-US" sz="11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↔</a:t>
            </a: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Acting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2700189" y="4008834"/>
            <a:ext cx="16080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Lonergan's fourth precept: </a:t>
            </a:r>
            <a:r>
              <a:rPr lang="en-US" sz="8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Be Responsible</a:t>
            </a:r>
            <a:r>
              <a:rPr lang="en-US" sz="8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from knowing to deciding to answering</a:t>
            </a:r>
            <a:endParaRPr lang="en-US" sz="850" dirty="0"/>
          </a:p>
        </p:txBody>
      </p:sp>
      <p:sp>
        <p:nvSpPr>
          <p:cNvPr id="22" name="Shape 15"/>
          <p:cNvSpPr/>
          <p:nvPr/>
        </p:nvSpPr>
        <p:spPr>
          <a:xfrm>
            <a:off x="4632945" y="1664122"/>
            <a:ext cx="4100661" cy="3100313"/>
          </a:xfrm>
          <a:prstGeom prst="roundRect">
            <a:avLst>
              <a:gd name="adj" fmla="val 8702"/>
            </a:avLst>
          </a:prstGeom>
          <a:solidFill>
            <a:srgbClr val="AAE4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6"/>
          <p:cNvSpPr/>
          <p:nvPr/>
        </p:nvSpPr>
        <p:spPr>
          <a:xfrm>
            <a:off x="4745310" y="1765995"/>
            <a:ext cx="387593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The Capstone: Theology Manifesto (Lecture 35)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4745310" y="2043485"/>
            <a:ext cx="38759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Each student </a:t>
            </a:r>
            <a:r>
              <a:rPr lang="en-US" sz="8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stands and declares</a:t>
            </a:r>
            <a:r>
              <a:rPr lang="en-US" sz="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the kind of theologian he commits to becoming.</a:t>
            </a:r>
            <a:endParaRPr lang="en-US" sz="850" dirty="0"/>
          </a:p>
        </p:txBody>
      </p:sp>
      <p:sp>
        <p:nvSpPr>
          <p:cNvPr id="25" name="Text 18"/>
          <p:cNvSpPr/>
          <p:nvPr/>
        </p:nvSpPr>
        <p:spPr>
          <a:xfrm>
            <a:off x="4745310" y="2478063"/>
            <a:ext cx="3875931" cy="378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Announce this on </a:t>
            </a:r>
            <a:r>
              <a:rPr lang="en-US" sz="8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Day 1</a:t>
            </a:r>
            <a:r>
              <a:rPr lang="en-US" sz="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so the whole course is read as preparation</a:t>
            </a:r>
            <a:endParaRPr lang="en-US" sz="850" dirty="0"/>
          </a:p>
          <a:p>
            <a:pPr marL="172720" indent="-172720" algn="l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Returns at Lectures 25, 31, 34 before the capstone</a:t>
            </a:r>
            <a:endParaRPr lang="en-US" sz="850" dirty="0"/>
          </a:p>
        </p:txBody>
      </p:sp>
      <p:sp>
        <p:nvSpPr>
          <p:cNvPr id="26" name="Shape 19"/>
          <p:cNvSpPr/>
          <p:nvPr/>
        </p:nvSpPr>
        <p:spPr>
          <a:xfrm>
            <a:off x="4745310" y="2999259"/>
            <a:ext cx="3875931" cy="14288"/>
          </a:xfrm>
          <a:prstGeom prst="roundRect">
            <a:avLst>
              <a:gd name="adj" fmla="val 59998"/>
            </a:avLst>
          </a:prstGeom>
          <a:solidFill>
            <a:srgbClr val="000000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0"/>
          <p:cNvSpPr/>
          <p:nvPr/>
        </p:nvSpPr>
        <p:spPr>
          <a:xfrm>
            <a:off x="4745310" y="3156198"/>
            <a:ext cx="3875931" cy="1756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Key References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4745310" y="3433688"/>
            <a:ext cx="3875931" cy="585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27000"/>
              </a:lnSpc>
              <a:buSzPct val="100000"/>
              <a:buChar char="•"/>
            </a:pPr>
            <a:r>
              <a:rPr lang="en-US" sz="850" i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Donum Veritatis</a:t>
            </a:r>
            <a:r>
              <a:rPr lang="en-US" sz="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(1990)</a:t>
            </a:r>
            <a:endParaRPr lang="en-US" sz="850" dirty="0"/>
          </a:p>
          <a:p>
            <a:pPr marL="172720" indent="-172720" algn="l">
              <a:lnSpc>
                <a:spcPct val="127000"/>
              </a:lnSpc>
              <a:buSzPct val="100000"/>
              <a:buChar char="•"/>
            </a:pPr>
            <a:r>
              <a:rPr lang="en-US" sz="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Lonergan, </a:t>
            </a:r>
            <a:r>
              <a:rPr lang="en-US" sz="850" i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Method in Theology</a:t>
            </a:r>
            <a:endParaRPr lang="en-US" sz="850" dirty="0"/>
          </a:p>
          <a:p>
            <a:pPr marL="172720" indent="-172720" algn="l">
              <a:lnSpc>
                <a:spcPct val="127000"/>
              </a:lnSpc>
              <a:buSzPct val="100000"/>
              <a:buChar char="•"/>
            </a:pPr>
            <a:r>
              <a:rPr lang="en-US" sz="850" i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Gaudium et Spes</a:t>
            </a:r>
            <a:r>
              <a:rPr lang="en-US" sz="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41238"/>
            <a:ext cx="8151763" cy="77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8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The Spine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496119" y="1702519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Lonergan's Four Precepts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96119" y="2307059"/>
            <a:ext cx="8151763" cy="14288"/>
          </a:xfrm>
          <a:prstGeom prst="roundRect">
            <a:avLst>
              <a:gd name="adj" fmla="val 59998"/>
            </a:avLst>
          </a:prstGeom>
          <a:solidFill>
            <a:srgbClr val="5B6E8C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96119" y="2491829"/>
            <a:ext cx="4013895" cy="724198"/>
          </a:xfrm>
          <a:prstGeom prst="roundRect">
            <a:avLst>
              <a:gd name="adj" fmla="val 2569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4855" y="2620566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Be Attentive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4855" y="2888828"/>
            <a:ext cx="37564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Level of Experience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33987" y="2491829"/>
            <a:ext cx="4013895" cy="724198"/>
          </a:xfrm>
          <a:prstGeom prst="roundRect">
            <a:avLst>
              <a:gd name="adj" fmla="val 2569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762723" y="2620566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Be Intelligent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62723" y="2888828"/>
            <a:ext cx="37564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Level of Understanding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6119" y="3340001"/>
            <a:ext cx="4013895" cy="724198"/>
          </a:xfrm>
          <a:prstGeom prst="roundRect">
            <a:avLst>
              <a:gd name="adj" fmla="val 2569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4855" y="3468737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Be Reasonable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4855" y="3737000"/>
            <a:ext cx="37564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Level of Judgment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33987" y="3340001"/>
            <a:ext cx="4013895" cy="724198"/>
          </a:xfrm>
          <a:prstGeom prst="roundRect">
            <a:avLst>
              <a:gd name="adj" fmla="val 2569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62723" y="3468737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Be Responsible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62723" y="3737000"/>
            <a:ext cx="37564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Level of Decision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7519" y="4203725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Bernard Lonergan SJ · </a:t>
            </a:r>
            <a:r>
              <a:rPr lang="en-US" sz="95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Insight</a:t>
            </a: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(1957) · </a:t>
            </a:r>
            <a:r>
              <a:rPr lang="en-US" sz="95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Method in Theology</a:t>
            </a: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(1972)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07057"/>
            <a:ext cx="1865635" cy="233214"/>
          </a:xfrm>
          <a:prstGeom prst="roundRect">
            <a:avLst>
              <a:gd name="adj" fmla="val 63828"/>
            </a:avLst>
          </a:prstGeom>
          <a:solidFill>
            <a:srgbClr val="CDEF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70533" y="544264"/>
            <a:ext cx="2174007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SPINE · LONERGAN BACKGROUND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789831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Who Was Lonergan, and Why Is He the Spine?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487388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Bernard Lonergan SJ (1904–1984)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6119" y="1805211"/>
            <a:ext cx="3924598" cy="1476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Canadian Jesuit — two great works: </a:t>
            </a:r>
            <a:r>
              <a:rPr lang="en-US" sz="95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Insight</a:t>
            </a: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(1957) and </a:t>
            </a:r>
            <a:r>
              <a:rPr lang="en-US" sz="95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Method in Theology</a:t>
            </a: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(1972)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Lifelong concern: </a:t>
            </a: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the structure of human knowing</a:t>
            </a: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what happens when any person, in any field, comes to know something true and decides well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Found that genuine knowing happens in </a:t>
            </a: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four steps</a:t>
            </a: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→ four precepts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96119" y="3451696"/>
            <a:ext cx="3924598" cy="14288"/>
          </a:xfrm>
          <a:prstGeom prst="roundRect">
            <a:avLst>
              <a:gd name="adj" fmla="val 59998"/>
            </a:avLst>
          </a:prstGeom>
          <a:solidFill>
            <a:srgbClr val="5B6E8C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96119" y="3636466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Teaching Note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6119" y="3954289"/>
            <a:ext cx="3924598" cy="638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Give the four words, the road-crossing image, and the link to the four units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Leave the deeper metaphysics for later years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38749" y="1363414"/>
            <a:ext cx="4103191" cy="3273028"/>
          </a:xfrm>
          <a:prstGeom prst="roundRect">
            <a:avLst>
              <a:gd name="adj" fmla="val 9096"/>
            </a:avLst>
          </a:prstGeom>
          <a:solidFill>
            <a:srgbClr val="AAE4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62723" y="1487388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Why Lonergan Is the Spine of This Course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62723" y="1805211"/>
            <a:ext cx="3855244" cy="1519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Ormerod (main textbook) uses Lonergan as the </a:t>
            </a:r>
            <a:r>
              <a:rPr lang="en-US" sz="9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compass of his whole book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precepts are </a:t>
            </a:r>
            <a:r>
              <a:rPr lang="en-US" sz="9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simple enough</a:t>
            </a: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for a first-year student to carry for life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Yet </a:t>
            </a:r>
            <a:r>
              <a:rPr lang="en-US" sz="9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deep enough</a:t>
            </a: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to order all of theology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fourth precept — </a:t>
            </a:r>
            <a:r>
              <a:rPr lang="en-US" sz="9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Be Responsible</a:t>
            </a: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is the very word of Goal 6, the destination of the course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73410"/>
            <a:ext cx="1593949" cy="186110"/>
          </a:xfrm>
          <a:prstGeom prst="roundRect">
            <a:avLst>
              <a:gd name="adj" fmla="val 67485"/>
            </a:avLst>
          </a:prstGeom>
          <a:solidFill>
            <a:srgbClr val="CDEF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58850" y="404738"/>
            <a:ext cx="1925687" cy="123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SPINE · FOUR PRECEPTS IN DETAIL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594792"/>
            <a:ext cx="8151763" cy="327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The Four Precepts of Lonergan</a:t>
            </a:r>
            <a:endParaRPr lang="en-US" sz="2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054298"/>
            <a:ext cx="4031754" cy="14224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33489" y="1125066"/>
            <a:ext cx="156939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15032" y="1470794"/>
            <a:ext cx="3793927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Be Attentive — Level of Experience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15032" y="1687264"/>
            <a:ext cx="3793927" cy="516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Attend to the data before rushing to explain. In theology: attend to </a:t>
            </a:r>
            <a:r>
              <a:rPr lang="en-US" sz="8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Scripture, Tradition, liturgy, and the cry of the poor.</a:t>
            </a:r>
            <a:endParaRPr lang="en-US" sz="8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8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Sin: inattention.</a:t>
            </a:r>
            <a:r>
              <a:rPr lang="en-US" sz="8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</a:t>
            </a:r>
            <a:r>
              <a:rPr lang="en-US" sz="800" dirty="0">
                <a:solidFill>
                  <a:srgbClr val="87ADF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Governs Unit III — Sources</a:t>
            </a:r>
            <a:endParaRPr lang="en-US" sz="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6128" y="1054298"/>
            <a:ext cx="4031754" cy="142249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53498" y="1125066"/>
            <a:ext cx="156939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735041" y="1470794"/>
            <a:ext cx="3793927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Be Intelligent — Level of Understanding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735041" y="1687264"/>
            <a:ext cx="3793927" cy="67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Seek the insight, the pattern, the meaning. In theology: ask </a:t>
            </a:r>
            <a:r>
              <a:rPr lang="en-US" sz="8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why a doctrine took the shape it did</a:t>
            </a:r>
            <a:r>
              <a:rPr lang="en-US" sz="8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why an age asked the question it asked.</a:t>
            </a:r>
            <a:endParaRPr lang="en-US" sz="8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8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Sin: the lazy mind that collects facts and never asks what they mean.</a:t>
            </a:r>
            <a:r>
              <a:rPr lang="en-US" sz="8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</a:t>
            </a:r>
            <a:r>
              <a:rPr lang="en-US" sz="800" dirty="0">
                <a:solidFill>
                  <a:srgbClr val="87ADF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Governs Unit IV — History</a:t>
            </a:r>
            <a:endParaRPr lang="en-US" sz="8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565053"/>
            <a:ext cx="4031754" cy="15769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433489" y="2635821"/>
            <a:ext cx="156939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15032" y="2981548"/>
            <a:ext cx="3793927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Be Reasonable — Level of Judgment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615032" y="3198019"/>
            <a:ext cx="3793927" cy="67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Weigh the insight against the evidence; ask whether it is so. In theology: </a:t>
            </a:r>
            <a:r>
              <a:rPr lang="en-US" sz="8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judge between readings, weigh methods, refuse both credulity and cynicism.</a:t>
            </a:r>
            <a:endParaRPr lang="en-US" sz="8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8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Sin: the clever mind that never asks whether its clever idea is true.</a:t>
            </a:r>
            <a:r>
              <a:rPr lang="en-US" sz="8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</a:t>
            </a:r>
            <a:r>
              <a:rPr lang="en-US" sz="800" dirty="0">
                <a:solidFill>
                  <a:srgbClr val="87ADF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Governs Unit V — Method</a:t>
            </a:r>
            <a:endParaRPr lang="en-US" sz="8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6128" y="2565053"/>
            <a:ext cx="4031754" cy="15769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53498" y="2635821"/>
            <a:ext cx="156939" cy="1962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735041" y="2981548"/>
            <a:ext cx="3793927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Be Responsible — Level of Decision and Value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4735041" y="3198019"/>
            <a:ext cx="3793927" cy="825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Having judged what is true, decide what to do and answer for it. In theology: </a:t>
            </a:r>
            <a:r>
              <a:rPr lang="en-US" sz="8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the move from knowing to living, from doctrine to discipleship, from the page to the parish.</a:t>
            </a:r>
            <a:endParaRPr lang="en-US" sz="8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8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Sin: the theologian who knows much and risks nothing.</a:t>
            </a:r>
            <a:r>
              <a:rPr lang="en-US" sz="8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</a:t>
            </a:r>
            <a:r>
              <a:rPr lang="en-US" sz="800" dirty="0">
                <a:solidFill>
                  <a:srgbClr val="87ADF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Governs Unit VI — Responsible Theologian</a:t>
            </a:r>
            <a:endParaRPr lang="en-US" sz="800" dirty="0"/>
          </a:p>
        </p:txBody>
      </p:sp>
      <p:sp>
        <p:nvSpPr>
          <p:cNvPr id="21" name="Shape 15"/>
          <p:cNvSpPr/>
          <p:nvPr/>
        </p:nvSpPr>
        <p:spPr>
          <a:xfrm>
            <a:off x="496119" y="4241304"/>
            <a:ext cx="8151763" cy="528786"/>
          </a:xfrm>
          <a:prstGeom prst="roundRect">
            <a:avLst>
              <a:gd name="adj" fmla="val 29690"/>
            </a:avLst>
          </a:prstGeom>
          <a:solidFill>
            <a:srgbClr val="CDEF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745" y="4385221"/>
            <a:ext cx="130820" cy="10462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36191" y="4355678"/>
            <a:ext cx="7707064" cy="308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Illustration — Crossing a busy road in Barrackpore:</a:t>
            </a:r>
            <a:r>
              <a:rPr lang="en-US" sz="8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Look (attentive) → Understand the flow (intelligent) → Judge the safe gap (reasonable) → Step out and answer for it (responsible). Skip a step and you are hurt.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41238"/>
            <a:ext cx="8151763" cy="77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8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The Rhythm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496119" y="1702519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Of Each Class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96119" y="2307059"/>
            <a:ext cx="8151763" cy="14288"/>
          </a:xfrm>
          <a:prstGeom prst="roundRect">
            <a:avLst>
              <a:gd name="adj" fmla="val 59998"/>
            </a:avLst>
          </a:prstGeom>
          <a:solidFill>
            <a:srgbClr val="5B6E8C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96119" y="2491829"/>
            <a:ext cx="2634555" cy="724198"/>
          </a:xfrm>
          <a:prstGeom prst="roundRect">
            <a:avLst>
              <a:gd name="adj" fmla="val 2569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24855" y="2620566"/>
            <a:ext cx="23770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10 min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4855" y="2888828"/>
            <a:ext cx="237708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Opening Problem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54648" y="2491829"/>
            <a:ext cx="2634630" cy="724198"/>
          </a:xfrm>
          <a:prstGeom prst="roundRect">
            <a:avLst>
              <a:gd name="adj" fmla="val 2569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383384" y="2620566"/>
            <a:ext cx="237715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15 min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384" y="2888828"/>
            <a:ext cx="237715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Teaching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13252" y="2491829"/>
            <a:ext cx="2634555" cy="724198"/>
          </a:xfrm>
          <a:prstGeom prst="roundRect">
            <a:avLst>
              <a:gd name="adj" fmla="val 2569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41988" y="2620566"/>
            <a:ext cx="23770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10 min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41988" y="2888828"/>
            <a:ext cx="237708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Discussion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6119" y="3340001"/>
            <a:ext cx="4013820" cy="724198"/>
          </a:xfrm>
          <a:prstGeom prst="roundRect">
            <a:avLst>
              <a:gd name="adj" fmla="val 2569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4855" y="3468737"/>
            <a:ext cx="375634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5 min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4855" y="3737000"/>
            <a:ext cx="375634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Reflection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3913" y="3340001"/>
            <a:ext cx="4013895" cy="724198"/>
          </a:xfrm>
          <a:prstGeom prst="roundRect">
            <a:avLst>
              <a:gd name="adj" fmla="val 25693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62649" y="3468737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5 min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62649" y="3737000"/>
            <a:ext cx="375642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Assignment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7519" y="4203725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45 minutes · Five phases · Lonergan's four movements enacted in miniature, every single class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46918"/>
            <a:ext cx="1063079" cy="155674"/>
          </a:xfrm>
          <a:prstGeom prst="roundRect">
            <a:avLst>
              <a:gd name="adj" fmla="val 70221"/>
            </a:avLst>
          </a:prstGeom>
          <a:solidFill>
            <a:srgbClr val="CDEF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50738" y="374228"/>
            <a:ext cx="1411039" cy="101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5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CLASS RHYTHM · RATIONALE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496119" y="529307"/>
            <a:ext cx="8151763" cy="284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Why This Rhythm Works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430560" y="914251"/>
            <a:ext cx="4095899" cy="3882256"/>
          </a:xfrm>
          <a:prstGeom prst="roundRect">
            <a:avLst>
              <a:gd name="adj" fmla="val 5632"/>
            </a:avLst>
          </a:prstGeom>
          <a:solidFill>
            <a:srgbClr val="AAE4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21643" y="981149"/>
            <a:ext cx="3913733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The Diagnosis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21643" y="1190327"/>
            <a:ext cx="3913733" cy="552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16000"/>
              </a:lnSpc>
              <a:buSzPct val="100000"/>
              <a:buChar char="•"/>
            </a:pPr>
            <a:r>
              <a:rPr lang="en-US" sz="7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Forty-five minutes of unbroken lecture turns the student into a </a:t>
            </a:r>
            <a:r>
              <a:rPr lang="en-US" sz="7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passive vessel — and the vessel leaks</a:t>
            </a:r>
            <a:endParaRPr lang="en-US" sz="700" dirty="0"/>
          </a:p>
          <a:p>
            <a:pPr marL="142240" indent="-142240" algn="l">
              <a:lnSpc>
                <a:spcPct val="116000"/>
              </a:lnSpc>
              <a:buSzPct val="100000"/>
              <a:buChar char="•"/>
            </a:pPr>
            <a:r>
              <a:rPr lang="en-US" sz="7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five-phase rhythm keeps the student </a:t>
            </a:r>
            <a:r>
              <a:rPr lang="en-US" sz="7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active</a:t>
            </a:r>
            <a:endParaRPr lang="en-US" sz="700" dirty="0"/>
          </a:p>
          <a:p>
            <a:pPr marL="142240" indent="-142240" algn="l">
              <a:lnSpc>
                <a:spcPct val="116000"/>
              </a:lnSpc>
              <a:buSzPct val="100000"/>
              <a:buChar char="•"/>
            </a:pPr>
            <a:r>
              <a:rPr lang="en-US" sz="7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It makes him </a:t>
            </a:r>
            <a:r>
              <a:rPr lang="en-US" sz="7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enact Lonergan's four movements in miniature</a:t>
            </a:r>
            <a:r>
              <a:rPr lang="en-US" sz="7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every single class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21643" y="1840483"/>
            <a:ext cx="3913733" cy="9525"/>
          </a:xfrm>
          <a:prstGeom prst="roundRect">
            <a:avLst>
              <a:gd name="adj" fmla="val 60000"/>
            </a:avLst>
          </a:prstGeom>
          <a:solidFill>
            <a:srgbClr val="000000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21643" y="1948011"/>
            <a:ext cx="3913733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The Deep Reason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21643" y="2157189"/>
            <a:ext cx="3913733" cy="252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rhythm of the class is </a:t>
            </a:r>
            <a:r>
              <a:rPr lang="en-US" sz="7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the spine of the course made small.</a:t>
            </a:r>
            <a:r>
              <a:rPr lang="en-US" sz="7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Each session rehearses the whole movement from experience to decision.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687863" y="981149"/>
            <a:ext cx="3964781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Illustration: A Single Tide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687863" y="1198662"/>
            <a:ext cx="182166" cy="113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687863" y="1343918"/>
            <a:ext cx="3964781" cy="9525"/>
          </a:xfrm>
          <a:prstGeom prst="rect">
            <a:avLst/>
          </a:prstGeom>
          <a:solidFill>
            <a:srgbClr val="D4CC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687863" y="1408509"/>
            <a:ext cx="3964781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Opening Problem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687863" y="1617687"/>
            <a:ext cx="3964781" cy="1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Pulls the water back — everyone looks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687863" y="1879253"/>
            <a:ext cx="182166" cy="113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687863" y="2015430"/>
            <a:ext cx="3964781" cy="9525"/>
          </a:xfrm>
          <a:prstGeom prst="rect">
            <a:avLst/>
          </a:prstGeom>
          <a:solidFill>
            <a:srgbClr val="D4CC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687863" y="2089100"/>
            <a:ext cx="3964781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Teaching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687863" y="2298278"/>
            <a:ext cx="3964781" cy="1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wave forming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687863" y="2559844"/>
            <a:ext cx="182166" cy="113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687863" y="2686943"/>
            <a:ext cx="3964781" cy="9525"/>
          </a:xfrm>
          <a:prstGeom prst="rect">
            <a:avLst/>
          </a:prstGeom>
          <a:solidFill>
            <a:srgbClr val="D4CC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687863" y="2769691"/>
            <a:ext cx="3964781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Discussion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87863" y="2978869"/>
            <a:ext cx="3964781" cy="1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wave breaking against the rocks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687863" y="3240435"/>
            <a:ext cx="182166" cy="113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687863" y="3358455"/>
            <a:ext cx="3964781" cy="9525"/>
          </a:xfrm>
          <a:prstGeom prst="rect">
            <a:avLst/>
          </a:prstGeom>
          <a:solidFill>
            <a:srgbClr val="D4CC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687863" y="3450282"/>
            <a:ext cx="3964781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Reflection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687863" y="3659460"/>
            <a:ext cx="3964781" cy="1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quiet water on the sand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687863" y="3921026"/>
            <a:ext cx="182166" cy="113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5B6E8C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05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687863" y="4029968"/>
            <a:ext cx="3964781" cy="9525"/>
          </a:xfrm>
          <a:prstGeom prst="rect">
            <a:avLst/>
          </a:prstGeom>
          <a:solidFill>
            <a:srgbClr val="D4CC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687863" y="4130873"/>
            <a:ext cx="3964781" cy="142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Assignment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687863" y="4340051"/>
            <a:ext cx="3964781" cy="1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tide going out, carrying the student to the next shore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687863" y="4609951"/>
            <a:ext cx="4421981" cy="1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class with all five phases breathes; a class that is only teaching is a flood with no tide.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0554"/>
            <a:ext cx="1415207" cy="213792"/>
          </a:xfrm>
          <a:prstGeom prst="roundRect">
            <a:avLst>
              <a:gd name="adj" fmla="val 65275"/>
            </a:avLst>
          </a:prstGeom>
          <a:solidFill>
            <a:srgbClr val="CDEF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65845" y="415379"/>
            <a:ext cx="1732955" cy="144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7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CLASS RHYTHM · FIVE PHASES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637952"/>
            <a:ext cx="8151763" cy="36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The Five Phases of Each Class</a:t>
            </a:r>
            <a:endParaRPr lang="en-US" sz="2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164803"/>
            <a:ext cx="2644527" cy="21056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48582" y="1252017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26641" y="1629891"/>
            <a:ext cx="2383482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Opening Problem </a:t>
            </a:r>
            <a:r>
              <a:rPr lang="en-US" sz="1100" i="1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(10 min)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6641" y="1876946"/>
            <a:ext cx="2383482" cy="901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Begin with a real question the student </a:t>
            </a:r>
            <a:r>
              <a:rPr lang="en-US" sz="9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feels before he can answer it</a:t>
            </a: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(attentive moment). Pose it, let two or three students react — do not resolve it yet. The unresolved question is the hook.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9662" y="1164803"/>
            <a:ext cx="2644601" cy="210569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02125" y="1252017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380184" y="1629891"/>
            <a:ext cx="2383557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Teaching </a:t>
            </a:r>
            <a:r>
              <a:rPr lang="en-US" sz="1100" i="1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(15 min)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380184" y="1876946"/>
            <a:ext cx="2383557" cy="720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or two central ideas, </a:t>
            </a:r>
            <a:r>
              <a:rPr lang="en-US" sz="9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not ten</a:t>
            </a: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(intelligent moment). Use the board, one illustration, plain language with gentle humour. </a:t>
            </a:r>
            <a:r>
              <a:rPr lang="en-US" sz="9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Resist pouring in everything you know.</a:t>
            </a:r>
            <a:endParaRPr lang="en-US" sz="9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3280" y="1164803"/>
            <a:ext cx="2644601" cy="210569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55743" y="1252017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133802" y="1629891"/>
            <a:ext cx="2383557" cy="3632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Discussion / Reading Rotation </a:t>
            </a:r>
            <a:r>
              <a:rPr lang="en-US" sz="1100" i="1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(10 min)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133802" y="2058591"/>
            <a:ext cx="2383557" cy="1081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Three roles</a:t>
            </a: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(reasonable moment): </a:t>
            </a:r>
            <a:r>
              <a:rPr lang="en-US" sz="9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Summariser</a:t>
            </a: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(2-min argument) · </a:t>
            </a:r>
            <a:r>
              <a:rPr lang="en-US" sz="9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Critic</a:t>
            </a: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(one weakness) · </a:t>
            </a:r>
            <a:r>
              <a:rPr lang="en-US" sz="9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Responder</a:t>
            </a: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(answers or deepens). Professor only moderates. Roles rotate — every student plays each one several times.</a:t>
            </a:r>
            <a:endParaRPr lang="en-US" sz="9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379515"/>
            <a:ext cx="4021336" cy="138335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436986" y="3466728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626641" y="3844603"/>
            <a:ext cx="3760291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Reflection </a:t>
            </a:r>
            <a:r>
              <a:rPr lang="en-US" sz="1100" i="1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(5 min)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26641" y="4091657"/>
            <a:ext cx="3760291" cy="540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Silence first, then one sentence in the journal answering the day's prompt (beginning of responsible moment). </a:t>
            </a:r>
            <a:r>
              <a:rPr lang="en-US" sz="9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Guard the silence</a:t>
            </a: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a first-year man is rarely given two quiet minutes.</a:t>
            </a:r>
            <a:endParaRPr lang="en-US" sz="9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6471" y="3379515"/>
            <a:ext cx="4021410" cy="138335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567339" y="3466728"/>
            <a:ext cx="139526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5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4756993" y="3844603"/>
            <a:ext cx="3760366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Assignment </a:t>
            </a:r>
            <a:r>
              <a:rPr lang="en-US" sz="1100" i="1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(5 min)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4756993" y="4091657"/>
            <a:ext cx="3760366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Point to the </a:t>
            </a:r>
            <a:r>
              <a:rPr lang="en-US" sz="9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next driving question</a:t>
            </a: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and next reading (8–12 pages, never more). Close by asking: </a:t>
            </a:r>
            <a:r>
              <a:rPr lang="en-US" sz="90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which of the six goals did today serve?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95449"/>
            <a:ext cx="1131615" cy="233214"/>
          </a:xfrm>
          <a:prstGeom prst="roundRect">
            <a:avLst>
              <a:gd name="adj" fmla="val 63828"/>
            </a:avLst>
          </a:prstGeom>
          <a:solidFill>
            <a:srgbClr val="CDEF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70533" y="532656"/>
            <a:ext cx="1439987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DAY 1 DELIVERY GUIDE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778222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How to Deliver This on Day 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96119" y="1351806"/>
            <a:ext cx="8151763" cy="495970"/>
          </a:xfrm>
          <a:prstGeom prst="roundRect">
            <a:avLst>
              <a:gd name="adj" fmla="val 37516"/>
            </a:avLst>
          </a:prstGeom>
          <a:solidFill>
            <a:srgbClr val="CDEF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1531590"/>
            <a:ext cx="155004" cy="1239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9071" y="1506736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Do not teach all of the above — present its shape.</a:t>
            </a: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Let the students feel the architecture rather than hear a lecture about it.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96119" y="2111276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The Sequence for Hour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6119" y="2429098"/>
            <a:ext cx="3924598" cy="1959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Read the six questions aloud; ask which is hardest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Give the four precepts in four words with the </a:t>
            </a: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road-crossing image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Explain the five-phase rhythm by </a:t>
            </a: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simply running the class that way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Tell them about the </a:t>
            </a: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journal</a:t>
            </a: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the </a:t>
            </a: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glossary</a:t>
            </a: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and the </a:t>
            </a: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Manifesto</a:t>
            </a: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waiting at Lecture 35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Turn to the first real problem: </a:t>
            </a:r>
            <a:r>
              <a:rPr lang="en-US" sz="950" i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"Can a priest preach without doing theology?"</a:t>
            </a: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and begin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38749" y="1987302"/>
            <a:ext cx="4103191" cy="2660675"/>
          </a:xfrm>
          <a:prstGeom prst="roundRect">
            <a:avLst>
              <a:gd name="adj" fmla="val 11189"/>
            </a:avLst>
          </a:prstGeom>
          <a:solidFill>
            <a:srgbClr val="AAE4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762723" y="2111276"/>
            <a:ext cx="3855244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By the End of Hour 1, Students Should Know Three Things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62723" y="2638499"/>
            <a:ext cx="1865635" cy="972220"/>
          </a:xfrm>
          <a:prstGeom prst="roundRect">
            <a:avLst>
              <a:gd name="adj" fmla="val 19139"/>
            </a:avLst>
          </a:prstGeom>
          <a:solidFill>
            <a:srgbClr val="BCEAFE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891460" y="2767236"/>
            <a:ext cx="160816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91460" y="3085058"/>
            <a:ext cx="160816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course is a set of </a:t>
            </a:r>
            <a:r>
              <a:rPr lang="en-US" sz="9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questions</a:t>
            </a: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not a list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752332" y="2638499"/>
            <a:ext cx="1865635" cy="972220"/>
          </a:xfrm>
          <a:prstGeom prst="roundRect">
            <a:avLst>
              <a:gd name="adj" fmla="val 19139"/>
            </a:avLst>
          </a:prstGeom>
          <a:solidFill>
            <a:srgbClr val="BCEAFE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881068" y="2767236"/>
            <a:ext cx="160816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81068" y="3085058"/>
            <a:ext cx="160816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It is going somewhere — to the </a:t>
            </a:r>
            <a:r>
              <a:rPr lang="en-US" sz="9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responsible theologian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762723" y="3734693"/>
            <a:ext cx="3855244" cy="773757"/>
          </a:xfrm>
          <a:prstGeom prst="roundRect">
            <a:avLst>
              <a:gd name="adj" fmla="val 24048"/>
            </a:avLst>
          </a:prstGeom>
          <a:solidFill>
            <a:srgbClr val="BCEAFE"/>
          </a:solidFill>
          <a:ln w="4763">
            <a:solidFill>
              <a:srgbClr val="B3D5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4891460" y="3863429"/>
            <a:ext cx="359777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91460" y="4181252"/>
            <a:ext cx="359777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They will </a:t>
            </a:r>
            <a:r>
              <a:rPr lang="en-US" sz="9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not be allowed to sit still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69540"/>
            <a:ext cx="820936" cy="168473"/>
          </a:xfrm>
          <a:prstGeom prst="roundRect">
            <a:avLst>
              <a:gd name="adj" fmla="val 69028"/>
            </a:avLst>
          </a:prstGeom>
          <a:solidFill>
            <a:srgbClr val="CDEF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54236" y="398562"/>
            <a:ext cx="1161901" cy="110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6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COMES NEXT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568226"/>
            <a:ext cx="8151763" cy="302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What Comes Next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26393" y="984647"/>
            <a:ext cx="4097164" cy="3789238"/>
          </a:xfrm>
          <a:prstGeom prst="roundRect">
            <a:avLst>
              <a:gd name="adj" fmla="val 6138"/>
            </a:avLst>
          </a:prstGeom>
          <a:solidFill>
            <a:srgbClr val="AAE4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23280" y="1060326"/>
            <a:ext cx="3903390" cy="151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Scope of These Notes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23280" y="1287438"/>
            <a:ext cx="3903390" cy="276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These notes cover the </a:t>
            </a:r>
            <a:r>
              <a:rPr lang="en-US" sz="7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architecture of the whole course</a:t>
            </a:r>
            <a:r>
              <a:rPr lang="en-US" sz="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the six goals, the Lonergan spine, and the class rhythm.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23280" y="1672828"/>
            <a:ext cx="3903390" cy="14288"/>
          </a:xfrm>
          <a:prstGeom prst="roundRect">
            <a:avLst>
              <a:gd name="adj" fmla="val 59998"/>
            </a:avLst>
          </a:prstGeom>
          <a:solidFill>
            <a:srgbClr val="000000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23280" y="1796430"/>
            <a:ext cx="3903390" cy="151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Next Installment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23280" y="2023542"/>
            <a:ext cx="3903390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9000"/>
              </a:lnSpc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Unit I, Lectures 1–5 — Discovering Theology</a:t>
            </a:r>
            <a:endParaRPr lang="en-US" sz="7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Same style: teaching content, references, cross-references, and illustrations for each lecture.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94932" y="1060326"/>
            <a:ext cx="3957712" cy="151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Course Architecture — Quick Reference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94932" y="1296888"/>
            <a:ext cx="3957712" cy="2672804"/>
          </a:xfrm>
          <a:prstGeom prst="roundRect">
            <a:avLst>
              <a:gd name="adj" fmla="val 543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96656" y="1351806"/>
            <a:ext cx="1250454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Goal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783684" y="1351806"/>
            <a:ext cx="1250454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Question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770712" y="1351806"/>
            <a:ext cx="1250454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Unit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757740" y="1351806"/>
            <a:ext cx="793254" cy="276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Lonergan Precept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796656" y="1732955"/>
            <a:ext cx="1250454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783684" y="1732955"/>
            <a:ext cx="793254" cy="276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is theology?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770712" y="1732955"/>
            <a:ext cx="1250454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II · Lec. 6–10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757740" y="1732955"/>
            <a:ext cx="1250454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96656" y="2114104"/>
            <a:ext cx="1250454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783684" y="2114104"/>
            <a:ext cx="793254" cy="276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Why do theology?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770712" y="2114104"/>
            <a:ext cx="1250454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 · Lec. 1–5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757740" y="2114104"/>
            <a:ext cx="1250454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—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96656" y="2495252"/>
            <a:ext cx="1250454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783684" y="2495252"/>
            <a:ext cx="793254" cy="276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is theology done?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770712" y="2495252"/>
            <a:ext cx="1250454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 · Lec. 23–29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757740" y="2495252"/>
            <a:ext cx="1250454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 Reasonable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796656" y="2876401"/>
            <a:ext cx="1250454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783684" y="2876401"/>
            <a:ext cx="793254" cy="276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Who has authority?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770712" y="2876401"/>
            <a:ext cx="1250454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III · Lec. 11–16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757740" y="2876401"/>
            <a:ext cx="1250454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 Attentive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796656" y="3257550"/>
            <a:ext cx="1250454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783684" y="3257550"/>
            <a:ext cx="793254" cy="276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has it developed?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770712" y="3257550"/>
            <a:ext cx="1250454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IV · Lec. 17–22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757740" y="3257550"/>
            <a:ext cx="1250454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 Intelligent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796656" y="3638699"/>
            <a:ext cx="1250454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783684" y="3638699"/>
            <a:ext cx="793254" cy="276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do I become responsible?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770712" y="3638699"/>
            <a:ext cx="1250454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 · Lec. 35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757740" y="3638699"/>
            <a:ext cx="1250454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 Responsible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694932" y="4079007"/>
            <a:ext cx="3957712" cy="14288"/>
          </a:xfrm>
          <a:prstGeom prst="roundRect">
            <a:avLst>
              <a:gd name="adj" fmla="val 59998"/>
            </a:avLst>
          </a:prstGeom>
          <a:solidFill>
            <a:srgbClr val="5B6E8C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694932" y="4202609"/>
            <a:ext cx="3957712" cy="151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Prepared by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694932" y="4429720"/>
            <a:ext cx="3957712" cy="276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Rev. Prof. William Anthony, MSFS</a:t>
            </a:r>
            <a:endParaRPr lang="en-US" sz="7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Morning Star Regional Seminary, Barrackpore · June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2540</Words>
  <Application>Microsoft Office PowerPoint</Application>
  <PresentationFormat>On-screen Show (16:9)</PresentationFormat>
  <Paragraphs>340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Twemoji Mozilla</vt:lpstr>
      <vt:lpstr>Manrope</vt:lpstr>
      <vt:lpstr>Manrope Bold</vt:lpstr>
      <vt:lpstr>Arial</vt:lpstr>
      <vt:lpstr>Alexandria Medium</vt:lpstr>
      <vt:lpstr>Alexandria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William Anthony</cp:lastModifiedBy>
  <cp:revision>2</cp:revision>
  <dcterms:created xsi:type="dcterms:W3CDTF">2026-07-07T04:11:41Z</dcterms:created>
  <dcterms:modified xsi:type="dcterms:W3CDTF">2026-07-07T04:35:36Z</dcterms:modified>
</cp:coreProperties>
</file>