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sldSz cx="9144000" cy="5143500" type="screen16x9"/>
  <p:notesSz cx="5143500" cy="9144000"/>
  <p:embeddedFontLst>
    <p:embeddedFont>
      <p:font typeface="Barlow" panose="00000500000000000000" pitchFamily="2" charset="0"/>
      <p:regular r:id="rId79"/>
    </p:embeddedFont>
    <p:embeddedFont>
      <p:font typeface="Barlow Bold" panose="020B0604020202020204" charset="0"/>
      <p:regular r:id="rId80"/>
    </p:embeddedFont>
    <p:embeddedFont>
      <p:font typeface="Fraunces Light" panose="020B0604020202020204" charset="0"/>
      <p:regular r:id="rId81"/>
    </p:embeddedFont>
    <p:embeddedFont>
      <p:font typeface="Fraunces Medium" panose="020B0604020202020204" charset="0"/>
      <p:regular r:id="rId8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516"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1.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2.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282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91718">
              <a:alpha val="95000"/>
            </a:srgbClr>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svg"/></Relationships>
</file>

<file path=ppt/slides/_rels/slide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 Id="rId9" Type="http://schemas.openxmlformats.org/officeDocument/2006/relationships/image" Target="../media/image36.sv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svg"/><Relationship Id="rId7" Type="http://schemas.openxmlformats.org/officeDocument/2006/relationships/image" Target="../media/image59.sv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56.svg"/></Relationships>
</file>

<file path=ppt/slides/_rels/slide5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65.svg"/><Relationship Id="rId7" Type="http://schemas.openxmlformats.org/officeDocument/2006/relationships/image" Target="../media/image69.sv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6.svg"/></Relationships>
</file>

<file path=ppt/slides/_rels/slide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Shape 2"/>
          <p:cNvSpPr/>
          <p:nvPr/>
        </p:nvSpPr>
        <p:spPr>
          <a:xfrm>
            <a:off x="2428875" y="1771650"/>
            <a:ext cx="4305300" cy="1127820"/>
          </a:xfrm>
          <a:prstGeom prst="roundRect">
            <a:avLst>
              <a:gd name="adj" fmla="val 24017"/>
            </a:avLst>
          </a:prstGeom>
          <a:solidFill>
            <a:srgbClr val="480405"/>
          </a:solidFill>
          <a:ln/>
        </p:spPr>
        <p:txBody>
          <a:bodyPr/>
          <a:lstStyle/>
          <a:p>
            <a:endParaRPr lang="en-IN"/>
          </a:p>
        </p:txBody>
      </p:sp>
      <p:sp>
        <p:nvSpPr>
          <p:cNvPr id="2" name="Text 0"/>
          <p:cNvSpPr/>
          <p:nvPr/>
        </p:nvSpPr>
        <p:spPr>
          <a:xfrm>
            <a:off x="561454" y="2016249"/>
            <a:ext cx="8021092" cy="335682"/>
          </a:xfrm>
          <a:prstGeom prst="rect">
            <a:avLst/>
          </a:prstGeom>
          <a:noFill/>
          <a:ln/>
        </p:spPr>
        <p:txBody>
          <a:bodyPr wrap="none" lIns="0" tIns="0" rIns="0" bIns="0" rtlCol="0" anchor="t"/>
          <a:lstStyle/>
          <a:p>
            <a:pPr marL="0" indent="0" algn="ctr">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Introduction to Theology</a:t>
            </a:r>
            <a:endParaRPr lang="en-US" sz="2600" dirty="0"/>
          </a:p>
        </p:txBody>
      </p:sp>
      <p:sp>
        <p:nvSpPr>
          <p:cNvPr id="3" name="Text 1"/>
          <p:cNvSpPr/>
          <p:nvPr/>
        </p:nvSpPr>
        <p:spPr>
          <a:xfrm>
            <a:off x="332854" y="2632621"/>
            <a:ext cx="8478292" cy="140345"/>
          </a:xfrm>
          <a:prstGeom prst="rect">
            <a:avLst/>
          </a:prstGeom>
          <a:noFill/>
          <a:ln/>
        </p:spPr>
        <p:txBody>
          <a:bodyPr wrap="none" lIns="0" tIns="0" rIns="0" bIns="0" rtlCol="0" anchor="t"/>
          <a:lstStyle/>
          <a:p>
            <a:pPr marL="0" indent="0" algn="ctr">
              <a:lnSpc>
                <a:spcPct val="83000"/>
              </a:lnSpc>
              <a:buNone/>
            </a:pPr>
            <a:r>
              <a:rPr lang="en-US" sz="1100" dirty="0">
                <a:solidFill>
                  <a:srgbClr val="E5E0DF"/>
                </a:solidFill>
                <a:latin typeface="Barlow" pitchFamily="34" charset="0"/>
                <a:ea typeface="Barlow" pitchFamily="34" charset="-122"/>
                <a:cs typeface="Barlow" pitchFamily="34" charset="-120"/>
              </a:rPr>
              <a:t>Morning Star Regional Seminary — Bengal Region, India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1454" y="684014"/>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Welcome to the World of Theologians</a:t>
            </a:r>
            <a:endParaRPr lang="en-US" sz="2600" dirty="0"/>
          </a:p>
        </p:txBody>
      </p:sp>
      <p:sp>
        <p:nvSpPr>
          <p:cNvPr id="3" name="Shape 1"/>
          <p:cNvSpPr/>
          <p:nvPr/>
        </p:nvSpPr>
        <p:spPr>
          <a:xfrm>
            <a:off x="561454" y="1300386"/>
            <a:ext cx="19050" cy="736848"/>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1458292"/>
            <a:ext cx="781057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Theologian who is satisfied with His/Her complete and conclusive Thought is Mediocre. The Good Theologian has an Open Thought, i.e., an Incomplete Thought, always open to the </a:t>
            </a:r>
            <a:r>
              <a:rPr lang="en-US" sz="1100" i="1" dirty="0">
                <a:solidFill>
                  <a:srgbClr val="E5E0DF"/>
                </a:solidFill>
                <a:latin typeface="Barlow" pitchFamily="34" charset="0"/>
                <a:ea typeface="Barlow" pitchFamily="34" charset="-122"/>
                <a:cs typeface="Barlow" pitchFamily="34" charset="-120"/>
              </a:rPr>
              <a:t>Maius</a:t>
            </a:r>
            <a:r>
              <a:rPr lang="en-US" sz="1100" dirty="0">
                <a:solidFill>
                  <a:srgbClr val="E5E0DF"/>
                </a:solidFill>
                <a:latin typeface="Barlow" pitchFamily="34" charset="0"/>
                <a:ea typeface="Barlow" pitchFamily="34" charset="-122"/>
                <a:cs typeface="Barlow" pitchFamily="34" charset="-120"/>
              </a:rPr>
              <a:t> (Greatness) of God and of the Truth, always in Development." — </a:t>
            </a:r>
            <a:r>
              <a:rPr lang="en-US" sz="1100" b="1" dirty="0">
                <a:solidFill>
                  <a:srgbClr val="E5E0DF"/>
                </a:solidFill>
                <a:latin typeface="Barlow Bold" pitchFamily="34" charset="0"/>
                <a:ea typeface="Barlow Bold" pitchFamily="34" charset="-122"/>
                <a:cs typeface="Barlow Bold" pitchFamily="34" charset="-120"/>
              </a:rPr>
              <a:t>Veritatis Gaudium 3</a:t>
            </a:r>
            <a:endParaRPr lang="en-US" sz="1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195140"/>
            <a:ext cx="3940373" cy="991791"/>
          </a:xfrm>
          <a:prstGeom prst="rect">
            <a:avLst/>
          </a:prstGeom>
        </p:spPr>
      </p:pic>
      <p:sp>
        <p:nvSpPr>
          <p:cNvPr id="6" name="Text 3"/>
          <p:cNvSpPr/>
          <p:nvPr/>
        </p:nvSpPr>
        <p:spPr>
          <a:xfrm>
            <a:off x="797049" y="2354535"/>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Love as Passion</a:t>
            </a:r>
            <a:endParaRPr lang="en-US" sz="1300" dirty="0"/>
          </a:p>
        </p:txBody>
      </p:sp>
      <p:sp>
        <p:nvSpPr>
          <p:cNvPr id="7" name="Text 4"/>
          <p:cNvSpPr/>
          <p:nvPr/>
        </p:nvSpPr>
        <p:spPr>
          <a:xfrm>
            <a:off x="797049" y="2606501"/>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Love Theology as a Passion, with Curiosity, Commitment and Engagement — Augustine at the Seashore, contemplating the Trinity.</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2195140"/>
            <a:ext cx="3940373" cy="991791"/>
          </a:xfrm>
          <a:prstGeom prst="rect">
            <a:avLst/>
          </a:prstGeom>
        </p:spPr>
      </p:pic>
      <p:sp>
        <p:nvSpPr>
          <p:cNvPr id="9" name="Text 5"/>
          <p:cNvSpPr/>
          <p:nvPr/>
        </p:nvSpPr>
        <p:spPr>
          <a:xfrm>
            <a:off x="4877767" y="2354535"/>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Theology on One's Knees</a:t>
            </a:r>
            <a:endParaRPr lang="en-US" sz="1300" dirty="0"/>
          </a:p>
        </p:txBody>
      </p:sp>
      <p:sp>
        <p:nvSpPr>
          <p:cNvPr id="10" name="Text 6"/>
          <p:cNvSpPr/>
          <p:nvPr/>
        </p:nvSpPr>
        <p:spPr>
          <a:xfrm>
            <a:off x="4877767" y="2606501"/>
            <a:ext cx="3545384"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is Fruitful only if it is done with an Open Mind, on One's Knees and with a Magnanimous Heart.</a:t>
            </a:r>
            <a:endParaRPr lang="en-US" sz="11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1454" y="3327276"/>
            <a:ext cx="3940373" cy="1132136"/>
          </a:xfrm>
          <a:prstGeom prst="rect">
            <a:avLst/>
          </a:prstGeom>
        </p:spPr>
      </p:pic>
      <p:sp>
        <p:nvSpPr>
          <p:cNvPr id="12" name="Text 7"/>
          <p:cNvSpPr/>
          <p:nvPr/>
        </p:nvSpPr>
        <p:spPr>
          <a:xfrm>
            <a:off x="797049" y="3486671"/>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Spirit-Filled Evangelization</a:t>
            </a:r>
            <a:endParaRPr lang="en-US" sz="1300" dirty="0"/>
          </a:p>
        </p:txBody>
      </p:sp>
      <p:sp>
        <p:nvSpPr>
          <p:cNvPr id="13" name="Text 8"/>
          <p:cNvSpPr/>
          <p:nvPr/>
        </p:nvSpPr>
        <p:spPr>
          <a:xfrm>
            <a:off x="797049" y="3738637"/>
            <a:ext cx="354538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primary need today is for the whole People of God to embark upon a new stage of "Spirit-filled" evangelization — requiring a resolute process of discernment, purification and reform.</a:t>
            </a:r>
            <a:endParaRPr lang="en-US" sz="11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2172" y="3327276"/>
            <a:ext cx="3940373" cy="1132136"/>
          </a:xfrm>
          <a:prstGeom prst="rect">
            <a:avLst/>
          </a:prstGeom>
        </p:spPr>
      </p:pic>
      <p:sp>
        <p:nvSpPr>
          <p:cNvPr id="15" name="Text 9"/>
          <p:cNvSpPr/>
          <p:nvPr/>
        </p:nvSpPr>
        <p:spPr>
          <a:xfrm>
            <a:off x="4877767" y="3486671"/>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Bold Cultural Revolution</a:t>
            </a:r>
            <a:endParaRPr lang="en-US" sz="1300" dirty="0"/>
          </a:p>
        </p:txBody>
      </p:sp>
      <p:sp>
        <p:nvSpPr>
          <p:cNvPr id="16" name="Text 10"/>
          <p:cNvSpPr/>
          <p:nvPr/>
        </p:nvSpPr>
        <p:spPr>
          <a:xfrm>
            <a:off x="4877767" y="3738637"/>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This vast and pressing task requires a broad and generous effort at a radical paradigm shift — dare I say — at "a bold cultural revolution."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1454" y="669578"/>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What Is Theology?</a:t>
            </a:r>
            <a:endParaRPr lang="en-US" sz="2600" dirty="0"/>
          </a:p>
        </p:txBody>
      </p:sp>
      <p:sp>
        <p:nvSpPr>
          <p:cNvPr id="3" name="Text 1"/>
          <p:cNvSpPr/>
          <p:nvPr/>
        </p:nvSpPr>
        <p:spPr>
          <a:xfrm>
            <a:off x="561454" y="1285949"/>
            <a:ext cx="8021092"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Our Faith seeks to understand-love-express-communicate with the Reality in three areas: </a:t>
            </a:r>
            <a:r>
              <a:rPr lang="en-US" sz="1100" b="1" dirty="0">
                <a:solidFill>
                  <a:srgbClr val="E5E0DF"/>
                </a:solidFill>
                <a:latin typeface="Barlow Bold" pitchFamily="34" charset="0"/>
                <a:ea typeface="Barlow Bold" pitchFamily="34" charset="-122"/>
                <a:cs typeface="Barlow Bold" pitchFamily="34" charset="-120"/>
              </a:rPr>
              <a:t>God, Human Beings, Cosmos</a:t>
            </a:r>
            <a:r>
              <a:rPr lang="en-US" sz="1100" dirty="0">
                <a:solidFill>
                  <a:srgbClr val="E5E0DF"/>
                </a:solidFill>
                <a:latin typeface="Barlow" pitchFamily="34" charset="0"/>
                <a:ea typeface="Barlow" pitchFamily="34" charset="-122"/>
                <a:cs typeface="Barlow" pitchFamily="34" charset="-120"/>
              </a:rPr>
              <a:t>. Faith is the Condition for the Possibility of Theology. The Burning Bush of Exodus 3 provides the paradigmatic framework:</a:t>
            </a:r>
            <a:endParaRPr lang="en-US" sz="1100" dirty="0"/>
          </a:p>
        </p:txBody>
      </p:sp>
      <p:sp>
        <p:nvSpPr>
          <p:cNvPr id="4" name="Shape 2"/>
          <p:cNvSpPr/>
          <p:nvPr/>
        </p:nvSpPr>
        <p:spPr>
          <a:xfrm>
            <a:off x="561454" y="1724546"/>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5" name="Text 3"/>
          <p:cNvSpPr/>
          <p:nvPr/>
        </p:nvSpPr>
        <p:spPr>
          <a:xfrm>
            <a:off x="706562" y="1869653"/>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Faith Seeking Understanding</a:t>
            </a:r>
            <a:endParaRPr lang="en-US" sz="1300" dirty="0"/>
          </a:p>
        </p:txBody>
      </p:sp>
      <p:sp>
        <p:nvSpPr>
          <p:cNvPr id="6" name="Text 4"/>
          <p:cNvSpPr/>
          <p:nvPr/>
        </p:nvSpPr>
        <p:spPr>
          <a:xfrm>
            <a:off x="706562" y="2121619"/>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Ex 3: The Burning Bush — the inexhaustible mystery that draws the mind.</a:t>
            </a:r>
            <a:endParaRPr lang="en-US" sz="1100" dirty="0"/>
          </a:p>
        </p:txBody>
      </p:sp>
      <p:sp>
        <p:nvSpPr>
          <p:cNvPr id="7" name="Shape 5"/>
          <p:cNvSpPr/>
          <p:nvPr/>
        </p:nvSpPr>
        <p:spPr>
          <a:xfrm>
            <a:off x="4642172" y="1724546"/>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8" name="Text 6"/>
          <p:cNvSpPr/>
          <p:nvPr/>
        </p:nvSpPr>
        <p:spPr>
          <a:xfrm>
            <a:off x="4787280" y="1869653"/>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Faith Seeking Love</a:t>
            </a:r>
            <a:endParaRPr lang="en-US" sz="1300" dirty="0"/>
          </a:p>
        </p:txBody>
      </p:sp>
      <p:sp>
        <p:nvSpPr>
          <p:cNvPr id="9" name="Text 7"/>
          <p:cNvSpPr/>
          <p:nvPr/>
        </p:nvSpPr>
        <p:spPr>
          <a:xfrm>
            <a:off x="4787280" y="2121619"/>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Ex 3: The Fire of Love — the consuming divine charity at the heart of revelation.</a:t>
            </a:r>
            <a:endParaRPr lang="en-US" sz="1100" dirty="0"/>
          </a:p>
        </p:txBody>
      </p:sp>
      <p:sp>
        <p:nvSpPr>
          <p:cNvPr id="10" name="Shape 8"/>
          <p:cNvSpPr/>
          <p:nvPr/>
        </p:nvSpPr>
        <p:spPr>
          <a:xfrm>
            <a:off x="561454" y="2687762"/>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11" name="Text 9"/>
          <p:cNvSpPr/>
          <p:nvPr/>
        </p:nvSpPr>
        <p:spPr>
          <a:xfrm>
            <a:off x="706562" y="2832869"/>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Faith Seeking Justice</a:t>
            </a:r>
            <a:endParaRPr lang="en-US" sz="1300" dirty="0"/>
          </a:p>
        </p:txBody>
      </p:sp>
      <p:sp>
        <p:nvSpPr>
          <p:cNvPr id="12" name="Text 10"/>
          <p:cNvSpPr/>
          <p:nvPr/>
        </p:nvSpPr>
        <p:spPr>
          <a:xfrm>
            <a:off x="706562" y="3084835"/>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Ex 3: "I have heard the Cry of my People" — theology as liberating praxis.</a:t>
            </a:r>
            <a:endParaRPr lang="en-US" sz="1100" dirty="0"/>
          </a:p>
        </p:txBody>
      </p:sp>
      <p:sp>
        <p:nvSpPr>
          <p:cNvPr id="13" name="Shape 11"/>
          <p:cNvSpPr/>
          <p:nvPr/>
        </p:nvSpPr>
        <p:spPr>
          <a:xfrm>
            <a:off x="4642172" y="2687762"/>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14" name="Text 12"/>
          <p:cNvSpPr/>
          <p:nvPr/>
        </p:nvSpPr>
        <p:spPr>
          <a:xfrm>
            <a:off x="4787280" y="2832869"/>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Faith Seeking Ritual Expression</a:t>
            </a:r>
            <a:endParaRPr lang="en-US" sz="1300" dirty="0"/>
          </a:p>
        </p:txBody>
      </p:sp>
      <p:sp>
        <p:nvSpPr>
          <p:cNvPr id="15" name="Text 13"/>
          <p:cNvSpPr/>
          <p:nvPr/>
        </p:nvSpPr>
        <p:spPr>
          <a:xfrm>
            <a:off x="4787280" y="3084835"/>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Ex 3: Horeb, the Holy Mountain of God — worship, liturgy, sacrament.</a:t>
            </a:r>
            <a:endParaRPr lang="en-US" sz="1100" dirty="0"/>
          </a:p>
        </p:txBody>
      </p:sp>
      <p:sp>
        <p:nvSpPr>
          <p:cNvPr id="16" name="Shape 14"/>
          <p:cNvSpPr/>
          <p:nvPr/>
        </p:nvSpPr>
        <p:spPr>
          <a:xfrm>
            <a:off x="561454" y="3650977"/>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17" name="Text 15"/>
          <p:cNvSpPr/>
          <p:nvPr/>
        </p:nvSpPr>
        <p:spPr>
          <a:xfrm>
            <a:off x="706562" y="3796085"/>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Faith Seeking Dialogue</a:t>
            </a:r>
            <a:endParaRPr lang="en-US" sz="1300" dirty="0"/>
          </a:p>
        </p:txBody>
      </p:sp>
      <p:sp>
        <p:nvSpPr>
          <p:cNvPr id="18" name="Text 16"/>
          <p:cNvSpPr/>
          <p:nvPr/>
        </p:nvSpPr>
        <p:spPr>
          <a:xfrm>
            <a:off x="706562" y="4048051"/>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Ex 3: Speak to the Rulers and to the People about God and God's Plan.</a:t>
            </a:r>
            <a:endParaRPr lang="en-US" sz="1100" dirty="0"/>
          </a:p>
        </p:txBody>
      </p:sp>
      <p:sp>
        <p:nvSpPr>
          <p:cNvPr id="19" name="Shape 17"/>
          <p:cNvSpPr/>
          <p:nvPr/>
        </p:nvSpPr>
        <p:spPr>
          <a:xfrm>
            <a:off x="4642172" y="3650977"/>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20" name="Text 18"/>
          <p:cNvSpPr/>
          <p:nvPr/>
        </p:nvSpPr>
        <p:spPr>
          <a:xfrm>
            <a:off x="4787280" y="3796085"/>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Faith Seeking Harmony</a:t>
            </a:r>
            <a:endParaRPr lang="en-US" sz="1300" dirty="0"/>
          </a:p>
        </p:txBody>
      </p:sp>
      <p:sp>
        <p:nvSpPr>
          <p:cNvPr id="21" name="Text 19"/>
          <p:cNvSpPr/>
          <p:nvPr/>
        </p:nvSpPr>
        <p:spPr>
          <a:xfrm>
            <a:off x="4787280" y="4048051"/>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Ex 3: To the Land flowing with Milk and Honey — eco-theology and integral wholeness.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1454" y="86245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Task of the Theologian</a:t>
            </a:r>
            <a:endParaRPr lang="en-US" sz="2600" dirty="0"/>
          </a:p>
        </p:txBody>
      </p:sp>
      <p:sp>
        <p:nvSpPr>
          <p:cNvPr id="3" name="Shape 1"/>
          <p:cNvSpPr/>
          <p:nvPr/>
        </p:nvSpPr>
        <p:spPr>
          <a:xfrm>
            <a:off x="561454" y="1478831"/>
            <a:ext cx="19050" cy="596503"/>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1636737"/>
            <a:ext cx="7810574"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Heart has Its Reasons which Reason knows nothing of... We know the Truth Not only by the Reason, But by the Heart." — </a:t>
            </a:r>
            <a:r>
              <a:rPr lang="en-US" sz="1100" b="1" dirty="0">
                <a:solidFill>
                  <a:srgbClr val="E5E0DF"/>
                </a:solidFill>
                <a:latin typeface="Barlow Bold" pitchFamily="34" charset="0"/>
                <a:ea typeface="Barlow Bold" pitchFamily="34" charset="-122"/>
                <a:cs typeface="Barlow Bold" pitchFamily="34" charset="-120"/>
              </a:rPr>
              <a:t>Blaise Pascal</a:t>
            </a:r>
            <a:endParaRPr lang="en-US" sz="1100" dirty="0"/>
          </a:p>
        </p:txBody>
      </p:sp>
      <p:sp>
        <p:nvSpPr>
          <p:cNvPr id="5" name="Shape 3"/>
          <p:cNvSpPr/>
          <p:nvPr/>
        </p:nvSpPr>
        <p:spPr>
          <a:xfrm>
            <a:off x="561454" y="2233240"/>
            <a:ext cx="315813" cy="315813"/>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6" name="Text 4"/>
          <p:cNvSpPr/>
          <p:nvPr/>
        </p:nvSpPr>
        <p:spPr>
          <a:xfrm>
            <a:off x="1017612" y="2303413"/>
            <a:ext cx="346665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Rational Yet Reasonable</a:t>
            </a:r>
            <a:endParaRPr lang="en-US" sz="1300" dirty="0"/>
          </a:p>
        </p:txBody>
      </p:sp>
      <p:sp>
        <p:nvSpPr>
          <p:cNvPr id="7" name="Text 5"/>
          <p:cNvSpPr/>
          <p:nvPr/>
        </p:nvSpPr>
        <p:spPr>
          <a:xfrm>
            <a:off x="1017612" y="2555379"/>
            <a:ext cx="346665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theologian's reflections and conclusions must be Rational (Mind/Logical); or, more appropriately, </a:t>
            </a:r>
            <a:r>
              <a:rPr lang="en-US" sz="1100" b="1" dirty="0">
                <a:solidFill>
                  <a:srgbClr val="E5E0DF"/>
                </a:solidFill>
                <a:latin typeface="Barlow Bold" pitchFamily="34" charset="0"/>
                <a:ea typeface="Barlow Bold" pitchFamily="34" charset="-122"/>
                <a:cs typeface="Barlow Bold" pitchFamily="34" charset="-120"/>
              </a:rPr>
              <a:t>'Reasonable'</a:t>
            </a:r>
            <a:r>
              <a:rPr lang="en-US" sz="1100" dirty="0">
                <a:solidFill>
                  <a:srgbClr val="E5E0DF"/>
                </a:solidFill>
                <a:latin typeface="Barlow" pitchFamily="34" charset="0"/>
                <a:ea typeface="Barlow" pitchFamily="34" charset="-122"/>
                <a:cs typeface="Barlow" pitchFamily="34" charset="-120"/>
              </a:rPr>
              <a:t> — the Mind influenced by all Human Faculties, reaching out to Truth.</a:t>
            </a:r>
            <a:endParaRPr lang="en-US" sz="1100" dirty="0"/>
          </a:p>
        </p:txBody>
      </p:sp>
      <p:sp>
        <p:nvSpPr>
          <p:cNvPr id="8" name="Shape 6"/>
          <p:cNvSpPr/>
          <p:nvPr/>
        </p:nvSpPr>
        <p:spPr>
          <a:xfrm>
            <a:off x="4659660" y="2233240"/>
            <a:ext cx="315813" cy="315813"/>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9" name="Text 7"/>
          <p:cNvSpPr/>
          <p:nvPr/>
        </p:nvSpPr>
        <p:spPr>
          <a:xfrm>
            <a:off x="5115818" y="2303413"/>
            <a:ext cx="346672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Critically and Systematically Contextual</a:t>
            </a:r>
            <a:endParaRPr lang="en-US" sz="1300" dirty="0"/>
          </a:p>
        </p:txBody>
      </p:sp>
      <p:sp>
        <p:nvSpPr>
          <p:cNvPr id="10" name="Text 8"/>
          <p:cNvSpPr/>
          <p:nvPr/>
        </p:nvSpPr>
        <p:spPr>
          <a:xfrm>
            <a:off x="5115818" y="2555379"/>
            <a:ext cx="3466728"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S/He must critically and systematically seek to explain Her/His Faith in a Language and Concepts that have Meaning for the Community, in the Particular Context, </a:t>
            </a:r>
            <a:r>
              <a:rPr lang="en-US" sz="1100" b="1" dirty="0">
                <a:solidFill>
                  <a:srgbClr val="E5E0DF"/>
                </a:solidFill>
                <a:latin typeface="Barlow Bold" pitchFamily="34" charset="0"/>
                <a:ea typeface="Barlow Bold" pitchFamily="34" charset="-122"/>
                <a:cs typeface="Barlow Bold" pitchFamily="34" charset="-120"/>
              </a:rPr>
              <a:t>Especially in India</a:t>
            </a:r>
            <a:r>
              <a:rPr lang="en-US" sz="1100" dirty="0">
                <a:solidFill>
                  <a:srgbClr val="E5E0DF"/>
                </a:solidFill>
                <a:latin typeface="Barlow" pitchFamily="34" charset="0"/>
                <a:ea typeface="Barlow" pitchFamily="34" charset="-122"/>
                <a:cs typeface="Barlow" pitchFamily="34" charset="-120"/>
              </a:rPr>
              <a:t>.</a:t>
            </a:r>
            <a:endParaRPr lang="en-US" sz="1100" dirty="0"/>
          </a:p>
        </p:txBody>
      </p:sp>
      <p:sp>
        <p:nvSpPr>
          <p:cNvPr id="11" name="Shape 9"/>
          <p:cNvSpPr/>
          <p:nvPr/>
        </p:nvSpPr>
        <p:spPr>
          <a:xfrm>
            <a:off x="561454" y="3397448"/>
            <a:ext cx="315813" cy="315813"/>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12" name="Text 10"/>
          <p:cNvSpPr/>
          <p:nvPr/>
        </p:nvSpPr>
        <p:spPr>
          <a:xfrm>
            <a:off x="1017612" y="3467621"/>
            <a:ext cx="346665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Accountable for Faith, Hope, Love</a:t>
            </a:r>
            <a:endParaRPr lang="en-US" sz="1300" dirty="0"/>
          </a:p>
        </p:txBody>
      </p:sp>
      <p:sp>
        <p:nvSpPr>
          <p:cNvPr id="13" name="Text 11"/>
          <p:cNvSpPr/>
          <p:nvPr/>
        </p:nvSpPr>
        <p:spPr>
          <a:xfrm>
            <a:off x="1017612" y="3719587"/>
            <a:ext cx="346665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Theologians must account for their Faith, Hope, Love (1 Pet 3:15-17) so as to throw Light on the Mysteries of: Life and Death; Suffering and Evil; Liberation and Redemption; Belief, Religion and Atheism.</a:t>
            </a:r>
            <a:endParaRPr lang="en-US" sz="1100" dirty="0"/>
          </a:p>
        </p:txBody>
      </p:sp>
      <p:sp>
        <p:nvSpPr>
          <p:cNvPr id="14" name="Shape 12"/>
          <p:cNvSpPr/>
          <p:nvPr/>
        </p:nvSpPr>
        <p:spPr>
          <a:xfrm>
            <a:off x="4659660" y="3397448"/>
            <a:ext cx="315813" cy="315813"/>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15" name="Text 13"/>
          <p:cNvSpPr/>
          <p:nvPr/>
        </p:nvSpPr>
        <p:spPr>
          <a:xfrm>
            <a:off x="5115818" y="3467621"/>
            <a:ext cx="346672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Deepening God Experience</a:t>
            </a:r>
            <a:endParaRPr lang="en-US" sz="1300" dirty="0"/>
          </a:p>
        </p:txBody>
      </p:sp>
      <p:sp>
        <p:nvSpPr>
          <p:cNvPr id="16" name="Text 14"/>
          <p:cNvSpPr/>
          <p:nvPr/>
        </p:nvSpPr>
        <p:spPr>
          <a:xfrm>
            <a:off x="5115818" y="3719587"/>
            <a:ext cx="3466728"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Thus to enter into the deeper Meaning and greater Practice of Faith, Love, Hope, through His/Her God Experience.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1454" y="828080"/>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Aim of the Course</a:t>
            </a:r>
            <a:endParaRPr lang="en-US" sz="26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444451"/>
            <a:ext cx="140345" cy="140345"/>
          </a:xfrm>
          <a:prstGeom prst="rect">
            <a:avLst/>
          </a:prstGeom>
        </p:spPr>
      </p:pic>
      <p:sp>
        <p:nvSpPr>
          <p:cNvPr id="4" name="Shape 1"/>
          <p:cNvSpPr/>
          <p:nvPr/>
        </p:nvSpPr>
        <p:spPr>
          <a:xfrm>
            <a:off x="561454" y="1628849"/>
            <a:ext cx="2580084" cy="19050"/>
          </a:xfrm>
          <a:prstGeom prst="rect">
            <a:avLst/>
          </a:prstGeom>
          <a:solidFill>
            <a:srgbClr val="F65F62"/>
          </a:solidFill>
          <a:ln/>
        </p:spPr>
        <p:txBody>
          <a:bodyPr/>
          <a:lstStyle/>
          <a:p>
            <a:endParaRPr lang="en-IN"/>
          </a:p>
        </p:txBody>
      </p:sp>
      <p:sp>
        <p:nvSpPr>
          <p:cNvPr id="5" name="Text 2"/>
          <p:cNvSpPr/>
          <p:nvPr/>
        </p:nvSpPr>
        <p:spPr>
          <a:xfrm>
            <a:off x="561454" y="1737122"/>
            <a:ext cx="2580084"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What Is Theology and How to Do It?</a:t>
            </a:r>
            <a:endParaRPr lang="en-US" sz="1300" dirty="0"/>
          </a:p>
        </p:txBody>
      </p:sp>
      <p:sp>
        <p:nvSpPr>
          <p:cNvPr id="6" name="Text 3"/>
          <p:cNvSpPr/>
          <p:nvPr/>
        </p:nvSpPr>
        <p:spPr>
          <a:xfrm>
            <a:off x="561454" y="2156892"/>
            <a:ext cx="2580084"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To answer the Basic Question of theology's nature and method.</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81883" y="1444451"/>
            <a:ext cx="140345" cy="140345"/>
          </a:xfrm>
          <a:prstGeom prst="rect">
            <a:avLst/>
          </a:prstGeom>
        </p:spPr>
      </p:pic>
      <p:sp>
        <p:nvSpPr>
          <p:cNvPr id="8" name="Shape 4"/>
          <p:cNvSpPr/>
          <p:nvPr/>
        </p:nvSpPr>
        <p:spPr>
          <a:xfrm>
            <a:off x="3281883" y="1628849"/>
            <a:ext cx="2580159" cy="19050"/>
          </a:xfrm>
          <a:prstGeom prst="rect">
            <a:avLst/>
          </a:prstGeom>
          <a:solidFill>
            <a:srgbClr val="F65F62"/>
          </a:solidFill>
          <a:ln/>
        </p:spPr>
        <p:txBody>
          <a:bodyPr/>
          <a:lstStyle/>
          <a:p>
            <a:endParaRPr lang="en-IN"/>
          </a:p>
        </p:txBody>
      </p:sp>
      <p:sp>
        <p:nvSpPr>
          <p:cNvPr id="9" name="Text 5"/>
          <p:cNvSpPr/>
          <p:nvPr/>
        </p:nvSpPr>
        <p:spPr>
          <a:xfrm>
            <a:off x="3281883" y="1737122"/>
            <a:ext cx="258015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Theology and the Kingdom of God</a:t>
            </a:r>
            <a:endParaRPr lang="en-US" sz="1300" dirty="0"/>
          </a:p>
        </p:txBody>
      </p:sp>
      <p:sp>
        <p:nvSpPr>
          <p:cNvPr id="10" name="Text 6"/>
          <p:cNvSpPr/>
          <p:nvPr/>
        </p:nvSpPr>
        <p:spPr>
          <a:xfrm>
            <a:off x="3281883" y="2156892"/>
            <a:ext cx="2580159" cy="84207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Relation of Theology as Faith seeking Understanding-Justice-Dialogue-Love-Interiority-Harmony-Integrity, with Reference to Jesus' Central Mission: Kingdom of God based on His Abba Experience.</a:t>
            </a:r>
            <a:endParaRPr lang="en-US" sz="11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2387" y="1444451"/>
            <a:ext cx="140345" cy="140345"/>
          </a:xfrm>
          <a:prstGeom prst="rect">
            <a:avLst/>
          </a:prstGeom>
        </p:spPr>
      </p:pic>
      <p:sp>
        <p:nvSpPr>
          <p:cNvPr id="12" name="Shape 7"/>
          <p:cNvSpPr/>
          <p:nvPr/>
        </p:nvSpPr>
        <p:spPr>
          <a:xfrm>
            <a:off x="6002387" y="1628849"/>
            <a:ext cx="2580159" cy="19050"/>
          </a:xfrm>
          <a:prstGeom prst="rect">
            <a:avLst/>
          </a:prstGeom>
          <a:solidFill>
            <a:srgbClr val="F65F62"/>
          </a:solidFill>
          <a:ln/>
        </p:spPr>
        <p:txBody>
          <a:bodyPr/>
          <a:lstStyle/>
          <a:p>
            <a:endParaRPr lang="en-IN"/>
          </a:p>
        </p:txBody>
      </p:sp>
      <p:sp>
        <p:nvSpPr>
          <p:cNvPr id="13" name="Text 8"/>
          <p:cNvSpPr/>
          <p:nvPr/>
        </p:nvSpPr>
        <p:spPr>
          <a:xfrm>
            <a:off x="6002387" y="1737122"/>
            <a:ext cx="258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Theologizing in India</a:t>
            </a:r>
            <a:endParaRPr lang="en-US" sz="1300" dirty="0"/>
          </a:p>
        </p:txBody>
      </p:sp>
      <p:sp>
        <p:nvSpPr>
          <p:cNvPr id="14" name="Text 9"/>
          <p:cNvSpPr/>
          <p:nvPr/>
        </p:nvSpPr>
        <p:spPr>
          <a:xfrm>
            <a:off x="6002387" y="1989088"/>
            <a:ext cx="2580159"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To learn to theologize in the Multi-Religious-Socio-Cultural-Diverse Context of India.</a:t>
            </a:r>
            <a:endParaRPr lang="en-US" sz="11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1454" y="3244528"/>
            <a:ext cx="140345" cy="140345"/>
          </a:xfrm>
          <a:prstGeom prst="rect">
            <a:avLst/>
          </a:prstGeom>
        </p:spPr>
      </p:pic>
      <p:sp>
        <p:nvSpPr>
          <p:cNvPr id="16" name="Shape 10"/>
          <p:cNvSpPr/>
          <p:nvPr/>
        </p:nvSpPr>
        <p:spPr>
          <a:xfrm>
            <a:off x="561454" y="3428926"/>
            <a:ext cx="3940373" cy="19050"/>
          </a:xfrm>
          <a:prstGeom prst="rect">
            <a:avLst/>
          </a:prstGeom>
          <a:solidFill>
            <a:srgbClr val="F65F62"/>
          </a:solidFill>
          <a:ln/>
        </p:spPr>
        <p:txBody>
          <a:bodyPr/>
          <a:lstStyle/>
          <a:p>
            <a:endParaRPr lang="en-IN"/>
          </a:p>
        </p:txBody>
      </p:sp>
      <p:sp>
        <p:nvSpPr>
          <p:cNvPr id="17" name="Text 11"/>
          <p:cNvSpPr/>
          <p:nvPr/>
        </p:nvSpPr>
        <p:spPr>
          <a:xfrm>
            <a:off x="561454" y="3537198"/>
            <a:ext cx="394037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Sources, Models and Methods</a:t>
            </a:r>
            <a:endParaRPr lang="en-US" sz="1300" dirty="0"/>
          </a:p>
        </p:txBody>
      </p:sp>
      <p:sp>
        <p:nvSpPr>
          <p:cNvPr id="18" name="Text 12"/>
          <p:cNvSpPr/>
          <p:nvPr/>
        </p:nvSpPr>
        <p:spPr>
          <a:xfrm>
            <a:off x="561454" y="3789164"/>
            <a:ext cx="3940373"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Familiarizing with Sources, Models and Methods of Theology; interrelatedness between the various Courses and their Relevance for Personal and Social Transformation.</a:t>
            </a:r>
            <a:endParaRPr lang="en-US" sz="1100" dirty="0"/>
          </a:p>
        </p:txBody>
      </p:sp>
      <p:pic>
        <p:nvPicPr>
          <p:cNvPr id="1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2172" y="3244528"/>
            <a:ext cx="140345" cy="140345"/>
          </a:xfrm>
          <a:prstGeom prst="rect">
            <a:avLst/>
          </a:prstGeom>
        </p:spPr>
      </p:pic>
      <p:sp>
        <p:nvSpPr>
          <p:cNvPr id="20" name="Shape 13"/>
          <p:cNvSpPr/>
          <p:nvPr/>
        </p:nvSpPr>
        <p:spPr>
          <a:xfrm>
            <a:off x="4642172" y="3428926"/>
            <a:ext cx="3940373" cy="19050"/>
          </a:xfrm>
          <a:prstGeom prst="rect">
            <a:avLst/>
          </a:prstGeom>
          <a:solidFill>
            <a:srgbClr val="F65F62"/>
          </a:solidFill>
          <a:ln/>
        </p:spPr>
        <p:txBody>
          <a:bodyPr/>
          <a:lstStyle/>
          <a:p>
            <a:endParaRPr lang="en-IN"/>
          </a:p>
        </p:txBody>
      </p:sp>
      <p:sp>
        <p:nvSpPr>
          <p:cNvPr id="21" name="Text 14"/>
          <p:cNvSpPr/>
          <p:nvPr/>
        </p:nvSpPr>
        <p:spPr>
          <a:xfrm>
            <a:off x="4642172" y="3537198"/>
            <a:ext cx="394037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Research and Scholarly Writing</a:t>
            </a:r>
            <a:endParaRPr lang="en-US" sz="1300" dirty="0"/>
          </a:p>
        </p:txBody>
      </p:sp>
      <p:sp>
        <p:nvSpPr>
          <p:cNvPr id="22" name="Text 15"/>
          <p:cNvSpPr/>
          <p:nvPr/>
        </p:nvSpPr>
        <p:spPr>
          <a:xfrm>
            <a:off x="4642172" y="3789164"/>
            <a:ext cx="3940373"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Method in Research and Writing Scholarly and Scientific Papers.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1454" y="982266"/>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Theology and Pope Francis</a:t>
            </a:r>
            <a:endParaRPr lang="en-US" sz="2600" dirty="0"/>
          </a:p>
        </p:txBody>
      </p:sp>
      <p:sp>
        <p:nvSpPr>
          <p:cNvPr id="3" name="Text 1"/>
          <p:cNvSpPr/>
          <p:nvPr/>
        </p:nvSpPr>
        <p:spPr>
          <a:xfrm>
            <a:off x="561454" y="1598637"/>
            <a:ext cx="8478292"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Pope Francis articulates the unifying bonds of Christian faith across the Church's diverse expressions (</a:t>
            </a:r>
            <a:r>
              <a:rPr lang="en-US" sz="1100" i="1" dirty="0">
                <a:solidFill>
                  <a:srgbClr val="E5E0DF"/>
                </a:solidFill>
                <a:latin typeface="Barlow" pitchFamily="34" charset="0"/>
                <a:ea typeface="Barlow" pitchFamily="34" charset="-122"/>
                <a:cs typeface="Barlow" pitchFamily="34" charset="-120"/>
              </a:rPr>
              <a:t>Querida Amazonia</a:t>
            </a:r>
            <a:r>
              <a:rPr lang="en-US" sz="1100" dirty="0">
                <a:solidFill>
                  <a:srgbClr val="E5E0DF"/>
                </a:solidFill>
                <a:latin typeface="Barlow" pitchFamily="34" charset="0"/>
                <a:ea typeface="Barlow" pitchFamily="34" charset="-122"/>
                <a:cs typeface="Barlow" pitchFamily="34" charset="-120"/>
              </a:rPr>
              <a:t> 109):</a:t>
            </a:r>
            <a:endParaRPr lang="en-US" sz="1100" dirty="0"/>
          </a:p>
        </p:txBody>
      </p:sp>
      <p:sp>
        <p:nvSpPr>
          <p:cNvPr id="4" name="Shape 2"/>
          <p:cNvSpPr/>
          <p:nvPr/>
        </p:nvSpPr>
        <p:spPr>
          <a:xfrm>
            <a:off x="561454" y="1896889"/>
            <a:ext cx="2580084" cy="1132136"/>
          </a:xfrm>
          <a:prstGeom prst="roundRect">
            <a:avLst>
              <a:gd name="adj" fmla="val 5207"/>
            </a:avLst>
          </a:prstGeom>
          <a:solidFill>
            <a:srgbClr val="191718">
              <a:alpha val="95000"/>
            </a:srgbClr>
          </a:solidFill>
          <a:ln w="19050">
            <a:solidFill>
              <a:srgbClr val="922022"/>
            </a:solidFill>
            <a:prstDash val="solid"/>
          </a:ln>
        </p:spPr>
        <p:txBody>
          <a:bodyPr/>
          <a:lstStyle/>
          <a:p>
            <a:endParaRPr lang="en-IN"/>
          </a:p>
        </p:txBody>
      </p:sp>
      <p:sp>
        <p:nvSpPr>
          <p:cNvPr id="5" name="Text 3"/>
          <p:cNvSpPr/>
          <p:nvPr/>
        </p:nvSpPr>
        <p:spPr>
          <a:xfrm>
            <a:off x="720849" y="2056284"/>
            <a:ext cx="226129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God the Father</a:t>
            </a:r>
            <a:endParaRPr lang="en-US" sz="1300" dirty="0"/>
          </a:p>
        </p:txBody>
      </p:sp>
      <p:sp>
        <p:nvSpPr>
          <p:cNvPr id="6" name="Text 4"/>
          <p:cNvSpPr/>
          <p:nvPr/>
        </p:nvSpPr>
        <p:spPr>
          <a:xfrm>
            <a:off x="720849" y="2308250"/>
            <a:ext cx="2261295"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All of Us, as Christians, are United by Faith in God, the Father who gives Us Life and loves Us so greatly.</a:t>
            </a:r>
            <a:endParaRPr lang="en-US" sz="1100" dirty="0"/>
          </a:p>
        </p:txBody>
      </p:sp>
      <p:sp>
        <p:nvSpPr>
          <p:cNvPr id="7" name="Shape 5"/>
          <p:cNvSpPr/>
          <p:nvPr/>
        </p:nvSpPr>
        <p:spPr>
          <a:xfrm>
            <a:off x="3281883" y="1896889"/>
            <a:ext cx="2580159" cy="1132136"/>
          </a:xfrm>
          <a:prstGeom prst="roundRect">
            <a:avLst>
              <a:gd name="adj" fmla="val 5207"/>
            </a:avLst>
          </a:prstGeom>
          <a:solidFill>
            <a:srgbClr val="191718">
              <a:alpha val="95000"/>
            </a:srgbClr>
          </a:solidFill>
          <a:ln w="19050">
            <a:solidFill>
              <a:srgbClr val="922022"/>
            </a:solidFill>
            <a:prstDash val="solid"/>
          </a:ln>
        </p:spPr>
        <p:txBody>
          <a:bodyPr/>
          <a:lstStyle/>
          <a:p>
            <a:endParaRPr lang="en-IN"/>
          </a:p>
        </p:txBody>
      </p:sp>
      <p:sp>
        <p:nvSpPr>
          <p:cNvPr id="8" name="Text 6"/>
          <p:cNvSpPr/>
          <p:nvPr/>
        </p:nvSpPr>
        <p:spPr>
          <a:xfrm>
            <a:off x="3441278" y="2056284"/>
            <a:ext cx="22613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Jesus Christ the Saviour</a:t>
            </a:r>
            <a:endParaRPr lang="en-US" sz="1300" dirty="0"/>
          </a:p>
        </p:txBody>
      </p:sp>
      <p:sp>
        <p:nvSpPr>
          <p:cNvPr id="9" name="Text 7"/>
          <p:cNvSpPr/>
          <p:nvPr/>
        </p:nvSpPr>
        <p:spPr>
          <a:xfrm>
            <a:off x="3441278" y="2308250"/>
            <a:ext cx="2261369"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United by Faith in Jesus Christ, the One Saviour, who set Us free by His Precious Blood and His Glorious Resurrection.</a:t>
            </a:r>
            <a:endParaRPr lang="en-US" sz="1100" dirty="0"/>
          </a:p>
        </p:txBody>
      </p:sp>
      <p:sp>
        <p:nvSpPr>
          <p:cNvPr id="10" name="Shape 8"/>
          <p:cNvSpPr/>
          <p:nvPr/>
        </p:nvSpPr>
        <p:spPr>
          <a:xfrm>
            <a:off x="6002387" y="1896889"/>
            <a:ext cx="2580159" cy="1132136"/>
          </a:xfrm>
          <a:prstGeom prst="roundRect">
            <a:avLst>
              <a:gd name="adj" fmla="val 5207"/>
            </a:avLst>
          </a:prstGeom>
          <a:solidFill>
            <a:srgbClr val="191718">
              <a:alpha val="95000"/>
            </a:srgbClr>
          </a:solidFill>
          <a:ln w="19050">
            <a:solidFill>
              <a:srgbClr val="922022"/>
            </a:solidFill>
            <a:prstDash val="solid"/>
          </a:ln>
        </p:spPr>
        <p:txBody>
          <a:bodyPr/>
          <a:lstStyle/>
          <a:p>
            <a:endParaRPr lang="en-IN"/>
          </a:p>
        </p:txBody>
      </p:sp>
      <p:sp>
        <p:nvSpPr>
          <p:cNvPr id="11" name="Text 9"/>
          <p:cNvSpPr/>
          <p:nvPr/>
        </p:nvSpPr>
        <p:spPr>
          <a:xfrm>
            <a:off x="6161782" y="2056284"/>
            <a:ext cx="22613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 Word and the Spirit</a:t>
            </a:r>
            <a:endParaRPr lang="en-US" sz="1300" dirty="0"/>
          </a:p>
        </p:txBody>
      </p:sp>
      <p:sp>
        <p:nvSpPr>
          <p:cNvPr id="12" name="Text 10"/>
          <p:cNvSpPr/>
          <p:nvPr/>
        </p:nvSpPr>
        <p:spPr>
          <a:xfrm>
            <a:off x="6161782" y="2308250"/>
            <a:ext cx="2261369"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United by Our Desire for His Word that guides Our Steps, and by the Fire of the Spirit who sends Us forth on Mission.</a:t>
            </a:r>
            <a:endParaRPr lang="en-US" sz="1100" dirty="0"/>
          </a:p>
        </p:txBody>
      </p:sp>
      <p:sp>
        <p:nvSpPr>
          <p:cNvPr id="13" name="Shape 11"/>
          <p:cNvSpPr/>
          <p:nvPr/>
        </p:nvSpPr>
        <p:spPr>
          <a:xfrm>
            <a:off x="561454" y="3169369"/>
            <a:ext cx="3940373" cy="991791"/>
          </a:xfrm>
          <a:prstGeom prst="roundRect">
            <a:avLst>
              <a:gd name="adj" fmla="val 5944"/>
            </a:avLst>
          </a:prstGeom>
          <a:solidFill>
            <a:srgbClr val="191718">
              <a:alpha val="95000"/>
            </a:srgbClr>
          </a:solidFill>
          <a:ln w="19050">
            <a:solidFill>
              <a:srgbClr val="922022"/>
            </a:solidFill>
            <a:prstDash val="solid"/>
          </a:ln>
        </p:spPr>
        <p:txBody>
          <a:bodyPr/>
          <a:lstStyle/>
          <a:p>
            <a:endParaRPr lang="en-IN"/>
          </a:p>
        </p:txBody>
      </p:sp>
      <p:sp>
        <p:nvSpPr>
          <p:cNvPr id="14" name="Text 12"/>
          <p:cNvSpPr/>
          <p:nvPr/>
        </p:nvSpPr>
        <p:spPr>
          <a:xfrm>
            <a:off x="720849" y="3328764"/>
            <a:ext cx="36215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 New Commandment</a:t>
            </a:r>
            <a:endParaRPr lang="en-US" sz="1300" dirty="0"/>
          </a:p>
        </p:txBody>
      </p:sp>
      <p:sp>
        <p:nvSpPr>
          <p:cNvPr id="15" name="Text 13"/>
          <p:cNvSpPr/>
          <p:nvPr/>
        </p:nvSpPr>
        <p:spPr>
          <a:xfrm>
            <a:off x="720849" y="3580730"/>
            <a:ext cx="36215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United by the New Commandment of Jesus, the Pursuit of the Civilization of Love, and Passion for the Kingdom — the Struggle for Peace and Justice.</a:t>
            </a:r>
            <a:endParaRPr lang="en-US" sz="1100" dirty="0"/>
          </a:p>
        </p:txBody>
      </p:sp>
      <p:sp>
        <p:nvSpPr>
          <p:cNvPr id="16" name="Shape 14"/>
          <p:cNvSpPr/>
          <p:nvPr/>
        </p:nvSpPr>
        <p:spPr>
          <a:xfrm>
            <a:off x="4642172" y="3169369"/>
            <a:ext cx="3940373" cy="991791"/>
          </a:xfrm>
          <a:prstGeom prst="roundRect">
            <a:avLst>
              <a:gd name="adj" fmla="val 5944"/>
            </a:avLst>
          </a:prstGeom>
          <a:solidFill>
            <a:srgbClr val="191718">
              <a:alpha val="95000"/>
            </a:srgbClr>
          </a:solidFill>
          <a:ln w="19050">
            <a:solidFill>
              <a:srgbClr val="922022"/>
            </a:solidFill>
            <a:prstDash val="solid"/>
          </a:ln>
        </p:spPr>
        <p:txBody>
          <a:bodyPr/>
          <a:lstStyle/>
          <a:p>
            <a:endParaRPr lang="en-IN"/>
          </a:p>
        </p:txBody>
      </p:sp>
      <p:sp>
        <p:nvSpPr>
          <p:cNvPr id="17" name="Text 15"/>
          <p:cNvSpPr/>
          <p:nvPr/>
        </p:nvSpPr>
        <p:spPr>
          <a:xfrm>
            <a:off x="4801567" y="3328764"/>
            <a:ext cx="36215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Eschatological Hope</a:t>
            </a:r>
            <a:endParaRPr lang="en-US" sz="1300" dirty="0"/>
          </a:p>
        </p:txBody>
      </p:sp>
      <p:sp>
        <p:nvSpPr>
          <p:cNvPr id="18" name="Text 16"/>
          <p:cNvSpPr/>
          <p:nvPr/>
        </p:nvSpPr>
        <p:spPr>
          <a:xfrm>
            <a:off x="4801567" y="3580730"/>
            <a:ext cx="36215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United by the Conviction that Not Everything ends with this Life, but that we are called to the Heavenly Banquet, where God will wipe away every Tear.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1454" y="407343"/>
            <a:ext cx="8021092" cy="629394"/>
          </a:xfrm>
          <a:prstGeom prst="rect">
            <a:avLst/>
          </a:prstGeom>
          <a:noFill/>
          <a:ln/>
        </p:spPr>
        <p:txBody>
          <a:bodyPr wrap="square" lIns="0" tIns="0" rIns="0" bIns="0" rtlCol="0" anchor="t">
            <a:normAutofit/>
          </a:bodyPr>
          <a:lstStyle/>
          <a:p>
            <a:pPr marL="0" indent="0" algn="l">
              <a:lnSpc>
                <a:spcPct val="83000"/>
              </a:lnSpc>
              <a:buNone/>
            </a:pPr>
            <a:r>
              <a:rPr lang="en-US" sz="2450" dirty="0">
                <a:solidFill>
                  <a:srgbClr val="FFFFFF"/>
                </a:solidFill>
                <a:latin typeface="Fraunces Medium" pitchFamily="34" charset="0"/>
                <a:ea typeface="Fraunces Medium" pitchFamily="34" charset="-122"/>
                <a:cs typeface="Fraunces Medium" pitchFamily="34" charset="-120"/>
              </a:rPr>
              <a:t>The Aim of Theology at Morning Star Regional Seminary</a:t>
            </a:r>
            <a:endParaRPr lang="en-US" sz="2450" dirty="0"/>
          </a:p>
        </p:txBody>
      </p:sp>
      <p:sp>
        <p:nvSpPr>
          <p:cNvPr id="3" name="Text 1"/>
          <p:cNvSpPr/>
          <p:nvPr/>
        </p:nvSpPr>
        <p:spPr>
          <a:xfrm>
            <a:off x="561454" y="1283419"/>
            <a:ext cx="8021092" cy="382191"/>
          </a:xfrm>
          <a:prstGeom prst="rect">
            <a:avLst/>
          </a:prstGeom>
          <a:noFill/>
          <a:ln/>
        </p:spPr>
        <p:txBody>
          <a:bodyPr wrap="square" lIns="0" tIns="0" rIns="0" bIns="0" rtlCol="0" anchor="t">
            <a:normAutofit/>
          </a:bodyPr>
          <a:lstStyle/>
          <a:p>
            <a:pPr marL="0" indent="0" algn="l">
              <a:lnSpc>
                <a:spcPct val="81000"/>
              </a:lnSpc>
              <a:buNone/>
            </a:pPr>
            <a:r>
              <a:rPr lang="en-US" sz="1000" dirty="0">
                <a:solidFill>
                  <a:srgbClr val="E5E0DF"/>
                </a:solidFill>
                <a:latin typeface="Barlow" pitchFamily="34" charset="0"/>
                <a:ea typeface="Barlow" pitchFamily="34" charset="-122"/>
                <a:cs typeface="Barlow" pitchFamily="34" charset="-120"/>
              </a:rPr>
              <a:t>The aim of theology at Morning Star Institute of Theology is not merely academic ascent but </a:t>
            </a:r>
            <a:r>
              <a:rPr lang="en-US" sz="1000" b="1" dirty="0">
                <a:solidFill>
                  <a:srgbClr val="E5E0DF"/>
                </a:solidFill>
                <a:latin typeface="Barlow Bold" pitchFamily="34" charset="0"/>
                <a:ea typeface="Barlow Bold" pitchFamily="34" charset="-122"/>
                <a:cs typeface="Barlow Bold" pitchFamily="34" charset="-120"/>
              </a:rPr>
              <a:t>vocational integration for pastoral action</a:t>
            </a:r>
            <a:r>
              <a:rPr lang="en-US" sz="1000" dirty="0">
                <a:solidFill>
                  <a:srgbClr val="E5E0DF"/>
                </a:solidFill>
                <a:latin typeface="Barlow" pitchFamily="34" charset="0"/>
                <a:ea typeface="Barlow" pitchFamily="34" charset="-122"/>
                <a:cs typeface="Barlow" pitchFamily="34" charset="-120"/>
              </a:rPr>
              <a:t>. It seeks to create a profound synthesis between rigorous, scientific theological inquiry and the concrete, lived realities of the Church. Formally, this aim is fourfold:</a:t>
            </a:r>
            <a:endParaRPr lang="en-US" sz="1000" dirty="0"/>
          </a:p>
        </p:txBody>
      </p:sp>
      <p:sp>
        <p:nvSpPr>
          <p:cNvPr id="4" name="Shape 2"/>
          <p:cNvSpPr/>
          <p:nvPr/>
        </p:nvSpPr>
        <p:spPr>
          <a:xfrm>
            <a:off x="561454" y="1804392"/>
            <a:ext cx="3948857" cy="1404193"/>
          </a:xfrm>
          <a:prstGeom prst="roundRect">
            <a:avLst>
              <a:gd name="adj" fmla="val 3936"/>
            </a:avLst>
          </a:prstGeom>
          <a:solidFill>
            <a:srgbClr val="790709"/>
          </a:solidFill>
          <a:ln w="4763">
            <a:solidFill>
              <a:srgbClr val="922022"/>
            </a:solidFill>
            <a:prstDash val="solid"/>
          </a:ln>
        </p:spPr>
        <p:txBody>
          <a:bodyPr/>
          <a:lstStyle/>
          <a:p>
            <a:endParaRPr lang="en-IN"/>
          </a:p>
        </p:txBody>
      </p:sp>
      <p:sp>
        <p:nvSpPr>
          <p:cNvPr id="5" name="Shape 3"/>
          <p:cNvSpPr/>
          <p:nvPr/>
        </p:nvSpPr>
        <p:spPr>
          <a:xfrm>
            <a:off x="697781" y="1940719"/>
            <a:ext cx="394767" cy="394767"/>
          </a:xfrm>
          <a:prstGeom prst="ellipse">
            <a:avLst/>
          </a:prstGeom>
          <a:solidFill>
            <a:srgbClr val="F65F62"/>
          </a:solidFill>
          <a:ln/>
        </p:spPr>
        <p:txBody>
          <a:bodyPr/>
          <a:lstStyle/>
          <a:p>
            <a:endParaRPr lang="en-IN"/>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6351" y="2049289"/>
            <a:ext cx="177626" cy="177626"/>
          </a:xfrm>
          <a:prstGeom prst="rect">
            <a:avLst/>
          </a:prstGeom>
        </p:spPr>
      </p:pic>
      <p:sp>
        <p:nvSpPr>
          <p:cNvPr id="7" name="Text 4"/>
          <p:cNvSpPr/>
          <p:nvPr/>
        </p:nvSpPr>
        <p:spPr>
          <a:xfrm>
            <a:off x="697781" y="2458789"/>
            <a:ext cx="3676204" cy="157311"/>
          </a:xfrm>
          <a:prstGeom prst="rect">
            <a:avLst/>
          </a:prstGeom>
          <a:noFill/>
          <a:ln/>
        </p:spPr>
        <p:txBody>
          <a:bodyPr wrap="none" lIns="0" tIns="0" rIns="0" bIns="0" rtlCol="0" anchor="t"/>
          <a:lstStyle/>
          <a:p>
            <a:pPr marL="0" indent="0" algn="l">
              <a:lnSpc>
                <a:spcPct val="83000"/>
              </a:lnSpc>
              <a:buNone/>
            </a:pPr>
            <a:r>
              <a:rPr lang="en-US" sz="1200" dirty="0">
                <a:solidFill>
                  <a:srgbClr val="E5E0DF"/>
                </a:solidFill>
                <a:latin typeface="Fraunces Medium" pitchFamily="34" charset="0"/>
                <a:ea typeface="Fraunces Medium" pitchFamily="34" charset="-122"/>
                <a:cs typeface="Fraunces Medium" pitchFamily="34" charset="-120"/>
              </a:rPr>
              <a:t>Scientific &amp; Doctrinal Mastery</a:t>
            </a:r>
            <a:endParaRPr lang="en-US" sz="1200" dirty="0"/>
          </a:p>
        </p:txBody>
      </p:sp>
      <p:sp>
        <p:nvSpPr>
          <p:cNvPr id="8" name="Text 5"/>
          <p:cNvSpPr/>
          <p:nvPr/>
        </p:nvSpPr>
        <p:spPr>
          <a:xfrm>
            <a:off x="697781" y="2690068"/>
            <a:ext cx="3676204" cy="382191"/>
          </a:xfrm>
          <a:prstGeom prst="rect">
            <a:avLst/>
          </a:prstGeom>
          <a:noFill/>
          <a:ln/>
        </p:spPr>
        <p:txBody>
          <a:bodyPr wrap="square" lIns="0" tIns="0" rIns="0" bIns="0" rtlCol="0" anchor="t">
            <a:normAutofit/>
          </a:bodyPr>
          <a:lstStyle/>
          <a:p>
            <a:pPr marL="0" indent="0" algn="l">
              <a:lnSpc>
                <a:spcPct val="81000"/>
              </a:lnSpc>
              <a:buNone/>
            </a:pPr>
            <a:r>
              <a:rPr lang="en-US" sz="1000" dirty="0">
                <a:solidFill>
                  <a:srgbClr val="E5E0DF"/>
                </a:solidFill>
                <a:latin typeface="Barlow" pitchFamily="34" charset="0"/>
                <a:ea typeface="Barlow" pitchFamily="34" charset="-122"/>
                <a:cs typeface="Barlow" pitchFamily="34" charset="-120"/>
              </a:rPr>
              <a:t>A deep, systematic, and contemporary understanding of Catholic doctrine, drawing from Sacred Scripture, Tradition, and the Magisterium.</a:t>
            </a:r>
            <a:endParaRPr lang="en-US" sz="1000" dirty="0"/>
          </a:p>
        </p:txBody>
      </p:sp>
      <p:sp>
        <p:nvSpPr>
          <p:cNvPr id="9" name="Shape 6"/>
          <p:cNvSpPr/>
          <p:nvPr/>
        </p:nvSpPr>
        <p:spPr>
          <a:xfrm>
            <a:off x="4633615" y="1804392"/>
            <a:ext cx="3948931" cy="1404193"/>
          </a:xfrm>
          <a:prstGeom prst="roundRect">
            <a:avLst>
              <a:gd name="adj" fmla="val 3936"/>
            </a:avLst>
          </a:prstGeom>
          <a:solidFill>
            <a:srgbClr val="790709"/>
          </a:solidFill>
          <a:ln w="4763">
            <a:solidFill>
              <a:srgbClr val="922022"/>
            </a:solidFill>
            <a:prstDash val="solid"/>
          </a:ln>
        </p:spPr>
        <p:txBody>
          <a:bodyPr/>
          <a:lstStyle/>
          <a:p>
            <a:endParaRPr lang="en-IN"/>
          </a:p>
        </p:txBody>
      </p:sp>
      <p:sp>
        <p:nvSpPr>
          <p:cNvPr id="10" name="Shape 7"/>
          <p:cNvSpPr/>
          <p:nvPr/>
        </p:nvSpPr>
        <p:spPr>
          <a:xfrm>
            <a:off x="4769941" y="1940719"/>
            <a:ext cx="394767" cy="394767"/>
          </a:xfrm>
          <a:prstGeom prst="ellipse">
            <a:avLst/>
          </a:prstGeom>
          <a:solidFill>
            <a:srgbClr val="F65F62"/>
          </a:solidFill>
          <a:ln/>
        </p:spPr>
        <p:txBody>
          <a:bodyPr/>
          <a:lstStyle/>
          <a:p>
            <a:endParaRPr lang="en-IN"/>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78512" y="2049289"/>
            <a:ext cx="177626" cy="177626"/>
          </a:xfrm>
          <a:prstGeom prst="rect">
            <a:avLst/>
          </a:prstGeom>
        </p:spPr>
      </p:pic>
      <p:sp>
        <p:nvSpPr>
          <p:cNvPr id="12" name="Text 8"/>
          <p:cNvSpPr/>
          <p:nvPr/>
        </p:nvSpPr>
        <p:spPr>
          <a:xfrm>
            <a:off x="4769941" y="2458789"/>
            <a:ext cx="3676278" cy="157311"/>
          </a:xfrm>
          <a:prstGeom prst="rect">
            <a:avLst/>
          </a:prstGeom>
          <a:noFill/>
          <a:ln/>
        </p:spPr>
        <p:txBody>
          <a:bodyPr wrap="none" lIns="0" tIns="0" rIns="0" bIns="0" rtlCol="0" anchor="t"/>
          <a:lstStyle/>
          <a:p>
            <a:pPr marL="0" indent="0" algn="l">
              <a:lnSpc>
                <a:spcPct val="83000"/>
              </a:lnSpc>
              <a:buNone/>
            </a:pPr>
            <a:r>
              <a:rPr lang="en-US" sz="1200" dirty="0">
                <a:solidFill>
                  <a:srgbClr val="E5E0DF"/>
                </a:solidFill>
                <a:latin typeface="Fraunces Medium" pitchFamily="34" charset="0"/>
                <a:ea typeface="Fraunces Medium" pitchFamily="34" charset="-122"/>
                <a:cs typeface="Fraunces Medium" pitchFamily="34" charset="-120"/>
              </a:rPr>
              <a:t>Contextualized Inculturation</a:t>
            </a:r>
            <a:endParaRPr lang="en-US" sz="1200" dirty="0"/>
          </a:p>
        </p:txBody>
      </p:sp>
      <p:sp>
        <p:nvSpPr>
          <p:cNvPr id="13" name="Text 9"/>
          <p:cNvSpPr/>
          <p:nvPr/>
        </p:nvSpPr>
        <p:spPr>
          <a:xfrm>
            <a:off x="4769941" y="2690068"/>
            <a:ext cx="3676278" cy="382191"/>
          </a:xfrm>
          <a:prstGeom prst="rect">
            <a:avLst/>
          </a:prstGeom>
          <a:noFill/>
          <a:ln/>
        </p:spPr>
        <p:txBody>
          <a:bodyPr wrap="square" lIns="0" tIns="0" rIns="0" bIns="0" rtlCol="0" anchor="t">
            <a:normAutofit/>
          </a:bodyPr>
          <a:lstStyle/>
          <a:p>
            <a:pPr marL="0" indent="0" algn="l">
              <a:lnSpc>
                <a:spcPct val="81000"/>
              </a:lnSpc>
              <a:buNone/>
            </a:pPr>
            <a:r>
              <a:rPr lang="en-US" sz="1000" dirty="0">
                <a:solidFill>
                  <a:srgbClr val="E5E0DF"/>
                </a:solidFill>
                <a:latin typeface="Barlow" pitchFamily="34" charset="0"/>
                <a:ea typeface="Barlow" pitchFamily="34" charset="-122"/>
                <a:cs typeface="Barlow" pitchFamily="34" charset="-120"/>
              </a:rPr>
              <a:t>Theologians deeply familiar with the cultural, social, and subaltern traditions of the local populace, reflecting upon religious pluralism and socio-economic marginalization.</a:t>
            </a:r>
            <a:endParaRPr lang="en-US" sz="1000" dirty="0"/>
          </a:p>
        </p:txBody>
      </p:sp>
      <p:sp>
        <p:nvSpPr>
          <p:cNvPr id="14" name="Shape 10"/>
          <p:cNvSpPr/>
          <p:nvPr/>
        </p:nvSpPr>
        <p:spPr>
          <a:xfrm>
            <a:off x="561454" y="3331890"/>
            <a:ext cx="3948857" cy="1404193"/>
          </a:xfrm>
          <a:prstGeom prst="roundRect">
            <a:avLst>
              <a:gd name="adj" fmla="val 3936"/>
            </a:avLst>
          </a:prstGeom>
          <a:solidFill>
            <a:srgbClr val="790709"/>
          </a:solidFill>
          <a:ln w="4763">
            <a:solidFill>
              <a:srgbClr val="922022"/>
            </a:solidFill>
            <a:prstDash val="solid"/>
          </a:ln>
        </p:spPr>
        <p:txBody>
          <a:bodyPr/>
          <a:lstStyle/>
          <a:p>
            <a:endParaRPr lang="en-IN"/>
          </a:p>
        </p:txBody>
      </p:sp>
      <p:sp>
        <p:nvSpPr>
          <p:cNvPr id="15" name="Shape 11"/>
          <p:cNvSpPr/>
          <p:nvPr/>
        </p:nvSpPr>
        <p:spPr>
          <a:xfrm>
            <a:off x="697781" y="3468216"/>
            <a:ext cx="394767" cy="394767"/>
          </a:xfrm>
          <a:prstGeom prst="ellipse">
            <a:avLst/>
          </a:prstGeom>
          <a:solidFill>
            <a:srgbClr val="F65F62"/>
          </a:solidFill>
          <a:ln/>
        </p:spPr>
        <p:txBody>
          <a:bodyPr/>
          <a:lstStyle/>
          <a:p>
            <a:endParaRPr lang="en-IN"/>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351" y="3576786"/>
            <a:ext cx="177626" cy="177626"/>
          </a:xfrm>
          <a:prstGeom prst="rect">
            <a:avLst/>
          </a:prstGeom>
        </p:spPr>
      </p:pic>
      <p:sp>
        <p:nvSpPr>
          <p:cNvPr id="17" name="Text 12"/>
          <p:cNvSpPr/>
          <p:nvPr/>
        </p:nvSpPr>
        <p:spPr>
          <a:xfrm>
            <a:off x="697781" y="3986287"/>
            <a:ext cx="3676204" cy="157311"/>
          </a:xfrm>
          <a:prstGeom prst="rect">
            <a:avLst/>
          </a:prstGeom>
          <a:noFill/>
          <a:ln/>
        </p:spPr>
        <p:txBody>
          <a:bodyPr wrap="none" lIns="0" tIns="0" rIns="0" bIns="0" rtlCol="0" anchor="t"/>
          <a:lstStyle/>
          <a:p>
            <a:pPr marL="0" indent="0" algn="l">
              <a:lnSpc>
                <a:spcPct val="83000"/>
              </a:lnSpc>
              <a:buNone/>
            </a:pPr>
            <a:r>
              <a:rPr lang="en-US" sz="1200" dirty="0">
                <a:solidFill>
                  <a:srgbClr val="E5E0DF"/>
                </a:solidFill>
                <a:latin typeface="Fraunces Medium" pitchFamily="34" charset="0"/>
                <a:ea typeface="Fraunces Medium" pitchFamily="34" charset="-122"/>
                <a:cs typeface="Fraunces Medium" pitchFamily="34" charset="-120"/>
              </a:rPr>
              <a:t>Pastoral Application</a:t>
            </a:r>
            <a:endParaRPr lang="en-US" sz="1200" dirty="0"/>
          </a:p>
        </p:txBody>
      </p:sp>
      <p:sp>
        <p:nvSpPr>
          <p:cNvPr id="18" name="Text 13"/>
          <p:cNvSpPr/>
          <p:nvPr/>
        </p:nvSpPr>
        <p:spPr>
          <a:xfrm>
            <a:off x="697781" y="4217566"/>
            <a:ext cx="3676204" cy="382191"/>
          </a:xfrm>
          <a:prstGeom prst="rect">
            <a:avLst/>
          </a:prstGeom>
          <a:noFill/>
          <a:ln/>
        </p:spPr>
        <p:txBody>
          <a:bodyPr wrap="square" lIns="0" tIns="0" rIns="0" bIns="0" rtlCol="0" anchor="t">
            <a:normAutofit/>
          </a:bodyPr>
          <a:lstStyle/>
          <a:p>
            <a:pPr marL="0" indent="0" algn="l">
              <a:lnSpc>
                <a:spcPct val="81000"/>
              </a:lnSpc>
              <a:buNone/>
            </a:pPr>
            <a:r>
              <a:rPr lang="en-US" sz="1000" dirty="0">
                <a:solidFill>
                  <a:srgbClr val="E5E0DF"/>
                </a:solidFill>
                <a:latin typeface="Barlow" pitchFamily="34" charset="0"/>
                <a:ea typeface="Barlow" pitchFamily="34" charset="-122"/>
                <a:cs typeface="Barlow" pitchFamily="34" charset="-120"/>
              </a:rPr>
              <a:t>Integrating all theological reflection with the pastoral challenges of everyday life — preaching, administering sacraments, healing, and leading communities within Indian diocesan life.</a:t>
            </a:r>
            <a:endParaRPr lang="en-US" sz="1000" dirty="0"/>
          </a:p>
        </p:txBody>
      </p:sp>
      <p:sp>
        <p:nvSpPr>
          <p:cNvPr id="19" name="Shape 14"/>
          <p:cNvSpPr/>
          <p:nvPr/>
        </p:nvSpPr>
        <p:spPr>
          <a:xfrm>
            <a:off x="4633615" y="3331890"/>
            <a:ext cx="3948931" cy="1404193"/>
          </a:xfrm>
          <a:prstGeom prst="roundRect">
            <a:avLst>
              <a:gd name="adj" fmla="val 3936"/>
            </a:avLst>
          </a:prstGeom>
          <a:solidFill>
            <a:srgbClr val="790709"/>
          </a:solidFill>
          <a:ln w="4763">
            <a:solidFill>
              <a:srgbClr val="922022"/>
            </a:solidFill>
            <a:prstDash val="solid"/>
          </a:ln>
        </p:spPr>
        <p:txBody>
          <a:bodyPr/>
          <a:lstStyle/>
          <a:p>
            <a:endParaRPr lang="en-IN"/>
          </a:p>
        </p:txBody>
      </p:sp>
      <p:sp>
        <p:nvSpPr>
          <p:cNvPr id="20" name="Shape 15"/>
          <p:cNvSpPr/>
          <p:nvPr/>
        </p:nvSpPr>
        <p:spPr>
          <a:xfrm>
            <a:off x="4769941" y="3468216"/>
            <a:ext cx="394767" cy="394767"/>
          </a:xfrm>
          <a:prstGeom prst="ellipse">
            <a:avLst/>
          </a:prstGeom>
          <a:solidFill>
            <a:srgbClr val="F65F62"/>
          </a:solidFill>
          <a:ln/>
        </p:spPr>
        <p:txBody>
          <a:bodyPr/>
          <a:lstStyle/>
          <a:p>
            <a:endParaRPr lang="en-IN"/>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78512" y="3576786"/>
            <a:ext cx="177626" cy="177626"/>
          </a:xfrm>
          <a:prstGeom prst="rect">
            <a:avLst/>
          </a:prstGeom>
        </p:spPr>
      </p:pic>
      <p:sp>
        <p:nvSpPr>
          <p:cNvPr id="22" name="Text 16"/>
          <p:cNvSpPr/>
          <p:nvPr/>
        </p:nvSpPr>
        <p:spPr>
          <a:xfrm>
            <a:off x="4769941" y="3986287"/>
            <a:ext cx="3676278" cy="157311"/>
          </a:xfrm>
          <a:prstGeom prst="rect">
            <a:avLst/>
          </a:prstGeom>
          <a:noFill/>
          <a:ln/>
        </p:spPr>
        <p:txBody>
          <a:bodyPr wrap="none" lIns="0" tIns="0" rIns="0" bIns="0" rtlCol="0" anchor="t"/>
          <a:lstStyle/>
          <a:p>
            <a:pPr marL="0" indent="0" algn="l">
              <a:lnSpc>
                <a:spcPct val="83000"/>
              </a:lnSpc>
              <a:buNone/>
            </a:pPr>
            <a:r>
              <a:rPr lang="en-US" sz="1200" dirty="0">
                <a:solidFill>
                  <a:srgbClr val="E5E0DF"/>
                </a:solidFill>
                <a:latin typeface="Fraunces Medium" pitchFamily="34" charset="0"/>
                <a:ea typeface="Fraunces Medium" pitchFamily="34" charset="-122"/>
                <a:cs typeface="Fraunces Medium" pitchFamily="34" charset="-120"/>
              </a:rPr>
              <a:t>Synodal &amp; Dialogical Orientation</a:t>
            </a:r>
            <a:endParaRPr lang="en-US" sz="1200" dirty="0"/>
          </a:p>
        </p:txBody>
      </p:sp>
      <p:sp>
        <p:nvSpPr>
          <p:cNvPr id="23" name="Text 17"/>
          <p:cNvSpPr/>
          <p:nvPr/>
        </p:nvSpPr>
        <p:spPr>
          <a:xfrm>
            <a:off x="4769941" y="4217566"/>
            <a:ext cx="3676278" cy="382191"/>
          </a:xfrm>
          <a:prstGeom prst="rect">
            <a:avLst/>
          </a:prstGeom>
          <a:noFill/>
          <a:ln/>
        </p:spPr>
        <p:txBody>
          <a:bodyPr wrap="square" lIns="0" tIns="0" rIns="0" bIns="0" rtlCol="0" anchor="t">
            <a:normAutofit/>
          </a:bodyPr>
          <a:lstStyle/>
          <a:p>
            <a:pPr marL="0" indent="0" algn="l">
              <a:lnSpc>
                <a:spcPct val="81000"/>
              </a:lnSpc>
              <a:buNone/>
            </a:pPr>
            <a:r>
              <a:rPr lang="en-US" sz="1000" dirty="0">
                <a:solidFill>
                  <a:srgbClr val="E5E0DF"/>
                </a:solidFill>
                <a:latin typeface="Barlow" pitchFamily="34" charset="0"/>
                <a:ea typeface="Barlow" pitchFamily="34" charset="-122"/>
                <a:cs typeface="Barlow" pitchFamily="34" charset="-120"/>
              </a:rPr>
              <a:t>A theology that seeks mutual enrichment through interfaith dialogue while engaging with contemporary disciplines like sociology and psychology.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1454" y="586383"/>
            <a:ext cx="8021092" cy="671364"/>
          </a:xfrm>
          <a:prstGeom prst="rect">
            <a:avLst/>
          </a:prstGeom>
          <a:noFill/>
          <a:ln/>
        </p:spPr>
        <p:txBody>
          <a:bodyPr wrap="square" lIns="0" tIns="0" rIns="0" bIns="0" rtlCol="0" anchor="t">
            <a:normAutofit/>
          </a:bodyPr>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 Core Identity of Morning Star Regional Seminary</a:t>
            </a:r>
            <a:endParaRPr lang="en-US" sz="2600" dirty="0"/>
          </a:p>
        </p:txBody>
      </p:sp>
      <p:sp>
        <p:nvSpPr>
          <p:cNvPr id="3" name="Shape 1"/>
          <p:cNvSpPr/>
          <p:nvPr/>
        </p:nvSpPr>
        <p:spPr>
          <a:xfrm>
            <a:off x="561454" y="1538436"/>
            <a:ext cx="19050" cy="456084"/>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1696343"/>
            <a:ext cx="8267774" cy="140345"/>
          </a:xfrm>
          <a:prstGeom prst="rect">
            <a:avLst/>
          </a:prstGeom>
          <a:noFill/>
          <a:ln/>
        </p:spPr>
        <p:txBody>
          <a:bodyPr wrap="none" lIns="0" tIns="0" rIns="0" bIns="0" rtlCol="0" anchor="t"/>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"A Regional Light for the Local Church"</a:t>
            </a:r>
            <a:r>
              <a:rPr lang="en-US" sz="1100" dirty="0">
                <a:solidFill>
                  <a:srgbClr val="E5E0DF"/>
                </a:solidFill>
                <a:latin typeface="Barlow" pitchFamily="34" charset="0"/>
                <a:ea typeface="Barlow" pitchFamily="34" charset="-122"/>
                <a:cs typeface="Barlow" pitchFamily="34" charset="-120"/>
              </a:rPr>
              <a:t> — anchored in Matthew 5:16: "Let your Light shine."</a:t>
            </a:r>
            <a:endParaRPr lang="en-US" sz="1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152501"/>
            <a:ext cx="3940373" cy="1272480"/>
          </a:xfrm>
          <a:prstGeom prst="rect">
            <a:avLst/>
          </a:prstGeom>
        </p:spPr>
      </p:pic>
      <p:sp>
        <p:nvSpPr>
          <p:cNvPr id="6" name="Text 3"/>
          <p:cNvSpPr/>
          <p:nvPr/>
        </p:nvSpPr>
        <p:spPr>
          <a:xfrm>
            <a:off x="797049" y="2311896"/>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Diocesan and Ecclesial Identity</a:t>
            </a:r>
            <a:endParaRPr lang="en-US" sz="1300" dirty="0"/>
          </a:p>
        </p:txBody>
      </p:sp>
      <p:sp>
        <p:nvSpPr>
          <p:cNvPr id="7" name="Text 4"/>
          <p:cNvSpPr/>
          <p:nvPr/>
        </p:nvSpPr>
        <p:spPr>
          <a:xfrm>
            <a:off x="797049" y="2563862"/>
            <a:ext cx="3545384"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Exists to serve the </a:t>
            </a:r>
            <a:r>
              <a:rPr lang="en-US" sz="1100" b="1" dirty="0">
                <a:solidFill>
                  <a:srgbClr val="E5E0DF"/>
                </a:solidFill>
                <a:latin typeface="Barlow Bold" pitchFamily="34" charset="0"/>
                <a:ea typeface="Barlow Bold" pitchFamily="34" charset="-122"/>
                <a:cs typeface="Barlow Bold" pitchFamily="34" charset="-120"/>
              </a:rPr>
              <a:t>eight specific Dioceses of the Bengal Region</a:t>
            </a:r>
            <a:r>
              <a:rPr lang="en-US" sz="1100" dirty="0">
                <a:solidFill>
                  <a:srgbClr val="E5E0DF"/>
                </a:solidFill>
                <a:latin typeface="Barlow" pitchFamily="34" charset="0"/>
                <a:ea typeface="Barlow" pitchFamily="34" charset="-122"/>
                <a:cs typeface="Barlow" pitchFamily="34" charset="-120"/>
              </a:rPr>
              <a:t>: Asansol, Bagdogra, Baruipur, Calcutta, Darjeeling, Jalpaiguri, Krishnagar, and Raiganj — forming men bound to their Bishop, local presbyterium, and particular local Church.</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2152501"/>
            <a:ext cx="3940373" cy="1272480"/>
          </a:xfrm>
          <a:prstGeom prst="rect">
            <a:avLst/>
          </a:prstGeom>
        </p:spPr>
      </p:pic>
      <p:sp>
        <p:nvSpPr>
          <p:cNvPr id="9" name="Text 5"/>
          <p:cNvSpPr/>
          <p:nvPr/>
        </p:nvSpPr>
        <p:spPr>
          <a:xfrm>
            <a:off x="4877767" y="2311896"/>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Christ-Centered and Marian Identity</a:t>
            </a:r>
            <a:endParaRPr lang="en-US" sz="1300" dirty="0"/>
          </a:p>
        </p:txBody>
      </p:sp>
      <p:sp>
        <p:nvSpPr>
          <p:cNvPr id="10" name="Text 6"/>
          <p:cNvSpPr/>
          <p:nvPr/>
        </p:nvSpPr>
        <p:spPr>
          <a:xfrm>
            <a:off x="4877767" y="2563862"/>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Takes its name from Mary, the "Star of the Morning" (</a:t>
            </a:r>
            <a:r>
              <a:rPr lang="en-US" sz="1100" i="1" dirty="0">
                <a:solidFill>
                  <a:srgbClr val="E5E0DF"/>
                </a:solidFill>
                <a:latin typeface="Barlow" pitchFamily="34" charset="0"/>
                <a:ea typeface="Barlow" pitchFamily="34" charset="-122"/>
                <a:cs typeface="Barlow" pitchFamily="34" charset="-120"/>
              </a:rPr>
              <a:t>Probhatero tara</a:t>
            </a:r>
            <a:r>
              <a:rPr lang="en-US" sz="1100" dirty="0">
                <a:solidFill>
                  <a:srgbClr val="E5E0DF"/>
                </a:solidFill>
                <a:latin typeface="Barlow" pitchFamily="34" charset="0"/>
                <a:ea typeface="Barlow" pitchFamily="34" charset="-122"/>
                <a:cs typeface="Barlow" pitchFamily="34" charset="-120"/>
              </a:rPr>
              <a:t>). Its central spiritual anchor is Matthew 5:16: "Let your Light shine."</a:t>
            </a:r>
            <a:endParaRPr lang="en-US" sz="11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1454" y="3565327"/>
            <a:ext cx="3940373" cy="991791"/>
          </a:xfrm>
          <a:prstGeom prst="rect">
            <a:avLst/>
          </a:prstGeom>
        </p:spPr>
      </p:pic>
      <p:sp>
        <p:nvSpPr>
          <p:cNvPr id="12" name="Text 7"/>
          <p:cNvSpPr/>
          <p:nvPr/>
        </p:nvSpPr>
        <p:spPr>
          <a:xfrm>
            <a:off x="797049" y="3724721"/>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"Men of God" Identity</a:t>
            </a:r>
            <a:endParaRPr lang="en-US" sz="1300" dirty="0"/>
          </a:p>
        </p:txBody>
      </p:sp>
      <p:sp>
        <p:nvSpPr>
          <p:cNvPr id="13" name="Text 8"/>
          <p:cNvSpPr/>
          <p:nvPr/>
        </p:nvSpPr>
        <p:spPr>
          <a:xfrm>
            <a:off x="797049" y="3976688"/>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Dedicated to forming "Men of God and Men for Others" — leaders with a primacy of spiritual concerns, personal experience of God, and a life of simplicity and availability.</a:t>
            </a:r>
            <a:endParaRPr lang="en-US" sz="11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2172" y="3565327"/>
            <a:ext cx="3940373" cy="991791"/>
          </a:xfrm>
          <a:prstGeom prst="rect">
            <a:avLst/>
          </a:prstGeom>
        </p:spPr>
      </p:pic>
      <p:sp>
        <p:nvSpPr>
          <p:cNvPr id="15" name="Text 9"/>
          <p:cNvSpPr/>
          <p:nvPr/>
        </p:nvSpPr>
        <p:spPr>
          <a:xfrm>
            <a:off x="4877767" y="3724721"/>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Unifying Academic Identity</a:t>
            </a:r>
            <a:endParaRPr lang="en-US" sz="1300" dirty="0"/>
          </a:p>
        </p:txBody>
      </p:sp>
      <p:sp>
        <p:nvSpPr>
          <p:cNvPr id="16" name="Text 10"/>
          <p:cNvSpPr/>
          <p:nvPr/>
        </p:nvSpPr>
        <p:spPr>
          <a:xfrm>
            <a:off x="4877767" y="3976688"/>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Affiliated with both </a:t>
            </a:r>
            <a:r>
              <a:rPr lang="en-US" sz="1100" b="1" dirty="0">
                <a:solidFill>
                  <a:srgbClr val="E5E0DF"/>
                </a:solidFill>
                <a:latin typeface="Barlow Bold" pitchFamily="34" charset="0"/>
                <a:ea typeface="Barlow Bold" pitchFamily="34" charset="-122"/>
                <a:cs typeface="Barlow Bold" pitchFamily="34" charset="-120"/>
              </a:rPr>
              <a:t>West Bengal State University</a:t>
            </a:r>
            <a:r>
              <a:rPr lang="en-US" sz="1100" dirty="0">
                <a:solidFill>
                  <a:srgbClr val="E5E0DF"/>
                </a:solidFill>
                <a:latin typeface="Barlow" pitchFamily="34" charset="0"/>
                <a:ea typeface="Barlow" pitchFamily="34" charset="-122"/>
                <a:cs typeface="Barlow" pitchFamily="34" charset="-120"/>
              </a:rPr>
              <a:t> (secular) and the </a:t>
            </a:r>
            <a:r>
              <a:rPr lang="en-US" sz="1100" b="1" dirty="0">
                <a:solidFill>
                  <a:srgbClr val="E5E0DF"/>
                </a:solidFill>
                <a:latin typeface="Barlow Bold" pitchFamily="34" charset="0"/>
                <a:ea typeface="Barlow Bold" pitchFamily="34" charset="-122"/>
                <a:cs typeface="Barlow Bold" pitchFamily="34" charset="-120"/>
              </a:rPr>
              <a:t>Pontifical Athenaeum of Jnana-Deepa, Pune</a:t>
            </a:r>
            <a:r>
              <a:rPr lang="en-US" sz="1100" dirty="0">
                <a:solidFill>
                  <a:srgbClr val="E5E0DF"/>
                </a:solidFill>
                <a:latin typeface="Barlow" pitchFamily="34" charset="0"/>
                <a:ea typeface="Barlow" pitchFamily="34" charset="-122"/>
                <a:cs typeface="Barlow" pitchFamily="34" charset="-120"/>
              </a:rPr>
              <a:t> (theological).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1454" y="429220"/>
            <a:ext cx="8021092" cy="325189"/>
          </a:xfrm>
          <a:prstGeom prst="rect">
            <a:avLst/>
          </a:prstGeom>
          <a:noFill/>
          <a:ln/>
        </p:spPr>
        <p:txBody>
          <a:bodyPr wrap="none" lIns="0" tIns="0" rIns="0" bIns="0" rtlCol="0" anchor="t"/>
          <a:lstStyle/>
          <a:p>
            <a:pPr marL="0" indent="0" algn="l">
              <a:lnSpc>
                <a:spcPct val="83000"/>
              </a:lnSpc>
              <a:buNone/>
            </a:pPr>
            <a:r>
              <a:rPr lang="en-US" sz="2550" dirty="0">
                <a:solidFill>
                  <a:srgbClr val="FFFFFF"/>
                </a:solidFill>
                <a:latin typeface="Fraunces Medium" pitchFamily="34" charset="0"/>
                <a:ea typeface="Fraunces Medium" pitchFamily="34" charset="-122"/>
                <a:cs typeface="Fraunces Medium" pitchFamily="34" charset="-120"/>
              </a:rPr>
              <a:t>The Statutes of Morning Star Regional Seminary</a:t>
            </a:r>
            <a:endParaRPr lang="en-US" sz="2550" dirty="0"/>
          </a:p>
        </p:txBody>
      </p:sp>
      <p:sp>
        <p:nvSpPr>
          <p:cNvPr id="3" name="Text 1"/>
          <p:cNvSpPr/>
          <p:nvPr/>
        </p:nvSpPr>
        <p:spPr>
          <a:xfrm>
            <a:off x="561454" y="1083692"/>
            <a:ext cx="3844677" cy="162595"/>
          </a:xfrm>
          <a:prstGeom prst="rect">
            <a:avLst/>
          </a:prstGeom>
          <a:noFill/>
          <a:ln/>
        </p:spPr>
        <p:txBody>
          <a:bodyPr wrap="none" lIns="0" tIns="0" rIns="0" bIns="0" rtlCol="0" anchor="t"/>
          <a:lstStyle/>
          <a:p>
            <a:pPr marL="0" indent="0" algn="l">
              <a:lnSpc>
                <a:spcPct val="83000"/>
              </a:lnSpc>
              <a:buNone/>
            </a:pPr>
            <a:r>
              <a:rPr lang="en-US" sz="1250" dirty="0">
                <a:solidFill>
                  <a:srgbClr val="FFFFFF"/>
                </a:solidFill>
                <a:latin typeface="Fraunces Medium" pitchFamily="34" charset="0"/>
                <a:ea typeface="Fraunces Medium" pitchFamily="34" charset="-122"/>
                <a:cs typeface="Fraunces Medium" pitchFamily="34" charset="-120"/>
              </a:rPr>
              <a:t>A. Legal &amp; Canonical Statutes</a:t>
            </a:r>
            <a:endParaRPr lang="en-US" sz="12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404" y="1375395"/>
            <a:ext cx="3863727" cy="733797"/>
          </a:xfrm>
          <a:prstGeom prst="rect">
            <a:avLst/>
          </a:prstGeom>
        </p:spPr>
      </p:pic>
      <p:sp>
        <p:nvSpPr>
          <p:cNvPr id="5" name="Text 2"/>
          <p:cNvSpPr/>
          <p:nvPr/>
        </p:nvSpPr>
        <p:spPr>
          <a:xfrm>
            <a:off x="735509" y="1394445"/>
            <a:ext cx="3670622"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Civil Incorporation</a:t>
            </a:r>
            <a:endParaRPr lang="en-US" sz="1250" dirty="0"/>
          </a:p>
        </p:txBody>
      </p:sp>
      <p:sp>
        <p:nvSpPr>
          <p:cNvPr id="6" name="Text 3"/>
          <p:cNvSpPr/>
          <p:nvPr/>
        </p:nvSpPr>
        <p:spPr>
          <a:xfrm>
            <a:off x="735509" y="1688753"/>
            <a:ext cx="3670622" cy="401389"/>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Owned and managed by the Bengal Catholic Priests' Training Institute, registered on </a:t>
            </a:r>
            <a:r>
              <a:rPr lang="en-US" sz="1050" b="1" dirty="0">
                <a:solidFill>
                  <a:srgbClr val="E5E0DF"/>
                </a:solidFill>
                <a:latin typeface="Barlow Bold" pitchFamily="34" charset="0"/>
                <a:ea typeface="Barlow Bold" pitchFamily="34" charset="-122"/>
                <a:cs typeface="Barlow Bold" pitchFamily="34" charset="-120"/>
              </a:rPr>
              <a:t>10 January 1979</a:t>
            </a:r>
            <a:r>
              <a:rPr lang="en-US" sz="1050" dirty="0">
                <a:solidFill>
                  <a:srgbClr val="E5E0DF"/>
                </a:solidFill>
                <a:latin typeface="Barlow" pitchFamily="34" charset="0"/>
                <a:ea typeface="Barlow" pitchFamily="34" charset="-122"/>
                <a:cs typeface="Barlow" pitchFamily="34" charset="-120"/>
              </a:rPr>
              <a:t> under the West Bengal Societies Act XXVI of 1961.</a:t>
            </a:r>
            <a:endParaRPr lang="en-US" sz="10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404" y="2334518"/>
            <a:ext cx="3863727" cy="733797"/>
          </a:xfrm>
          <a:prstGeom prst="rect">
            <a:avLst/>
          </a:prstGeom>
        </p:spPr>
      </p:pic>
      <p:sp>
        <p:nvSpPr>
          <p:cNvPr id="8" name="Text 4"/>
          <p:cNvSpPr/>
          <p:nvPr/>
        </p:nvSpPr>
        <p:spPr>
          <a:xfrm>
            <a:off x="735509" y="2353568"/>
            <a:ext cx="3670622"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Ecclesiastical Authority</a:t>
            </a:r>
            <a:endParaRPr lang="en-US" sz="1250" dirty="0"/>
          </a:p>
        </p:txBody>
      </p:sp>
      <p:sp>
        <p:nvSpPr>
          <p:cNvPr id="9" name="Text 5"/>
          <p:cNvSpPr/>
          <p:nvPr/>
        </p:nvSpPr>
        <p:spPr>
          <a:xfrm>
            <a:off x="735509" y="2647876"/>
            <a:ext cx="3670622" cy="401389"/>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Supreme governance rests with the Governing Board, chaired by the local Ordinary (Bishop of Baruipur), comprising the Bishops of the Bengal Region.</a:t>
            </a:r>
            <a:endParaRPr lang="en-US" sz="10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2404" y="3293641"/>
            <a:ext cx="3863727" cy="600001"/>
          </a:xfrm>
          <a:prstGeom prst="rect">
            <a:avLst/>
          </a:prstGeom>
        </p:spPr>
      </p:pic>
      <p:sp>
        <p:nvSpPr>
          <p:cNvPr id="11" name="Text 6"/>
          <p:cNvSpPr/>
          <p:nvPr/>
        </p:nvSpPr>
        <p:spPr>
          <a:xfrm>
            <a:off x="735509" y="3312691"/>
            <a:ext cx="3670622"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Academic Affiliations</a:t>
            </a:r>
            <a:endParaRPr lang="en-US" sz="1250" dirty="0"/>
          </a:p>
        </p:txBody>
      </p:sp>
      <p:sp>
        <p:nvSpPr>
          <p:cNvPr id="12" name="Text 7"/>
          <p:cNvSpPr/>
          <p:nvPr/>
        </p:nvSpPr>
        <p:spPr>
          <a:xfrm>
            <a:off x="735509" y="3606998"/>
            <a:ext cx="3670622" cy="267593"/>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Secular — WBSU; Theological — Faculty of Theology of Jnana-Deepa, Pune (Decree No. 1130/2002).</a:t>
            </a:r>
            <a:endParaRPr lang="en-US" sz="1050" dirty="0"/>
          </a:p>
        </p:txBody>
      </p:sp>
      <p:sp>
        <p:nvSpPr>
          <p:cNvPr id="13" name="Text 8"/>
          <p:cNvSpPr/>
          <p:nvPr/>
        </p:nvSpPr>
        <p:spPr>
          <a:xfrm>
            <a:off x="4742631" y="1083692"/>
            <a:ext cx="3844677" cy="162595"/>
          </a:xfrm>
          <a:prstGeom prst="rect">
            <a:avLst/>
          </a:prstGeom>
          <a:noFill/>
          <a:ln/>
        </p:spPr>
        <p:txBody>
          <a:bodyPr wrap="none" lIns="0" tIns="0" rIns="0" bIns="0" rtlCol="0" anchor="t"/>
          <a:lstStyle/>
          <a:p>
            <a:pPr marL="0" indent="0" algn="l">
              <a:lnSpc>
                <a:spcPct val="83000"/>
              </a:lnSpc>
              <a:buNone/>
            </a:pPr>
            <a:r>
              <a:rPr lang="en-US" sz="1250" dirty="0">
                <a:solidFill>
                  <a:srgbClr val="FFFFFF"/>
                </a:solidFill>
                <a:latin typeface="Fraunces Medium" pitchFamily="34" charset="0"/>
                <a:ea typeface="Fraunces Medium" pitchFamily="34" charset="-122"/>
                <a:cs typeface="Fraunces Medium" pitchFamily="34" charset="-120"/>
              </a:rPr>
              <a:t>B. Formational Statutes</a:t>
            </a:r>
            <a:endParaRPr lang="en-US" sz="12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3581" y="1375395"/>
            <a:ext cx="3863727" cy="600001"/>
          </a:xfrm>
          <a:prstGeom prst="rect">
            <a:avLst/>
          </a:prstGeom>
        </p:spPr>
      </p:pic>
      <p:sp>
        <p:nvSpPr>
          <p:cNvPr id="15" name="Text 9"/>
          <p:cNvSpPr/>
          <p:nvPr/>
        </p:nvSpPr>
        <p:spPr>
          <a:xfrm>
            <a:off x="4916686" y="1394445"/>
            <a:ext cx="3670622"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Statute of Primacy</a:t>
            </a:r>
            <a:endParaRPr lang="en-US" sz="1250" dirty="0"/>
          </a:p>
        </p:txBody>
      </p:sp>
      <p:sp>
        <p:nvSpPr>
          <p:cNvPr id="16" name="Text 10"/>
          <p:cNvSpPr/>
          <p:nvPr/>
        </p:nvSpPr>
        <p:spPr>
          <a:xfrm>
            <a:off x="4916686" y="1688753"/>
            <a:ext cx="3670622" cy="267593"/>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Absolute primacy to spiritual concerns — daily prayer, Liturgy of the Hours, and the Sacraments.</a:t>
            </a:r>
            <a:endParaRPr lang="en-US" sz="10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3581" y="2200721"/>
            <a:ext cx="3863727" cy="600001"/>
          </a:xfrm>
          <a:prstGeom prst="rect">
            <a:avLst/>
          </a:prstGeom>
        </p:spPr>
      </p:pic>
      <p:sp>
        <p:nvSpPr>
          <p:cNvPr id="18" name="Text 11"/>
          <p:cNvSpPr/>
          <p:nvPr/>
        </p:nvSpPr>
        <p:spPr>
          <a:xfrm>
            <a:off x="4916686" y="2219771"/>
            <a:ext cx="3670622"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Statute of Self-Formation</a:t>
            </a:r>
            <a:endParaRPr lang="en-US" sz="1250" dirty="0"/>
          </a:p>
        </p:txBody>
      </p:sp>
      <p:sp>
        <p:nvSpPr>
          <p:cNvPr id="19" name="Text 12"/>
          <p:cNvSpPr/>
          <p:nvPr/>
        </p:nvSpPr>
        <p:spPr>
          <a:xfrm>
            <a:off x="4916686" y="2514079"/>
            <a:ext cx="3670622" cy="267593"/>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"All formation is essentially self-formation." The seminarian assumes personal responsibility for his own growth.</a:t>
            </a:r>
            <a:endParaRPr lang="en-US" sz="1050" dirty="0"/>
          </a:p>
        </p:txBody>
      </p:sp>
      <p:pic>
        <p:nvPicPr>
          <p:cNvPr id="20"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23581" y="3026048"/>
            <a:ext cx="3863727" cy="733797"/>
          </a:xfrm>
          <a:prstGeom prst="rect">
            <a:avLst/>
          </a:prstGeom>
        </p:spPr>
      </p:pic>
      <p:sp>
        <p:nvSpPr>
          <p:cNvPr id="21" name="Text 13"/>
          <p:cNvSpPr/>
          <p:nvPr/>
        </p:nvSpPr>
        <p:spPr>
          <a:xfrm>
            <a:off x="4916686" y="3045098"/>
            <a:ext cx="3670622"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Statute of Evangelical Poverty</a:t>
            </a:r>
            <a:endParaRPr lang="en-US" sz="1250" dirty="0"/>
          </a:p>
        </p:txBody>
      </p:sp>
      <p:sp>
        <p:nvSpPr>
          <p:cNvPr id="22" name="Text 14"/>
          <p:cNvSpPr/>
          <p:nvPr/>
        </p:nvSpPr>
        <p:spPr>
          <a:xfrm>
            <a:off x="4916686" y="3339405"/>
            <a:ext cx="3670622" cy="401389"/>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Contentment with basic needs, unattachment to consumerist values, and ability to use material things without being possessed by them.</a:t>
            </a:r>
            <a:endParaRPr lang="en-US" sz="1050" dirty="0"/>
          </a:p>
        </p:txBody>
      </p:sp>
      <p:pic>
        <p:nvPicPr>
          <p:cNvPr id="23"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3581" y="3985171"/>
            <a:ext cx="3863727" cy="600001"/>
          </a:xfrm>
          <a:prstGeom prst="rect">
            <a:avLst/>
          </a:prstGeom>
        </p:spPr>
      </p:pic>
      <p:sp>
        <p:nvSpPr>
          <p:cNvPr id="24" name="Text 15"/>
          <p:cNvSpPr/>
          <p:nvPr/>
        </p:nvSpPr>
        <p:spPr>
          <a:xfrm>
            <a:off x="4916686" y="4004221"/>
            <a:ext cx="3670622"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Statute of Integral Evaluation</a:t>
            </a:r>
            <a:endParaRPr lang="en-US" sz="1250" dirty="0"/>
          </a:p>
        </p:txBody>
      </p:sp>
      <p:sp>
        <p:nvSpPr>
          <p:cNvPr id="25" name="Text 16"/>
          <p:cNvSpPr/>
          <p:nvPr/>
        </p:nvSpPr>
        <p:spPr>
          <a:xfrm>
            <a:off x="4916686" y="4298528"/>
            <a:ext cx="3670622" cy="267593"/>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Five pillars — Spirituality, Motivation, Emotional Stability, Inter-Personal Relations, and Priestly Celibacy.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1454" y="160563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Joy of Truth — </a:t>
            </a:r>
            <a:r>
              <a:rPr lang="en-US" sz="2600" i="1" dirty="0">
                <a:solidFill>
                  <a:srgbClr val="FFFFFF"/>
                </a:solidFill>
                <a:latin typeface="Fraunces Medium" pitchFamily="34" charset="0"/>
                <a:ea typeface="Fraunces Medium" pitchFamily="34" charset="-122"/>
                <a:cs typeface="Fraunces Medium" pitchFamily="34" charset="-120"/>
              </a:rPr>
              <a:t>Veritatis Gaudium</a:t>
            </a:r>
            <a:endParaRPr lang="en-US" sz="2600" dirty="0"/>
          </a:p>
        </p:txBody>
      </p:sp>
      <p:sp>
        <p:nvSpPr>
          <p:cNvPr id="3" name="Shape 1"/>
          <p:cNvSpPr/>
          <p:nvPr/>
        </p:nvSpPr>
        <p:spPr>
          <a:xfrm>
            <a:off x="561454" y="2222004"/>
            <a:ext cx="19050" cy="877193"/>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2379911"/>
            <a:ext cx="781057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Joy of Truth expresses the Restlessness of the Human Heart until it encounters and dwells within God's Light and shares that Light with all People. For Truth is not an Abstract Idea, But is </a:t>
            </a:r>
            <a:r>
              <a:rPr lang="en-US" sz="1100" b="1" dirty="0">
                <a:solidFill>
                  <a:srgbClr val="E5E0DF"/>
                </a:solidFill>
                <a:latin typeface="Barlow Bold" pitchFamily="34" charset="0"/>
                <a:ea typeface="Barlow Bold" pitchFamily="34" charset="-122"/>
                <a:cs typeface="Barlow Bold" pitchFamily="34" charset="-120"/>
              </a:rPr>
              <a:t>JESUS Himself</a:t>
            </a:r>
            <a:r>
              <a:rPr lang="en-US" sz="1100" dirty="0">
                <a:solidFill>
                  <a:srgbClr val="E5E0DF"/>
                </a:solidFill>
                <a:latin typeface="Barlow" pitchFamily="34" charset="0"/>
                <a:ea typeface="Barlow" pitchFamily="34" charset="-122"/>
                <a:cs typeface="Barlow" pitchFamily="34" charset="-120"/>
              </a:rPr>
              <a:t>, the Word of God in whom is the Life that is the Light of Wo/Men (cf. Jn 1:4), the Son of God who is also the Son of Man. He alone, in revealing the Mystery of the Father and of His Love, fully reveals Humanity to itself and brings to Light its very High Calling." — </a:t>
            </a:r>
            <a:r>
              <a:rPr lang="en-US" sz="1100" b="1" dirty="0">
                <a:solidFill>
                  <a:srgbClr val="E5E0DF"/>
                </a:solidFill>
                <a:latin typeface="Barlow Bold" pitchFamily="34" charset="0"/>
                <a:ea typeface="Barlow Bold" pitchFamily="34" charset="-122"/>
                <a:cs typeface="Barlow Bold" pitchFamily="34" charset="-120"/>
              </a:rPr>
              <a:t>Veritatis Gaudium 1</a:t>
            </a:r>
            <a:endParaRPr lang="en-US" sz="1100" dirty="0"/>
          </a:p>
        </p:txBody>
      </p:sp>
      <p:sp>
        <p:nvSpPr>
          <p:cNvPr id="5" name="Text 3"/>
          <p:cNvSpPr/>
          <p:nvPr/>
        </p:nvSpPr>
        <p:spPr>
          <a:xfrm>
            <a:off x="561454" y="3257104"/>
            <a:ext cx="8021092"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Plan of Studies for MSRS is inspired by the Directives of </a:t>
            </a:r>
            <a:r>
              <a:rPr lang="en-US" sz="1100" i="1" dirty="0">
                <a:solidFill>
                  <a:srgbClr val="E5E0DF"/>
                </a:solidFill>
                <a:latin typeface="Barlow" pitchFamily="34" charset="0"/>
                <a:ea typeface="Barlow" pitchFamily="34" charset="-122"/>
                <a:cs typeface="Barlow" pitchFamily="34" charset="-120"/>
              </a:rPr>
              <a:t>Veritatis Gaudium</a:t>
            </a:r>
            <a:r>
              <a:rPr lang="en-US" sz="1100" dirty="0">
                <a:solidFill>
                  <a:srgbClr val="E5E0DF"/>
                </a:solidFill>
                <a:latin typeface="Barlow" pitchFamily="34" charset="0"/>
                <a:ea typeface="Barlow" pitchFamily="34" charset="-122"/>
                <a:cs typeface="Barlow" pitchFamily="34" charset="-120"/>
              </a:rPr>
              <a:t>, the </a:t>
            </a:r>
            <a:r>
              <a:rPr lang="en-US" sz="1100" b="1" dirty="0">
                <a:solidFill>
                  <a:srgbClr val="E5E0DF"/>
                </a:solidFill>
                <a:latin typeface="Barlow Bold" pitchFamily="34" charset="0"/>
                <a:ea typeface="Barlow Bold" pitchFamily="34" charset="-122"/>
                <a:cs typeface="Barlow Bold" pitchFamily="34" charset="-120"/>
              </a:rPr>
              <a:t>2017 Apostolic Constitution of Pope Francis</a:t>
            </a:r>
            <a:r>
              <a:rPr lang="en-US" sz="1100" dirty="0">
                <a:solidFill>
                  <a:srgbClr val="E5E0DF"/>
                </a:solidFill>
                <a:latin typeface="Barlow" pitchFamily="34" charset="0"/>
                <a:ea typeface="Barlow" pitchFamily="34" charset="-122"/>
                <a:cs typeface="Barlow" pitchFamily="34" charset="-120"/>
              </a:rPr>
              <a:t>. The Joy of Truth (</a:t>
            </a:r>
            <a:r>
              <a:rPr lang="en-US" sz="1100" i="1" dirty="0">
                <a:solidFill>
                  <a:srgbClr val="E5E0DF"/>
                </a:solidFill>
                <a:latin typeface="Barlow" pitchFamily="34" charset="0"/>
                <a:ea typeface="Barlow" pitchFamily="34" charset="-122"/>
                <a:cs typeface="Barlow" pitchFamily="34" charset="-120"/>
              </a:rPr>
              <a:t>VG</a:t>
            </a:r>
            <a:r>
              <a:rPr lang="en-US" sz="1100" dirty="0">
                <a:solidFill>
                  <a:srgbClr val="E5E0DF"/>
                </a:solidFill>
                <a:latin typeface="Barlow" pitchFamily="34" charset="0"/>
                <a:ea typeface="Barlow" pitchFamily="34" charset="-122"/>
                <a:cs typeface="Barlow" pitchFamily="34" charset="-120"/>
              </a:rPr>
              <a:t>) is the animating spirit of all theological formation at Morning Star.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1454" y="45891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Focus of Morning Star</a:t>
            </a:r>
            <a:endParaRPr lang="en-US" sz="2600" dirty="0"/>
          </a:p>
        </p:txBody>
      </p:sp>
      <p:sp>
        <p:nvSpPr>
          <p:cNvPr id="3" name="Text 1"/>
          <p:cNvSpPr/>
          <p:nvPr/>
        </p:nvSpPr>
        <p:spPr>
          <a:xfrm>
            <a:off x="561454" y="1075283"/>
            <a:ext cx="8021092"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Morning Star is the hands-on, regional workshop where wisdom is translated into pastoral leadership for the specific people of Bengal. The Focus of Morning Star is molded by </a:t>
            </a:r>
            <a:r>
              <a:rPr lang="en-US" sz="1100" b="1" dirty="0">
                <a:solidFill>
                  <a:srgbClr val="E5E0DF"/>
                </a:solidFill>
                <a:latin typeface="Barlow Bold" pitchFamily="34" charset="0"/>
                <a:ea typeface="Barlow Bold" pitchFamily="34" charset="-122"/>
                <a:cs typeface="Barlow Bold" pitchFamily="34" charset="-120"/>
              </a:rPr>
              <a:t>Four Foundational Pillars</a:t>
            </a:r>
            <a:r>
              <a:rPr lang="en-US" sz="1100" dirty="0">
                <a:solidFill>
                  <a:srgbClr val="E5E0DF"/>
                </a:solidFill>
                <a:latin typeface="Barlow" pitchFamily="34" charset="0"/>
                <a:ea typeface="Barlow" pitchFamily="34" charset="-122"/>
                <a:cs typeface="Barlow" pitchFamily="34" charset="-120"/>
              </a:rPr>
              <a:t>:</a:t>
            </a:r>
            <a:endParaRPr lang="en-US" sz="1100" dirty="0"/>
          </a:p>
        </p:txBody>
      </p:sp>
      <p:pic>
        <p:nvPicPr>
          <p:cNvPr id="4" name="Image 0" descr="preencoded.png"/>
          <p:cNvPicPr>
            <a:picLocks noChangeAspect="1"/>
          </p:cNvPicPr>
          <p:nvPr/>
        </p:nvPicPr>
        <p:blipFill>
          <a:blip r:embed="rId3"/>
          <a:stretch>
            <a:fillRect/>
          </a:stretch>
        </p:blipFill>
        <p:spPr>
          <a:xfrm>
            <a:off x="561454" y="1513880"/>
            <a:ext cx="4010546" cy="561454"/>
          </a:xfrm>
          <a:prstGeom prst="rect">
            <a:avLst/>
          </a:prstGeom>
        </p:spPr>
      </p:pic>
      <p:sp>
        <p:nvSpPr>
          <p:cNvPr id="5" name="Text 2"/>
          <p:cNvSpPr/>
          <p:nvPr/>
        </p:nvSpPr>
        <p:spPr>
          <a:xfrm>
            <a:off x="701799" y="2215679"/>
            <a:ext cx="3729856"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Regional Mission</a:t>
            </a:r>
            <a:endParaRPr lang="en-US" sz="1300" dirty="0"/>
          </a:p>
        </p:txBody>
      </p:sp>
      <p:sp>
        <p:nvSpPr>
          <p:cNvPr id="6" name="Text 3"/>
          <p:cNvSpPr/>
          <p:nvPr/>
        </p:nvSpPr>
        <p:spPr>
          <a:xfrm>
            <a:off x="701799" y="2467645"/>
            <a:ext cx="3729856"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Forming "Men of God and men for others" specifically dedicated to the Bengal Region, embodying Diocesan Spirituality.</a:t>
            </a:r>
            <a:endParaRPr lang="en-US" sz="1100" dirty="0"/>
          </a:p>
        </p:txBody>
      </p:sp>
      <p:pic>
        <p:nvPicPr>
          <p:cNvPr id="7" name="Image 1" descr="preencoded.png"/>
          <p:cNvPicPr>
            <a:picLocks noChangeAspect="1"/>
          </p:cNvPicPr>
          <p:nvPr/>
        </p:nvPicPr>
        <p:blipFill>
          <a:blip r:embed="rId4"/>
          <a:stretch>
            <a:fillRect/>
          </a:stretch>
        </p:blipFill>
        <p:spPr>
          <a:xfrm>
            <a:off x="4572000" y="1513880"/>
            <a:ext cx="4010546" cy="561454"/>
          </a:xfrm>
          <a:prstGeom prst="rect">
            <a:avLst/>
          </a:prstGeom>
        </p:spPr>
      </p:pic>
      <p:sp>
        <p:nvSpPr>
          <p:cNvPr id="8" name="Text 4"/>
          <p:cNvSpPr/>
          <p:nvPr/>
        </p:nvSpPr>
        <p:spPr>
          <a:xfrm>
            <a:off x="4712345" y="2215679"/>
            <a:ext cx="3729856"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Contextual Dialogue</a:t>
            </a:r>
            <a:endParaRPr lang="en-US" sz="1300" dirty="0"/>
          </a:p>
        </p:txBody>
      </p:sp>
      <p:sp>
        <p:nvSpPr>
          <p:cNvPr id="9" name="Text 5"/>
          <p:cNvSpPr/>
          <p:nvPr/>
        </p:nvSpPr>
        <p:spPr>
          <a:xfrm>
            <a:off x="4712345" y="2467645"/>
            <a:ext cx="3729856"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Equipping students to proclaim the Gospel through deliberate Inculturation — mastering vernacular languages (Bengali, Santali, Nepali, Hindi) and engaging in meaningful interfaith dialogue.</a:t>
            </a:r>
            <a:endParaRPr lang="en-US" sz="1100" dirty="0"/>
          </a:p>
        </p:txBody>
      </p:sp>
      <p:pic>
        <p:nvPicPr>
          <p:cNvPr id="10" name="Image 2" descr="preencoded.png"/>
          <p:cNvPicPr>
            <a:picLocks noChangeAspect="1"/>
          </p:cNvPicPr>
          <p:nvPr/>
        </p:nvPicPr>
        <p:blipFill>
          <a:blip r:embed="rId5"/>
          <a:stretch>
            <a:fillRect/>
          </a:stretch>
        </p:blipFill>
        <p:spPr>
          <a:xfrm>
            <a:off x="561454" y="3169369"/>
            <a:ext cx="4010546" cy="561454"/>
          </a:xfrm>
          <a:prstGeom prst="rect">
            <a:avLst/>
          </a:prstGeom>
        </p:spPr>
      </p:pic>
      <p:sp>
        <p:nvSpPr>
          <p:cNvPr id="11" name="Text 6"/>
          <p:cNvSpPr/>
          <p:nvPr/>
        </p:nvSpPr>
        <p:spPr>
          <a:xfrm>
            <a:off x="701799" y="3871168"/>
            <a:ext cx="3729856"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Integrated Formation</a:t>
            </a:r>
            <a:endParaRPr lang="en-US" sz="1300" dirty="0"/>
          </a:p>
        </p:txBody>
      </p:sp>
      <p:sp>
        <p:nvSpPr>
          <p:cNvPr id="12" name="Text 7"/>
          <p:cNvSpPr/>
          <p:nvPr/>
        </p:nvSpPr>
        <p:spPr>
          <a:xfrm>
            <a:off x="701799" y="4123134"/>
            <a:ext cx="3729856"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 seamless integrated academic structure where B.A., Philosophy, and Theology are woven into a unified curriculum.</a:t>
            </a:r>
            <a:endParaRPr lang="en-US" sz="1100" dirty="0"/>
          </a:p>
        </p:txBody>
      </p:sp>
      <p:pic>
        <p:nvPicPr>
          <p:cNvPr id="13" name="Image 3" descr="preencoded.png"/>
          <p:cNvPicPr>
            <a:picLocks noChangeAspect="1"/>
          </p:cNvPicPr>
          <p:nvPr/>
        </p:nvPicPr>
        <p:blipFill>
          <a:blip r:embed="rId6"/>
          <a:stretch>
            <a:fillRect/>
          </a:stretch>
        </p:blipFill>
        <p:spPr>
          <a:xfrm>
            <a:off x="4572000" y="3169369"/>
            <a:ext cx="4010546" cy="561454"/>
          </a:xfrm>
          <a:prstGeom prst="rect">
            <a:avLst/>
          </a:prstGeom>
        </p:spPr>
      </p:pic>
      <p:sp>
        <p:nvSpPr>
          <p:cNvPr id="14" name="Text 8"/>
          <p:cNvSpPr/>
          <p:nvPr/>
        </p:nvSpPr>
        <p:spPr>
          <a:xfrm>
            <a:off x="4712345" y="3871168"/>
            <a:ext cx="3729856"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Collaborative Governance</a:t>
            </a:r>
            <a:endParaRPr lang="en-US" sz="1300" dirty="0"/>
          </a:p>
        </p:txBody>
      </p:sp>
      <p:sp>
        <p:nvSpPr>
          <p:cNvPr id="15" name="Text 9"/>
          <p:cNvSpPr/>
          <p:nvPr/>
        </p:nvSpPr>
        <p:spPr>
          <a:xfrm>
            <a:off x="4712345" y="4123134"/>
            <a:ext cx="3729856"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Networking and collaboration between the eight Bishops of the Bengal Region, Religious Congregations, and the seminary staff.</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1454" y="1403598"/>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Theological Themes</a:t>
            </a:r>
            <a:endParaRPr lang="en-US" sz="2600" dirty="0"/>
          </a:p>
        </p:txBody>
      </p:sp>
      <p:sp>
        <p:nvSpPr>
          <p:cNvPr id="3" name="Shape 1"/>
          <p:cNvSpPr/>
          <p:nvPr/>
        </p:nvSpPr>
        <p:spPr>
          <a:xfrm>
            <a:off x="561454" y="2019970"/>
            <a:ext cx="2580084" cy="1719858"/>
          </a:xfrm>
          <a:prstGeom prst="roundRect">
            <a:avLst>
              <a:gd name="adj" fmla="val 3428"/>
            </a:avLst>
          </a:prstGeom>
          <a:solidFill>
            <a:srgbClr val="790709"/>
          </a:solidFill>
          <a:ln w="4763">
            <a:solidFill>
              <a:srgbClr val="922022"/>
            </a:solidFill>
            <a:prstDash val="solid"/>
          </a:ln>
        </p:spPr>
        <p:txBody>
          <a:bodyPr/>
          <a:lstStyle/>
          <a:p>
            <a:endParaRPr lang="en-IN"/>
          </a:p>
        </p:txBody>
      </p:sp>
      <p:sp>
        <p:nvSpPr>
          <p:cNvPr id="4" name="Text 2"/>
          <p:cNvSpPr/>
          <p:nvPr/>
        </p:nvSpPr>
        <p:spPr>
          <a:xfrm>
            <a:off x="706562" y="2165077"/>
            <a:ext cx="2289870" cy="503411"/>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Theme 1: God in History, Response of Faiths &amp; Christian Vision of Life</a:t>
            </a:r>
            <a:endParaRPr lang="en-US" sz="1300" dirty="0"/>
          </a:p>
        </p:txBody>
      </p:sp>
      <p:sp>
        <p:nvSpPr>
          <p:cNvPr id="5" name="Text 3"/>
          <p:cNvSpPr/>
          <p:nvPr/>
        </p:nvSpPr>
        <p:spPr>
          <a:xfrm>
            <a:off x="706562" y="2752651"/>
            <a:ext cx="2289870" cy="84207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Reflecting on Faith Experience in the South Asian/Indian Context; Situating ourselves with the Human Quest for Meaning; Highlighting the Plight of the Poor — Adivasis, Dalits, Women, Children and the Exploited Earth.</a:t>
            </a:r>
            <a:endParaRPr lang="en-US" sz="1100" dirty="0"/>
          </a:p>
        </p:txBody>
      </p:sp>
      <p:sp>
        <p:nvSpPr>
          <p:cNvPr id="6" name="Shape 4"/>
          <p:cNvSpPr/>
          <p:nvPr/>
        </p:nvSpPr>
        <p:spPr>
          <a:xfrm>
            <a:off x="3281883" y="2019970"/>
            <a:ext cx="2580159" cy="1719858"/>
          </a:xfrm>
          <a:prstGeom prst="roundRect">
            <a:avLst>
              <a:gd name="adj" fmla="val 3428"/>
            </a:avLst>
          </a:prstGeom>
          <a:solidFill>
            <a:srgbClr val="790709"/>
          </a:solidFill>
          <a:ln w="4763">
            <a:solidFill>
              <a:srgbClr val="922022"/>
            </a:solidFill>
            <a:prstDash val="solid"/>
          </a:ln>
        </p:spPr>
        <p:txBody>
          <a:bodyPr/>
          <a:lstStyle/>
          <a:p>
            <a:endParaRPr lang="en-IN"/>
          </a:p>
        </p:txBody>
      </p:sp>
      <p:sp>
        <p:nvSpPr>
          <p:cNvPr id="7" name="Text 5"/>
          <p:cNvSpPr/>
          <p:nvPr/>
        </p:nvSpPr>
        <p:spPr>
          <a:xfrm>
            <a:off x="3426991" y="2165077"/>
            <a:ext cx="2289944" cy="503411"/>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Theme 2: God in Jesus Christ, Church &amp; Sacraments</a:t>
            </a:r>
            <a:endParaRPr lang="en-US" sz="1300" dirty="0"/>
          </a:p>
        </p:txBody>
      </p:sp>
      <p:sp>
        <p:nvSpPr>
          <p:cNvPr id="8" name="Text 6"/>
          <p:cNvSpPr/>
          <p:nvPr/>
        </p:nvSpPr>
        <p:spPr>
          <a:xfrm>
            <a:off x="3426991" y="2752651"/>
            <a:ext cx="2289944"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God's Special and Central Revelation in Jesus Christ; The Church — the Mystical Body of Christ — functions as Seed, Servant and Sacrament of God's Kingdom.</a:t>
            </a:r>
            <a:endParaRPr lang="en-US" sz="1100" dirty="0"/>
          </a:p>
        </p:txBody>
      </p:sp>
      <p:sp>
        <p:nvSpPr>
          <p:cNvPr id="9" name="Shape 7"/>
          <p:cNvSpPr/>
          <p:nvPr/>
        </p:nvSpPr>
        <p:spPr>
          <a:xfrm>
            <a:off x="6002387" y="2019970"/>
            <a:ext cx="2580159" cy="1719858"/>
          </a:xfrm>
          <a:prstGeom prst="roundRect">
            <a:avLst>
              <a:gd name="adj" fmla="val 3428"/>
            </a:avLst>
          </a:prstGeom>
          <a:solidFill>
            <a:srgbClr val="790709"/>
          </a:solidFill>
          <a:ln w="4763">
            <a:solidFill>
              <a:srgbClr val="922022"/>
            </a:solidFill>
            <a:prstDash val="solid"/>
          </a:ln>
        </p:spPr>
        <p:txBody>
          <a:bodyPr/>
          <a:lstStyle/>
          <a:p>
            <a:endParaRPr lang="en-IN"/>
          </a:p>
        </p:txBody>
      </p:sp>
      <p:sp>
        <p:nvSpPr>
          <p:cNvPr id="10" name="Text 8"/>
          <p:cNvSpPr/>
          <p:nvPr/>
        </p:nvSpPr>
        <p:spPr>
          <a:xfrm>
            <a:off x="6147495" y="2165077"/>
            <a:ext cx="2289944" cy="503411"/>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Theme 3: Christian Call to Love and Serve Church &amp; World</a:t>
            </a:r>
            <a:endParaRPr lang="en-US" sz="1300" dirty="0"/>
          </a:p>
        </p:txBody>
      </p:sp>
      <p:sp>
        <p:nvSpPr>
          <p:cNvPr id="11" name="Text 9"/>
          <p:cNvSpPr/>
          <p:nvPr/>
        </p:nvSpPr>
        <p:spPr>
          <a:xfrm>
            <a:off x="6147495" y="2752651"/>
            <a:ext cx="2289944"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Pastoral and Ethical Questions, as well as Global Concerns that threaten Life; Reflection on a Spirituality to deal with the Issues and Problems that confront us Today.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1454" y="150599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Principal / Basic Courses</a:t>
            </a:r>
            <a:endParaRPr lang="en-US" sz="2600" dirty="0"/>
          </a:p>
        </p:txBody>
      </p:sp>
      <p:sp>
        <p:nvSpPr>
          <p:cNvPr id="3" name="Text 1"/>
          <p:cNvSpPr/>
          <p:nvPr/>
        </p:nvSpPr>
        <p:spPr>
          <a:xfrm>
            <a:off x="561454" y="2192536"/>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Core Theological Disciplines</a:t>
            </a:r>
            <a:endParaRPr lang="en-US" sz="1300" dirty="0"/>
          </a:p>
        </p:txBody>
      </p:sp>
      <p:sp>
        <p:nvSpPr>
          <p:cNvPr id="4" name="Text 2"/>
          <p:cNvSpPr/>
          <p:nvPr/>
        </p:nvSpPr>
        <p:spPr>
          <a:xfrm>
            <a:off x="561454" y="2500685"/>
            <a:ext cx="3839319" cy="1087636"/>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Sacred Scripture</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Fundamental Theology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Dogmatic / Systematic Theology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Pastoral and Moral Theology, Liturgy, Canon Law</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Church History, Patrology, Mission, Ecumenism, Dialogue</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Spiritual Theology; Auxiliary Courses; Optional Courses</a:t>
            </a:r>
            <a:endParaRPr lang="en-US" sz="1100" dirty="0"/>
          </a:p>
        </p:txBody>
      </p:sp>
      <p:sp>
        <p:nvSpPr>
          <p:cNvPr id="5" name="Text 3"/>
          <p:cNvSpPr/>
          <p:nvPr/>
        </p:nvSpPr>
        <p:spPr>
          <a:xfrm>
            <a:off x="4747989" y="2192536"/>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Other Basic Requirements</a:t>
            </a:r>
            <a:endParaRPr lang="en-US" sz="1300" dirty="0"/>
          </a:p>
        </p:txBody>
      </p:sp>
      <p:sp>
        <p:nvSpPr>
          <p:cNvPr id="6" name="Text 4"/>
          <p:cNvSpPr/>
          <p:nvPr/>
        </p:nvSpPr>
        <p:spPr>
          <a:xfrm>
            <a:off x="4747989" y="2500685"/>
            <a:ext cx="3839319" cy="898178"/>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Dissertation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Theological Seminar</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Contextual Theological Project</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Ad Auds</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Final Comprehensive Exam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1454" y="150599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Looking Ahead — Course Overview</a:t>
            </a:r>
            <a:endParaRPr lang="en-US" sz="2600" dirty="0"/>
          </a:p>
        </p:txBody>
      </p:sp>
      <p:sp>
        <p:nvSpPr>
          <p:cNvPr id="3" name="Text 1"/>
          <p:cNvSpPr/>
          <p:nvPr/>
        </p:nvSpPr>
        <p:spPr>
          <a:xfrm>
            <a:off x="561454" y="2192536"/>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Content Outline</a:t>
            </a:r>
            <a:endParaRPr lang="en-US" sz="1300" dirty="0"/>
          </a:p>
        </p:txBody>
      </p:sp>
      <p:sp>
        <p:nvSpPr>
          <p:cNvPr id="4" name="Text 2"/>
          <p:cNvSpPr/>
          <p:nvPr/>
        </p:nvSpPr>
        <p:spPr>
          <a:xfrm>
            <a:off x="561454" y="2500685"/>
            <a:ext cx="3839319" cy="1087636"/>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What is Theology?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Sources of Theology; Resources of Theology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Historical Models of Theology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Contextualizing in India</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Important Concepts</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Method in Research and Writing</a:t>
            </a:r>
            <a:endParaRPr lang="en-US" sz="1100" dirty="0"/>
          </a:p>
        </p:txBody>
      </p:sp>
      <p:sp>
        <p:nvSpPr>
          <p:cNvPr id="5" name="Text 3"/>
          <p:cNvSpPr/>
          <p:nvPr/>
        </p:nvSpPr>
        <p:spPr>
          <a:xfrm>
            <a:off x="4747989" y="2192536"/>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Evaluation Structure</a:t>
            </a:r>
            <a:endParaRPr lang="en-US" sz="1300" dirty="0"/>
          </a:p>
        </p:txBody>
      </p:sp>
      <p:sp>
        <p:nvSpPr>
          <p:cNvPr id="6" name="Text 4"/>
          <p:cNvSpPr/>
          <p:nvPr/>
        </p:nvSpPr>
        <p:spPr>
          <a:xfrm>
            <a:off x="4747989" y="2500685"/>
            <a:ext cx="3839319" cy="519261"/>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Evaluation: Attention, Attendance, Articulation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Continuous Internal Assessments: </a:t>
            </a:r>
            <a:r>
              <a:rPr lang="en-US" sz="1100" b="1" dirty="0">
                <a:solidFill>
                  <a:srgbClr val="E5E0DF"/>
                </a:solidFill>
                <a:latin typeface="Barlow Bold" pitchFamily="34" charset="0"/>
                <a:ea typeface="Barlow Bold" pitchFamily="34" charset="-122"/>
                <a:cs typeface="Barlow Bold" pitchFamily="34" charset="-120"/>
              </a:rPr>
              <a:t>10 Marks × 4</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An Oral Exam for </a:t>
            </a:r>
            <a:r>
              <a:rPr lang="en-US" sz="1100" b="1" dirty="0">
                <a:solidFill>
                  <a:srgbClr val="E5E0DF"/>
                </a:solidFill>
                <a:latin typeface="Barlow Bold" pitchFamily="34" charset="0"/>
                <a:ea typeface="Barlow Bold" pitchFamily="34" charset="-122"/>
                <a:cs typeface="Barlow Bold" pitchFamily="34" charset="-120"/>
              </a:rPr>
              <a:t>60 Marks</a:t>
            </a:r>
            <a:r>
              <a:rPr lang="en-US" sz="1100" dirty="0">
                <a:solidFill>
                  <a:srgbClr val="E5E0DF"/>
                </a:solidFill>
                <a:latin typeface="Barlow" pitchFamily="34" charset="0"/>
                <a:ea typeface="Barlow" pitchFamily="34" charset="-122"/>
                <a:cs typeface="Barlow" pitchFamily="34" charset="-120"/>
              </a:rPr>
              <a:t> in the Stipulated Time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1454" y="765051"/>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What Is Theology? — Deeper Exploration</a:t>
            </a:r>
            <a:endParaRPr lang="en-US" sz="2600" dirty="0"/>
          </a:p>
        </p:txBody>
      </p:sp>
      <p:sp>
        <p:nvSpPr>
          <p:cNvPr id="3" name="Text 1"/>
          <p:cNvSpPr/>
          <p:nvPr/>
        </p:nvSpPr>
        <p:spPr>
          <a:xfrm>
            <a:off x="561454" y="1156841"/>
            <a:ext cx="8021092"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What Theology Is NOT</a:t>
            </a:r>
            <a:endParaRPr lang="en-US" sz="1300" dirty="0"/>
          </a:p>
        </p:txBody>
      </p:sp>
      <p:sp>
        <p:nvSpPr>
          <p:cNvPr id="4" name="Text 2"/>
          <p:cNvSpPr/>
          <p:nvPr/>
        </p:nvSpPr>
        <p:spPr>
          <a:xfrm>
            <a:off x="561454" y="1535162"/>
            <a:ext cx="8478292" cy="140345"/>
          </a:xfrm>
          <a:prstGeom prst="rect">
            <a:avLst/>
          </a:prstGeom>
          <a:noFill/>
          <a:ln/>
        </p:spPr>
        <p:txBody>
          <a:bodyPr wrap="none" lIns="0" tIns="0" rIns="0" bIns="0" rtlCol="0" anchor="t"/>
          <a:lstStyle/>
          <a:p>
            <a:pPr marL="0" indent="0" algn="l">
              <a:lnSpc>
                <a:spcPct val="83000"/>
              </a:lnSpc>
              <a:buNone/>
            </a:pPr>
            <a:r>
              <a:rPr lang="en-US" sz="1100" strike="sngStrike" dirty="0">
                <a:solidFill>
                  <a:srgbClr val="E5E0DF"/>
                </a:solidFill>
                <a:latin typeface="Barlow" pitchFamily="34" charset="0"/>
                <a:ea typeface="Barlow" pitchFamily="34" charset="-122"/>
                <a:cs typeface="Barlow" pitchFamily="34" charset="-120"/>
              </a:rPr>
              <a:t>Brainwashing</a:t>
            </a:r>
            <a:r>
              <a:rPr lang="en-US" sz="1100" dirty="0">
                <a:solidFill>
                  <a:srgbClr val="E5E0DF"/>
                </a:solidFill>
                <a:latin typeface="Barlow" pitchFamily="34" charset="0"/>
                <a:ea typeface="Barlow" pitchFamily="34" charset="-122"/>
                <a:cs typeface="Barlow" pitchFamily="34" charset="-120"/>
              </a:rPr>
              <a:t>   </a:t>
            </a:r>
            <a:r>
              <a:rPr lang="en-US" sz="1100" strike="sngStrike" dirty="0">
                <a:solidFill>
                  <a:srgbClr val="E5E0DF"/>
                </a:solidFill>
                <a:latin typeface="Barlow" pitchFamily="34" charset="0"/>
                <a:ea typeface="Barlow" pitchFamily="34" charset="-122"/>
                <a:cs typeface="Barlow" pitchFamily="34" charset="-120"/>
              </a:rPr>
              <a:t>Adult Catechism</a:t>
            </a:r>
            <a:r>
              <a:rPr lang="en-US" sz="1100" dirty="0">
                <a:solidFill>
                  <a:srgbClr val="E5E0DF"/>
                </a:solidFill>
                <a:latin typeface="Barlow" pitchFamily="34" charset="0"/>
                <a:ea typeface="Barlow" pitchFamily="34" charset="-122"/>
                <a:cs typeface="Barlow" pitchFamily="34" charset="-120"/>
              </a:rPr>
              <a:t>   </a:t>
            </a:r>
            <a:r>
              <a:rPr lang="en-US" sz="1100" strike="sngStrike" dirty="0">
                <a:solidFill>
                  <a:srgbClr val="E5E0DF"/>
                </a:solidFill>
                <a:latin typeface="Barlow" pitchFamily="34" charset="0"/>
                <a:ea typeface="Barlow" pitchFamily="34" charset="-122"/>
                <a:cs typeface="Barlow" pitchFamily="34" charset="-120"/>
              </a:rPr>
              <a:t>Merely a Comprehensive Knowledge of Basic Christian Doctrines</a:t>
            </a:r>
            <a:endParaRPr lang="en-US" sz="1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833414"/>
            <a:ext cx="3940373" cy="1132136"/>
          </a:xfrm>
          <a:prstGeom prst="rect">
            <a:avLst/>
          </a:prstGeom>
        </p:spPr>
      </p:pic>
      <p:sp>
        <p:nvSpPr>
          <p:cNvPr id="6" name="Text 3"/>
          <p:cNvSpPr/>
          <p:nvPr/>
        </p:nvSpPr>
        <p:spPr>
          <a:xfrm>
            <a:off x="797049" y="1992809"/>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Process of Transformation</a:t>
            </a:r>
            <a:endParaRPr lang="en-US" sz="1300" dirty="0"/>
          </a:p>
        </p:txBody>
      </p:sp>
      <p:sp>
        <p:nvSpPr>
          <p:cNvPr id="7" name="Text 4"/>
          <p:cNvSpPr/>
          <p:nvPr/>
        </p:nvSpPr>
        <p:spPr>
          <a:xfrm>
            <a:off x="797049" y="2244775"/>
            <a:ext cx="3545384"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Information ⇒ Formation ⇒ Transformation. We deal with Basic Questions Humans raise about Life, World and God.</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1833414"/>
            <a:ext cx="3940373" cy="1132136"/>
          </a:xfrm>
          <a:prstGeom prst="rect">
            <a:avLst/>
          </a:prstGeom>
        </p:spPr>
      </p:pic>
      <p:sp>
        <p:nvSpPr>
          <p:cNvPr id="9" name="Text 5"/>
          <p:cNvSpPr/>
          <p:nvPr/>
        </p:nvSpPr>
        <p:spPr>
          <a:xfrm>
            <a:off x="4877767" y="1992809"/>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Etymology: Theos + Logos</a:t>
            </a:r>
            <a:endParaRPr lang="en-US" sz="1300" dirty="0"/>
          </a:p>
        </p:txBody>
      </p:sp>
      <p:sp>
        <p:nvSpPr>
          <p:cNvPr id="10" name="Text 6"/>
          <p:cNvSpPr/>
          <p:nvPr/>
        </p:nvSpPr>
        <p:spPr>
          <a:xfrm>
            <a:off x="4877767" y="2244775"/>
            <a:ext cx="354538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 Discourse on God, Science of God, God-Talk. Christian Theology = Discussion on Trinitarian and Christological Doctrines; Interpreting Sacred Scripture and Christian Doctrines.</a:t>
            </a:r>
            <a:endParaRPr lang="en-US" sz="11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1454" y="3105894"/>
            <a:ext cx="3940373" cy="1272480"/>
          </a:xfrm>
          <a:prstGeom prst="rect">
            <a:avLst/>
          </a:prstGeom>
        </p:spPr>
      </p:pic>
      <p:sp>
        <p:nvSpPr>
          <p:cNvPr id="12" name="Text 7"/>
          <p:cNvSpPr/>
          <p:nvPr/>
        </p:nvSpPr>
        <p:spPr>
          <a:xfrm>
            <a:off x="797049" y="3265289"/>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 Absolute Mysteries (Rahner)</a:t>
            </a:r>
            <a:endParaRPr lang="en-US" sz="1300" dirty="0"/>
          </a:p>
        </p:txBody>
      </p:sp>
      <p:sp>
        <p:nvSpPr>
          <p:cNvPr id="13" name="Text 8"/>
          <p:cNvSpPr/>
          <p:nvPr/>
        </p:nvSpPr>
        <p:spPr>
          <a:xfrm>
            <a:off x="797049" y="3517255"/>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only really Absolute Mysteries in Christianity are </a:t>
            </a:r>
            <a:r>
              <a:rPr lang="en-US" sz="1100" b="1" dirty="0">
                <a:solidFill>
                  <a:srgbClr val="E5E0DF"/>
                </a:solidFill>
                <a:latin typeface="Barlow Bold" pitchFamily="34" charset="0"/>
                <a:ea typeface="Barlow Bold" pitchFamily="34" charset="-122"/>
                <a:cs typeface="Barlow Bold" pitchFamily="34" charset="-120"/>
              </a:rPr>
              <a:t>Grace</a:t>
            </a:r>
            <a:r>
              <a:rPr lang="en-US" sz="1100" dirty="0">
                <a:solidFill>
                  <a:srgbClr val="E5E0DF"/>
                </a:solidFill>
                <a:latin typeface="Barlow" pitchFamily="34" charset="0"/>
                <a:ea typeface="Barlow" pitchFamily="34" charset="-122"/>
                <a:cs typeface="Barlow" pitchFamily="34" charset="-120"/>
              </a:rPr>
              <a:t> and </a:t>
            </a:r>
            <a:r>
              <a:rPr lang="en-US" sz="1100" b="1" dirty="0">
                <a:solidFill>
                  <a:srgbClr val="E5E0DF"/>
                </a:solidFill>
                <a:latin typeface="Barlow Bold" pitchFamily="34" charset="0"/>
                <a:ea typeface="Barlow Bold" pitchFamily="34" charset="-122"/>
                <a:cs typeface="Barlow Bold" pitchFamily="34" charset="-120"/>
              </a:rPr>
              <a:t>Christ</a:t>
            </a:r>
            <a:r>
              <a:rPr lang="en-US" sz="1100" dirty="0">
                <a:solidFill>
                  <a:srgbClr val="E5E0DF"/>
                </a:solidFill>
                <a:latin typeface="Barlow" pitchFamily="34" charset="0"/>
                <a:ea typeface="Barlow" pitchFamily="34" charset="-122"/>
                <a:cs typeface="Barlow" pitchFamily="34" charset="-120"/>
              </a:rPr>
              <a:t> — The Self-Communication of God in the Depths of Existence (Grace) and in History (Christ).</a:t>
            </a:r>
            <a:endParaRPr lang="en-US" sz="11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2172" y="3105894"/>
            <a:ext cx="3940373" cy="1272480"/>
          </a:xfrm>
          <a:prstGeom prst="rect">
            <a:avLst/>
          </a:prstGeom>
        </p:spPr>
      </p:pic>
      <p:sp>
        <p:nvSpPr>
          <p:cNvPr id="15" name="Text 9"/>
          <p:cNvSpPr/>
          <p:nvPr/>
        </p:nvSpPr>
        <p:spPr>
          <a:xfrm>
            <a:off x="4877767" y="3265289"/>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Prophetic Core (M. M. Thomas)</a:t>
            </a:r>
            <a:endParaRPr lang="en-US" sz="1300" dirty="0"/>
          </a:p>
        </p:txBody>
      </p:sp>
      <p:sp>
        <p:nvSpPr>
          <p:cNvPr id="16" name="Text 10"/>
          <p:cNvSpPr/>
          <p:nvPr/>
        </p:nvSpPr>
        <p:spPr>
          <a:xfrm>
            <a:off x="4877767" y="3517255"/>
            <a:ext cx="3545384"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Christian Theology is anchored on the Prophetic Core: "The Message that God has acted in a Unique Way in a Secular Historic Event namely the Incarnation, Life, Death and Resurrection of Jesus Christ, to inaugurate His Kingdom."</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1454" y="1360884"/>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 God-Question: The Existence of God</a:t>
            </a:r>
            <a:endParaRPr lang="en-US" sz="2600" dirty="0"/>
          </a:p>
        </p:txBody>
      </p:sp>
      <p:sp>
        <p:nvSpPr>
          <p:cNvPr id="3" name="Shape 1"/>
          <p:cNvSpPr/>
          <p:nvPr/>
        </p:nvSpPr>
        <p:spPr>
          <a:xfrm>
            <a:off x="561454" y="1977256"/>
            <a:ext cx="8021092" cy="1805285"/>
          </a:xfrm>
          <a:prstGeom prst="roundRect">
            <a:avLst>
              <a:gd name="adj" fmla="val 3266"/>
            </a:avLst>
          </a:prstGeom>
          <a:solidFill>
            <a:srgbClr val="790709"/>
          </a:solidFill>
          <a:ln w="4763">
            <a:solidFill>
              <a:srgbClr val="922022"/>
            </a:solidFill>
            <a:prstDash val="solid"/>
          </a:ln>
        </p:spPr>
        <p:txBody>
          <a:bodyPr/>
          <a:lstStyle/>
          <a:p>
            <a:endParaRPr lang="en-IN"/>
          </a:p>
        </p:txBody>
      </p:sp>
      <p:sp>
        <p:nvSpPr>
          <p:cNvPr id="4" name="Shape 2"/>
          <p:cNvSpPr/>
          <p:nvPr/>
        </p:nvSpPr>
        <p:spPr>
          <a:xfrm>
            <a:off x="566217" y="1982019"/>
            <a:ext cx="2670497" cy="1795760"/>
          </a:xfrm>
          <a:prstGeom prst="rect">
            <a:avLst/>
          </a:prstGeom>
          <a:solidFill>
            <a:srgbClr val="790709"/>
          </a:solidFill>
          <a:ln/>
        </p:spPr>
        <p:txBody>
          <a:bodyPr/>
          <a:lstStyle/>
          <a:p>
            <a:endParaRPr lang="en-IN"/>
          </a:p>
        </p:txBody>
      </p:sp>
      <p:sp>
        <p:nvSpPr>
          <p:cNvPr id="5" name="Text 3"/>
          <p:cNvSpPr/>
          <p:nvPr/>
        </p:nvSpPr>
        <p:spPr>
          <a:xfrm>
            <a:off x="706562" y="2122363"/>
            <a:ext cx="238980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 Atheistic View</a:t>
            </a:r>
            <a:endParaRPr lang="en-US" sz="1300" dirty="0"/>
          </a:p>
        </p:txBody>
      </p:sp>
      <p:sp>
        <p:nvSpPr>
          <p:cNvPr id="6" name="Text 4"/>
          <p:cNvSpPr/>
          <p:nvPr/>
        </p:nvSpPr>
        <p:spPr>
          <a:xfrm>
            <a:off x="706562" y="2374329"/>
            <a:ext cx="2389808" cy="84207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Rejects the Existence of God. The "Masters of Suspicion" — Feuerbach, Marx, Nietzsche, Freud — challenge theistic claims from philosophical, sociological, and psychological perspectives.</a:t>
            </a:r>
            <a:endParaRPr lang="en-US" sz="1100" dirty="0"/>
          </a:p>
        </p:txBody>
      </p:sp>
      <p:sp>
        <p:nvSpPr>
          <p:cNvPr id="7" name="Shape 5"/>
          <p:cNvSpPr/>
          <p:nvPr/>
        </p:nvSpPr>
        <p:spPr>
          <a:xfrm>
            <a:off x="3236714" y="1982019"/>
            <a:ext cx="2670497" cy="1795760"/>
          </a:xfrm>
          <a:prstGeom prst="rect">
            <a:avLst/>
          </a:prstGeom>
          <a:solidFill>
            <a:srgbClr val="790709"/>
          </a:solidFill>
          <a:ln/>
        </p:spPr>
        <p:txBody>
          <a:bodyPr/>
          <a:lstStyle/>
          <a:p>
            <a:endParaRPr lang="en-IN"/>
          </a:p>
        </p:txBody>
      </p:sp>
      <p:sp>
        <p:nvSpPr>
          <p:cNvPr id="8" name="Shape 6"/>
          <p:cNvSpPr/>
          <p:nvPr/>
        </p:nvSpPr>
        <p:spPr>
          <a:xfrm>
            <a:off x="3236714" y="1982019"/>
            <a:ext cx="19050" cy="1795760"/>
          </a:xfrm>
          <a:prstGeom prst="roundRect">
            <a:avLst>
              <a:gd name="adj" fmla="val 309474"/>
            </a:avLst>
          </a:prstGeom>
          <a:solidFill>
            <a:srgbClr val="922022"/>
          </a:solidFill>
          <a:ln/>
        </p:spPr>
        <p:txBody>
          <a:bodyPr/>
          <a:lstStyle/>
          <a:p>
            <a:endParaRPr lang="en-IN"/>
          </a:p>
        </p:txBody>
      </p:sp>
      <p:sp>
        <p:nvSpPr>
          <p:cNvPr id="9" name="Text 7"/>
          <p:cNvSpPr/>
          <p:nvPr/>
        </p:nvSpPr>
        <p:spPr>
          <a:xfrm>
            <a:off x="3377059" y="2122363"/>
            <a:ext cx="238980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B. Agnostic View</a:t>
            </a:r>
            <a:endParaRPr lang="en-US" sz="1300" dirty="0"/>
          </a:p>
        </p:txBody>
      </p:sp>
      <p:sp>
        <p:nvSpPr>
          <p:cNvPr id="10" name="Text 8"/>
          <p:cNvSpPr/>
          <p:nvPr/>
        </p:nvSpPr>
        <p:spPr>
          <a:xfrm>
            <a:off x="3377059" y="2374329"/>
            <a:ext cx="2389808"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Do not know whether God exists or Not. Suspends judgment on the question of God's existence, neither affirming nor denying.</a:t>
            </a:r>
            <a:endParaRPr lang="en-US" sz="1100" dirty="0"/>
          </a:p>
        </p:txBody>
      </p:sp>
      <p:sp>
        <p:nvSpPr>
          <p:cNvPr id="11" name="Shape 9"/>
          <p:cNvSpPr/>
          <p:nvPr/>
        </p:nvSpPr>
        <p:spPr>
          <a:xfrm>
            <a:off x="5907212" y="1982019"/>
            <a:ext cx="2670497" cy="1795760"/>
          </a:xfrm>
          <a:prstGeom prst="rect">
            <a:avLst/>
          </a:prstGeom>
          <a:solidFill>
            <a:srgbClr val="790709"/>
          </a:solidFill>
          <a:ln/>
        </p:spPr>
        <p:txBody>
          <a:bodyPr/>
          <a:lstStyle/>
          <a:p>
            <a:endParaRPr lang="en-IN"/>
          </a:p>
        </p:txBody>
      </p:sp>
      <p:sp>
        <p:nvSpPr>
          <p:cNvPr id="12" name="Shape 10"/>
          <p:cNvSpPr/>
          <p:nvPr/>
        </p:nvSpPr>
        <p:spPr>
          <a:xfrm>
            <a:off x="5907212" y="1982019"/>
            <a:ext cx="19050" cy="1795760"/>
          </a:xfrm>
          <a:prstGeom prst="roundRect">
            <a:avLst>
              <a:gd name="adj" fmla="val 309474"/>
            </a:avLst>
          </a:prstGeom>
          <a:solidFill>
            <a:srgbClr val="922022"/>
          </a:solidFill>
          <a:ln/>
        </p:spPr>
        <p:txBody>
          <a:bodyPr/>
          <a:lstStyle/>
          <a:p>
            <a:endParaRPr lang="en-IN"/>
          </a:p>
        </p:txBody>
      </p:sp>
      <p:sp>
        <p:nvSpPr>
          <p:cNvPr id="13" name="Text 11"/>
          <p:cNvSpPr/>
          <p:nvPr/>
        </p:nvSpPr>
        <p:spPr>
          <a:xfrm>
            <a:off x="6047556" y="2122363"/>
            <a:ext cx="238980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 Theistic View</a:t>
            </a:r>
            <a:endParaRPr lang="en-US" sz="1300" dirty="0"/>
          </a:p>
        </p:txBody>
      </p:sp>
      <p:sp>
        <p:nvSpPr>
          <p:cNvPr id="14" name="Text 12"/>
          <p:cNvSpPr/>
          <p:nvPr/>
        </p:nvSpPr>
        <p:spPr>
          <a:xfrm>
            <a:off x="6047556" y="2374329"/>
            <a:ext cx="2389808" cy="126310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Speaks of a Personal God who is the Origin of the Universe and of Humankind. "Our Holy Mother, the Church, holds and teaches that God, the First Principle and Last End of All Things, can be known with Certainty from the Created World by the Natural Light of Human Reason" (</a:t>
            </a:r>
            <a:r>
              <a:rPr lang="en-US" sz="1100" i="1" dirty="0">
                <a:solidFill>
                  <a:srgbClr val="E5E0DF"/>
                </a:solidFill>
                <a:latin typeface="Barlow" pitchFamily="34" charset="0"/>
                <a:ea typeface="Barlow" pitchFamily="34" charset="-122"/>
                <a:cs typeface="Barlow" pitchFamily="34" charset="-120"/>
              </a:rPr>
              <a:t>Dei Filius</a:t>
            </a:r>
            <a:r>
              <a:rPr lang="en-US" sz="1100" dirty="0">
                <a:solidFill>
                  <a:srgbClr val="E5E0DF"/>
                </a:solidFill>
                <a:latin typeface="Barlow" pitchFamily="34" charset="0"/>
                <a:ea typeface="Barlow" pitchFamily="34" charset="-122"/>
                <a:cs typeface="Barlow" pitchFamily="34" charset="-120"/>
              </a:rPr>
              <a:t> 2; </a:t>
            </a:r>
            <a:r>
              <a:rPr lang="en-US" sz="1100" i="1" dirty="0">
                <a:solidFill>
                  <a:srgbClr val="E5E0DF"/>
                </a:solidFill>
                <a:latin typeface="Barlow" pitchFamily="34" charset="0"/>
                <a:ea typeface="Barlow" pitchFamily="34" charset="-122"/>
                <a:cs typeface="Barlow" pitchFamily="34" charset="-120"/>
              </a:rPr>
              <a:t>Dei Verbum</a:t>
            </a:r>
            <a:r>
              <a:rPr lang="en-US" sz="1100" dirty="0">
                <a:solidFill>
                  <a:srgbClr val="E5E0DF"/>
                </a:solidFill>
                <a:latin typeface="Barlow" pitchFamily="34" charset="0"/>
                <a:ea typeface="Barlow" pitchFamily="34" charset="-122"/>
                <a:cs typeface="Barlow" pitchFamily="34" charset="-120"/>
              </a:rPr>
              <a:t> 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1454" y="1492523"/>
            <a:ext cx="8021092" cy="671364"/>
          </a:xfrm>
          <a:prstGeom prst="rect">
            <a:avLst/>
          </a:prstGeom>
          <a:noFill/>
          <a:ln/>
        </p:spPr>
        <p:txBody>
          <a:bodyPr wrap="square" lIns="0" tIns="0" rIns="0" bIns="0" rtlCol="0" anchor="t">
            <a:normAutofit/>
          </a:bodyPr>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Nature of Theological Language — Dual Path of Theological Assertion</a:t>
            </a:r>
            <a:endParaRPr lang="en-US" sz="2600" dirty="0"/>
          </a:p>
        </p:txBody>
      </p:sp>
      <p:sp>
        <p:nvSpPr>
          <p:cNvPr id="3" name="Shape 1"/>
          <p:cNvSpPr/>
          <p:nvPr/>
        </p:nvSpPr>
        <p:spPr>
          <a:xfrm>
            <a:off x="460400" y="2374404"/>
            <a:ext cx="4041428" cy="1276499"/>
          </a:xfrm>
          <a:prstGeom prst="roundRect">
            <a:avLst>
              <a:gd name="adj" fmla="val 7917"/>
            </a:avLst>
          </a:prstGeom>
          <a:solidFill>
            <a:srgbClr val="F65F62">
              <a:alpha val="95000"/>
            </a:srgbClr>
          </a:solidFill>
          <a:ln/>
        </p:spPr>
        <p:txBody>
          <a:bodyPr/>
          <a:lstStyle/>
          <a:p>
            <a:endParaRPr lang="en-IN"/>
          </a:p>
        </p:txBody>
      </p:sp>
      <p:sp>
        <p:nvSpPr>
          <p:cNvPr id="4" name="Text 2"/>
          <p:cNvSpPr/>
          <p:nvPr/>
        </p:nvSpPr>
        <p:spPr>
          <a:xfrm>
            <a:off x="600745" y="2514749"/>
            <a:ext cx="3760738" cy="167804"/>
          </a:xfrm>
          <a:prstGeom prst="rect">
            <a:avLst/>
          </a:prstGeom>
          <a:noFill/>
          <a:ln/>
        </p:spPr>
        <p:txBody>
          <a:bodyPr wrap="none" lIns="0" tIns="0" rIns="0" bIns="0" rtlCol="0" anchor="t"/>
          <a:lstStyle/>
          <a:p>
            <a:pPr marL="0" indent="0" algn="l">
              <a:lnSpc>
                <a:spcPct val="83000"/>
              </a:lnSpc>
              <a:buNone/>
            </a:pPr>
            <a:r>
              <a:rPr lang="en-US" sz="1300" dirty="0">
                <a:solidFill>
                  <a:srgbClr val="000000"/>
                </a:solidFill>
                <a:latin typeface="Fraunces Medium" pitchFamily="34" charset="0"/>
                <a:ea typeface="Fraunces Medium" pitchFamily="34" charset="-122"/>
                <a:cs typeface="Fraunces Medium" pitchFamily="34" charset="-120"/>
              </a:rPr>
              <a:t>A. The Apophatic Way</a:t>
            </a:r>
            <a:endParaRPr lang="en-US" sz="1300" dirty="0"/>
          </a:p>
        </p:txBody>
      </p:sp>
      <p:sp>
        <p:nvSpPr>
          <p:cNvPr id="5" name="Text 3"/>
          <p:cNvSpPr/>
          <p:nvPr/>
        </p:nvSpPr>
        <p:spPr>
          <a:xfrm>
            <a:off x="600745" y="2822897"/>
            <a:ext cx="3760738"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000000"/>
                </a:solidFill>
                <a:latin typeface="Barlow" pitchFamily="34" charset="0"/>
                <a:ea typeface="Barlow" pitchFamily="34" charset="-122"/>
                <a:cs typeface="Barlow" pitchFamily="34" charset="-120"/>
              </a:rPr>
              <a:t>Often termed the </a:t>
            </a:r>
            <a:r>
              <a:rPr lang="en-US" sz="1100" b="1" dirty="0">
                <a:solidFill>
                  <a:srgbClr val="000000"/>
                </a:solidFill>
                <a:latin typeface="Barlow Bold" pitchFamily="34" charset="0"/>
                <a:ea typeface="Barlow Bold" pitchFamily="34" charset="-122"/>
                <a:cs typeface="Barlow Bold" pitchFamily="34" charset="-120"/>
              </a:rPr>
              <a:t>'Negative Way'</a:t>
            </a:r>
            <a:r>
              <a:rPr lang="en-US" sz="1100" dirty="0">
                <a:solidFill>
                  <a:srgbClr val="000000"/>
                </a:solidFill>
                <a:latin typeface="Barlow" pitchFamily="34" charset="0"/>
                <a:ea typeface="Barlow" pitchFamily="34" charset="-122"/>
                <a:cs typeface="Barlow" pitchFamily="34" charset="-120"/>
              </a:rPr>
              <a:t> — </a:t>
            </a:r>
            <a:r>
              <a:rPr lang="en-US" sz="1100" i="1" dirty="0">
                <a:solidFill>
                  <a:srgbClr val="000000"/>
                </a:solidFill>
                <a:latin typeface="Barlow" pitchFamily="34" charset="0"/>
                <a:ea typeface="Barlow" pitchFamily="34" charset="-122"/>
                <a:cs typeface="Barlow" pitchFamily="34" charset="-120"/>
              </a:rPr>
              <a:t>Neti-Neti</a:t>
            </a:r>
            <a:r>
              <a:rPr lang="en-US" sz="1100" dirty="0">
                <a:solidFill>
                  <a:srgbClr val="000000"/>
                </a:solidFill>
                <a:latin typeface="Barlow" pitchFamily="34" charset="0"/>
                <a:ea typeface="Barlow" pitchFamily="34" charset="-122"/>
                <a:cs typeface="Barlow" pitchFamily="34" charset="-120"/>
              </a:rPr>
              <a:t> (Not this, Not this) — </a:t>
            </a:r>
            <a:r>
              <a:rPr lang="en-US" sz="1100" i="1" dirty="0">
                <a:solidFill>
                  <a:srgbClr val="000000"/>
                </a:solidFill>
                <a:latin typeface="Barlow" pitchFamily="34" charset="0"/>
                <a:ea typeface="Barlow" pitchFamily="34" charset="-122"/>
                <a:cs typeface="Barlow" pitchFamily="34" charset="-120"/>
              </a:rPr>
              <a:t>Nada-Nada</a:t>
            </a:r>
            <a:r>
              <a:rPr lang="en-US" sz="1100" dirty="0">
                <a:solidFill>
                  <a:srgbClr val="000000"/>
                </a:solidFill>
                <a:latin typeface="Barlow" pitchFamily="34" charset="0"/>
                <a:ea typeface="Barlow" pitchFamily="34" charset="-122"/>
                <a:cs typeface="Barlow" pitchFamily="34" charset="-120"/>
              </a:rPr>
              <a:t>. This path points out the Inadequacy of all Attempts to describe the Absolute Mystery of God. God transcends all human categories and concepts.</a:t>
            </a:r>
            <a:endParaRPr lang="en-US" sz="1100" dirty="0"/>
          </a:p>
        </p:txBody>
      </p:sp>
      <p:sp>
        <p:nvSpPr>
          <p:cNvPr id="6" name="Text 4"/>
          <p:cNvSpPr/>
          <p:nvPr/>
        </p:nvSpPr>
        <p:spPr>
          <a:xfrm>
            <a:off x="4747989" y="2514749"/>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B. The Cataphatic Way</a:t>
            </a:r>
            <a:endParaRPr lang="en-US" sz="1300" dirty="0"/>
          </a:p>
        </p:txBody>
      </p:sp>
      <p:sp>
        <p:nvSpPr>
          <p:cNvPr id="7" name="Text 5"/>
          <p:cNvSpPr/>
          <p:nvPr/>
        </p:nvSpPr>
        <p:spPr>
          <a:xfrm>
            <a:off x="4747989" y="2822897"/>
            <a:ext cx="3839319"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a:t>
            </a:r>
            <a:r>
              <a:rPr lang="en-US" sz="1100" b="1" dirty="0">
                <a:solidFill>
                  <a:srgbClr val="E5E0DF"/>
                </a:solidFill>
                <a:latin typeface="Barlow Bold" pitchFamily="34" charset="0"/>
                <a:ea typeface="Barlow Bold" pitchFamily="34" charset="-122"/>
                <a:cs typeface="Barlow Bold" pitchFamily="34" charset="-120"/>
              </a:rPr>
              <a:t>'Positive Way'</a:t>
            </a:r>
            <a:r>
              <a:rPr lang="en-US" sz="1100" dirty="0">
                <a:solidFill>
                  <a:srgbClr val="E5E0DF"/>
                </a:solidFill>
                <a:latin typeface="Barlow" pitchFamily="34" charset="0"/>
                <a:ea typeface="Barlow" pitchFamily="34" charset="-122"/>
                <a:cs typeface="Barlow" pitchFamily="34" charset="-120"/>
              </a:rPr>
              <a:t> that asserts God's Revelation as Comprehensible and posits Predicates of this Revelation: Father, Shepherd, King, Judge. This path affirms that God has genuinely communicated Godself in ways accessible to human understanding.</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1454" y="126273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Can We Speak of God?</a:t>
            </a:r>
            <a:endParaRPr lang="en-US" sz="2600" dirty="0"/>
          </a:p>
        </p:txBody>
      </p:sp>
      <p:sp>
        <p:nvSpPr>
          <p:cNvPr id="3" name="Shape 1"/>
          <p:cNvSpPr/>
          <p:nvPr/>
        </p:nvSpPr>
        <p:spPr>
          <a:xfrm>
            <a:off x="561454" y="1879104"/>
            <a:ext cx="2580084" cy="2001664"/>
          </a:xfrm>
          <a:prstGeom prst="roundRect">
            <a:avLst>
              <a:gd name="adj" fmla="val 2945"/>
            </a:avLst>
          </a:prstGeom>
          <a:solidFill>
            <a:srgbClr val="191718">
              <a:alpha val="95000"/>
            </a:srgbClr>
          </a:solidFill>
          <a:ln w="19050">
            <a:solidFill>
              <a:srgbClr val="922022"/>
            </a:solidFill>
            <a:prstDash val="solid"/>
          </a:ln>
        </p:spPr>
        <p:txBody>
          <a:bodyPr/>
          <a:lstStyle/>
          <a:p>
            <a:endParaRPr lang="en-IN"/>
          </a:p>
        </p:txBody>
      </p:sp>
      <p:sp>
        <p:nvSpPr>
          <p:cNvPr id="4" name="Text 2"/>
          <p:cNvSpPr/>
          <p:nvPr/>
        </p:nvSpPr>
        <p:spPr>
          <a:xfrm>
            <a:off x="720849" y="2038499"/>
            <a:ext cx="226129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 Classical Hindu Tradition</a:t>
            </a:r>
            <a:endParaRPr lang="en-US" sz="1300" dirty="0"/>
          </a:p>
        </p:txBody>
      </p:sp>
      <p:sp>
        <p:nvSpPr>
          <p:cNvPr id="5" name="Text 3"/>
          <p:cNvSpPr/>
          <p:nvPr/>
        </p:nvSpPr>
        <p:spPr>
          <a:xfrm>
            <a:off x="720849" y="2290465"/>
            <a:ext cx="2261295" cy="561380"/>
          </a:xfrm>
          <a:prstGeom prst="rect">
            <a:avLst/>
          </a:prstGeom>
          <a:noFill/>
          <a:ln/>
        </p:spPr>
        <p:txBody>
          <a:bodyPr wrap="square" lIns="0" tIns="0" rIns="0" bIns="0" rtlCol="0" anchor="t">
            <a:normAutofit/>
          </a:bodyPr>
          <a:lstStyle/>
          <a:p>
            <a:pPr marL="0" indent="0" algn="l">
              <a:lnSpc>
                <a:spcPct val="83000"/>
              </a:lnSpc>
              <a:buNone/>
            </a:pPr>
            <a:r>
              <a:rPr lang="en-US" sz="1100" i="1" dirty="0">
                <a:solidFill>
                  <a:srgbClr val="E5E0DF"/>
                </a:solidFill>
                <a:latin typeface="Barlow" pitchFamily="34" charset="0"/>
                <a:ea typeface="Barlow" pitchFamily="34" charset="-122"/>
                <a:cs typeface="Barlow" pitchFamily="34" charset="-120"/>
              </a:rPr>
              <a:t>Neti Neti</a:t>
            </a:r>
            <a:r>
              <a:rPr lang="en-US" sz="1100" dirty="0">
                <a:solidFill>
                  <a:srgbClr val="E5E0DF"/>
                </a:solidFill>
                <a:latin typeface="Barlow" pitchFamily="34" charset="0"/>
                <a:ea typeface="Barlow" pitchFamily="34" charset="-122"/>
                <a:cs typeface="Barlow" pitchFamily="34" charset="-120"/>
              </a:rPr>
              <a:t> — "Not this, Not this." The Absolute (Brahman) transcends all predication and conceptual formulation.</a:t>
            </a:r>
            <a:endParaRPr lang="en-US" sz="1100" dirty="0"/>
          </a:p>
        </p:txBody>
      </p:sp>
      <p:sp>
        <p:nvSpPr>
          <p:cNvPr id="6" name="Shape 4"/>
          <p:cNvSpPr/>
          <p:nvPr/>
        </p:nvSpPr>
        <p:spPr>
          <a:xfrm>
            <a:off x="3281883" y="1879104"/>
            <a:ext cx="2580159" cy="2001664"/>
          </a:xfrm>
          <a:prstGeom prst="roundRect">
            <a:avLst>
              <a:gd name="adj" fmla="val 2945"/>
            </a:avLst>
          </a:prstGeom>
          <a:solidFill>
            <a:srgbClr val="191718">
              <a:alpha val="95000"/>
            </a:srgbClr>
          </a:solidFill>
          <a:ln w="19050">
            <a:solidFill>
              <a:srgbClr val="922022"/>
            </a:solidFill>
            <a:prstDash val="solid"/>
          </a:ln>
        </p:spPr>
        <p:txBody>
          <a:bodyPr/>
          <a:lstStyle/>
          <a:p>
            <a:endParaRPr lang="en-IN"/>
          </a:p>
        </p:txBody>
      </p:sp>
      <p:sp>
        <p:nvSpPr>
          <p:cNvPr id="7" name="Text 5"/>
          <p:cNvSpPr/>
          <p:nvPr/>
        </p:nvSpPr>
        <p:spPr>
          <a:xfrm>
            <a:off x="3441278" y="2038499"/>
            <a:ext cx="226136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B. Mystical Traditions and Classical Theology</a:t>
            </a:r>
            <a:endParaRPr lang="en-US" sz="1300" dirty="0"/>
          </a:p>
        </p:txBody>
      </p:sp>
      <p:sp>
        <p:nvSpPr>
          <p:cNvPr id="8" name="Text 6"/>
          <p:cNvSpPr/>
          <p:nvPr/>
        </p:nvSpPr>
        <p:spPr>
          <a:xfrm>
            <a:off x="3441278" y="2458269"/>
            <a:ext cx="2261369" cy="126310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Deny the Possibility of positively speaking about God (</a:t>
            </a:r>
            <a:r>
              <a:rPr lang="en-US" sz="1100" i="1" dirty="0">
                <a:solidFill>
                  <a:srgbClr val="E5E0DF"/>
                </a:solidFill>
                <a:latin typeface="Barlow" pitchFamily="34" charset="0"/>
                <a:ea typeface="Barlow" pitchFamily="34" charset="-122"/>
                <a:cs typeface="Barlow" pitchFamily="34" charset="-120"/>
              </a:rPr>
              <a:t>The Cloud of Unknowing</a:t>
            </a:r>
            <a:r>
              <a:rPr lang="en-US" sz="1100" dirty="0">
                <a:solidFill>
                  <a:srgbClr val="E5E0DF"/>
                </a:solidFill>
                <a:latin typeface="Barlow" pitchFamily="34" charset="0"/>
                <a:ea typeface="Barlow" pitchFamily="34" charset="-122"/>
                <a:cs typeface="Barlow" pitchFamily="34" charset="-120"/>
              </a:rPr>
              <a:t>). "The Moment we speak of God, God ceases to exist." God is invisible (Rom 1:20; Col 1:15), incomprehensible (Ps 139:6; Job 36:26), His Thoughts unfathomable (Rom 11:33-36), dwelling in unapproachable Light (1 Tim 6:16).</a:t>
            </a:r>
            <a:endParaRPr lang="en-US" sz="1100" dirty="0"/>
          </a:p>
        </p:txBody>
      </p:sp>
      <p:sp>
        <p:nvSpPr>
          <p:cNvPr id="9" name="Shape 7"/>
          <p:cNvSpPr/>
          <p:nvPr/>
        </p:nvSpPr>
        <p:spPr>
          <a:xfrm>
            <a:off x="6002387" y="1879104"/>
            <a:ext cx="2580159" cy="2001664"/>
          </a:xfrm>
          <a:prstGeom prst="roundRect">
            <a:avLst>
              <a:gd name="adj" fmla="val 2945"/>
            </a:avLst>
          </a:prstGeom>
          <a:solidFill>
            <a:srgbClr val="191718">
              <a:alpha val="95000"/>
            </a:srgbClr>
          </a:solidFill>
          <a:ln w="19050">
            <a:solidFill>
              <a:srgbClr val="922022"/>
            </a:solidFill>
            <a:prstDash val="solid"/>
          </a:ln>
        </p:spPr>
        <p:txBody>
          <a:bodyPr/>
          <a:lstStyle/>
          <a:p>
            <a:endParaRPr lang="en-IN"/>
          </a:p>
        </p:txBody>
      </p:sp>
      <p:sp>
        <p:nvSpPr>
          <p:cNvPr id="10" name="Text 8"/>
          <p:cNvSpPr/>
          <p:nvPr/>
        </p:nvSpPr>
        <p:spPr>
          <a:xfrm>
            <a:off x="6161782" y="2038499"/>
            <a:ext cx="226136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 Biblical and Mainline Christian Tradition</a:t>
            </a:r>
            <a:endParaRPr lang="en-US" sz="1300" dirty="0"/>
          </a:p>
        </p:txBody>
      </p:sp>
      <p:sp>
        <p:nvSpPr>
          <p:cNvPr id="11" name="Text 9"/>
          <p:cNvSpPr/>
          <p:nvPr/>
        </p:nvSpPr>
        <p:spPr>
          <a:xfrm>
            <a:off x="6161782" y="2458269"/>
            <a:ext cx="2261369" cy="84207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Affirms that we </a:t>
            </a:r>
            <a:r>
              <a:rPr lang="en-US" sz="1100" b="1" dirty="0">
                <a:solidFill>
                  <a:srgbClr val="E5E0DF"/>
                </a:solidFill>
                <a:latin typeface="Barlow Bold" pitchFamily="34" charset="0"/>
                <a:ea typeface="Barlow Bold" pitchFamily="34" charset="-122"/>
                <a:cs typeface="Barlow Bold" pitchFamily="34" charset="-120"/>
              </a:rPr>
              <a:t>can</a:t>
            </a:r>
            <a:r>
              <a:rPr lang="en-US" sz="1100" dirty="0">
                <a:solidFill>
                  <a:srgbClr val="E5E0DF"/>
                </a:solidFill>
                <a:latin typeface="Barlow" pitchFamily="34" charset="0"/>
                <a:ea typeface="Barlow" pitchFamily="34" charset="-122"/>
                <a:cs typeface="Barlow" pitchFamily="34" charset="-120"/>
              </a:rPr>
              <a:t> speak about God. For that we use Religious Symbolic Language: Love, Light, Father, Shepherd. God's self-disclosure in history makes meaningful God-talk possible.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1454" y="122053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Knowledge of God as Analogical</a:t>
            </a:r>
            <a:endParaRPr lang="en-US" sz="2600" dirty="0"/>
          </a:p>
        </p:txBody>
      </p:sp>
      <p:sp>
        <p:nvSpPr>
          <p:cNvPr id="3" name="Shape 1"/>
          <p:cNvSpPr/>
          <p:nvPr/>
        </p:nvSpPr>
        <p:spPr>
          <a:xfrm>
            <a:off x="561454" y="1836911"/>
            <a:ext cx="2580084" cy="2085975"/>
          </a:xfrm>
          <a:prstGeom prst="roundRect">
            <a:avLst>
              <a:gd name="adj" fmla="val 2826"/>
            </a:avLst>
          </a:prstGeom>
          <a:solidFill>
            <a:srgbClr val="790709"/>
          </a:solidFill>
          <a:ln w="4763">
            <a:solidFill>
              <a:srgbClr val="922022"/>
            </a:solidFill>
            <a:prstDash val="solid"/>
          </a:ln>
        </p:spPr>
        <p:txBody>
          <a:bodyPr/>
          <a:lstStyle/>
          <a:p>
            <a:endParaRPr lang="en-IN"/>
          </a:p>
        </p:txBody>
      </p:sp>
      <p:sp>
        <p:nvSpPr>
          <p:cNvPr id="4" name="Text 2"/>
          <p:cNvSpPr/>
          <p:nvPr/>
        </p:nvSpPr>
        <p:spPr>
          <a:xfrm>
            <a:off x="706562" y="1982019"/>
            <a:ext cx="2289870"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 Univocal</a:t>
            </a:r>
            <a:endParaRPr lang="en-US" sz="1300" dirty="0"/>
          </a:p>
        </p:txBody>
      </p:sp>
      <p:sp>
        <p:nvSpPr>
          <p:cNvPr id="5" name="Text 3"/>
          <p:cNvSpPr/>
          <p:nvPr/>
        </p:nvSpPr>
        <p:spPr>
          <a:xfrm>
            <a:off x="706562" y="2233985"/>
            <a:ext cx="2289870"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 Word or Term having Only One Possible Meaning; Unambiguous. Examples: Six, Mango, Horse. Univocal language cannot adequately describe God.</a:t>
            </a:r>
            <a:endParaRPr lang="en-US" sz="1100" dirty="0"/>
          </a:p>
        </p:txBody>
      </p:sp>
      <p:sp>
        <p:nvSpPr>
          <p:cNvPr id="6" name="Shape 4"/>
          <p:cNvSpPr/>
          <p:nvPr/>
        </p:nvSpPr>
        <p:spPr>
          <a:xfrm>
            <a:off x="3281883" y="1836911"/>
            <a:ext cx="2580159" cy="2085975"/>
          </a:xfrm>
          <a:prstGeom prst="roundRect">
            <a:avLst>
              <a:gd name="adj" fmla="val 2826"/>
            </a:avLst>
          </a:prstGeom>
          <a:solidFill>
            <a:srgbClr val="790709"/>
          </a:solidFill>
          <a:ln w="4763">
            <a:solidFill>
              <a:srgbClr val="922022"/>
            </a:solidFill>
            <a:prstDash val="solid"/>
          </a:ln>
        </p:spPr>
        <p:txBody>
          <a:bodyPr/>
          <a:lstStyle/>
          <a:p>
            <a:endParaRPr lang="en-IN"/>
          </a:p>
        </p:txBody>
      </p:sp>
      <p:sp>
        <p:nvSpPr>
          <p:cNvPr id="7" name="Text 5"/>
          <p:cNvSpPr/>
          <p:nvPr/>
        </p:nvSpPr>
        <p:spPr>
          <a:xfrm>
            <a:off x="3426991" y="1982019"/>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B. Equivocal</a:t>
            </a:r>
            <a:endParaRPr lang="en-US" sz="1300" dirty="0"/>
          </a:p>
        </p:txBody>
      </p:sp>
      <p:sp>
        <p:nvSpPr>
          <p:cNvPr id="8" name="Text 6"/>
          <p:cNvSpPr/>
          <p:nvPr/>
        </p:nvSpPr>
        <p:spPr>
          <a:xfrm>
            <a:off x="3426991" y="2233985"/>
            <a:ext cx="2289944"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Same Word or Language may be used of entirely different Things. Examples: Bank, Ring, Punch, Trunk, Foot, Mobile. Equivocal language creates confusion about God.</a:t>
            </a:r>
            <a:endParaRPr lang="en-US" sz="1100" dirty="0"/>
          </a:p>
        </p:txBody>
      </p:sp>
      <p:sp>
        <p:nvSpPr>
          <p:cNvPr id="9" name="Shape 7"/>
          <p:cNvSpPr/>
          <p:nvPr/>
        </p:nvSpPr>
        <p:spPr>
          <a:xfrm>
            <a:off x="6002387" y="1836911"/>
            <a:ext cx="2580159" cy="2085975"/>
          </a:xfrm>
          <a:prstGeom prst="roundRect">
            <a:avLst>
              <a:gd name="adj" fmla="val 2826"/>
            </a:avLst>
          </a:prstGeom>
          <a:solidFill>
            <a:srgbClr val="790709"/>
          </a:solidFill>
          <a:ln w="4763">
            <a:solidFill>
              <a:srgbClr val="922022"/>
            </a:solidFill>
            <a:prstDash val="solid"/>
          </a:ln>
        </p:spPr>
        <p:txBody>
          <a:bodyPr/>
          <a:lstStyle/>
          <a:p>
            <a:endParaRPr lang="en-IN"/>
          </a:p>
        </p:txBody>
      </p:sp>
      <p:sp>
        <p:nvSpPr>
          <p:cNvPr id="10" name="Text 8"/>
          <p:cNvSpPr/>
          <p:nvPr/>
        </p:nvSpPr>
        <p:spPr>
          <a:xfrm>
            <a:off x="6147495" y="1982019"/>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 Analogical</a:t>
            </a:r>
            <a:endParaRPr lang="en-US" sz="1300" dirty="0"/>
          </a:p>
        </p:txBody>
      </p:sp>
      <p:sp>
        <p:nvSpPr>
          <p:cNvPr id="11" name="Text 9"/>
          <p:cNvSpPr/>
          <p:nvPr/>
        </p:nvSpPr>
        <p:spPr>
          <a:xfrm>
            <a:off x="6147495" y="2233985"/>
            <a:ext cx="2289944" cy="154379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Analogy is used to explain the Ontological Relationship between the Creator and the Created and for the Possibility of knowing God by Reason. Examples: Father, Mother, Shepherd. Creation is the Expression of Love of God; It reflects the Rays of God's Perfection and Beauty. Hence, from the Created Order we can know something about God. </a:t>
            </a:r>
            <a:r>
              <a:rPr lang="en-US" sz="1100" b="1" dirty="0">
                <a:solidFill>
                  <a:srgbClr val="E5E0DF"/>
                </a:solidFill>
                <a:latin typeface="Barlow Bold" pitchFamily="34" charset="0"/>
                <a:ea typeface="Barlow Bold" pitchFamily="34" charset="-122"/>
                <a:cs typeface="Barlow Bold" pitchFamily="34" charset="-120"/>
              </a:rPr>
              <a:t>We can speak of God.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1454" y="1264221"/>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God-Experience</a:t>
            </a:r>
            <a:endParaRPr lang="en-US" sz="2600" dirty="0"/>
          </a:p>
        </p:txBody>
      </p:sp>
      <p:sp>
        <p:nvSpPr>
          <p:cNvPr id="3" name="Text 1"/>
          <p:cNvSpPr/>
          <p:nvPr/>
        </p:nvSpPr>
        <p:spPr>
          <a:xfrm>
            <a:off x="561454" y="1880592"/>
            <a:ext cx="8021092"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is an Articulation of God Experience. </a:t>
            </a:r>
            <a:r>
              <a:rPr lang="en-US" sz="1100" b="1" dirty="0">
                <a:solidFill>
                  <a:srgbClr val="E5E0DF"/>
                </a:solidFill>
                <a:latin typeface="Barlow Bold" pitchFamily="34" charset="0"/>
                <a:ea typeface="Barlow Bold" pitchFamily="34" charset="-122"/>
                <a:cs typeface="Barlow Bold" pitchFamily="34" charset="-120"/>
              </a:rPr>
              <a:t>Religious Experience = The Intimate and Immediate Awareness of Being Touched or Gripped by the Divine.</a:t>
            </a:r>
            <a:r>
              <a:rPr lang="en-US" sz="1100" dirty="0">
                <a:solidFill>
                  <a:srgbClr val="E5E0DF"/>
                </a:solidFill>
                <a:latin typeface="Barlow" pitchFamily="34" charset="0"/>
                <a:ea typeface="Barlow" pitchFamily="34" charset="-122"/>
                <a:cs typeface="Barlow" pitchFamily="34" charset="-120"/>
              </a:rPr>
              <a:t> It is an Encounter with a Tremendous and Fascinating Mystery (Rudolf Otto, </a:t>
            </a:r>
            <a:r>
              <a:rPr lang="en-US" sz="1100" i="1" dirty="0">
                <a:solidFill>
                  <a:srgbClr val="E5E0DF"/>
                </a:solidFill>
                <a:latin typeface="Barlow" pitchFamily="34" charset="0"/>
                <a:ea typeface="Barlow" pitchFamily="34" charset="-122"/>
                <a:cs typeface="Barlow" pitchFamily="34" charset="-120"/>
              </a:rPr>
              <a:t>The Idea of the Holy</a:t>
            </a:r>
            <a:r>
              <a:rPr lang="en-US" sz="1100" dirty="0">
                <a:solidFill>
                  <a:srgbClr val="E5E0DF"/>
                </a:solidFill>
                <a:latin typeface="Barlow" pitchFamily="34" charset="0"/>
                <a:ea typeface="Barlow" pitchFamily="34" charset="-122"/>
                <a:cs typeface="Barlow" pitchFamily="34" charset="-120"/>
              </a:rPr>
              <a:t>).</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319189"/>
            <a:ext cx="350862" cy="350862"/>
          </a:xfrm>
          <a:prstGeom prst="rect">
            <a:avLst/>
          </a:prstGeom>
        </p:spPr>
      </p:pic>
      <p:sp>
        <p:nvSpPr>
          <p:cNvPr id="5" name="Text 2"/>
          <p:cNvSpPr/>
          <p:nvPr/>
        </p:nvSpPr>
        <p:spPr>
          <a:xfrm>
            <a:off x="1087710" y="2319189"/>
            <a:ext cx="2030462"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 Burning Bush (Ex 3:2-6)</a:t>
            </a:r>
            <a:endParaRPr lang="en-US" sz="1300" dirty="0"/>
          </a:p>
        </p:txBody>
      </p:sp>
      <p:sp>
        <p:nvSpPr>
          <p:cNvPr id="6" name="Text 3"/>
          <p:cNvSpPr/>
          <p:nvPr/>
        </p:nvSpPr>
        <p:spPr>
          <a:xfrm>
            <a:off x="1087710" y="2738958"/>
            <a:ext cx="2030462"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Experience of something strange — the holy ground, the divine summons, the unquenchable fire.</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93566" y="2319189"/>
            <a:ext cx="350862" cy="350862"/>
          </a:xfrm>
          <a:prstGeom prst="rect">
            <a:avLst/>
          </a:prstGeom>
        </p:spPr>
      </p:pic>
      <p:sp>
        <p:nvSpPr>
          <p:cNvPr id="8" name="Text 4"/>
          <p:cNvSpPr/>
          <p:nvPr/>
        </p:nvSpPr>
        <p:spPr>
          <a:xfrm>
            <a:off x="3819823" y="2319189"/>
            <a:ext cx="2030537"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Transfiguration (Mt 17:1-13)</a:t>
            </a:r>
            <a:endParaRPr lang="en-US" sz="1300" dirty="0"/>
          </a:p>
        </p:txBody>
      </p:sp>
      <p:sp>
        <p:nvSpPr>
          <p:cNvPr id="9" name="Text 5"/>
          <p:cNvSpPr/>
          <p:nvPr/>
        </p:nvSpPr>
        <p:spPr>
          <a:xfrm>
            <a:off x="3819823" y="2738958"/>
            <a:ext cx="2030537"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Experience of the Glory and Brightness of the Sun; </a:t>
            </a:r>
            <a:r>
              <a:rPr lang="en-US" sz="1100" i="1" dirty="0">
                <a:solidFill>
                  <a:srgbClr val="E5E0DF"/>
                </a:solidFill>
                <a:latin typeface="Barlow" pitchFamily="34" charset="0"/>
                <a:ea typeface="Barlow" pitchFamily="34" charset="-122"/>
                <a:cs typeface="Barlow" pitchFamily="34" charset="-120"/>
              </a:rPr>
              <a:t>Divyarupadarshana</a:t>
            </a:r>
            <a:r>
              <a:rPr lang="en-US" sz="1100" dirty="0">
                <a:solidFill>
                  <a:srgbClr val="E5E0DF"/>
                </a:solidFill>
                <a:latin typeface="Barlow" pitchFamily="34" charset="0"/>
                <a:ea typeface="Barlow" pitchFamily="34" charset="-122"/>
                <a:cs typeface="Barlow" pitchFamily="34" charset="-120"/>
              </a:rPr>
              <a:t> (Bhagavad Gita Ch 11).</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25753" y="2319189"/>
            <a:ext cx="350862" cy="350862"/>
          </a:xfrm>
          <a:prstGeom prst="rect">
            <a:avLst/>
          </a:prstGeom>
        </p:spPr>
      </p:pic>
      <p:sp>
        <p:nvSpPr>
          <p:cNvPr id="11" name="Text 6"/>
          <p:cNvSpPr/>
          <p:nvPr/>
        </p:nvSpPr>
        <p:spPr>
          <a:xfrm>
            <a:off x="6552009" y="2319189"/>
            <a:ext cx="2030537"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Emmaus (Lk 24:13-35)</a:t>
            </a:r>
            <a:endParaRPr lang="en-US" sz="1300" dirty="0"/>
          </a:p>
        </p:txBody>
      </p:sp>
      <p:sp>
        <p:nvSpPr>
          <p:cNvPr id="12" name="Text 7"/>
          <p:cNvSpPr/>
          <p:nvPr/>
        </p:nvSpPr>
        <p:spPr>
          <a:xfrm>
            <a:off x="6552009" y="2571155"/>
            <a:ext cx="2030537"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Experience of Hearts burning — the risen Christ recognized in the breaking of bread.</a:t>
            </a:r>
            <a:endParaRPr lang="en-US" sz="1100" dirty="0"/>
          </a:p>
        </p:txBody>
      </p:sp>
      <p:sp>
        <p:nvSpPr>
          <p:cNvPr id="13" name="Text 8"/>
          <p:cNvSpPr/>
          <p:nvPr/>
        </p:nvSpPr>
        <p:spPr>
          <a:xfrm>
            <a:off x="561454" y="3458245"/>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 is Incomprehensible and Transcendent. God-Experience cannot be articulated in ordinary day-to-day Language. Theology uses ordinary Language in an Extraordinary Way. Christian Faith Experience takes place in History because God has acted in History through Jesus Christ. Therefore, Expression of Faith should be Not Only Dogmatic Confession But Also … </a:t>
            </a:r>
            <a:r>
              <a:rPr lang="en-US" sz="1100" b="1" dirty="0">
                <a:solidFill>
                  <a:srgbClr val="E5E0DF"/>
                </a:solidFill>
                <a:latin typeface="Barlow Bold" pitchFamily="34" charset="0"/>
                <a:ea typeface="Barlow Bold" pitchFamily="34" charset="-122"/>
                <a:cs typeface="Barlow Bold" pitchFamily="34" charset="-120"/>
              </a:rPr>
              <a:t>Historical Commitment</a:t>
            </a:r>
            <a:r>
              <a:rPr lang="en-US" sz="1100" dirty="0">
                <a:solidFill>
                  <a:srgbClr val="E5E0DF"/>
                </a:solidFill>
                <a:latin typeface="Barlow" pitchFamily="34" charset="0"/>
                <a:ea typeface="Barlow" pitchFamily="34" charset="-122"/>
                <a:cs typeface="Barlow" pitchFamily="34" charset="-120"/>
              </a:rPr>
              <a: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1454" y="1216521"/>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Historicity and Expression of Faith</a:t>
            </a:r>
            <a:endParaRPr lang="en-US" sz="2600" dirty="0"/>
          </a:p>
        </p:txBody>
      </p:sp>
      <p:sp>
        <p:nvSpPr>
          <p:cNvPr id="3" name="Text 1"/>
          <p:cNvSpPr/>
          <p:nvPr/>
        </p:nvSpPr>
        <p:spPr>
          <a:xfrm>
            <a:off x="561454" y="1832893"/>
            <a:ext cx="8478292"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Faith is expressed through three historically developing modes in the life of the Church:</a:t>
            </a:r>
            <a:endParaRPr lang="en-US" sz="1100" dirty="0"/>
          </a:p>
        </p:txBody>
      </p:sp>
      <p:sp>
        <p:nvSpPr>
          <p:cNvPr id="4" name="Shape 2"/>
          <p:cNvSpPr/>
          <p:nvPr/>
        </p:nvSpPr>
        <p:spPr>
          <a:xfrm>
            <a:off x="771971" y="2692524"/>
            <a:ext cx="2369493" cy="140345"/>
          </a:xfrm>
          <a:prstGeom prst="roundRect">
            <a:avLst>
              <a:gd name="adj" fmla="val 42007"/>
            </a:avLst>
          </a:prstGeom>
          <a:solidFill>
            <a:srgbClr val="790709"/>
          </a:solidFill>
          <a:ln w="4763">
            <a:solidFill>
              <a:srgbClr val="922022"/>
            </a:solidFill>
            <a:prstDash val="solid"/>
          </a:ln>
        </p:spPr>
        <p:txBody>
          <a:bodyPr/>
          <a:lstStyle/>
          <a:p>
            <a:endParaRPr lang="en-IN"/>
          </a:p>
        </p:txBody>
      </p:sp>
      <p:sp>
        <p:nvSpPr>
          <p:cNvPr id="5" name="Shape 3"/>
          <p:cNvSpPr/>
          <p:nvPr/>
        </p:nvSpPr>
        <p:spPr>
          <a:xfrm>
            <a:off x="561454" y="2552179"/>
            <a:ext cx="421035" cy="421035"/>
          </a:xfrm>
          <a:prstGeom prst="ellipse">
            <a:avLst/>
          </a:prstGeom>
          <a:solidFill>
            <a:srgbClr val="790709"/>
          </a:solidFill>
          <a:ln w="4763">
            <a:solidFill>
              <a:srgbClr val="922022"/>
            </a:solidFill>
            <a:prstDash val="solid"/>
          </a:ln>
        </p:spPr>
        <p:txBody>
          <a:bodyPr/>
          <a:lstStyle/>
          <a:p>
            <a:endParaRPr lang="en-IN"/>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6676" y="2657475"/>
            <a:ext cx="210517" cy="210517"/>
          </a:xfrm>
          <a:prstGeom prst="rect">
            <a:avLst/>
          </a:prstGeom>
        </p:spPr>
      </p:pic>
      <p:sp>
        <p:nvSpPr>
          <p:cNvPr id="7" name="Text 4"/>
          <p:cNvSpPr/>
          <p:nvPr/>
        </p:nvSpPr>
        <p:spPr>
          <a:xfrm>
            <a:off x="701799" y="3113559"/>
            <a:ext cx="229939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1. Commitment</a:t>
            </a:r>
            <a:endParaRPr lang="en-US" sz="1300" dirty="0"/>
          </a:p>
        </p:txBody>
      </p:sp>
      <p:sp>
        <p:nvSpPr>
          <p:cNvPr id="8" name="Text 5"/>
          <p:cNvSpPr/>
          <p:nvPr/>
        </p:nvSpPr>
        <p:spPr>
          <a:xfrm>
            <a:off x="701799" y="3365525"/>
            <a:ext cx="2299395"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Koinonia, Diakonia, Liturgia, Marturia — the fourfold expression of the Early Christian Community (ND 5).</a:t>
            </a:r>
            <a:endParaRPr lang="en-US" sz="1100" dirty="0"/>
          </a:p>
        </p:txBody>
      </p:sp>
      <p:sp>
        <p:nvSpPr>
          <p:cNvPr id="9" name="Shape 6"/>
          <p:cNvSpPr/>
          <p:nvPr/>
        </p:nvSpPr>
        <p:spPr>
          <a:xfrm>
            <a:off x="3492401" y="2482007"/>
            <a:ext cx="2369567" cy="140345"/>
          </a:xfrm>
          <a:prstGeom prst="roundRect">
            <a:avLst>
              <a:gd name="adj" fmla="val 42007"/>
            </a:avLst>
          </a:prstGeom>
          <a:solidFill>
            <a:srgbClr val="790709"/>
          </a:solidFill>
          <a:ln w="4763">
            <a:solidFill>
              <a:srgbClr val="922022"/>
            </a:solidFill>
            <a:prstDash val="solid"/>
          </a:ln>
        </p:spPr>
        <p:txBody>
          <a:bodyPr/>
          <a:lstStyle/>
          <a:p>
            <a:endParaRPr lang="en-IN"/>
          </a:p>
        </p:txBody>
      </p:sp>
      <p:sp>
        <p:nvSpPr>
          <p:cNvPr id="10" name="Shape 7"/>
          <p:cNvSpPr/>
          <p:nvPr/>
        </p:nvSpPr>
        <p:spPr>
          <a:xfrm>
            <a:off x="3281883" y="2341662"/>
            <a:ext cx="421035" cy="421035"/>
          </a:xfrm>
          <a:prstGeom prst="ellipse">
            <a:avLst/>
          </a:prstGeom>
          <a:solidFill>
            <a:srgbClr val="790709"/>
          </a:solidFill>
          <a:ln w="4763">
            <a:solidFill>
              <a:srgbClr val="922022"/>
            </a:solidFill>
            <a:prstDash val="solid"/>
          </a:ln>
        </p:spPr>
        <p:txBody>
          <a:bodyPr/>
          <a:lstStyle/>
          <a:p>
            <a:endParaRPr lang="en-IN"/>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87105" y="2446958"/>
            <a:ext cx="210517" cy="210517"/>
          </a:xfrm>
          <a:prstGeom prst="rect">
            <a:avLst/>
          </a:prstGeom>
        </p:spPr>
      </p:pic>
      <p:sp>
        <p:nvSpPr>
          <p:cNvPr id="12" name="Text 8"/>
          <p:cNvSpPr/>
          <p:nvPr/>
        </p:nvSpPr>
        <p:spPr>
          <a:xfrm>
            <a:off x="3422228" y="2903041"/>
            <a:ext cx="229946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2. Creeds and Systematic Formulations</a:t>
            </a:r>
            <a:endParaRPr lang="en-US" sz="1300" dirty="0"/>
          </a:p>
        </p:txBody>
      </p:sp>
      <p:sp>
        <p:nvSpPr>
          <p:cNvPr id="13" name="Text 9"/>
          <p:cNvSpPr/>
          <p:nvPr/>
        </p:nvSpPr>
        <p:spPr>
          <a:xfrm>
            <a:off x="3422228" y="3322811"/>
            <a:ext cx="2299469"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Anathemas — Post Apostolic Church (ND 1532). The crystallization of faith into confessional formulae.</a:t>
            </a:r>
            <a:endParaRPr lang="en-US" sz="1100" dirty="0"/>
          </a:p>
        </p:txBody>
      </p:sp>
      <p:sp>
        <p:nvSpPr>
          <p:cNvPr id="14" name="Shape 10"/>
          <p:cNvSpPr/>
          <p:nvPr/>
        </p:nvSpPr>
        <p:spPr>
          <a:xfrm>
            <a:off x="6212904" y="2271489"/>
            <a:ext cx="2369567" cy="140345"/>
          </a:xfrm>
          <a:prstGeom prst="roundRect">
            <a:avLst>
              <a:gd name="adj" fmla="val 42007"/>
            </a:avLst>
          </a:prstGeom>
          <a:solidFill>
            <a:srgbClr val="790709"/>
          </a:solidFill>
          <a:ln w="4763">
            <a:solidFill>
              <a:srgbClr val="922022"/>
            </a:solidFill>
            <a:prstDash val="solid"/>
          </a:ln>
        </p:spPr>
        <p:txBody>
          <a:bodyPr/>
          <a:lstStyle/>
          <a:p>
            <a:endParaRPr lang="en-IN"/>
          </a:p>
        </p:txBody>
      </p:sp>
      <p:sp>
        <p:nvSpPr>
          <p:cNvPr id="15" name="Shape 11"/>
          <p:cNvSpPr/>
          <p:nvPr/>
        </p:nvSpPr>
        <p:spPr>
          <a:xfrm>
            <a:off x="6002387" y="2131144"/>
            <a:ext cx="421035" cy="421035"/>
          </a:xfrm>
          <a:prstGeom prst="ellipse">
            <a:avLst/>
          </a:prstGeom>
          <a:solidFill>
            <a:srgbClr val="790709"/>
          </a:solidFill>
          <a:ln w="4763">
            <a:solidFill>
              <a:srgbClr val="922022"/>
            </a:solidFill>
            <a:prstDash val="solid"/>
          </a:ln>
        </p:spPr>
        <p:txBody>
          <a:bodyPr/>
          <a:lstStyle/>
          <a:p>
            <a:endParaRPr lang="en-IN"/>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07609" y="2236440"/>
            <a:ext cx="210517" cy="210517"/>
          </a:xfrm>
          <a:prstGeom prst="rect">
            <a:avLst/>
          </a:prstGeom>
        </p:spPr>
      </p:pic>
      <p:sp>
        <p:nvSpPr>
          <p:cNvPr id="17" name="Text 12"/>
          <p:cNvSpPr/>
          <p:nvPr/>
        </p:nvSpPr>
        <p:spPr>
          <a:xfrm>
            <a:off x="6142732" y="2692524"/>
            <a:ext cx="229946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3. Definitions in Philosophical Terms</a:t>
            </a:r>
            <a:endParaRPr lang="en-US" sz="1300" dirty="0"/>
          </a:p>
        </p:txBody>
      </p:sp>
      <p:sp>
        <p:nvSpPr>
          <p:cNvPr id="18" name="Text 13"/>
          <p:cNvSpPr/>
          <p:nvPr/>
        </p:nvSpPr>
        <p:spPr>
          <a:xfrm>
            <a:off x="6142732" y="3112294"/>
            <a:ext cx="2299469"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Positive Statements of Faith in Philosophical Terms: Councils (ND 615). The great Ecumenical Councils defining doctrine with precision.</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1454" y="1204317"/>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Christian Story</a:t>
            </a:r>
            <a:endParaRPr lang="en-US" sz="2600" dirty="0"/>
          </a:p>
        </p:txBody>
      </p:sp>
      <p:sp>
        <p:nvSpPr>
          <p:cNvPr id="3" name="Text 1"/>
          <p:cNvSpPr/>
          <p:nvPr/>
        </p:nvSpPr>
        <p:spPr>
          <a:xfrm>
            <a:off x="561454" y="1890861"/>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Mystery of Christ</a:t>
            </a:r>
            <a:endParaRPr lang="en-US" sz="1300" dirty="0"/>
          </a:p>
        </p:txBody>
      </p:sp>
      <p:sp>
        <p:nvSpPr>
          <p:cNvPr id="4" name="Text 2"/>
          <p:cNvSpPr/>
          <p:nvPr/>
        </p:nvSpPr>
        <p:spPr>
          <a:xfrm>
            <a:off x="561454" y="2199010"/>
            <a:ext cx="3839319"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Christian Theology is the Interpretation of the Christian Story which begins with God's entry into Human History, God becoming Man in Jesus Christ — truly Divine, truly Human. Christian story revolves around the Mystery of Christ.</a:t>
            </a:r>
            <a:endParaRPr lang="en-US" sz="1100" dirty="0"/>
          </a:p>
        </p:txBody>
      </p:sp>
      <p:sp>
        <p:nvSpPr>
          <p:cNvPr id="5" name="Text 3"/>
          <p:cNvSpPr/>
          <p:nvPr/>
        </p:nvSpPr>
        <p:spPr>
          <a:xfrm>
            <a:off x="561454" y="2886670"/>
            <a:ext cx="3839319" cy="519261"/>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Jesus is </a:t>
            </a:r>
            <a:r>
              <a:rPr lang="en-US" sz="1100" b="1" dirty="0">
                <a:solidFill>
                  <a:srgbClr val="E5E0DF"/>
                </a:solidFill>
                <a:latin typeface="Barlow Bold" pitchFamily="34" charset="0"/>
                <a:ea typeface="Barlow Bold" pitchFamily="34" charset="-122"/>
                <a:cs typeface="Barlow Bold" pitchFamily="34" charset="-120"/>
              </a:rPr>
              <a:t>God with Us</a:t>
            </a:r>
            <a:r>
              <a:rPr lang="en-US" sz="1100" dirty="0">
                <a:solidFill>
                  <a:srgbClr val="E5E0DF"/>
                </a:solidFill>
                <a:latin typeface="Barlow" pitchFamily="34" charset="0"/>
                <a:ea typeface="Barlow" pitchFamily="34" charset="-122"/>
                <a:cs typeface="Barlow" pitchFamily="34" charset="-120"/>
              </a:rPr>
              <a:t> (Incarnation)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Jesus is </a:t>
            </a:r>
            <a:r>
              <a:rPr lang="en-US" sz="1100" b="1" dirty="0">
                <a:solidFill>
                  <a:srgbClr val="E5E0DF"/>
                </a:solidFill>
                <a:latin typeface="Barlow Bold" pitchFamily="34" charset="0"/>
                <a:ea typeface="Barlow Bold" pitchFamily="34" charset="-122"/>
                <a:cs typeface="Barlow Bold" pitchFamily="34" charset="-120"/>
              </a:rPr>
              <a:t>God who saves</a:t>
            </a:r>
            <a:r>
              <a:rPr lang="en-US" sz="1100" dirty="0">
                <a:solidFill>
                  <a:srgbClr val="E5E0DF"/>
                </a:solidFill>
                <a:latin typeface="Barlow" pitchFamily="34" charset="0"/>
                <a:ea typeface="Barlow" pitchFamily="34" charset="-122"/>
                <a:cs typeface="Barlow" pitchFamily="34" charset="-120"/>
              </a:rPr>
              <a:t> (Salvation)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Jesus is </a:t>
            </a:r>
            <a:r>
              <a:rPr lang="en-US" sz="1100" b="1" dirty="0">
                <a:solidFill>
                  <a:srgbClr val="E5E0DF"/>
                </a:solidFill>
                <a:latin typeface="Barlow Bold" pitchFamily="34" charset="0"/>
                <a:ea typeface="Barlow Bold" pitchFamily="34" charset="-122"/>
                <a:cs typeface="Barlow Bold" pitchFamily="34" charset="-120"/>
              </a:rPr>
              <a:t>Emmanuel</a:t>
            </a:r>
            <a:endParaRPr lang="en-US" sz="1100" dirty="0"/>
          </a:p>
        </p:txBody>
      </p:sp>
      <p:sp>
        <p:nvSpPr>
          <p:cNvPr id="6" name="Text 4"/>
          <p:cNvSpPr/>
          <p:nvPr/>
        </p:nvSpPr>
        <p:spPr>
          <a:xfrm>
            <a:off x="561454" y="3532212"/>
            <a:ext cx="383931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is the Reflection on this Story of God who enters Human History to redeem Human Beings.</a:t>
            </a:r>
            <a:endParaRPr lang="en-US" sz="1100" dirty="0"/>
          </a:p>
        </p:txBody>
      </p:sp>
      <p:sp>
        <p:nvSpPr>
          <p:cNvPr id="7" name="Text 5"/>
          <p:cNvSpPr/>
          <p:nvPr/>
        </p:nvSpPr>
        <p:spPr>
          <a:xfrm>
            <a:off x="4747989" y="1890861"/>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Ministry of Christ</a:t>
            </a:r>
            <a:endParaRPr lang="en-US" sz="1300" dirty="0"/>
          </a:p>
        </p:txBody>
      </p:sp>
      <p:sp>
        <p:nvSpPr>
          <p:cNvPr id="8" name="Text 6"/>
          <p:cNvSpPr/>
          <p:nvPr/>
        </p:nvSpPr>
        <p:spPr>
          <a:xfrm>
            <a:off x="4747989" y="2199010"/>
            <a:ext cx="3839319"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Christian Story also revolves around the Ministry of Christ. The Ministry of Christ is </a:t>
            </a:r>
            <a:r>
              <a:rPr lang="en-US" sz="1100" b="1" dirty="0">
                <a:solidFill>
                  <a:srgbClr val="E5E0DF"/>
                </a:solidFill>
                <a:latin typeface="Barlow Bold" pitchFamily="34" charset="0"/>
                <a:ea typeface="Barlow Bold" pitchFamily="34" charset="-122"/>
                <a:cs typeface="Barlow Bold" pitchFamily="34" charset="-120"/>
              </a:rPr>
              <a:t>Kingdom Centred</a:t>
            </a:r>
            <a:r>
              <a:rPr lang="en-US" sz="1100" dirty="0">
                <a:solidFill>
                  <a:srgbClr val="E5E0DF"/>
                </a:solidFill>
                <a:latin typeface="Barlow" pitchFamily="34" charset="0"/>
                <a:ea typeface="Barlow" pitchFamily="34" charset="-122"/>
                <a:cs typeface="Barlow" pitchFamily="34" charset="-120"/>
              </a:rPr>
              <a:t> based on His Abba Experience.</a:t>
            </a:r>
            <a:endParaRPr lang="en-US" sz="1100" dirty="0"/>
          </a:p>
        </p:txBody>
      </p:sp>
      <p:sp>
        <p:nvSpPr>
          <p:cNvPr id="9" name="Text 7"/>
          <p:cNvSpPr/>
          <p:nvPr/>
        </p:nvSpPr>
        <p:spPr>
          <a:xfrm>
            <a:off x="4747989" y="2746325"/>
            <a:ext cx="3839319" cy="519261"/>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Prophetic Ministry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Shepherd Ministry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Crowning His Ministry in His Paschal Mystery</a:t>
            </a:r>
            <a:endParaRPr lang="en-US" sz="1100" dirty="0"/>
          </a:p>
        </p:txBody>
      </p:sp>
      <p:sp>
        <p:nvSpPr>
          <p:cNvPr id="10" name="Text 8"/>
          <p:cNvSpPr/>
          <p:nvPr/>
        </p:nvSpPr>
        <p:spPr>
          <a:xfrm>
            <a:off x="4747989" y="3391867"/>
            <a:ext cx="383931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 established the Church as a Kingdom of Ministers to make Christ Present Through Her Ministry.</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1454" y="434578"/>
            <a:ext cx="8021092" cy="236041"/>
          </a:xfrm>
          <a:prstGeom prst="rect">
            <a:avLst/>
          </a:prstGeom>
          <a:noFill/>
          <a:ln/>
        </p:spPr>
        <p:txBody>
          <a:bodyPr wrap="none" lIns="0" tIns="0" rIns="0" bIns="0" rtlCol="0" anchor="t"/>
          <a:lstStyle/>
          <a:p>
            <a:pPr marL="0" indent="0" algn="l">
              <a:lnSpc>
                <a:spcPct val="83000"/>
              </a:lnSpc>
              <a:buNone/>
            </a:pPr>
            <a:r>
              <a:rPr lang="en-US" sz="1850" dirty="0">
                <a:solidFill>
                  <a:srgbClr val="FFFFFF"/>
                </a:solidFill>
                <a:latin typeface="Fraunces Medium" pitchFamily="34" charset="0"/>
                <a:ea typeface="Fraunces Medium" pitchFamily="34" charset="-122"/>
                <a:cs typeface="Fraunces Medium" pitchFamily="34" charset="-120"/>
              </a:rPr>
              <a:t>Definitions of Theology</a:t>
            </a:r>
            <a:endParaRPr lang="en-US" sz="18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809402"/>
            <a:ext cx="8021092" cy="592113"/>
          </a:xfrm>
          <a:prstGeom prst="rect">
            <a:avLst/>
          </a:prstGeom>
        </p:spPr>
      </p:pic>
      <p:sp>
        <p:nvSpPr>
          <p:cNvPr id="4" name="Text 1"/>
          <p:cNvSpPr/>
          <p:nvPr/>
        </p:nvSpPr>
        <p:spPr>
          <a:xfrm>
            <a:off x="1039862" y="922362"/>
            <a:ext cx="7429723"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Faith Seeking Understanding</a:t>
            </a:r>
            <a:endParaRPr lang="en-US" sz="900" dirty="0"/>
          </a:p>
        </p:txBody>
      </p:sp>
      <p:sp>
        <p:nvSpPr>
          <p:cNvPr id="5" name="Text 2"/>
          <p:cNvSpPr/>
          <p:nvPr/>
        </p:nvSpPr>
        <p:spPr>
          <a:xfrm>
            <a:off x="1039862" y="1081980"/>
            <a:ext cx="7429723" cy="84013"/>
          </a:xfrm>
          <a:prstGeom prst="rect">
            <a:avLst/>
          </a:prstGeom>
          <a:noFill/>
          <a:ln/>
        </p:spPr>
        <p:txBody>
          <a:bodyPr wrap="none" lIns="0" tIns="0" rIns="0" bIns="0" rtlCol="0" anchor="t"/>
          <a:lstStyle/>
          <a:p>
            <a:pPr marL="0" indent="0" algn="l">
              <a:lnSpc>
                <a:spcPct val="71000"/>
              </a:lnSpc>
              <a:buNone/>
            </a:pPr>
            <a:r>
              <a:rPr lang="en-US" sz="750" i="1" dirty="0">
                <a:solidFill>
                  <a:srgbClr val="E5E0DF"/>
                </a:solidFill>
                <a:latin typeface="Barlow" pitchFamily="34" charset="0"/>
                <a:ea typeface="Barlow" pitchFamily="34" charset="-122"/>
                <a:cs typeface="Barlow" pitchFamily="34" charset="-120"/>
              </a:rPr>
              <a:t>Fides Quaerens Intellectum</a:t>
            </a:r>
            <a:r>
              <a:rPr lang="en-US" sz="750" dirty="0">
                <a:solidFill>
                  <a:srgbClr val="E5E0DF"/>
                </a:solidFill>
                <a:latin typeface="Barlow" pitchFamily="34" charset="0"/>
                <a:ea typeface="Barlow" pitchFamily="34" charset="-122"/>
                <a:cs typeface="Barlow" pitchFamily="34" charset="-120"/>
              </a:rPr>
              <a:t> — St. Anselm. An Active Love of God seeking a Deeper Knowledge of God. Seeking balances Fideism (Faith) and Rationalism (Understanding).</a:t>
            </a:r>
            <a:endParaRPr lang="en-US" sz="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470868"/>
            <a:ext cx="8021092" cy="592113"/>
          </a:xfrm>
          <a:prstGeom prst="rect">
            <a:avLst/>
          </a:prstGeom>
        </p:spPr>
      </p:pic>
      <p:sp>
        <p:nvSpPr>
          <p:cNvPr id="7" name="Text 3"/>
          <p:cNvSpPr/>
          <p:nvPr/>
        </p:nvSpPr>
        <p:spPr>
          <a:xfrm>
            <a:off x="1039862" y="1583829"/>
            <a:ext cx="7429723"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Faith Seeking Justice</a:t>
            </a:r>
            <a:endParaRPr lang="en-US" sz="900" dirty="0"/>
          </a:p>
        </p:txBody>
      </p:sp>
      <p:sp>
        <p:nvSpPr>
          <p:cNvPr id="8" name="Text 4"/>
          <p:cNvSpPr/>
          <p:nvPr/>
        </p:nvSpPr>
        <p:spPr>
          <a:xfrm>
            <a:off x="1039862" y="1743447"/>
            <a:ext cx="7429723" cy="168027"/>
          </a:xfrm>
          <a:prstGeom prst="rect">
            <a:avLst/>
          </a:prstGeom>
          <a:noFill/>
          <a:ln/>
        </p:spPr>
        <p:txBody>
          <a:bodyPr wrap="square" lIns="0" tIns="0" rIns="0" bIns="0" rtlCol="0" anchor="t">
            <a:normAutofit/>
          </a:bodyPr>
          <a:lstStyle/>
          <a:p>
            <a:pPr marL="0" indent="0" algn="l">
              <a:lnSpc>
                <a:spcPct val="71000"/>
              </a:lnSpc>
              <a:buNone/>
            </a:pPr>
            <a:r>
              <a:rPr lang="en-US" sz="750" dirty="0">
                <a:solidFill>
                  <a:srgbClr val="E5E0DF"/>
                </a:solidFill>
                <a:latin typeface="Barlow" pitchFamily="34" charset="0"/>
                <a:ea typeface="Barlow" pitchFamily="34" charset="-122"/>
                <a:cs typeface="Barlow" pitchFamily="34" charset="-120"/>
              </a:rPr>
              <a:t>Critical Reflection on Christian Praxis in the Light of the Word (Gustavo Gutierrez, </a:t>
            </a:r>
            <a:r>
              <a:rPr lang="en-US" sz="750" i="1" dirty="0">
                <a:solidFill>
                  <a:srgbClr val="E5E0DF"/>
                </a:solidFill>
                <a:latin typeface="Barlow" pitchFamily="34" charset="0"/>
                <a:ea typeface="Barlow" pitchFamily="34" charset="-122"/>
                <a:cs typeface="Barlow" pitchFamily="34" charset="-120"/>
              </a:rPr>
              <a:t>A Theology of Liberation</a:t>
            </a:r>
            <a:r>
              <a:rPr lang="en-US" sz="750" dirty="0">
                <a:solidFill>
                  <a:srgbClr val="E5E0DF"/>
                </a:solidFill>
                <a:latin typeface="Barlow" pitchFamily="34" charset="0"/>
                <a:ea typeface="Barlow" pitchFamily="34" charset="-122"/>
                <a:cs typeface="Barlow" pitchFamily="34" charset="-120"/>
              </a:rPr>
              <a:t>). Liberation Theology, Kingdom of God, Freedom-Fellowship-Justice (Lk 4:16-21; Mt 25:31-46). </a:t>
            </a:r>
            <a:r>
              <a:rPr lang="en-US" sz="750" b="1" dirty="0">
                <a:solidFill>
                  <a:srgbClr val="E5E0DF"/>
                </a:solidFill>
                <a:latin typeface="Barlow Bold" pitchFamily="34" charset="0"/>
                <a:ea typeface="Barlow Bold" pitchFamily="34" charset="-122"/>
                <a:cs typeface="Barlow Bold" pitchFamily="34" charset="-120"/>
              </a:rPr>
              <a:t>Orthopraxis</a:t>
            </a:r>
            <a:r>
              <a:rPr lang="en-US" sz="750" dirty="0">
                <a:solidFill>
                  <a:srgbClr val="E5E0DF"/>
                </a:solidFill>
                <a:latin typeface="Barlow" pitchFamily="34" charset="0"/>
                <a:ea typeface="Barlow" pitchFamily="34" charset="-122"/>
                <a:cs typeface="Barlow" pitchFamily="34" charset="-120"/>
              </a:rPr>
              <a:t> rather than Orthodoxy.</a:t>
            </a:r>
            <a:endParaRPr lang="en-US" sz="7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132335"/>
            <a:ext cx="8021092" cy="592113"/>
          </a:xfrm>
          <a:prstGeom prst="rect">
            <a:avLst/>
          </a:prstGeom>
        </p:spPr>
      </p:pic>
      <p:sp>
        <p:nvSpPr>
          <p:cNvPr id="10" name="Text 5"/>
          <p:cNvSpPr/>
          <p:nvPr/>
        </p:nvSpPr>
        <p:spPr>
          <a:xfrm>
            <a:off x="1039862" y="2245296"/>
            <a:ext cx="7429723"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Faith Seeking Dialogue</a:t>
            </a:r>
            <a:endParaRPr lang="en-US" sz="900" dirty="0"/>
          </a:p>
        </p:txBody>
      </p:sp>
      <p:sp>
        <p:nvSpPr>
          <p:cNvPr id="11" name="Text 6"/>
          <p:cNvSpPr/>
          <p:nvPr/>
        </p:nvSpPr>
        <p:spPr>
          <a:xfrm>
            <a:off x="1039862" y="2404914"/>
            <a:ext cx="7429723" cy="84013"/>
          </a:xfrm>
          <a:prstGeom prst="rect">
            <a:avLst/>
          </a:prstGeom>
          <a:noFill/>
          <a:ln/>
        </p:spPr>
        <p:txBody>
          <a:bodyPr wrap="none" lIns="0" tIns="0" rIns="0" bIns="0" rtlCol="0" anchor="t"/>
          <a:lstStyle/>
          <a:p>
            <a:pPr marL="0" indent="0" algn="l">
              <a:lnSpc>
                <a:spcPct val="71000"/>
              </a:lnSpc>
              <a:buNone/>
            </a:pPr>
            <a:r>
              <a:rPr lang="en-US" sz="750" dirty="0">
                <a:solidFill>
                  <a:srgbClr val="E5E0DF"/>
                </a:solidFill>
                <a:latin typeface="Barlow" pitchFamily="34" charset="0"/>
                <a:ea typeface="Barlow" pitchFamily="34" charset="-122"/>
                <a:cs typeface="Barlow" pitchFamily="34" charset="-120"/>
              </a:rPr>
              <a:t>Ecumenism, Dialogue, Theology of Religions — the Church's engagement with the breadth of human religious experience.</a:t>
            </a:r>
            <a:endParaRPr lang="en-US" sz="7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793802"/>
            <a:ext cx="8021092" cy="592113"/>
          </a:xfrm>
          <a:prstGeom prst="rect">
            <a:avLst/>
          </a:prstGeom>
        </p:spPr>
      </p:pic>
      <p:sp>
        <p:nvSpPr>
          <p:cNvPr id="13" name="Text 7"/>
          <p:cNvSpPr/>
          <p:nvPr/>
        </p:nvSpPr>
        <p:spPr>
          <a:xfrm>
            <a:off x="1039862" y="2906762"/>
            <a:ext cx="7429723"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Faith Seeking Love</a:t>
            </a:r>
            <a:endParaRPr lang="en-US" sz="900" dirty="0"/>
          </a:p>
        </p:txBody>
      </p:sp>
      <p:sp>
        <p:nvSpPr>
          <p:cNvPr id="14" name="Text 8"/>
          <p:cNvSpPr/>
          <p:nvPr/>
        </p:nvSpPr>
        <p:spPr>
          <a:xfrm>
            <a:off x="1039862" y="3066380"/>
            <a:ext cx="7429723" cy="84013"/>
          </a:xfrm>
          <a:prstGeom prst="rect">
            <a:avLst/>
          </a:prstGeom>
          <a:noFill/>
          <a:ln/>
        </p:spPr>
        <p:txBody>
          <a:bodyPr wrap="none" lIns="0" tIns="0" rIns="0" bIns="0" rtlCol="0" anchor="t"/>
          <a:lstStyle/>
          <a:p>
            <a:pPr marL="0" indent="0" algn="l">
              <a:lnSpc>
                <a:spcPct val="71000"/>
              </a:lnSpc>
              <a:buNone/>
            </a:pPr>
            <a:r>
              <a:rPr lang="en-US" sz="750" dirty="0">
                <a:solidFill>
                  <a:srgbClr val="E5E0DF"/>
                </a:solidFill>
                <a:latin typeface="Barlow" pitchFamily="34" charset="0"/>
                <a:ea typeface="Barlow" pitchFamily="34" charset="-122"/>
                <a:cs typeface="Barlow" pitchFamily="34" charset="-120"/>
              </a:rPr>
              <a:t>Supreme Commandment of Love, </a:t>
            </a:r>
            <a:r>
              <a:rPr lang="en-US" sz="750" i="1" dirty="0">
                <a:solidFill>
                  <a:srgbClr val="E5E0DF"/>
                </a:solidFill>
                <a:latin typeface="Barlow" pitchFamily="34" charset="0"/>
                <a:ea typeface="Barlow" pitchFamily="34" charset="-122"/>
                <a:cs typeface="Barlow" pitchFamily="34" charset="-120"/>
              </a:rPr>
              <a:t>Prema Marga</a:t>
            </a:r>
            <a:r>
              <a:rPr lang="en-US" sz="750" dirty="0">
                <a:solidFill>
                  <a:srgbClr val="E5E0DF"/>
                </a:solidFill>
                <a:latin typeface="Barlow" pitchFamily="34" charset="0"/>
                <a:ea typeface="Barlow" pitchFamily="34" charset="-122"/>
                <a:cs typeface="Barlow" pitchFamily="34" charset="-120"/>
              </a:rPr>
              <a:t>, Agape, Abba — the mystical and relational heart of theology.</a:t>
            </a:r>
            <a:endParaRPr lang="en-US" sz="7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3455268"/>
            <a:ext cx="8021092" cy="592113"/>
          </a:xfrm>
          <a:prstGeom prst="rect">
            <a:avLst/>
          </a:prstGeom>
        </p:spPr>
      </p:pic>
      <p:sp>
        <p:nvSpPr>
          <p:cNvPr id="16" name="Text 9"/>
          <p:cNvSpPr/>
          <p:nvPr/>
        </p:nvSpPr>
        <p:spPr>
          <a:xfrm>
            <a:off x="1039862" y="3568229"/>
            <a:ext cx="7429723"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Faith Seeking Harmony</a:t>
            </a:r>
            <a:endParaRPr lang="en-US" sz="900" dirty="0"/>
          </a:p>
        </p:txBody>
      </p:sp>
      <p:sp>
        <p:nvSpPr>
          <p:cNvPr id="17" name="Text 10"/>
          <p:cNvSpPr/>
          <p:nvPr/>
        </p:nvSpPr>
        <p:spPr>
          <a:xfrm>
            <a:off x="1039862" y="3727847"/>
            <a:ext cx="7429723" cy="84013"/>
          </a:xfrm>
          <a:prstGeom prst="rect">
            <a:avLst/>
          </a:prstGeom>
          <a:noFill/>
          <a:ln/>
        </p:spPr>
        <p:txBody>
          <a:bodyPr wrap="none" lIns="0" tIns="0" rIns="0" bIns="0" rtlCol="0" anchor="t"/>
          <a:lstStyle/>
          <a:p>
            <a:pPr marL="0" indent="0" algn="l">
              <a:lnSpc>
                <a:spcPct val="71000"/>
              </a:lnSpc>
              <a:buNone/>
            </a:pPr>
            <a:r>
              <a:rPr lang="en-US" sz="750" dirty="0">
                <a:solidFill>
                  <a:srgbClr val="E5E0DF"/>
                </a:solidFill>
                <a:latin typeface="Barlow" pitchFamily="34" charset="0"/>
                <a:ea typeface="Barlow" pitchFamily="34" charset="-122"/>
                <a:cs typeface="Barlow" pitchFamily="34" charset="-120"/>
              </a:rPr>
              <a:t>Eco Theology, Subaltern Theology — the integrity of creation and the cosmos.</a:t>
            </a:r>
            <a:endParaRPr lang="en-US" sz="7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4116735"/>
            <a:ext cx="8021092" cy="592113"/>
          </a:xfrm>
          <a:prstGeom prst="rect">
            <a:avLst/>
          </a:prstGeom>
        </p:spPr>
      </p:pic>
      <p:sp>
        <p:nvSpPr>
          <p:cNvPr id="19" name="Text 11"/>
          <p:cNvSpPr/>
          <p:nvPr/>
        </p:nvSpPr>
        <p:spPr>
          <a:xfrm>
            <a:off x="1039862" y="4229695"/>
            <a:ext cx="7429723"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Faith Seeking Integrity &amp; Ritual Expression</a:t>
            </a:r>
            <a:endParaRPr lang="en-US" sz="900" dirty="0"/>
          </a:p>
        </p:txBody>
      </p:sp>
      <p:sp>
        <p:nvSpPr>
          <p:cNvPr id="20" name="Text 12"/>
          <p:cNvSpPr/>
          <p:nvPr/>
        </p:nvSpPr>
        <p:spPr>
          <a:xfrm>
            <a:off x="1039862" y="4389313"/>
            <a:ext cx="7429723" cy="84013"/>
          </a:xfrm>
          <a:prstGeom prst="rect">
            <a:avLst/>
          </a:prstGeom>
          <a:noFill/>
          <a:ln/>
        </p:spPr>
        <p:txBody>
          <a:bodyPr wrap="none" lIns="0" tIns="0" rIns="0" bIns="0" rtlCol="0" anchor="t"/>
          <a:lstStyle/>
          <a:p>
            <a:pPr marL="0" indent="0" algn="l">
              <a:lnSpc>
                <a:spcPct val="71000"/>
              </a:lnSpc>
              <a:buNone/>
            </a:pPr>
            <a:r>
              <a:rPr lang="en-US" sz="750" dirty="0">
                <a:solidFill>
                  <a:srgbClr val="E5E0DF"/>
                </a:solidFill>
                <a:latin typeface="Barlow" pitchFamily="34" charset="0"/>
                <a:ea typeface="Barlow" pitchFamily="34" charset="-122"/>
                <a:cs typeface="Barlow" pitchFamily="34" charset="-120"/>
              </a:rPr>
              <a:t>Wholeness, Consummation, Omega, Eschatology; and Worship, Liturgy, Sacraments.</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1454" y="154982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Theology as Hermeneutics</a:t>
            </a:r>
            <a:endParaRPr lang="en-US" sz="2600" dirty="0"/>
          </a:p>
        </p:txBody>
      </p:sp>
      <p:sp>
        <p:nvSpPr>
          <p:cNvPr id="3" name="Shape 1"/>
          <p:cNvSpPr/>
          <p:nvPr/>
        </p:nvSpPr>
        <p:spPr>
          <a:xfrm>
            <a:off x="561454" y="2166193"/>
            <a:ext cx="19050" cy="596503"/>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2324100"/>
            <a:ext cx="7810574"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is the Interpretation of Christian Faith in the Context of Contemporary Existential Realities and the Interpretation of Contemporary Realities in the Light of the Word of God (</a:t>
            </a:r>
            <a:r>
              <a:rPr lang="en-US" sz="1100" i="1" dirty="0">
                <a:solidFill>
                  <a:srgbClr val="E5E0DF"/>
                </a:solidFill>
                <a:latin typeface="Barlow" pitchFamily="34" charset="0"/>
                <a:ea typeface="Barlow" pitchFamily="34" charset="-122"/>
                <a:cs typeface="Barlow" pitchFamily="34" charset="-120"/>
              </a:rPr>
              <a:t>Gaudium et Spes</a:t>
            </a:r>
            <a:r>
              <a:rPr lang="en-US" sz="1100" dirty="0">
                <a:solidFill>
                  <a:srgbClr val="E5E0DF"/>
                </a:solidFill>
                <a:latin typeface="Barlow" pitchFamily="34" charset="0"/>
                <a:ea typeface="Barlow" pitchFamily="34" charset="-122"/>
                <a:cs typeface="Barlow" pitchFamily="34" charset="-120"/>
              </a:rPr>
              <a:t> 4-5).</a:t>
            </a:r>
            <a:endParaRPr lang="en-US" sz="1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4065" y="2902967"/>
            <a:ext cx="210517" cy="210517"/>
          </a:xfrm>
          <a:prstGeom prst="rect">
            <a:avLst/>
          </a:prstGeom>
        </p:spPr>
      </p:pic>
      <p:sp>
        <p:nvSpPr>
          <p:cNvPr id="6" name="Text 3"/>
          <p:cNvSpPr/>
          <p:nvPr/>
        </p:nvSpPr>
        <p:spPr>
          <a:xfrm>
            <a:off x="1017612" y="2920603"/>
            <a:ext cx="346665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Read the Signs of the Times</a:t>
            </a:r>
            <a:endParaRPr lang="en-US" sz="1300" dirty="0"/>
          </a:p>
        </p:txBody>
      </p:sp>
      <p:sp>
        <p:nvSpPr>
          <p:cNvPr id="7" name="Text 4"/>
          <p:cNvSpPr/>
          <p:nvPr/>
        </p:nvSpPr>
        <p:spPr>
          <a:xfrm>
            <a:off x="1017612" y="3172569"/>
            <a:ext cx="346665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In the Light of the Gospel (GS 4). "Go forth and Smell the Sheep." The theologian must be immersed in the concrete realities of the world.</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2271" y="2902967"/>
            <a:ext cx="210517" cy="210517"/>
          </a:xfrm>
          <a:prstGeom prst="rect">
            <a:avLst/>
          </a:prstGeom>
        </p:spPr>
      </p:pic>
      <p:sp>
        <p:nvSpPr>
          <p:cNvPr id="9" name="Text 5"/>
          <p:cNvSpPr/>
          <p:nvPr/>
        </p:nvSpPr>
        <p:spPr>
          <a:xfrm>
            <a:off x="5115818" y="2920603"/>
            <a:ext cx="346672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Scrutinize and Criticize</a:t>
            </a:r>
            <a:endParaRPr lang="en-US" sz="1300" dirty="0"/>
          </a:p>
        </p:txBody>
      </p:sp>
      <p:sp>
        <p:nvSpPr>
          <p:cNvPr id="10" name="Text 6"/>
          <p:cNvSpPr/>
          <p:nvPr/>
        </p:nvSpPr>
        <p:spPr>
          <a:xfrm>
            <a:off x="5115818" y="3172569"/>
            <a:ext cx="3466728"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Challenge and if necessary Reform the Church Teachings. Examples: </a:t>
            </a:r>
            <a:r>
              <a:rPr lang="en-US" sz="1100" i="1" dirty="0">
                <a:solidFill>
                  <a:srgbClr val="E5E0DF"/>
                </a:solidFill>
                <a:latin typeface="Barlow" pitchFamily="34" charset="0"/>
                <a:ea typeface="Barlow" pitchFamily="34" charset="-122"/>
                <a:cs typeface="Barlow" pitchFamily="34" charset="-120"/>
              </a:rPr>
              <a:t>Extra Ecclesiam Nulla Salus</a:t>
            </a:r>
            <a:r>
              <a:rPr lang="en-US" sz="1100" dirty="0">
                <a:solidFill>
                  <a:srgbClr val="E5E0DF"/>
                </a:solidFill>
                <a:latin typeface="Barlow" pitchFamily="34" charset="0"/>
                <a:ea typeface="Barlow" pitchFamily="34" charset="-122"/>
                <a:cs typeface="Barlow" pitchFamily="34" charset="-120"/>
              </a:rPr>
              <a:t> (EENS), Dialogue, Ecumenism, </a:t>
            </a:r>
            <a:r>
              <a:rPr lang="en-US" sz="1100" i="1" dirty="0">
                <a:solidFill>
                  <a:srgbClr val="E5E0DF"/>
                </a:solidFill>
                <a:latin typeface="Barlow" pitchFamily="34" charset="0"/>
                <a:ea typeface="Barlow" pitchFamily="34" charset="-122"/>
                <a:cs typeface="Barlow" pitchFamily="34" charset="-120"/>
              </a:rPr>
              <a:t>Unitatis Redintegratio</a:t>
            </a:r>
            <a:r>
              <a:rPr lang="en-US" sz="1100" dirty="0">
                <a:solidFill>
                  <a:srgbClr val="E5E0DF"/>
                </a:solidFill>
                <a:latin typeface="Barlow" pitchFamily="34" charset="0"/>
                <a:ea typeface="Barlow" pitchFamily="34" charset="-122"/>
                <a:cs typeface="Barlow" pitchFamily="34" charset="-120"/>
              </a:rPr>
              <a:t> 11.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1454" y="1393627"/>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Working Definition of Theology</a:t>
            </a:r>
            <a:endParaRPr lang="en-US" sz="2600" dirty="0"/>
          </a:p>
        </p:txBody>
      </p:sp>
      <p:sp>
        <p:nvSpPr>
          <p:cNvPr id="3" name="Shape 1"/>
          <p:cNvSpPr/>
          <p:nvPr/>
        </p:nvSpPr>
        <p:spPr>
          <a:xfrm>
            <a:off x="561454" y="2009998"/>
            <a:ext cx="3940373" cy="1441549"/>
          </a:xfrm>
          <a:prstGeom prst="roundRect">
            <a:avLst>
              <a:gd name="adj" fmla="val 4090"/>
            </a:avLst>
          </a:prstGeom>
          <a:solidFill>
            <a:srgbClr val="191718">
              <a:alpha val="95000"/>
            </a:srgbClr>
          </a:solidFill>
          <a:ln w="19050">
            <a:solidFill>
              <a:srgbClr val="922022"/>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496342" y="1944886"/>
            <a:ext cx="168399" cy="168399"/>
          </a:xfrm>
          <a:prstGeom prst="rect">
            <a:avLst/>
          </a:prstGeom>
        </p:spPr>
      </p:pic>
      <p:pic>
        <p:nvPicPr>
          <p:cNvPr id="5" name="Image 1" descr="preencoded.png"/>
          <p:cNvPicPr>
            <a:picLocks noChangeAspect="1"/>
          </p:cNvPicPr>
          <p:nvPr/>
        </p:nvPicPr>
        <p:blipFill>
          <a:blip r:embed="rId4"/>
          <a:stretch>
            <a:fillRect/>
          </a:stretch>
        </p:blipFill>
        <p:spPr>
          <a:xfrm>
            <a:off x="4398541" y="3348261"/>
            <a:ext cx="168399" cy="168399"/>
          </a:xfrm>
          <a:prstGeom prst="rect">
            <a:avLst/>
          </a:prstGeom>
        </p:spPr>
      </p:pic>
      <p:sp>
        <p:nvSpPr>
          <p:cNvPr id="6" name="Text 2"/>
          <p:cNvSpPr/>
          <p:nvPr/>
        </p:nvSpPr>
        <p:spPr>
          <a:xfrm>
            <a:off x="791021" y="2239566"/>
            <a:ext cx="3481239" cy="98241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Christian Theology is a </a:t>
            </a:r>
            <a:r>
              <a:rPr lang="en-US" sz="1100" b="1" dirty="0">
                <a:solidFill>
                  <a:srgbClr val="E5E0DF"/>
                </a:solidFill>
                <a:latin typeface="Barlow Bold" pitchFamily="34" charset="0"/>
                <a:ea typeface="Barlow Bold" pitchFamily="34" charset="-122"/>
                <a:cs typeface="Barlow Bold" pitchFamily="34" charset="-120"/>
              </a:rPr>
              <a:t>Systematic and Critical Interpretation</a:t>
            </a:r>
            <a:r>
              <a:rPr lang="en-US" sz="1100" dirty="0">
                <a:solidFill>
                  <a:srgbClr val="E5E0DF"/>
                </a:solidFill>
                <a:latin typeface="Barlow" pitchFamily="34" charset="0"/>
                <a:ea typeface="Barlow" pitchFamily="34" charset="-122"/>
                <a:cs typeface="Barlow" pitchFamily="34" charset="-120"/>
              </a:rPr>
              <a:t> of the Meaning of Human Life and Reality in General from the Perspective of the Revelation in Jesus Christ on the One Hand, and Reinterpretation of Christian Faith on the Other … in the Light of the New Experience and Context of the Changing Realities of the World, in and by the Believing Community.</a:t>
            </a:r>
            <a:endParaRPr lang="en-US" sz="1100" dirty="0"/>
          </a:p>
        </p:txBody>
      </p:sp>
      <p:sp>
        <p:nvSpPr>
          <p:cNvPr id="7" name="Shape 3"/>
          <p:cNvSpPr/>
          <p:nvPr/>
        </p:nvSpPr>
        <p:spPr>
          <a:xfrm>
            <a:off x="4642172" y="2009998"/>
            <a:ext cx="3940373" cy="1441549"/>
          </a:xfrm>
          <a:prstGeom prst="roundRect">
            <a:avLst>
              <a:gd name="adj" fmla="val 4090"/>
            </a:avLst>
          </a:prstGeom>
          <a:solidFill>
            <a:srgbClr val="191718">
              <a:alpha val="95000"/>
            </a:srgbClr>
          </a:solidFill>
          <a:ln w="19050">
            <a:solidFill>
              <a:srgbClr val="922022"/>
            </a:solidFill>
            <a:prstDash val="solid"/>
          </a:ln>
        </p:spPr>
        <p:txBody>
          <a:bodyPr/>
          <a:lstStyle/>
          <a:p>
            <a:endParaRPr lang="en-IN"/>
          </a:p>
        </p:txBody>
      </p:sp>
      <p:pic>
        <p:nvPicPr>
          <p:cNvPr id="8" name="Image 2" descr="preencoded.png"/>
          <p:cNvPicPr>
            <a:picLocks noChangeAspect="1"/>
          </p:cNvPicPr>
          <p:nvPr/>
        </p:nvPicPr>
        <p:blipFill>
          <a:blip r:embed="rId3"/>
          <a:stretch>
            <a:fillRect/>
          </a:stretch>
        </p:blipFill>
        <p:spPr>
          <a:xfrm>
            <a:off x="4577060" y="1944886"/>
            <a:ext cx="168399" cy="168399"/>
          </a:xfrm>
          <a:prstGeom prst="rect">
            <a:avLst/>
          </a:prstGeom>
        </p:spPr>
      </p:pic>
      <p:pic>
        <p:nvPicPr>
          <p:cNvPr id="9" name="Image 3" descr="preencoded.png"/>
          <p:cNvPicPr>
            <a:picLocks noChangeAspect="1"/>
          </p:cNvPicPr>
          <p:nvPr/>
        </p:nvPicPr>
        <p:blipFill>
          <a:blip r:embed="rId4"/>
          <a:stretch>
            <a:fillRect/>
          </a:stretch>
        </p:blipFill>
        <p:spPr>
          <a:xfrm>
            <a:off x="8479259" y="3348261"/>
            <a:ext cx="168399" cy="168399"/>
          </a:xfrm>
          <a:prstGeom prst="rect">
            <a:avLst/>
          </a:prstGeom>
        </p:spPr>
      </p:pic>
      <p:sp>
        <p:nvSpPr>
          <p:cNvPr id="10" name="Text 4"/>
          <p:cNvSpPr/>
          <p:nvPr/>
        </p:nvSpPr>
        <p:spPr>
          <a:xfrm>
            <a:off x="4871740" y="2239566"/>
            <a:ext cx="3481239"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Christian Theology deals with the </a:t>
            </a:r>
            <a:r>
              <a:rPr lang="en-US" sz="1100" b="1" dirty="0">
                <a:solidFill>
                  <a:srgbClr val="E5E0DF"/>
                </a:solidFill>
                <a:latin typeface="Barlow Bold" pitchFamily="34" charset="0"/>
                <a:ea typeface="Barlow Bold" pitchFamily="34" charset="-122"/>
                <a:cs typeface="Barlow Bold" pitchFamily="34" charset="-120"/>
              </a:rPr>
              <a:t>Ultimate Meaning and Mystery</a:t>
            </a:r>
            <a:r>
              <a:rPr lang="en-US" sz="1100" dirty="0">
                <a:solidFill>
                  <a:srgbClr val="E5E0DF"/>
                </a:solidFill>
                <a:latin typeface="Barlow" pitchFamily="34" charset="0"/>
                <a:ea typeface="Barlow" pitchFamily="34" charset="-122"/>
                <a:cs typeface="Barlow" pitchFamily="34" charset="-120"/>
              </a:rPr>
              <a:t> of Human Life and of Reality in its Totality, including the Human-Cosmic-Divine, from the Perspective of Christian Revelation as enshrined in the Bible and the Christian Tradition.</a:t>
            </a:r>
            <a:endParaRPr lang="en-US" sz="1100" dirty="0"/>
          </a:p>
        </p:txBody>
      </p:sp>
      <p:sp>
        <p:nvSpPr>
          <p:cNvPr id="11" name="Text 5"/>
          <p:cNvSpPr/>
          <p:nvPr/>
        </p:nvSpPr>
        <p:spPr>
          <a:xfrm>
            <a:off x="104254" y="3609454"/>
            <a:ext cx="8478292" cy="140345"/>
          </a:xfrm>
          <a:prstGeom prst="rect">
            <a:avLst/>
          </a:prstGeom>
          <a:noFill/>
          <a:ln/>
        </p:spPr>
        <p:txBody>
          <a:bodyPr wrap="none" lIns="0" tIns="0" rIns="0" bIns="0" rtlCol="0" anchor="t"/>
          <a:lstStyle/>
          <a:p>
            <a:pPr marL="0" indent="0" algn="r">
              <a:lnSpc>
                <a:spcPct val="83000"/>
              </a:lnSpc>
              <a:buNone/>
            </a:pPr>
            <a:r>
              <a:rPr lang="en-US" sz="1100" i="1" dirty="0">
                <a:solidFill>
                  <a:srgbClr val="E5E0DF"/>
                </a:solidFill>
                <a:latin typeface="Barlow" pitchFamily="34" charset="0"/>
                <a:ea typeface="Barlow" pitchFamily="34" charset="-122"/>
                <a:cs typeface="Barlow" pitchFamily="34" charset="-120"/>
              </a:rPr>
              <a:t>— An Introduction to Theology, pp. 20-21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1454" y="71645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Balance Between Polarities</a:t>
            </a:r>
            <a:endParaRPr lang="en-US" sz="2600" dirty="0"/>
          </a:p>
        </p:txBody>
      </p:sp>
      <p:sp>
        <p:nvSpPr>
          <p:cNvPr id="3" name="Text 1"/>
          <p:cNvSpPr/>
          <p:nvPr/>
        </p:nvSpPr>
        <p:spPr>
          <a:xfrm>
            <a:off x="561454" y="1332830"/>
            <a:ext cx="8478292"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Authentic theology must hold in creative tension seven fundamental polarities:</a:t>
            </a:r>
            <a:endParaRPr lang="en-US" sz="1100" dirty="0"/>
          </a:p>
        </p:txBody>
      </p:sp>
      <p:sp>
        <p:nvSpPr>
          <p:cNvPr id="4" name="Shape 2"/>
          <p:cNvSpPr/>
          <p:nvPr/>
        </p:nvSpPr>
        <p:spPr>
          <a:xfrm>
            <a:off x="561454" y="1631082"/>
            <a:ext cx="1900014" cy="1411709"/>
          </a:xfrm>
          <a:prstGeom prst="roundRect">
            <a:avLst>
              <a:gd name="adj" fmla="val 4176"/>
            </a:avLst>
          </a:prstGeom>
          <a:solidFill>
            <a:srgbClr val="790709"/>
          </a:solidFill>
          <a:ln w="4763">
            <a:solidFill>
              <a:srgbClr val="922022"/>
            </a:solidFill>
            <a:prstDash val="solid"/>
          </a:ln>
        </p:spPr>
        <p:txBody>
          <a:bodyPr/>
          <a:lstStyle/>
          <a:p>
            <a:endParaRPr lang="en-IN"/>
          </a:p>
        </p:txBody>
      </p:sp>
      <p:sp>
        <p:nvSpPr>
          <p:cNvPr id="5" name="Text 3"/>
          <p:cNvSpPr/>
          <p:nvPr/>
        </p:nvSpPr>
        <p:spPr>
          <a:xfrm>
            <a:off x="706562" y="1776189"/>
            <a:ext cx="160979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Mystery &amp; Intelligibility</a:t>
            </a:r>
            <a:endParaRPr lang="en-US" sz="1300" dirty="0"/>
          </a:p>
        </p:txBody>
      </p:sp>
      <p:sp>
        <p:nvSpPr>
          <p:cNvPr id="6" name="Text 4"/>
          <p:cNvSpPr/>
          <p:nvPr/>
        </p:nvSpPr>
        <p:spPr>
          <a:xfrm>
            <a:off x="706562" y="2195959"/>
            <a:ext cx="1609799"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must be Intelligible yet safeguard the Mystery of the Divine.</a:t>
            </a:r>
            <a:endParaRPr lang="en-US" sz="1100" dirty="0"/>
          </a:p>
        </p:txBody>
      </p:sp>
      <p:sp>
        <p:nvSpPr>
          <p:cNvPr id="7" name="Shape 5"/>
          <p:cNvSpPr/>
          <p:nvPr/>
        </p:nvSpPr>
        <p:spPr>
          <a:xfrm>
            <a:off x="2601813" y="1631082"/>
            <a:ext cx="1900014" cy="1411709"/>
          </a:xfrm>
          <a:prstGeom prst="roundRect">
            <a:avLst>
              <a:gd name="adj" fmla="val 4176"/>
            </a:avLst>
          </a:prstGeom>
          <a:solidFill>
            <a:srgbClr val="790709"/>
          </a:solidFill>
          <a:ln w="4763">
            <a:solidFill>
              <a:srgbClr val="922022"/>
            </a:solidFill>
            <a:prstDash val="solid"/>
          </a:ln>
        </p:spPr>
        <p:txBody>
          <a:bodyPr/>
          <a:lstStyle/>
          <a:p>
            <a:endParaRPr lang="en-IN"/>
          </a:p>
        </p:txBody>
      </p:sp>
      <p:sp>
        <p:nvSpPr>
          <p:cNvPr id="8" name="Text 6"/>
          <p:cNvSpPr/>
          <p:nvPr/>
        </p:nvSpPr>
        <p:spPr>
          <a:xfrm>
            <a:off x="2746921" y="1776189"/>
            <a:ext cx="160979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Identity &amp; Change</a:t>
            </a:r>
            <a:endParaRPr lang="en-US" sz="1300" dirty="0"/>
          </a:p>
        </p:txBody>
      </p:sp>
      <p:sp>
        <p:nvSpPr>
          <p:cNvPr id="9" name="Text 7"/>
          <p:cNvSpPr/>
          <p:nvPr/>
        </p:nvSpPr>
        <p:spPr>
          <a:xfrm>
            <a:off x="2746921" y="2028155"/>
            <a:ext cx="1609799"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Original Faith-Language has Perennial Value, yet calls for continuous Reinterpretation.</a:t>
            </a:r>
            <a:endParaRPr lang="en-US" sz="1100" dirty="0"/>
          </a:p>
        </p:txBody>
      </p:sp>
      <p:sp>
        <p:nvSpPr>
          <p:cNvPr id="10" name="Shape 8"/>
          <p:cNvSpPr/>
          <p:nvPr/>
        </p:nvSpPr>
        <p:spPr>
          <a:xfrm>
            <a:off x="4642172" y="1631082"/>
            <a:ext cx="1899940" cy="1411709"/>
          </a:xfrm>
          <a:prstGeom prst="roundRect">
            <a:avLst>
              <a:gd name="adj" fmla="val 4176"/>
            </a:avLst>
          </a:prstGeom>
          <a:solidFill>
            <a:srgbClr val="790709"/>
          </a:solidFill>
          <a:ln w="4763">
            <a:solidFill>
              <a:srgbClr val="922022"/>
            </a:solidFill>
            <a:prstDash val="solid"/>
          </a:ln>
        </p:spPr>
        <p:txBody>
          <a:bodyPr/>
          <a:lstStyle/>
          <a:p>
            <a:endParaRPr lang="en-IN"/>
          </a:p>
        </p:txBody>
      </p:sp>
      <p:sp>
        <p:nvSpPr>
          <p:cNvPr id="11" name="Text 9"/>
          <p:cNvSpPr/>
          <p:nvPr/>
        </p:nvSpPr>
        <p:spPr>
          <a:xfrm>
            <a:off x="4787280" y="1776189"/>
            <a:ext cx="1609725"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Committed &amp; Critical</a:t>
            </a:r>
            <a:endParaRPr lang="en-US" sz="1300" dirty="0"/>
          </a:p>
        </p:txBody>
      </p:sp>
      <p:sp>
        <p:nvSpPr>
          <p:cNvPr id="12" name="Text 10"/>
          <p:cNvSpPr/>
          <p:nvPr/>
        </p:nvSpPr>
        <p:spPr>
          <a:xfrm>
            <a:off x="4787280" y="2195959"/>
            <a:ext cx="1609725"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is a committed Engagement and a critical Activity examining all Beliefs in the Light of Contemporary Knowledge.</a:t>
            </a:r>
            <a:endParaRPr lang="en-US" sz="1100" dirty="0"/>
          </a:p>
        </p:txBody>
      </p:sp>
      <p:sp>
        <p:nvSpPr>
          <p:cNvPr id="13" name="Shape 11"/>
          <p:cNvSpPr/>
          <p:nvPr/>
        </p:nvSpPr>
        <p:spPr>
          <a:xfrm>
            <a:off x="6682457" y="1631082"/>
            <a:ext cx="1900089" cy="1411709"/>
          </a:xfrm>
          <a:prstGeom prst="roundRect">
            <a:avLst>
              <a:gd name="adj" fmla="val 4176"/>
            </a:avLst>
          </a:prstGeom>
          <a:solidFill>
            <a:srgbClr val="790709"/>
          </a:solidFill>
          <a:ln w="4763">
            <a:solidFill>
              <a:srgbClr val="922022"/>
            </a:solidFill>
            <a:prstDash val="solid"/>
          </a:ln>
        </p:spPr>
        <p:txBody>
          <a:bodyPr/>
          <a:lstStyle/>
          <a:p>
            <a:endParaRPr lang="en-IN"/>
          </a:p>
        </p:txBody>
      </p:sp>
      <p:sp>
        <p:nvSpPr>
          <p:cNvPr id="14" name="Text 12"/>
          <p:cNvSpPr/>
          <p:nvPr/>
        </p:nvSpPr>
        <p:spPr>
          <a:xfrm>
            <a:off x="6827565" y="1776189"/>
            <a:ext cx="1609874"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Community &amp; Individual</a:t>
            </a:r>
            <a:endParaRPr lang="en-US" sz="1300" dirty="0"/>
          </a:p>
        </p:txBody>
      </p:sp>
      <p:sp>
        <p:nvSpPr>
          <p:cNvPr id="15" name="Text 13"/>
          <p:cNvSpPr/>
          <p:nvPr/>
        </p:nvSpPr>
        <p:spPr>
          <a:xfrm>
            <a:off x="6827565" y="2195959"/>
            <a:ext cx="160987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Individual Theologian shares the Faith of the Community and also plays a Prophetic Role within it.</a:t>
            </a:r>
            <a:endParaRPr lang="en-US" sz="1100" dirty="0"/>
          </a:p>
        </p:txBody>
      </p:sp>
      <p:sp>
        <p:nvSpPr>
          <p:cNvPr id="16" name="Shape 14"/>
          <p:cNvSpPr/>
          <p:nvPr/>
        </p:nvSpPr>
        <p:spPr>
          <a:xfrm>
            <a:off x="561454" y="3183136"/>
            <a:ext cx="2580084" cy="1243905"/>
          </a:xfrm>
          <a:prstGeom prst="roundRect">
            <a:avLst>
              <a:gd name="adj" fmla="val 4739"/>
            </a:avLst>
          </a:prstGeom>
          <a:solidFill>
            <a:srgbClr val="790709"/>
          </a:solidFill>
          <a:ln w="4763">
            <a:solidFill>
              <a:srgbClr val="922022"/>
            </a:solidFill>
            <a:prstDash val="solid"/>
          </a:ln>
        </p:spPr>
        <p:txBody>
          <a:bodyPr/>
          <a:lstStyle/>
          <a:p>
            <a:endParaRPr lang="en-IN"/>
          </a:p>
        </p:txBody>
      </p:sp>
      <p:sp>
        <p:nvSpPr>
          <p:cNvPr id="17" name="Text 15"/>
          <p:cNvSpPr/>
          <p:nvPr/>
        </p:nvSpPr>
        <p:spPr>
          <a:xfrm>
            <a:off x="706562" y="3328243"/>
            <a:ext cx="2289870"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One &amp; Many</a:t>
            </a:r>
            <a:endParaRPr lang="en-US" sz="1300" dirty="0"/>
          </a:p>
        </p:txBody>
      </p:sp>
      <p:sp>
        <p:nvSpPr>
          <p:cNvPr id="18" name="Text 16"/>
          <p:cNvSpPr/>
          <p:nvPr/>
        </p:nvSpPr>
        <p:spPr>
          <a:xfrm>
            <a:off x="706562" y="3580209"/>
            <a:ext cx="2289870"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Core is the Christ-Event. Yet within Christianity: Catholic, Orthodox, Protestant, Pentecostal. </a:t>
            </a:r>
            <a:r>
              <a:rPr lang="en-US" sz="1100" i="1" dirty="0">
                <a:solidFill>
                  <a:srgbClr val="E5E0DF"/>
                </a:solidFill>
                <a:latin typeface="Barlow" pitchFamily="34" charset="0"/>
                <a:ea typeface="Barlow" pitchFamily="34" charset="-122"/>
                <a:cs typeface="Barlow" pitchFamily="34" charset="-120"/>
              </a:rPr>
              <a:t>Ekam sat viprah bahudha vadanti</a:t>
            </a:r>
            <a:r>
              <a:rPr lang="en-US" sz="1100" dirty="0">
                <a:solidFill>
                  <a:srgbClr val="E5E0DF"/>
                </a:solidFill>
                <a:latin typeface="Barlow" pitchFamily="34" charset="0"/>
                <a:ea typeface="Barlow" pitchFamily="34" charset="-122"/>
                <a:cs typeface="Barlow" pitchFamily="34" charset="-120"/>
              </a:rPr>
              <a:t> (RV 1:164:46).</a:t>
            </a:r>
            <a:endParaRPr lang="en-US" sz="1100" dirty="0"/>
          </a:p>
        </p:txBody>
      </p:sp>
      <p:sp>
        <p:nvSpPr>
          <p:cNvPr id="19" name="Shape 17"/>
          <p:cNvSpPr/>
          <p:nvPr/>
        </p:nvSpPr>
        <p:spPr>
          <a:xfrm>
            <a:off x="3281883" y="3183136"/>
            <a:ext cx="2580159" cy="1243905"/>
          </a:xfrm>
          <a:prstGeom prst="roundRect">
            <a:avLst>
              <a:gd name="adj" fmla="val 4739"/>
            </a:avLst>
          </a:prstGeom>
          <a:solidFill>
            <a:srgbClr val="790709"/>
          </a:solidFill>
          <a:ln w="4763">
            <a:solidFill>
              <a:srgbClr val="922022"/>
            </a:solidFill>
            <a:prstDash val="solid"/>
          </a:ln>
        </p:spPr>
        <p:txBody>
          <a:bodyPr/>
          <a:lstStyle/>
          <a:p>
            <a:endParaRPr lang="en-IN"/>
          </a:p>
        </p:txBody>
      </p:sp>
      <p:sp>
        <p:nvSpPr>
          <p:cNvPr id="20" name="Text 18"/>
          <p:cNvSpPr/>
          <p:nvPr/>
        </p:nvSpPr>
        <p:spPr>
          <a:xfrm>
            <a:off x="3426991" y="3328243"/>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Universal &amp; Contextual</a:t>
            </a:r>
            <a:endParaRPr lang="en-US" sz="1300" dirty="0"/>
          </a:p>
        </p:txBody>
      </p:sp>
      <p:sp>
        <p:nvSpPr>
          <p:cNvPr id="21" name="Text 19"/>
          <p:cNvSpPr/>
          <p:nvPr/>
        </p:nvSpPr>
        <p:spPr>
          <a:xfrm>
            <a:off x="3426991" y="3580209"/>
            <a:ext cx="228994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No Theology is Perennial. All Theologies are Contextual — conditioned by Historical, Social and Cultural Context.</a:t>
            </a:r>
            <a:endParaRPr lang="en-US" sz="1100" dirty="0"/>
          </a:p>
        </p:txBody>
      </p:sp>
      <p:sp>
        <p:nvSpPr>
          <p:cNvPr id="22" name="Shape 20"/>
          <p:cNvSpPr/>
          <p:nvPr/>
        </p:nvSpPr>
        <p:spPr>
          <a:xfrm>
            <a:off x="6002387" y="3183136"/>
            <a:ext cx="2580159" cy="1243905"/>
          </a:xfrm>
          <a:prstGeom prst="roundRect">
            <a:avLst>
              <a:gd name="adj" fmla="val 4739"/>
            </a:avLst>
          </a:prstGeom>
          <a:solidFill>
            <a:srgbClr val="790709"/>
          </a:solidFill>
          <a:ln w="4763">
            <a:solidFill>
              <a:srgbClr val="922022"/>
            </a:solidFill>
            <a:prstDash val="solid"/>
          </a:ln>
        </p:spPr>
        <p:txBody>
          <a:bodyPr/>
          <a:lstStyle/>
          <a:p>
            <a:endParaRPr lang="en-IN"/>
          </a:p>
        </p:txBody>
      </p:sp>
      <p:sp>
        <p:nvSpPr>
          <p:cNvPr id="23" name="Text 21"/>
          <p:cNvSpPr/>
          <p:nvPr/>
        </p:nvSpPr>
        <p:spPr>
          <a:xfrm>
            <a:off x="6147495" y="3328243"/>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Orthodoxy &amp; Orthopraxis</a:t>
            </a:r>
            <a:endParaRPr lang="en-US" sz="1300" dirty="0"/>
          </a:p>
        </p:txBody>
      </p:sp>
      <p:sp>
        <p:nvSpPr>
          <p:cNvPr id="24" name="Text 22"/>
          <p:cNvSpPr/>
          <p:nvPr/>
        </p:nvSpPr>
        <p:spPr>
          <a:xfrm>
            <a:off x="6147495" y="3580209"/>
            <a:ext cx="228994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Faithfulness to Authentic Christian Faith must be concerned with Right Doing in order to change the World and Society.</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1454" y="491207"/>
            <a:ext cx="8021092" cy="330398"/>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Branches of Theology</a:t>
            </a:r>
            <a:endParaRPr lang="en-US" sz="26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093589"/>
            <a:ext cx="138113" cy="138113"/>
          </a:xfrm>
          <a:prstGeom prst="rect">
            <a:avLst/>
          </a:prstGeom>
        </p:spPr>
      </p:pic>
      <p:sp>
        <p:nvSpPr>
          <p:cNvPr id="4" name="Shape 1"/>
          <p:cNvSpPr/>
          <p:nvPr/>
        </p:nvSpPr>
        <p:spPr>
          <a:xfrm>
            <a:off x="561454" y="1274787"/>
            <a:ext cx="2583061" cy="19050"/>
          </a:xfrm>
          <a:prstGeom prst="rect">
            <a:avLst/>
          </a:prstGeom>
          <a:solidFill>
            <a:srgbClr val="F65F62"/>
          </a:solidFill>
          <a:ln/>
        </p:spPr>
        <p:txBody>
          <a:bodyPr/>
          <a:lstStyle/>
          <a:p>
            <a:endParaRPr lang="en-IN"/>
          </a:p>
        </p:txBody>
      </p:sp>
      <p:sp>
        <p:nvSpPr>
          <p:cNvPr id="5" name="Text 2"/>
          <p:cNvSpPr/>
          <p:nvPr/>
        </p:nvSpPr>
        <p:spPr>
          <a:xfrm>
            <a:off x="561454" y="1381944"/>
            <a:ext cx="2583061" cy="165199"/>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Fundamental Theology</a:t>
            </a:r>
            <a:endParaRPr lang="en-US" sz="1300" dirty="0"/>
          </a:p>
        </p:txBody>
      </p:sp>
      <p:sp>
        <p:nvSpPr>
          <p:cNvPr id="6" name="Text 3"/>
          <p:cNvSpPr/>
          <p:nvPr/>
        </p:nvSpPr>
        <p:spPr>
          <a:xfrm>
            <a:off x="561454" y="1628701"/>
            <a:ext cx="2583061" cy="548283"/>
          </a:xfrm>
          <a:prstGeom prst="rect">
            <a:avLst/>
          </a:prstGeom>
          <a:noFill/>
          <a:ln/>
        </p:spPr>
        <p:txBody>
          <a:bodyPr wrap="square" lIns="0" tIns="0" rIns="0" bIns="0" rtlCol="0" anchor="t">
            <a:normAutofit/>
          </a:bodyPr>
          <a:lstStyle/>
          <a:p>
            <a:pPr marL="0" indent="0" algn="l">
              <a:lnSpc>
                <a:spcPct val="83000"/>
              </a:lnSpc>
              <a:buNone/>
            </a:pPr>
            <a:r>
              <a:rPr lang="en-US" sz="1050" dirty="0">
                <a:solidFill>
                  <a:srgbClr val="E5E0DF"/>
                </a:solidFill>
                <a:latin typeface="Barlow" pitchFamily="34" charset="0"/>
                <a:ea typeface="Barlow" pitchFamily="34" charset="-122"/>
                <a:cs typeface="Barlow" pitchFamily="34" charset="-120"/>
              </a:rPr>
              <a:t>Critically reflects upon the "Foundations" of Theology: Revelation, Faith, Credibility, Transmission and Interpretation of Revelation.</a:t>
            </a:r>
            <a:endParaRPr lang="en-US" sz="10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80470" y="1093589"/>
            <a:ext cx="138113" cy="138113"/>
          </a:xfrm>
          <a:prstGeom prst="rect">
            <a:avLst/>
          </a:prstGeom>
        </p:spPr>
      </p:pic>
      <p:sp>
        <p:nvSpPr>
          <p:cNvPr id="8" name="Shape 4"/>
          <p:cNvSpPr/>
          <p:nvPr/>
        </p:nvSpPr>
        <p:spPr>
          <a:xfrm>
            <a:off x="3280470" y="1274787"/>
            <a:ext cx="2583061" cy="19050"/>
          </a:xfrm>
          <a:prstGeom prst="rect">
            <a:avLst/>
          </a:prstGeom>
          <a:solidFill>
            <a:srgbClr val="F65F62"/>
          </a:solidFill>
          <a:ln/>
        </p:spPr>
        <p:txBody>
          <a:bodyPr/>
          <a:lstStyle/>
          <a:p>
            <a:endParaRPr lang="en-IN"/>
          </a:p>
        </p:txBody>
      </p:sp>
      <p:sp>
        <p:nvSpPr>
          <p:cNvPr id="9" name="Text 5"/>
          <p:cNvSpPr/>
          <p:nvPr/>
        </p:nvSpPr>
        <p:spPr>
          <a:xfrm>
            <a:off x="3280470" y="1381944"/>
            <a:ext cx="2583061" cy="165199"/>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Biblical &amp; Scriptural Theology</a:t>
            </a:r>
            <a:endParaRPr lang="en-US" sz="1300" dirty="0"/>
          </a:p>
        </p:txBody>
      </p:sp>
      <p:sp>
        <p:nvSpPr>
          <p:cNvPr id="10" name="Text 6"/>
          <p:cNvSpPr/>
          <p:nvPr/>
        </p:nvSpPr>
        <p:spPr>
          <a:xfrm>
            <a:off x="3280470" y="1628701"/>
            <a:ext cx="2583061" cy="548283"/>
          </a:xfrm>
          <a:prstGeom prst="rect">
            <a:avLst/>
          </a:prstGeom>
          <a:noFill/>
          <a:ln/>
        </p:spPr>
        <p:txBody>
          <a:bodyPr wrap="square" lIns="0" tIns="0" rIns="0" bIns="0" rtlCol="0" anchor="t">
            <a:normAutofit/>
          </a:bodyPr>
          <a:lstStyle/>
          <a:p>
            <a:pPr marL="0" indent="0" algn="l">
              <a:lnSpc>
                <a:spcPct val="83000"/>
              </a:lnSpc>
              <a:buNone/>
            </a:pPr>
            <a:r>
              <a:rPr lang="en-US" sz="1050" dirty="0">
                <a:solidFill>
                  <a:srgbClr val="E5E0DF"/>
                </a:solidFill>
                <a:latin typeface="Barlow" pitchFamily="34" charset="0"/>
                <a:ea typeface="Barlow" pitchFamily="34" charset="-122"/>
                <a:cs typeface="Barlow" pitchFamily="34" charset="-120"/>
              </a:rPr>
              <a:t>Studies the Word of God contained in the OT/NT; Scripture is the Unique Source and Norm of the Christian Community's Faith Experience.</a:t>
            </a:r>
            <a:endParaRPr lang="en-US" sz="10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99485" y="1093589"/>
            <a:ext cx="138113" cy="138113"/>
          </a:xfrm>
          <a:prstGeom prst="rect">
            <a:avLst/>
          </a:prstGeom>
        </p:spPr>
      </p:pic>
      <p:sp>
        <p:nvSpPr>
          <p:cNvPr id="12" name="Shape 7"/>
          <p:cNvSpPr/>
          <p:nvPr/>
        </p:nvSpPr>
        <p:spPr>
          <a:xfrm>
            <a:off x="5999485" y="1274787"/>
            <a:ext cx="2583061" cy="19050"/>
          </a:xfrm>
          <a:prstGeom prst="rect">
            <a:avLst/>
          </a:prstGeom>
          <a:solidFill>
            <a:srgbClr val="F65F62"/>
          </a:solidFill>
          <a:ln/>
        </p:spPr>
        <p:txBody>
          <a:bodyPr/>
          <a:lstStyle/>
          <a:p>
            <a:endParaRPr lang="en-IN"/>
          </a:p>
        </p:txBody>
      </p:sp>
      <p:sp>
        <p:nvSpPr>
          <p:cNvPr id="13" name="Text 8"/>
          <p:cNvSpPr/>
          <p:nvPr/>
        </p:nvSpPr>
        <p:spPr>
          <a:xfrm>
            <a:off x="5999485" y="1381944"/>
            <a:ext cx="2583061" cy="165199"/>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Systematic (Dogmatic) Theology</a:t>
            </a:r>
            <a:endParaRPr lang="en-US" sz="1300" dirty="0"/>
          </a:p>
        </p:txBody>
      </p:sp>
      <p:sp>
        <p:nvSpPr>
          <p:cNvPr id="14" name="Text 9"/>
          <p:cNvSpPr/>
          <p:nvPr/>
        </p:nvSpPr>
        <p:spPr>
          <a:xfrm>
            <a:off x="5999485" y="1628701"/>
            <a:ext cx="2583061" cy="685354"/>
          </a:xfrm>
          <a:prstGeom prst="rect">
            <a:avLst/>
          </a:prstGeom>
          <a:noFill/>
          <a:ln/>
        </p:spPr>
        <p:txBody>
          <a:bodyPr wrap="square" lIns="0" tIns="0" rIns="0" bIns="0" rtlCol="0" anchor="t">
            <a:normAutofit/>
          </a:bodyPr>
          <a:lstStyle/>
          <a:p>
            <a:pPr marL="0" indent="0" algn="l">
              <a:lnSpc>
                <a:spcPct val="83000"/>
              </a:lnSpc>
              <a:buNone/>
            </a:pPr>
            <a:r>
              <a:rPr lang="en-US" sz="1050" dirty="0">
                <a:solidFill>
                  <a:srgbClr val="E5E0DF"/>
                </a:solidFill>
                <a:latin typeface="Barlow" pitchFamily="34" charset="0"/>
                <a:ea typeface="Barlow" pitchFamily="34" charset="-122"/>
                <a:cs typeface="Barlow" pitchFamily="34" charset="-120"/>
              </a:rPr>
              <a:t>Reflects upon Church Doctrines Systematically: Christology, Trinity, Holy Spirit, Mariology, Ecclesiology, Theological Anthropology, Grace, Sacraments, Eschatology.</a:t>
            </a:r>
            <a:endParaRPr lang="en-US" sz="10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1454" y="2553593"/>
            <a:ext cx="138113" cy="138113"/>
          </a:xfrm>
          <a:prstGeom prst="rect">
            <a:avLst/>
          </a:prstGeom>
        </p:spPr>
      </p:pic>
      <p:sp>
        <p:nvSpPr>
          <p:cNvPr id="16" name="Shape 10"/>
          <p:cNvSpPr/>
          <p:nvPr/>
        </p:nvSpPr>
        <p:spPr>
          <a:xfrm>
            <a:off x="561454" y="2734791"/>
            <a:ext cx="2583061" cy="19050"/>
          </a:xfrm>
          <a:prstGeom prst="rect">
            <a:avLst/>
          </a:prstGeom>
          <a:solidFill>
            <a:srgbClr val="F65F62"/>
          </a:solidFill>
          <a:ln/>
        </p:spPr>
        <p:txBody>
          <a:bodyPr/>
          <a:lstStyle/>
          <a:p>
            <a:endParaRPr lang="en-IN"/>
          </a:p>
        </p:txBody>
      </p:sp>
      <p:sp>
        <p:nvSpPr>
          <p:cNvPr id="17" name="Text 11"/>
          <p:cNvSpPr/>
          <p:nvPr/>
        </p:nvSpPr>
        <p:spPr>
          <a:xfrm>
            <a:off x="561454" y="2841947"/>
            <a:ext cx="2583061" cy="165199"/>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Moral Theology &amp; Canon Law</a:t>
            </a:r>
            <a:endParaRPr lang="en-US" sz="1300" dirty="0"/>
          </a:p>
        </p:txBody>
      </p:sp>
      <p:sp>
        <p:nvSpPr>
          <p:cNvPr id="18" name="Text 12"/>
          <p:cNvSpPr/>
          <p:nvPr/>
        </p:nvSpPr>
        <p:spPr>
          <a:xfrm>
            <a:off x="561454" y="3088704"/>
            <a:ext cx="2583061" cy="548283"/>
          </a:xfrm>
          <a:prstGeom prst="rect">
            <a:avLst/>
          </a:prstGeom>
          <a:noFill/>
          <a:ln/>
        </p:spPr>
        <p:txBody>
          <a:bodyPr wrap="square" lIns="0" tIns="0" rIns="0" bIns="0" rtlCol="0" anchor="t">
            <a:normAutofit/>
          </a:bodyPr>
          <a:lstStyle/>
          <a:p>
            <a:pPr marL="0" indent="0" algn="l">
              <a:lnSpc>
                <a:spcPct val="83000"/>
              </a:lnSpc>
              <a:buNone/>
            </a:pPr>
            <a:r>
              <a:rPr lang="en-US" sz="1050" dirty="0">
                <a:solidFill>
                  <a:srgbClr val="E5E0DF"/>
                </a:solidFill>
                <a:latin typeface="Barlow" pitchFamily="34" charset="0"/>
                <a:ea typeface="Barlow" pitchFamily="34" charset="-122"/>
                <a:cs typeface="Barlow" pitchFamily="34" charset="-120"/>
              </a:rPr>
              <a:t>Studies Various Aspects of Christian Morality; Human Life, Bio-Medical Ethics, Sexual Ethics, Marriage Law and Social Justice.</a:t>
            </a:r>
            <a:endParaRPr lang="en-US" sz="1050" dirty="0"/>
          </a:p>
        </p:txBody>
      </p:sp>
      <p:pic>
        <p:nvPicPr>
          <p:cNvPr id="1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80470" y="2553593"/>
            <a:ext cx="138113" cy="138113"/>
          </a:xfrm>
          <a:prstGeom prst="rect">
            <a:avLst/>
          </a:prstGeom>
        </p:spPr>
      </p:pic>
      <p:sp>
        <p:nvSpPr>
          <p:cNvPr id="20" name="Shape 13"/>
          <p:cNvSpPr/>
          <p:nvPr/>
        </p:nvSpPr>
        <p:spPr>
          <a:xfrm>
            <a:off x="3280470" y="2734791"/>
            <a:ext cx="2583061" cy="19050"/>
          </a:xfrm>
          <a:prstGeom prst="rect">
            <a:avLst/>
          </a:prstGeom>
          <a:solidFill>
            <a:srgbClr val="F65F62"/>
          </a:solidFill>
          <a:ln/>
        </p:spPr>
        <p:txBody>
          <a:bodyPr/>
          <a:lstStyle/>
          <a:p>
            <a:endParaRPr lang="en-IN"/>
          </a:p>
        </p:txBody>
      </p:sp>
      <p:sp>
        <p:nvSpPr>
          <p:cNvPr id="21" name="Text 14"/>
          <p:cNvSpPr/>
          <p:nvPr/>
        </p:nvSpPr>
        <p:spPr>
          <a:xfrm>
            <a:off x="3280470" y="2841947"/>
            <a:ext cx="2583061" cy="165199"/>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Spiritual Theology</a:t>
            </a:r>
            <a:endParaRPr lang="en-US" sz="1300" dirty="0"/>
          </a:p>
        </p:txBody>
      </p:sp>
      <p:sp>
        <p:nvSpPr>
          <p:cNvPr id="22" name="Text 15"/>
          <p:cNvSpPr/>
          <p:nvPr/>
        </p:nvSpPr>
        <p:spPr>
          <a:xfrm>
            <a:off x="3280470" y="3088704"/>
            <a:ext cx="2583061" cy="548283"/>
          </a:xfrm>
          <a:prstGeom prst="rect">
            <a:avLst/>
          </a:prstGeom>
          <a:noFill/>
          <a:ln/>
        </p:spPr>
        <p:txBody>
          <a:bodyPr wrap="square" lIns="0" tIns="0" rIns="0" bIns="0" rtlCol="0" anchor="t">
            <a:normAutofit/>
          </a:bodyPr>
          <a:lstStyle/>
          <a:p>
            <a:pPr marL="0" indent="0" algn="l">
              <a:lnSpc>
                <a:spcPct val="83000"/>
              </a:lnSpc>
              <a:buNone/>
            </a:pPr>
            <a:r>
              <a:rPr lang="en-US" sz="1050" dirty="0">
                <a:solidFill>
                  <a:srgbClr val="E5E0DF"/>
                </a:solidFill>
                <a:latin typeface="Barlow" pitchFamily="34" charset="0"/>
                <a:ea typeface="Barlow" pitchFamily="34" charset="-122"/>
                <a:cs typeface="Barlow" pitchFamily="34" charset="-120"/>
              </a:rPr>
              <a:t>Studies Spirituality on the Basis of the various Spiritualities (Eastern/Western), as well as that of the Mystics and Founders of Religious Congregations.</a:t>
            </a:r>
            <a:endParaRPr lang="en-US" sz="1050" dirty="0"/>
          </a:p>
        </p:txBody>
      </p:sp>
      <p:pic>
        <p:nvPicPr>
          <p:cNvPr id="2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99485" y="2553593"/>
            <a:ext cx="138113" cy="138113"/>
          </a:xfrm>
          <a:prstGeom prst="rect">
            <a:avLst/>
          </a:prstGeom>
        </p:spPr>
      </p:pic>
      <p:sp>
        <p:nvSpPr>
          <p:cNvPr id="24" name="Shape 16"/>
          <p:cNvSpPr/>
          <p:nvPr/>
        </p:nvSpPr>
        <p:spPr>
          <a:xfrm>
            <a:off x="5999485" y="2734791"/>
            <a:ext cx="2583061" cy="19050"/>
          </a:xfrm>
          <a:prstGeom prst="rect">
            <a:avLst/>
          </a:prstGeom>
          <a:solidFill>
            <a:srgbClr val="F65F62"/>
          </a:solidFill>
          <a:ln/>
        </p:spPr>
        <p:txBody>
          <a:bodyPr/>
          <a:lstStyle/>
          <a:p>
            <a:endParaRPr lang="en-IN"/>
          </a:p>
        </p:txBody>
      </p:sp>
      <p:sp>
        <p:nvSpPr>
          <p:cNvPr id="25" name="Text 17"/>
          <p:cNvSpPr/>
          <p:nvPr/>
        </p:nvSpPr>
        <p:spPr>
          <a:xfrm>
            <a:off x="5999485" y="2841947"/>
            <a:ext cx="2583061" cy="165199"/>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Pastoral Theology</a:t>
            </a:r>
            <a:endParaRPr lang="en-US" sz="1300" dirty="0"/>
          </a:p>
        </p:txBody>
      </p:sp>
      <p:sp>
        <p:nvSpPr>
          <p:cNvPr id="26" name="Text 18"/>
          <p:cNvSpPr/>
          <p:nvPr/>
        </p:nvSpPr>
        <p:spPr>
          <a:xfrm>
            <a:off x="5999485" y="3088704"/>
            <a:ext cx="2583061" cy="548283"/>
          </a:xfrm>
          <a:prstGeom prst="rect">
            <a:avLst/>
          </a:prstGeom>
          <a:noFill/>
          <a:ln/>
        </p:spPr>
        <p:txBody>
          <a:bodyPr wrap="square" lIns="0" tIns="0" rIns="0" bIns="0" rtlCol="0" anchor="t">
            <a:normAutofit/>
          </a:bodyPr>
          <a:lstStyle/>
          <a:p>
            <a:pPr marL="0" indent="0" algn="l">
              <a:lnSpc>
                <a:spcPct val="83000"/>
              </a:lnSpc>
              <a:buNone/>
            </a:pPr>
            <a:r>
              <a:rPr lang="en-US" sz="1050" dirty="0">
                <a:solidFill>
                  <a:srgbClr val="E5E0DF"/>
                </a:solidFill>
                <a:latin typeface="Barlow" pitchFamily="34" charset="0"/>
                <a:ea typeface="Barlow" pitchFamily="34" charset="-122"/>
                <a:cs typeface="Barlow" pitchFamily="34" charset="-120"/>
              </a:rPr>
              <a:t>Deals with Pastoral Dimensions of the Word, Community-Life, Liturgy, Catechetics, Pastoral Counselling, Homiletics, Administering the Sacraments.</a:t>
            </a:r>
            <a:endParaRPr lang="en-US" sz="1050" dirty="0"/>
          </a:p>
        </p:txBody>
      </p:sp>
      <p:pic>
        <p:nvPicPr>
          <p:cNvPr id="2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1454" y="3876526"/>
            <a:ext cx="138113" cy="138113"/>
          </a:xfrm>
          <a:prstGeom prst="rect">
            <a:avLst/>
          </a:prstGeom>
        </p:spPr>
      </p:pic>
      <p:sp>
        <p:nvSpPr>
          <p:cNvPr id="28" name="Shape 19"/>
          <p:cNvSpPr/>
          <p:nvPr/>
        </p:nvSpPr>
        <p:spPr>
          <a:xfrm>
            <a:off x="561454" y="4057724"/>
            <a:ext cx="8021092" cy="19050"/>
          </a:xfrm>
          <a:prstGeom prst="rect">
            <a:avLst/>
          </a:prstGeom>
          <a:solidFill>
            <a:srgbClr val="F65F62"/>
          </a:solidFill>
          <a:ln/>
        </p:spPr>
        <p:txBody>
          <a:bodyPr/>
          <a:lstStyle/>
          <a:p>
            <a:endParaRPr lang="en-IN"/>
          </a:p>
        </p:txBody>
      </p:sp>
      <p:sp>
        <p:nvSpPr>
          <p:cNvPr id="29" name="Text 20"/>
          <p:cNvSpPr/>
          <p:nvPr/>
        </p:nvSpPr>
        <p:spPr>
          <a:xfrm>
            <a:off x="561454" y="4164881"/>
            <a:ext cx="8021092" cy="165199"/>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Historical Theology and Missiology</a:t>
            </a:r>
            <a:endParaRPr lang="en-US" sz="1300" dirty="0"/>
          </a:p>
        </p:txBody>
      </p:sp>
      <p:sp>
        <p:nvSpPr>
          <p:cNvPr id="30" name="Text 21"/>
          <p:cNvSpPr/>
          <p:nvPr/>
        </p:nvSpPr>
        <p:spPr>
          <a:xfrm>
            <a:off x="561454" y="4411638"/>
            <a:ext cx="8021092" cy="137071"/>
          </a:xfrm>
          <a:prstGeom prst="rect">
            <a:avLst/>
          </a:prstGeom>
          <a:noFill/>
          <a:ln/>
        </p:spPr>
        <p:txBody>
          <a:bodyPr wrap="none" lIns="0" tIns="0" rIns="0" bIns="0" rtlCol="0" anchor="t"/>
          <a:lstStyle/>
          <a:p>
            <a:pPr marL="0" indent="0" algn="l">
              <a:lnSpc>
                <a:spcPct val="83000"/>
              </a:lnSpc>
              <a:buNone/>
            </a:pPr>
            <a:r>
              <a:rPr lang="en-US" sz="1050" dirty="0">
                <a:solidFill>
                  <a:srgbClr val="E5E0DF"/>
                </a:solidFill>
                <a:latin typeface="Barlow" pitchFamily="34" charset="0"/>
                <a:ea typeface="Barlow" pitchFamily="34" charset="-122"/>
                <a:cs typeface="Barlow" pitchFamily="34" charset="-120"/>
              </a:rPr>
              <a:t>Study of Church's History, Mission, Methods of Evangelization, Problems of Cultures and Religions.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1454" y="408236"/>
            <a:ext cx="8021092" cy="639812"/>
          </a:xfrm>
          <a:prstGeom prst="rect">
            <a:avLst/>
          </a:prstGeom>
          <a:noFill/>
          <a:ln/>
        </p:spPr>
        <p:txBody>
          <a:bodyPr wrap="square" lIns="0" tIns="0" rIns="0" bIns="0" rtlCol="0" anchor="t">
            <a:normAutofit/>
          </a:bodyPr>
          <a:lstStyle/>
          <a:p>
            <a:pPr marL="0" indent="0" algn="l">
              <a:lnSpc>
                <a:spcPct val="83000"/>
              </a:lnSpc>
              <a:buNone/>
            </a:pPr>
            <a:r>
              <a:rPr lang="en-US" sz="2500" dirty="0">
                <a:solidFill>
                  <a:srgbClr val="FFFFFF"/>
                </a:solidFill>
                <a:latin typeface="Fraunces Medium" pitchFamily="34" charset="0"/>
                <a:ea typeface="Fraunces Medium" pitchFamily="34" charset="-122"/>
                <a:cs typeface="Fraunces Medium" pitchFamily="34" charset="-120"/>
              </a:rPr>
              <a:t>Integrated Approach to Theology — Four Stages of Formation</a:t>
            </a:r>
            <a:endParaRPr lang="en-US" sz="2500" dirty="0"/>
          </a:p>
        </p:txBody>
      </p:sp>
      <p:pic>
        <p:nvPicPr>
          <p:cNvPr id="3" name="Image 0" descr="preencoded.png"/>
          <p:cNvPicPr>
            <a:picLocks noChangeAspect="1"/>
          </p:cNvPicPr>
          <p:nvPr/>
        </p:nvPicPr>
        <p:blipFill>
          <a:blip r:embed="rId3"/>
          <a:stretch>
            <a:fillRect/>
          </a:stretch>
        </p:blipFill>
        <p:spPr>
          <a:xfrm>
            <a:off x="561454" y="1503685"/>
            <a:ext cx="3946773" cy="714375"/>
          </a:xfrm>
          <a:prstGeom prst="rect">
            <a:avLst/>
          </a:prstGeom>
        </p:spPr>
      </p:pic>
      <p:sp>
        <p:nvSpPr>
          <p:cNvPr id="4" name="Text 1"/>
          <p:cNvSpPr/>
          <p:nvPr/>
        </p:nvSpPr>
        <p:spPr>
          <a:xfrm>
            <a:off x="695176" y="2032471"/>
            <a:ext cx="3679329" cy="159990"/>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1. Propaedeutic — "Come and See"</a:t>
            </a:r>
            <a:endParaRPr lang="en-US" sz="1250" dirty="0"/>
          </a:p>
        </p:txBody>
      </p:sp>
      <p:sp>
        <p:nvSpPr>
          <p:cNvPr id="5" name="Text 2"/>
          <p:cNvSpPr/>
          <p:nvPr/>
        </p:nvSpPr>
        <p:spPr>
          <a:xfrm>
            <a:off x="695176" y="2268959"/>
            <a:ext cx="3679329" cy="261193"/>
          </a:xfrm>
          <a:prstGeom prst="rect">
            <a:avLst/>
          </a:prstGeom>
          <a:noFill/>
          <a:ln/>
        </p:spPr>
        <p:txBody>
          <a:bodyPr wrap="square" lIns="0" tIns="0" rIns="0" bIns="0" rtlCol="0" anchor="t">
            <a:normAutofit/>
          </a:bodyPr>
          <a:lstStyle/>
          <a:p>
            <a:pPr marL="0" indent="0" algn="l">
              <a:lnSpc>
                <a:spcPct val="81000"/>
              </a:lnSpc>
              <a:buNone/>
            </a:pPr>
            <a:r>
              <a:rPr lang="en-US" sz="1050" dirty="0">
                <a:solidFill>
                  <a:srgbClr val="E5E0DF"/>
                </a:solidFill>
                <a:latin typeface="Barlow" pitchFamily="34" charset="0"/>
                <a:ea typeface="Barlow" pitchFamily="34" charset="-122"/>
                <a:cs typeface="Barlow" pitchFamily="34" charset="-120"/>
              </a:rPr>
              <a:t>Foundational Development of Spiritual Life, Relationship with the Lord; Orientation Program.</a:t>
            </a:r>
            <a:endParaRPr lang="en-US" sz="1050" dirty="0"/>
          </a:p>
        </p:txBody>
      </p:sp>
      <p:pic>
        <p:nvPicPr>
          <p:cNvPr id="6" name="Image 1" descr="preencoded.png"/>
          <p:cNvPicPr>
            <a:picLocks noChangeAspect="1"/>
          </p:cNvPicPr>
          <p:nvPr/>
        </p:nvPicPr>
        <p:blipFill>
          <a:blip r:embed="rId4"/>
          <a:stretch>
            <a:fillRect/>
          </a:stretch>
        </p:blipFill>
        <p:spPr>
          <a:xfrm>
            <a:off x="4635698" y="1303065"/>
            <a:ext cx="3946847" cy="714375"/>
          </a:xfrm>
          <a:prstGeom prst="rect">
            <a:avLst/>
          </a:prstGeom>
        </p:spPr>
      </p:pic>
      <p:sp>
        <p:nvSpPr>
          <p:cNvPr id="7" name="Text 3"/>
          <p:cNvSpPr/>
          <p:nvPr/>
        </p:nvSpPr>
        <p:spPr>
          <a:xfrm>
            <a:off x="4769421" y="1831851"/>
            <a:ext cx="3679403" cy="159990"/>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2. Discipleship — "Follow Me"</a:t>
            </a:r>
            <a:endParaRPr lang="en-US" sz="1250" dirty="0"/>
          </a:p>
        </p:txBody>
      </p:sp>
      <p:sp>
        <p:nvSpPr>
          <p:cNvPr id="8" name="Text 4"/>
          <p:cNvSpPr/>
          <p:nvPr/>
        </p:nvSpPr>
        <p:spPr>
          <a:xfrm>
            <a:off x="4769421" y="2068339"/>
            <a:ext cx="3679403" cy="261193"/>
          </a:xfrm>
          <a:prstGeom prst="rect">
            <a:avLst/>
          </a:prstGeom>
          <a:noFill/>
          <a:ln/>
        </p:spPr>
        <p:txBody>
          <a:bodyPr wrap="square" lIns="0" tIns="0" rIns="0" bIns="0" rtlCol="0" anchor="t">
            <a:normAutofit/>
          </a:bodyPr>
          <a:lstStyle/>
          <a:p>
            <a:pPr marL="0" indent="0" algn="l">
              <a:lnSpc>
                <a:spcPct val="81000"/>
              </a:lnSpc>
              <a:buNone/>
            </a:pPr>
            <a:r>
              <a:rPr lang="en-US" sz="1050" dirty="0">
                <a:solidFill>
                  <a:srgbClr val="E5E0DF"/>
                </a:solidFill>
                <a:latin typeface="Barlow" pitchFamily="34" charset="0"/>
                <a:ea typeface="Barlow" pitchFamily="34" charset="-122"/>
                <a:cs typeface="Barlow" pitchFamily="34" charset="-120"/>
              </a:rPr>
              <a:t>Before becoming a Priest You need to be a Disciple of Jesus First; Philosophy, Regency.</a:t>
            </a:r>
            <a:endParaRPr lang="en-US" sz="1050" dirty="0"/>
          </a:p>
        </p:txBody>
      </p:sp>
      <p:pic>
        <p:nvPicPr>
          <p:cNvPr id="9" name="Image 2" descr="preencoded.png"/>
          <p:cNvPicPr>
            <a:picLocks noChangeAspect="1"/>
          </p:cNvPicPr>
          <p:nvPr/>
        </p:nvPicPr>
        <p:blipFill>
          <a:blip r:embed="rId3"/>
          <a:stretch>
            <a:fillRect/>
          </a:stretch>
        </p:blipFill>
        <p:spPr>
          <a:xfrm>
            <a:off x="561454" y="2991966"/>
            <a:ext cx="3946773" cy="714375"/>
          </a:xfrm>
          <a:prstGeom prst="rect">
            <a:avLst/>
          </a:prstGeom>
        </p:spPr>
      </p:pic>
      <p:sp>
        <p:nvSpPr>
          <p:cNvPr id="10" name="Text 5"/>
          <p:cNvSpPr/>
          <p:nvPr/>
        </p:nvSpPr>
        <p:spPr>
          <a:xfrm>
            <a:off x="695176" y="3520753"/>
            <a:ext cx="3679329" cy="159990"/>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3. Configuration — "Remain in Me"</a:t>
            </a:r>
            <a:endParaRPr lang="en-US" sz="1250" dirty="0"/>
          </a:p>
        </p:txBody>
      </p:sp>
      <p:sp>
        <p:nvSpPr>
          <p:cNvPr id="11" name="Text 6"/>
          <p:cNvSpPr/>
          <p:nvPr/>
        </p:nvSpPr>
        <p:spPr>
          <a:xfrm>
            <a:off x="695176" y="3757240"/>
            <a:ext cx="3679329" cy="261193"/>
          </a:xfrm>
          <a:prstGeom prst="rect">
            <a:avLst/>
          </a:prstGeom>
          <a:noFill/>
          <a:ln/>
        </p:spPr>
        <p:txBody>
          <a:bodyPr wrap="square" lIns="0" tIns="0" rIns="0" bIns="0" rtlCol="0" anchor="t">
            <a:normAutofit/>
          </a:bodyPr>
          <a:lstStyle/>
          <a:p>
            <a:pPr marL="0" indent="0" algn="l">
              <a:lnSpc>
                <a:spcPct val="81000"/>
              </a:lnSpc>
              <a:buNone/>
            </a:pPr>
            <a:r>
              <a:rPr lang="en-US" sz="1050" dirty="0">
                <a:solidFill>
                  <a:srgbClr val="E5E0DF"/>
                </a:solidFill>
                <a:latin typeface="Barlow" pitchFamily="34" charset="0"/>
                <a:ea typeface="Barlow" pitchFamily="34" charset="-122"/>
                <a:cs typeface="Barlow" pitchFamily="34" charset="-120"/>
              </a:rPr>
              <a:t>Preparation Time to deepen the Priestly Identity of the Seminarian as Shepherd, Leader and Teacher; Theology.</a:t>
            </a:r>
            <a:endParaRPr lang="en-US" sz="1050" dirty="0"/>
          </a:p>
        </p:txBody>
      </p:sp>
      <p:pic>
        <p:nvPicPr>
          <p:cNvPr id="12" name="Image 3" descr="preencoded.png"/>
          <p:cNvPicPr>
            <a:picLocks noChangeAspect="1"/>
          </p:cNvPicPr>
          <p:nvPr/>
        </p:nvPicPr>
        <p:blipFill>
          <a:blip r:embed="rId4"/>
          <a:stretch>
            <a:fillRect/>
          </a:stretch>
        </p:blipFill>
        <p:spPr>
          <a:xfrm>
            <a:off x="4635698" y="2791346"/>
            <a:ext cx="3946847" cy="714375"/>
          </a:xfrm>
          <a:prstGeom prst="rect">
            <a:avLst/>
          </a:prstGeom>
        </p:spPr>
      </p:pic>
      <p:sp>
        <p:nvSpPr>
          <p:cNvPr id="13" name="Text 7"/>
          <p:cNvSpPr/>
          <p:nvPr/>
        </p:nvSpPr>
        <p:spPr>
          <a:xfrm>
            <a:off x="4769421" y="3320132"/>
            <a:ext cx="3679403" cy="159990"/>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4. Pastoral Stage — "Go and Tell"</a:t>
            </a:r>
            <a:endParaRPr lang="en-US" sz="1250" dirty="0"/>
          </a:p>
        </p:txBody>
      </p:sp>
      <p:sp>
        <p:nvSpPr>
          <p:cNvPr id="14" name="Text 8"/>
          <p:cNvSpPr/>
          <p:nvPr/>
        </p:nvSpPr>
        <p:spPr>
          <a:xfrm>
            <a:off x="4769421" y="3556620"/>
            <a:ext cx="3679403" cy="261193"/>
          </a:xfrm>
          <a:prstGeom prst="rect">
            <a:avLst/>
          </a:prstGeom>
          <a:noFill/>
          <a:ln/>
        </p:spPr>
        <p:txBody>
          <a:bodyPr wrap="square" lIns="0" tIns="0" rIns="0" bIns="0" rtlCol="0" anchor="t">
            <a:normAutofit/>
          </a:bodyPr>
          <a:lstStyle/>
          <a:p>
            <a:pPr marL="0" indent="0" algn="l">
              <a:lnSpc>
                <a:spcPct val="81000"/>
              </a:lnSpc>
              <a:buNone/>
            </a:pPr>
            <a:r>
              <a:rPr lang="en-US" sz="1050" dirty="0">
                <a:solidFill>
                  <a:srgbClr val="E5E0DF"/>
                </a:solidFill>
                <a:latin typeface="Barlow" pitchFamily="34" charset="0"/>
                <a:ea typeface="Barlow" pitchFamily="34" charset="-122"/>
                <a:cs typeface="Barlow" pitchFamily="34" charset="-120"/>
              </a:rPr>
              <a:t>Active Priestly Ministry with Compassionate 'Priestly Charity'; Pastor.</a:t>
            </a:r>
            <a:endParaRPr lang="en-US" sz="1050" dirty="0"/>
          </a:p>
        </p:txBody>
      </p:sp>
      <p:sp>
        <p:nvSpPr>
          <p:cNvPr id="15" name="Shape 9"/>
          <p:cNvSpPr/>
          <p:nvPr/>
        </p:nvSpPr>
        <p:spPr>
          <a:xfrm>
            <a:off x="561454" y="4295552"/>
            <a:ext cx="8021092" cy="439638"/>
          </a:xfrm>
          <a:prstGeom prst="roundRect">
            <a:avLst>
              <a:gd name="adj" fmla="val 12781"/>
            </a:avLst>
          </a:prstGeom>
          <a:solidFill>
            <a:srgbClr val="790709"/>
          </a:solidFill>
          <a:ln/>
        </p:spPr>
        <p:txBody>
          <a:bodyPr/>
          <a:lstStyle/>
          <a:p>
            <a:endParaRPr lang="en-IN"/>
          </a:p>
        </p:txBody>
      </p:sp>
      <p:pic>
        <p:nvPicPr>
          <p:cNvPr id="16" name="Image 4" descr="preencoded.png"/>
          <p:cNvPicPr>
            <a:picLocks noChangeAspect="1"/>
          </p:cNvPicPr>
          <p:nvPr/>
        </p:nvPicPr>
        <p:blipFill>
          <a:blip r:embed="rId5"/>
          <a:stretch>
            <a:fillRect/>
          </a:stretch>
        </p:blipFill>
        <p:spPr>
          <a:xfrm>
            <a:off x="695176" y="4462686"/>
            <a:ext cx="167208" cy="133722"/>
          </a:xfrm>
          <a:prstGeom prst="rect">
            <a:avLst/>
          </a:prstGeom>
        </p:spPr>
      </p:pic>
      <p:sp>
        <p:nvSpPr>
          <p:cNvPr id="17" name="Text 10"/>
          <p:cNvSpPr/>
          <p:nvPr/>
        </p:nvSpPr>
        <p:spPr>
          <a:xfrm>
            <a:off x="996107" y="4456435"/>
            <a:ext cx="7909917" cy="130597"/>
          </a:xfrm>
          <a:prstGeom prst="rect">
            <a:avLst/>
          </a:prstGeom>
          <a:noFill/>
          <a:ln/>
        </p:spPr>
        <p:txBody>
          <a:bodyPr wrap="none" lIns="0" tIns="0" rIns="0" bIns="0" rtlCol="0" anchor="t"/>
          <a:lstStyle/>
          <a:p>
            <a:pPr marL="0" indent="0" algn="l">
              <a:lnSpc>
                <a:spcPct val="81000"/>
              </a:lnSpc>
              <a:buNone/>
            </a:pPr>
            <a:r>
              <a:rPr lang="en-US" sz="1050" dirty="0">
                <a:solidFill>
                  <a:srgbClr val="FFFFFF"/>
                </a:solidFill>
                <a:latin typeface="Barlow" pitchFamily="34" charset="0"/>
                <a:ea typeface="Barlow" pitchFamily="34" charset="-122"/>
                <a:cs typeface="Barlow" pitchFamily="34" charset="-120"/>
              </a:rPr>
              <a:t>Every Stage should have Four Dimensions of Priestly Formation: </a:t>
            </a:r>
            <a:r>
              <a:rPr lang="en-US" sz="1050" b="1" dirty="0">
                <a:solidFill>
                  <a:srgbClr val="FFFFFF"/>
                </a:solidFill>
                <a:latin typeface="Barlow Bold" pitchFamily="34" charset="0"/>
                <a:ea typeface="Barlow Bold" pitchFamily="34" charset="-122"/>
                <a:cs typeface="Barlow Bold" pitchFamily="34" charset="-120"/>
              </a:rPr>
              <a:t>S</a:t>
            </a:r>
            <a:r>
              <a:rPr lang="en-US" sz="1050" dirty="0">
                <a:solidFill>
                  <a:srgbClr val="FFFFFF"/>
                </a:solidFill>
                <a:latin typeface="Barlow" pitchFamily="34" charset="0"/>
                <a:ea typeface="Barlow" pitchFamily="34" charset="-122"/>
                <a:cs typeface="Barlow" pitchFamily="34" charset="-120"/>
              </a:rPr>
              <a:t>piritual – </a:t>
            </a:r>
            <a:r>
              <a:rPr lang="en-US" sz="1050" b="1" dirty="0">
                <a:solidFill>
                  <a:srgbClr val="FFFFFF"/>
                </a:solidFill>
                <a:latin typeface="Barlow Bold" pitchFamily="34" charset="0"/>
                <a:ea typeface="Barlow Bold" pitchFamily="34" charset="-122"/>
                <a:cs typeface="Barlow Bold" pitchFamily="34" charset="-120"/>
              </a:rPr>
              <a:t>H</a:t>
            </a:r>
            <a:r>
              <a:rPr lang="en-US" sz="1050" dirty="0">
                <a:solidFill>
                  <a:srgbClr val="FFFFFF"/>
                </a:solidFill>
                <a:latin typeface="Barlow" pitchFamily="34" charset="0"/>
                <a:ea typeface="Barlow" pitchFamily="34" charset="-122"/>
                <a:cs typeface="Barlow" pitchFamily="34" charset="-120"/>
              </a:rPr>
              <a:t>uman – </a:t>
            </a:r>
            <a:r>
              <a:rPr lang="en-US" sz="1050" b="1" dirty="0">
                <a:solidFill>
                  <a:srgbClr val="FFFFFF"/>
                </a:solidFill>
                <a:latin typeface="Barlow Bold" pitchFamily="34" charset="0"/>
                <a:ea typeface="Barlow Bold" pitchFamily="34" charset="-122"/>
                <a:cs typeface="Barlow Bold" pitchFamily="34" charset="-120"/>
              </a:rPr>
              <a:t>I</a:t>
            </a:r>
            <a:r>
              <a:rPr lang="en-US" sz="1050" dirty="0">
                <a:solidFill>
                  <a:srgbClr val="FFFFFF"/>
                </a:solidFill>
                <a:latin typeface="Barlow" pitchFamily="34" charset="0"/>
                <a:ea typeface="Barlow" pitchFamily="34" charset="-122"/>
                <a:cs typeface="Barlow" pitchFamily="34" charset="-120"/>
              </a:rPr>
              <a:t>ntellectual – </a:t>
            </a:r>
            <a:r>
              <a:rPr lang="en-US" sz="1050" b="1" dirty="0">
                <a:solidFill>
                  <a:srgbClr val="FFFFFF"/>
                </a:solidFill>
                <a:latin typeface="Barlow Bold" pitchFamily="34" charset="0"/>
                <a:ea typeface="Barlow Bold" pitchFamily="34" charset="-122"/>
                <a:cs typeface="Barlow Bold" pitchFamily="34" charset="-120"/>
              </a:rPr>
              <a:t>P</a:t>
            </a:r>
            <a:r>
              <a:rPr lang="en-US" sz="1050" dirty="0">
                <a:solidFill>
                  <a:srgbClr val="FFFFFF"/>
                </a:solidFill>
                <a:latin typeface="Barlow" pitchFamily="34" charset="0"/>
                <a:ea typeface="Barlow" pitchFamily="34" charset="-122"/>
                <a:cs typeface="Barlow" pitchFamily="34" charset="-120"/>
              </a:rPr>
              <a:t>astoral (</a:t>
            </a:r>
            <a:r>
              <a:rPr lang="en-US" sz="1050" b="1" dirty="0">
                <a:solidFill>
                  <a:srgbClr val="FFFFFF"/>
                </a:solidFill>
                <a:latin typeface="Barlow Bold" pitchFamily="34" charset="0"/>
                <a:ea typeface="Barlow Bold" pitchFamily="34" charset="-122"/>
                <a:cs typeface="Barlow Bold" pitchFamily="34" charset="-120"/>
              </a:rPr>
              <a:t>SHIP</a:t>
            </a:r>
            <a:r>
              <a:rPr lang="en-US" sz="1050" dirty="0">
                <a:solidFill>
                  <a:srgbClr val="FFFFFF"/>
                </a:solidFill>
                <a:latin typeface="Barlow" pitchFamily="34" charset="0"/>
                <a:ea typeface="Barlow" pitchFamily="34" charset="-122"/>
                <a:cs typeface="Barlow" pitchFamily="34" charset="-120"/>
              </a:rPr>
              <a:t>)</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1454" y="1300311"/>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Theology for Servant Leadership</a:t>
            </a:r>
            <a:endParaRPr lang="en-US" sz="2600" dirty="0"/>
          </a:p>
        </p:txBody>
      </p:sp>
      <p:sp>
        <p:nvSpPr>
          <p:cNvPr id="3" name="Shape 1"/>
          <p:cNvSpPr/>
          <p:nvPr/>
        </p:nvSpPr>
        <p:spPr>
          <a:xfrm>
            <a:off x="561454" y="1916683"/>
            <a:ext cx="2580084" cy="963216"/>
          </a:xfrm>
          <a:prstGeom prst="roundRect">
            <a:avLst>
              <a:gd name="adj" fmla="val 6121"/>
            </a:avLst>
          </a:prstGeom>
          <a:solidFill>
            <a:srgbClr val="790709"/>
          </a:solidFill>
          <a:ln w="4763">
            <a:solidFill>
              <a:srgbClr val="922022"/>
            </a:solidFill>
            <a:prstDash val="solid"/>
          </a:ln>
        </p:spPr>
        <p:txBody>
          <a:bodyPr/>
          <a:lstStyle/>
          <a:p>
            <a:endParaRPr lang="en-IN"/>
          </a:p>
        </p:txBody>
      </p:sp>
      <p:sp>
        <p:nvSpPr>
          <p:cNvPr id="4" name="Text 2"/>
          <p:cNvSpPr/>
          <p:nvPr/>
        </p:nvSpPr>
        <p:spPr>
          <a:xfrm>
            <a:off x="706562" y="2061790"/>
            <a:ext cx="2289870"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1. Servant of the WORD</a:t>
            </a:r>
            <a:endParaRPr lang="en-US" sz="1300" dirty="0"/>
          </a:p>
        </p:txBody>
      </p:sp>
      <p:sp>
        <p:nvSpPr>
          <p:cNvPr id="5" name="Text 3"/>
          <p:cNvSpPr/>
          <p:nvPr/>
        </p:nvSpPr>
        <p:spPr>
          <a:xfrm>
            <a:off x="706562" y="2313756"/>
            <a:ext cx="2289870" cy="421035"/>
          </a:xfrm>
          <a:prstGeom prst="rect">
            <a:avLst/>
          </a:prstGeom>
          <a:noFill/>
          <a:ln/>
        </p:spPr>
        <p:txBody>
          <a:bodyPr wrap="square" lIns="0" tIns="0" rIns="0" bIns="0" rtlCol="0" anchor="t">
            <a:normAutofit/>
          </a:bodyPr>
          <a:lstStyle/>
          <a:p>
            <a:pPr marL="0" indent="0" algn="l">
              <a:lnSpc>
                <a:spcPct val="83000"/>
              </a:lnSpc>
              <a:buNone/>
            </a:pPr>
            <a:r>
              <a:rPr lang="en-US" sz="1100" i="1" dirty="0">
                <a:solidFill>
                  <a:srgbClr val="E5E0DF"/>
                </a:solidFill>
                <a:latin typeface="Barlow" pitchFamily="34" charset="0"/>
                <a:ea typeface="Barlow" pitchFamily="34" charset="-122"/>
                <a:cs typeface="Barlow" pitchFamily="34" charset="-120"/>
              </a:rPr>
              <a:t>In Persona Christi</a:t>
            </a:r>
            <a:r>
              <a:rPr lang="en-US" sz="1100" dirty="0">
                <a:solidFill>
                  <a:srgbClr val="E5E0DF"/>
                </a:solidFill>
                <a:latin typeface="Barlow" pitchFamily="34" charset="0"/>
                <a:ea typeface="Barlow" pitchFamily="34" charset="-122"/>
                <a:cs typeface="Barlow" pitchFamily="34" charset="-120"/>
              </a:rPr>
              <a:t>, Configured to Christ — the priest as living icon of the Word made flesh.</a:t>
            </a:r>
            <a:endParaRPr lang="en-US" sz="1100" dirty="0"/>
          </a:p>
        </p:txBody>
      </p:sp>
      <p:sp>
        <p:nvSpPr>
          <p:cNvPr id="6" name="Shape 4"/>
          <p:cNvSpPr/>
          <p:nvPr/>
        </p:nvSpPr>
        <p:spPr>
          <a:xfrm>
            <a:off x="3281883" y="1916683"/>
            <a:ext cx="2580159" cy="963216"/>
          </a:xfrm>
          <a:prstGeom prst="roundRect">
            <a:avLst>
              <a:gd name="adj" fmla="val 6121"/>
            </a:avLst>
          </a:prstGeom>
          <a:solidFill>
            <a:srgbClr val="790709"/>
          </a:solidFill>
          <a:ln w="4763">
            <a:solidFill>
              <a:srgbClr val="922022"/>
            </a:solidFill>
            <a:prstDash val="solid"/>
          </a:ln>
        </p:spPr>
        <p:txBody>
          <a:bodyPr/>
          <a:lstStyle/>
          <a:p>
            <a:endParaRPr lang="en-IN"/>
          </a:p>
        </p:txBody>
      </p:sp>
      <p:sp>
        <p:nvSpPr>
          <p:cNvPr id="7" name="Text 5"/>
          <p:cNvSpPr/>
          <p:nvPr/>
        </p:nvSpPr>
        <p:spPr>
          <a:xfrm>
            <a:off x="3426991" y="2061790"/>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2. Servant of the Word</a:t>
            </a:r>
            <a:endParaRPr lang="en-US" sz="1300" dirty="0"/>
          </a:p>
        </p:txBody>
      </p:sp>
      <p:sp>
        <p:nvSpPr>
          <p:cNvPr id="8" name="Text 6"/>
          <p:cNvSpPr/>
          <p:nvPr/>
        </p:nvSpPr>
        <p:spPr>
          <a:xfrm>
            <a:off x="3426991" y="2313756"/>
            <a:ext cx="228994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Descending Mediation: </a:t>
            </a:r>
            <a:r>
              <a:rPr lang="en-US" sz="1100" b="1" dirty="0">
                <a:solidFill>
                  <a:srgbClr val="E5E0DF"/>
                </a:solidFill>
                <a:latin typeface="Barlow Bold" pitchFamily="34" charset="0"/>
                <a:ea typeface="Barlow Bold" pitchFamily="34" charset="-122"/>
                <a:cs typeface="Barlow Bold" pitchFamily="34" charset="-120"/>
              </a:rPr>
              <a:t>Prophet</a:t>
            </a:r>
            <a:r>
              <a:rPr lang="en-US" sz="1100" dirty="0">
                <a:solidFill>
                  <a:srgbClr val="E5E0DF"/>
                </a:solidFill>
                <a:latin typeface="Barlow" pitchFamily="34" charset="0"/>
                <a:ea typeface="Barlow" pitchFamily="34" charset="-122"/>
                <a:cs typeface="Barlow" pitchFamily="34" charset="-120"/>
              </a:rPr>
              <a:t> — bringing God's Word down into the concrete realities of human life.</a:t>
            </a:r>
            <a:endParaRPr lang="en-US" sz="1100" dirty="0"/>
          </a:p>
        </p:txBody>
      </p:sp>
      <p:sp>
        <p:nvSpPr>
          <p:cNvPr id="9" name="Shape 7"/>
          <p:cNvSpPr/>
          <p:nvPr/>
        </p:nvSpPr>
        <p:spPr>
          <a:xfrm>
            <a:off x="6002387" y="1916683"/>
            <a:ext cx="2580159" cy="963216"/>
          </a:xfrm>
          <a:prstGeom prst="roundRect">
            <a:avLst>
              <a:gd name="adj" fmla="val 6121"/>
            </a:avLst>
          </a:prstGeom>
          <a:solidFill>
            <a:srgbClr val="790709"/>
          </a:solidFill>
          <a:ln w="4763">
            <a:solidFill>
              <a:srgbClr val="922022"/>
            </a:solidFill>
            <a:prstDash val="solid"/>
          </a:ln>
        </p:spPr>
        <p:txBody>
          <a:bodyPr/>
          <a:lstStyle/>
          <a:p>
            <a:endParaRPr lang="en-IN"/>
          </a:p>
        </p:txBody>
      </p:sp>
      <p:sp>
        <p:nvSpPr>
          <p:cNvPr id="10" name="Text 8"/>
          <p:cNvSpPr/>
          <p:nvPr/>
        </p:nvSpPr>
        <p:spPr>
          <a:xfrm>
            <a:off x="6147495" y="2061790"/>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3. Servant of Servants</a:t>
            </a:r>
            <a:endParaRPr lang="en-US" sz="1300" dirty="0"/>
          </a:p>
        </p:txBody>
      </p:sp>
      <p:sp>
        <p:nvSpPr>
          <p:cNvPr id="11" name="Text 9"/>
          <p:cNvSpPr/>
          <p:nvPr/>
        </p:nvSpPr>
        <p:spPr>
          <a:xfrm>
            <a:off x="6147495" y="2313756"/>
            <a:ext cx="2289944" cy="421035"/>
          </a:xfrm>
          <a:prstGeom prst="rect">
            <a:avLst/>
          </a:prstGeom>
          <a:noFill/>
          <a:ln/>
        </p:spPr>
        <p:txBody>
          <a:bodyPr wrap="square" lIns="0" tIns="0" rIns="0" bIns="0" rtlCol="0" anchor="t">
            <a:normAutofit/>
          </a:bodyPr>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Pastor, Father, Teacher</a:t>
            </a:r>
            <a:r>
              <a:rPr lang="en-US" sz="1100" dirty="0">
                <a:solidFill>
                  <a:srgbClr val="E5E0DF"/>
                </a:solidFill>
                <a:latin typeface="Barlow" pitchFamily="34" charset="0"/>
                <a:ea typeface="Barlow" pitchFamily="34" charset="-122"/>
                <a:cs typeface="Barlow" pitchFamily="34" charset="-120"/>
              </a:rPr>
              <a:t> — the servant-leader who washes feet and tends the flock.</a:t>
            </a:r>
            <a:endParaRPr lang="en-US" sz="1100" dirty="0"/>
          </a:p>
        </p:txBody>
      </p:sp>
      <p:sp>
        <p:nvSpPr>
          <p:cNvPr id="12" name="Shape 10"/>
          <p:cNvSpPr/>
          <p:nvPr/>
        </p:nvSpPr>
        <p:spPr>
          <a:xfrm>
            <a:off x="561454" y="3020244"/>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13" name="Text 11"/>
          <p:cNvSpPr/>
          <p:nvPr/>
        </p:nvSpPr>
        <p:spPr>
          <a:xfrm>
            <a:off x="706562" y="3165351"/>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4. Servant of the Sacraments</a:t>
            </a:r>
            <a:endParaRPr lang="en-US" sz="1300" dirty="0"/>
          </a:p>
        </p:txBody>
      </p:sp>
      <p:sp>
        <p:nvSpPr>
          <p:cNvPr id="14" name="Text 12"/>
          <p:cNvSpPr/>
          <p:nvPr/>
        </p:nvSpPr>
        <p:spPr>
          <a:xfrm>
            <a:off x="706562" y="3417317"/>
            <a:ext cx="3650159" cy="280690"/>
          </a:xfrm>
          <a:prstGeom prst="rect">
            <a:avLst/>
          </a:prstGeom>
          <a:noFill/>
          <a:ln/>
        </p:spPr>
        <p:txBody>
          <a:bodyPr wrap="square" lIns="0" tIns="0" rIns="0" bIns="0" rtlCol="0" anchor="t">
            <a:normAutofit/>
          </a:bodyPr>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Priest</a:t>
            </a:r>
            <a:r>
              <a:rPr lang="en-US" sz="1100" dirty="0">
                <a:solidFill>
                  <a:srgbClr val="E5E0DF"/>
                </a:solidFill>
                <a:latin typeface="Barlow" pitchFamily="34" charset="0"/>
                <a:ea typeface="Barlow" pitchFamily="34" charset="-122"/>
                <a:cs typeface="Barlow" pitchFamily="34" charset="-120"/>
              </a:rPr>
              <a:t>, Ascending Mediation — lifting the community's prayer and life to God.</a:t>
            </a:r>
            <a:endParaRPr lang="en-US" sz="1100" dirty="0"/>
          </a:p>
        </p:txBody>
      </p:sp>
      <p:sp>
        <p:nvSpPr>
          <p:cNvPr id="15" name="Shape 13"/>
          <p:cNvSpPr/>
          <p:nvPr/>
        </p:nvSpPr>
        <p:spPr>
          <a:xfrm>
            <a:off x="4642172" y="3020244"/>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16" name="Text 14"/>
          <p:cNvSpPr/>
          <p:nvPr/>
        </p:nvSpPr>
        <p:spPr>
          <a:xfrm>
            <a:off x="4787280" y="3165351"/>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5. Servant of the World</a:t>
            </a:r>
            <a:endParaRPr lang="en-US" sz="1300" dirty="0"/>
          </a:p>
        </p:txBody>
      </p:sp>
      <p:sp>
        <p:nvSpPr>
          <p:cNvPr id="17" name="Text 15"/>
          <p:cNvSpPr/>
          <p:nvPr/>
        </p:nvSpPr>
        <p:spPr>
          <a:xfrm>
            <a:off x="4787280" y="3417317"/>
            <a:ext cx="3650159" cy="280690"/>
          </a:xfrm>
          <a:prstGeom prst="rect">
            <a:avLst/>
          </a:prstGeom>
          <a:noFill/>
          <a:ln/>
        </p:spPr>
        <p:txBody>
          <a:bodyPr wrap="square" lIns="0" tIns="0" rIns="0" bIns="0" rtlCol="0" anchor="t">
            <a:normAutofit/>
          </a:bodyPr>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Symbol, Sacrament, Kingdom of God</a:t>
            </a:r>
            <a:r>
              <a:rPr lang="en-US" sz="1100" dirty="0">
                <a:solidFill>
                  <a:srgbClr val="E5E0DF"/>
                </a:solidFill>
                <a:latin typeface="Barlow" pitchFamily="34" charset="0"/>
                <a:ea typeface="Barlow" pitchFamily="34" charset="-122"/>
                <a:cs typeface="Barlow" pitchFamily="34" charset="-120"/>
              </a:rPr>
              <a:t> — the priest as visible sign of God's reign in the world.</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1454" y="394990"/>
            <a:ext cx="8021092" cy="236041"/>
          </a:xfrm>
          <a:prstGeom prst="rect">
            <a:avLst/>
          </a:prstGeom>
          <a:noFill/>
          <a:ln/>
        </p:spPr>
        <p:txBody>
          <a:bodyPr wrap="none" lIns="0" tIns="0" rIns="0" bIns="0" rtlCol="0" anchor="t"/>
          <a:lstStyle/>
          <a:p>
            <a:pPr marL="0" indent="0" algn="l">
              <a:lnSpc>
                <a:spcPct val="83000"/>
              </a:lnSpc>
              <a:buNone/>
            </a:pPr>
            <a:r>
              <a:rPr lang="en-US" sz="1850" dirty="0">
                <a:solidFill>
                  <a:srgbClr val="FFFFFF"/>
                </a:solidFill>
                <a:latin typeface="Fraunces Medium" pitchFamily="34" charset="0"/>
                <a:ea typeface="Fraunces Medium" pitchFamily="34" charset="-122"/>
                <a:cs typeface="Fraunces Medium" pitchFamily="34" charset="-120"/>
              </a:rPr>
              <a:t>Pope Francis: Theology as Faith Seeking Joy</a:t>
            </a:r>
            <a:endParaRPr lang="en-US" sz="1850" dirty="0"/>
          </a:p>
        </p:txBody>
      </p:sp>
      <p:sp>
        <p:nvSpPr>
          <p:cNvPr id="3" name="Text 1"/>
          <p:cNvSpPr/>
          <p:nvPr/>
        </p:nvSpPr>
        <p:spPr>
          <a:xfrm>
            <a:off x="561454" y="769813"/>
            <a:ext cx="8478292" cy="84013"/>
          </a:xfrm>
          <a:prstGeom prst="rect">
            <a:avLst/>
          </a:prstGeom>
          <a:noFill/>
          <a:ln/>
        </p:spPr>
        <p:txBody>
          <a:bodyPr wrap="none" lIns="0" tIns="0" rIns="0" bIns="0" rtlCol="0" anchor="t"/>
          <a:lstStyle/>
          <a:p>
            <a:pPr marL="0" indent="0" algn="l">
              <a:lnSpc>
                <a:spcPct val="71000"/>
              </a:lnSpc>
              <a:buNone/>
            </a:pPr>
            <a:r>
              <a:rPr lang="en-US" sz="750" b="1" dirty="0">
                <a:solidFill>
                  <a:srgbClr val="E5E0DF"/>
                </a:solidFill>
                <a:latin typeface="Barlow Bold" pitchFamily="34" charset="0"/>
                <a:ea typeface="Barlow Bold" pitchFamily="34" charset="-122"/>
                <a:cs typeface="Barlow Bold" pitchFamily="34" charset="-120"/>
              </a:rPr>
              <a:t>JOY is at the Heart of the Gospel and ought to be at the Centre of Life.</a:t>
            </a:r>
            <a:r>
              <a:rPr lang="en-US" sz="750" dirty="0">
                <a:solidFill>
                  <a:srgbClr val="E5E0DF"/>
                </a:solidFill>
                <a:latin typeface="Barlow" pitchFamily="34" charset="0"/>
                <a:ea typeface="Barlow" pitchFamily="34" charset="-122"/>
                <a:cs typeface="Barlow" pitchFamily="34" charset="-120"/>
              </a:rPr>
              <a:t> Pope Francis's magisterial documents form a coherent theology of joy:</a:t>
            </a:r>
            <a:endParaRPr lang="en-US" sz="750" dirty="0"/>
          </a:p>
        </p:txBody>
      </p:sp>
      <p:sp>
        <p:nvSpPr>
          <p:cNvPr id="4" name="Shape 2"/>
          <p:cNvSpPr/>
          <p:nvPr/>
        </p:nvSpPr>
        <p:spPr>
          <a:xfrm>
            <a:off x="4564856" y="931887"/>
            <a:ext cx="14288" cy="3816548"/>
          </a:xfrm>
          <a:prstGeom prst="roundRect">
            <a:avLst>
              <a:gd name="adj" fmla="val 290121"/>
            </a:avLst>
          </a:prstGeom>
          <a:solidFill>
            <a:srgbClr val="922022"/>
          </a:solidFill>
          <a:ln/>
        </p:spPr>
        <p:txBody>
          <a:bodyPr/>
          <a:lstStyle/>
          <a:p>
            <a:endParaRPr lang="en-IN"/>
          </a:p>
        </p:txBody>
      </p:sp>
      <p:sp>
        <p:nvSpPr>
          <p:cNvPr id="5" name="Shape 3"/>
          <p:cNvSpPr/>
          <p:nvPr/>
        </p:nvSpPr>
        <p:spPr>
          <a:xfrm>
            <a:off x="4179243" y="1035769"/>
            <a:ext cx="296019" cy="14288"/>
          </a:xfrm>
          <a:prstGeom prst="roundRect">
            <a:avLst>
              <a:gd name="adj" fmla="val 290121"/>
            </a:avLst>
          </a:prstGeom>
          <a:solidFill>
            <a:srgbClr val="922022"/>
          </a:solidFill>
          <a:ln/>
        </p:spPr>
        <p:txBody>
          <a:bodyPr/>
          <a:lstStyle/>
          <a:p>
            <a:endParaRPr lang="en-IN"/>
          </a:p>
        </p:txBody>
      </p:sp>
      <p:sp>
        <p:nvSpPr>
          <p:cNvPr id="6" name="Shape 4"/>
          <p:cNvSpPr/>
          <p:nvPr/>
        </p:nvSpPr>
        <p:spPr>
          <a:xfrm>
            <a:off x="4460974" y="931887"/>
            <a:ext cx="222052" cy="222052"/>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7" name="Text 5"/>
          <p:cNvSpPr/>
          <p:nvPr/>
        </p:nvSpPr>
        <p:spPr>
          <a:xfrm>
            <a:off x="4501232" y="972145"/>
            <a:ext cx="141536" cy="141536"/>
          </a:xfrm>
          <a:prstGeom prst="rect">
            <a:avLst/>
          </a:prstGeom>
          <a:noFill/>
          <a:ln/>
        </p:spPr>
        <p:txBody>
          <a:bodyPr wrap="none" lIns="0" tIns="0" rIns="0" bIns="0" rtlCol="0" anchor="ctr"/>
          <a:lstStyle/>
          <a:p>
            <a:pPr marL="0" indent="0" algn="ctr">
              <a:lnSpc>
                <a:spcPct val="100000"/>
              </a:lnSpc>
              <a:buNone/>
            </a:pPr>
            <a:r>
              <a:rPr lang="en-US" sz="1100" dirty="0">
                <a:solidFill>
                  <a:srgbClr val="E5E0DF"/>
                </a:solidFill>
                <a:latin typeface="Fraunces Medium" pitchFamily="34" charset="0"/>
                <a:ea typeface="Fraunces Medium" pitchFamily="34" charset="-122"/>
                <a:cs typeface="Fraunces Medium" pitchFamily="34" charset="-120"/>
              </a:rPr>
              <a:t>1</a:t>
            </a:r>
            <a:endParaRPr lang="en-US" sz="1100" dirty="0"/>
          </a:p>
        </p:txBody>
      </p:sp>
      <p:sp>
        <p:nvSpPr>
          <p:cNvPr id="8" name="Text 6"/>
          <p:cNvSpPr/>
          <p:nvPr/>
        </p:nvSpPr>
        <p:spPr>
          <a:xfrm>
            <a:off x="561454" y="981224"/>
            <a:ext cx="3517106" cy="118021"/>
          </a:xfrm>
          <a:prstGeom prst="rect">
            <a:avLst/>
          </a:prstGeom>
          <a:noFill/>
          <a:ln/>
        </p:spPr>
        <p:txBody>
          <a:bodyPr wrap="none" lIns="0" tIns="0" rIns="0" bIns="0" rtlCol="0" anchor="t"/>
          <a:lstStyle/>
          <a:p>
            <a:pPr marL="0" indent="0" algn="r">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Evangelii Gaudium — 24 Nov 2013</a:t>
            </a:r>
            <a:endParaRPr lang="en-US" sz="900" dirty="0"/>
          </a:p>
        </p:txBody>
      </p:sp>
      <p:sp>
        <p:nvSpPr>
          <p:cNvPr id="9" name="Text 7"/>
          <p:cNvSpPr/>
          <p:nvPr/>
        </p:nvSpPr>
        <p:spPr>
          <a:xfrm>
            <a:off x="561454" y="1140842"/>
            <a:ext cx="3517106" cy="84013"/>
          </a:xfrm>
          <a:prstGeom prst="rect">
            <a:avLst/>
          </a:prstGeom>
          <a:noFill/>
          <a:ln/>
        </p:spPr>
        <p:txBody>
          <a:bodyPr wrap="none" lIns="0" tIns="0" rIns="0" bIns="0" rtlCol="0" anchor="t"/>
          <a:lstStyle/>
          <a:p>
            <a:pPr marL="0" indent="0" algn="r">
              <a:lnSpc>
                <a:spcPct val="71000"/>
              </a:lnSpc>
              <a:buNone/>
            </a:pPr>
            <a:r>
              <a:rPr lang="en-US" sz="750" dirty="0">
                <a:solidFill>
                  <a:srgbClr val="E5E0DF"/>
                </a:solidFill>
                <a:latin typeface="Barlow" pitchFamily="34" charset="0"/>
                <a:ea typeface="Barlow" pitchFamily="34" charset="-122"/>
                <a:cs typeface="Barlow" pitchFamily="34" charset="-120"/>
              </a:rPr>
              <a:t>The JOY of the Gospel — On Proclamation of the Gospel.</a:t>
            </a:r>
            <a:endParaRPr lang="en-US" sz="750" dirty="0"/>
          </a:p>
        </p:txBody>
      </p:sp>
      <p:sp>
        <p:nvSpPr>
          <p:cNvPr id="10" name="Shape 8"/>
          <p:cNvSpPr/>
          <p:nvPr/>
        </p:nvSpPr>
        <p:spPr>
          <a:xfrm>
            <a:off x="4668738" y="1569318"/>
            <a:ext cx="296019" cy="14288"/>
          </a:xfrm>
          <a:prstGeom prst="roundRect">
            <a:avLst>
              <a:gd name="adj" fmla="val 290121"/>
            </a:avLst>
          </a:prstGeom>
          <a:solidFill>
            <a:srgbClr val="922022"/>
          </a:solidFill>
          <a:ln/>
        </p:spPr>
        <p:txBody>
          <a:bodyPr/>
          <a:lstStyle/>
          <a:p>
            <a:endParaRPr lang="en-IN"/>
          </a:p>
        </p:txBody>
      </p:sp>
      <p:sp>
        <p:nvSpPr>
          <p:cNvPr id="11" name="Shape 9"/>
          <p:cNvSpPr/>
          <p:nvPr/>
        </p:nvSpPr>
        <p:spPr>
          <a:xfrm>
            <a:off x="4460974" y="1465436"/>
            <a:ext cx="222052" cy="222052"/>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12" name="Text 10"/>
          <p:cNvSpPr/>
          <p:nvPr/>
        </p:nvSpPr>
        <p:spPr>
          <a:xfrm>
            <a:off x="4501232" y="1505694"/>
            <a:ext cx="141536" cy="141536"/>
          </a:xfrm>
          <a:prstGeom prst="rect">
            <a:avLst/>
          </a:prstGeom>
          <a:noFill/>
          <a:ln/>
        </p:spPr>
        <p:txBody>
          <a:bodyPr wrap="none" lIns="0" tIns="0" rIns="0" bIns="0" rtlCol="0" anchor="ctr"/>
          <a:lstStyle/>
          <a:p>
            <a:pPr marL="0" indent="0" algn="ctr">
              <a:lnSpc>
                <a:spcPct val="100000"/>
              </a:lnSpc>
              <a:buNone/>
            </a:pPr>
            <a:r>
              <a:rPr lang="en-US" sz="1100" dirty="0">
                <a:solidFill>
                  <a:srgbClr val="E5E0DF"/>
                </a:solidFill>
                <a:latin typeface="Fraunces Medium" pitchFamily="34" charset="0"/>
                <a:ea typeface="Fraunces Medium" pitchFamily="34" charset="-122"/>
                <a:cs typeface="Fraunces Medium" pitchFamily="34" charset="-120"/>
              </a:rPr>
              <a:t>2</a:t>
            </a:r>
            <a:endParaRPr lang="en-US" sz="1100" dirty="0"/>
          </a:p>
        </p:txBody>
      </p:sp>
      <p:sp>
        <p:nvSpPr>
          <p:cNvPr id="13" name="Text 11"/>
          <p:cNvSpPr/>
          <p:nvPr/>
        </p:nvSpPr>
        <p:spPr>
          <a:xfrm>
            <a:off x="5065440" y="1514773"/>
            <a:ext cx="3517106"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Laudato Si' — 24 May 2015</a:t>
            </a:r>
            <a:endParaRPr lang="en-US" sz="900" dirty="0"/>
          </a:p>
        </p:txBody>
      </p:sp>
      <p:sp>
        <p:nvSpPr>
          <p:cNvPr id="14" name="Text 12"/>
          <p:cNvSpPr/>
          <p:nvPr/>
        </p:nvSpPr>
        <p:spPr>
          <a:xfrm>
            <a:off x="5065440" y="1674391"/>
            <a:ext cx="3517106" cy="84013"/>
          </a:xfrm>
          <a:prstGeom prst="rect">
            <a:avLst/>
          </a:prstGeom>
          <a:noFill/>
          <a:ln/>
        </p:spPr>
        <p:txBody>
          <a:bodyPr wrap="none" lIns="0" tIns="0" rIns="0" bIns="0" rtlCol="0" anchor="t"/>
          <a:lstStyle/>
          <a:p>
            <a:pPr marL="0" indent="0" algn="l">
              <a:lnSpc>
                <a:spcPct val="71000"/>
              </a:lnSpc>
              <a:buNone/>
            </a:pPr>
            <a:r>
              <a:rPr lang="en-US" sz="750" dirty="0">
                <a:solidFill>
                  <a:srgbClr val="E5E0DF"/>
                </a:solidFill>
                <a:latin typeface="Barlow" pitchFamily="34" charset="0"/>
                <a:ea typeface="Barlow" pitchFamily="34" charset="-122"/>
                <a:cs typeface="Barlow" pitchFamily="34" charset="-120"/>
              </a:rPr>
              <a:t>PRAISE be to you! — On care for our Common Home — Ecology/Poor.</a:t>
            </a:r>
            <a:endParaRPr lang="en-US" sz="750" dirty="0"/>
          </a:p>
        </p:txBody>
      </p:sp>
      <p:sp>
        <p:nvSpPr>
          <p:cNvPr id="15" name="Shape 13"/>
          <p:cNvSpPr/>
          <p:nvPr/>
        </p:nvSpPr>
        <p:spPr>
          <a:xfrm>
            <a:off x="4179243" y="2058144"/>
            <a:ext cx="296019" cy="14288"/>
          </a:xfrm>
          <a:prstGeom prst="roundRect">
            <a:avLst>
              <a:gd name="adj" fmla="val 290121"/>
            </a:avLst>
          </a:prstGeom>
          <a:solidFill>
            <a:srgbClr val="922022"/>
          </a:solidFill>
          <a:ln/>
        </p:spPr>
        <p:txBody>
          <a:bodyPr/>
          <a:lstStyle/>
          <a:p>
            <a:endParaRPr lang="en-IN"/>
          </a:p>
        </p:txBody>
      </p:sp>
      <p:sp>
        <p:nvSpPr>
          <p:cNvPr id="16" name="Shape 14"/>
          <p:cNvSpPr/>
          <p:nvPr/>
        </p:nvSpPr>
        <p:spPr>
          <a:xfrm>
            <a:off x="4460974" y="1954262"/>
            <a:ext cx="222052" cy="222052"/>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17" name="Text 15"/>
          <p:cNvSpPr/>
          <p:nvPr/>
        </p:nvSpPr>
        <p:spPr>
          <a:xfrm>
            <a:off x="4501232" y="1994520"/>
            <a:ext cx="141536" cy="141536"/>
          </a:xfrm>
          <a:prstGeom prst="rect">
            <a:avLst/>
          </a:prstGeom>
          <a:noFill/>
          <a:ln/>
        </p:spPr>
        <p:txBody>
          <a:bodyPr wrap="none" lIns="0" tIns="0" rIns="0" bIns="0" rtlCol="0" anchor="ctr"/>
          <a:lstStyle/>
          <a:p>
            <a:pPr marL="0" indent="0" algn="ctr">
              <a:lnSpc>
                <a:spcPct val="100000"/>
              </a:lnSpc>
              <a:buNone/>
            </a:pPr>
            <a:r>
              <a:rPr lang="en-US" sz="1100" dirty="0">
                <a:solidFill>
                  <a:srgbClr val="E5E0DF"/>
                </a:solidFill>
                <a:latin typeface="Fraunces Medium" pitchFamily="34" charset="0"/>
                <a:ea typeface="Fraunces Medium" pitchFamily="34" charset="-122"/>
                <a:cs typeface="Fraunces Medium" pitchFamily="34" charset="-120"/>
              </a:rPr>
              <a:t>3</a:t>
            </a:r>
            <a:endParaRPr lang="en-US" sz="1100" dirty="0"/>
          </a:p>
        </p:txBody>
      </p:sp>
      <p:sp>
        <p:nvSpPr>
          <p:cNvPr id="18" name="Text 16"/>
          <p:cNvSpPr/>
          <p:nvPr/>
        </p:nvSpPr>
        <p:spPr>
          <a:xfrm>
            <a:off x="561454" y="2003599"/>
            <a:ext cx="3517106" cy="118021"/>
          </a:xfrm>
          <a:prstGeom prst="rect">
            <a:avLst/>
          </a:prstGeom>
          <a:noFill/>
          <a:ln/>
        </p:spPr>
        <p:txBody>
          <a:bodyPr wrap="none" lIns="0" tIns="0" rIns="0" bIns="0" rtlCol="0" anchor="t"/>
          <a:lstStyle/>
          <a:p>
            <a:pPr marL="0" indent="0" algn="r">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Amoris Laetitia — 19 Mar 2016</a:t>
            </a:r>
            <a:endParaRPr lang="en-US" sz="900" dirty="0"/>
          </a:p>
        </p:txBody>
      </p:sp>
      <p:sp>
        <p:nvSpPr>
          <p:cNvPr id="19" name="Text 17"/>
          <p:cNvSpPr/>
          <p:nvPr/>
        </p:nvSpPr>
        <p:spPr>
          <a:xfrm>
            <a:off x="561454" y="2163217"/>
            <a:ext cx="3517106" cy="84013"/>
          </a:xfrm>
          <a:prstGeom prst="rect">
            <a:avLst/>
          </a:prstGeom>
          <a:noFill/>
          <a:ln/>
        </p:spPr>
        <p:txBody>
          <a:bodyPr wrap="none" lIns="0" tIns="0" rIns="0" bIns="0" rtlCol="0" anchor="t"/>
          <a:lstStyle/>
          <a:p>
            <a:pPr marL="0" indent="0" algn="r">
              <a:lnSpc>
                <a:spcPct val="71000"/>
              </a:lnSpc>
              <a:buNone/>
            </a:pPr>
            <a:r>
              <a:rPr lang="en-US" sz="750" dirty="0">
                <a:solidFill>
                  <a:srgbClr val="E5E0DF"/>
                </a:solidFill>
                <a:latin typeface="Barlow" pitchFamily="34" charset="0"/>
                <a:ea typeface="Barlow" pitchFamily="34" charset="-122"/>
                <a:cs typeface="Barlow" pitchFamily="34" charset="-120"/>
              </a:rPr>
              <a:t>The JOY of Love — On Pastoral Care of Families.</a:t>
            </a:r>
            <a:endParaRPr lang="en-US" sz="750" dirty="0"/>
          </a:p>
        </p:txBody>
      </p:sp>
      <p:sp>
        <p:nvSpPr>
          <p:cNvPr id="20" name="Shape 18"/>
          <p:cNvSpPr/>
          <p:nvPr/>
        </p:nvSpPr>
        <p:spPr>
          <a:xfrm>
            <a:off x="4668738" y="2546970"/>
            <a:ext cx="296019" cy="14288"/>
          </a:xfrm>
          <a:prstGeom prst="roundRect">
            <a:avLst>
              <a:gd name="adj" fmla="val 290121"/>
            </a:avLst>
          </a:prstGeom>
          <a:solidFill>
            <a:srgbClr val="922022"/>
          </a:solidFill>
          <a:ln/>
        </p:spPr>
        <p:txBody>
          <a:bodyPr/>
          <a:lstStyle/>
          <a:p>
            <a:endParaRPr lang="en-IN"/>
          </a:p>
        </p:txBody>
      </p:sp>
      <p:sp>
        <p:nvSpPr>
          <p:cNvPr id="21" name="Shape 19"/>
          <p:cNvSpPr/>
          <p:nvPr/>
        </p:nvSpPr>
        <p:spPr>
          <a:xfrm>
            <a:off x="4460974" y="2443088"/>
            <a:ext cx="222052" cy="222052"/>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22" name="Text 20"/>
          <p:cNvSpPr/>
          <p:nvPr/>
        </p:nvSpPr>
        <p:spPr>
          <a:xfrm>
            <a:off x="4501232" y="2483346"/>
            <a:ext cx="141536" cy="141536"/>
          </a:xfrm>
          <a:prstGeom prst="rect">
            <a:avLst/>
          </a:prstGeom>
          <a:noFill/>
          <a:ln/>
        </p:spPr>
        <p:txBody>
          <a:bodyPr wrap="none" lIns="0" tIns="0" rIns="0" bIns="0" rtlCol="0" anchor="ctr"/>
          <a:lstStyle/>
          <a:p>
            <a:pPr marL="0" indent="0" algn="ctr">
              <a:lnSpc>
                <a:spcPct val="100000"/>
              </a:lnSpc>
              <a:buNone/>
            </a:pPr>
            <a:r>
              <a:rPr lang="en-US" sz="1100" dirty="0">
                <a:solidFill>
                  <a:srgbClr val="E5E0DF"/>
                </a:solidFill>
                <a:latin typeface="Fraunces Medium" pitchFamily="34" charset="0"/>
                <a:ea typeface="Fraunces Medium" pitchFamily="34" charset="-122"/>
                <a:cs typeface="Fraunces Medium" pitchFamily="34" charset="-120"/>
              </a:rPr>
              <a:t>4</a:t>
            </a:r>
            <a:endParaRPr lang="en-US" sz="1100" dirty="0"/>
          </a:p>
        </p:txBody>
      </p:sp>
      <p:sp>
        <p:nvSpPr>
          <p:cNvPr id="23" name="Text 21"/>
          <p:cNvSpPr/>
          <p:nvPr/>
        </p:nvSpPr>
        <p:spPr>
          <a:xfrm>
            <a:off x="5065440" y="2492425"/>
            <a:ext cx="3517106"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Veritatis Gaudium — 8 Dec 2017</a:t>
            </a:r>
            <a:endParaRPr lang="en-US" sz="900" dirty="0"/>
          </a:p>
        </p:txBody>
      </p:sp>
      <p:sp>
        <p:nvSpPr>
          <p:cNvPr id="24" name="Text 22"/>
          <p:cNvSpPr/>
          <p:nvPr/>
        </p:nvSpPr>
        <p:spPr>
          <a:xfrm>
            <a:off x="5065440" y="2652043"/>
            <a:ext cx="3517106" cy="168027"/>
          </a:xfrm>
          <a:prstGeom prst="rect">
            <a:avLst/>
          </a:prstGeom>
          <a:noFill/>
          <a:ln/>
        </p:spPr>
        <p:txBody>
          <a:bodyPr wrap="square" lIns="0" tIns="0" rIns="0" bIns="0" rtlCol="0" anchor="t">
            <a:normAutofit/>
          </a:bodyPr>
          <a:lstStyle/>
          <a:p>
            <a:pPr marL="0" indent="0" algn="l">
              <a:lnSpc>
                <a:spcPct val="71000"/>
              </a:lnSpc>
              <a:buNone/>
            </a:pPr>
            <a:r>
              <a:rPr lang="en-US" sz="750" dirty="0">
                <a:solidFill>
                  <a:srgbClr val="E5E0DF"/>
                </a:solidFill>
                <a:latin typeface="Barlow" pitchFamily="34" charset="0"/>
                <a:ea typeface="Barlow" pitchFamily="34" charset="-122"/>
                <a:cs typeface="Barlow" pitchFamily="34" charset="-120"/>
              </a:rPr>
              <a:t>The JOY of Truth — Apostolic Constitution on Ecclesiastical Universities and Faculties.</a:t>
            </a:r>
            <a:endParaRPr lang="en-US" sz="750" dirty="0"/>
          </a:p>
        </p:txBody>
      </p:sp>
      <p:sp>
        <p:nvSpPr>
          <p:cNvPr id="25" name="Shape 23"/>
          <p:cNvSpPr/>
          <p:nvPr/>
        </p:nvSpPr>
        <p:spPr>
          <a:xfrm>
            <a:off x="4179243" y="3035796"/>
            <a:ext cx="296019" cy="14288"/>
          </a:xfrm>
          <a:prstGeom prst="roundRect">
            <a:avLst>
              <a:gd name="adj" fmla="val 290121"/>
            </a:avLst>
          </a:prstGeom>
          <a:solidFill>
            <a:srgbClr val="922022"/>
          </a:solidFill>
          <a:ln/>
        </p:spPr>
        <p:txBody>
          <a:bodyPr/>
          <a:lstStyle/>
          <a:p>
            <a:endParaRPr lang="en-IN"/>
          </a:p>
        </p:txBody>
      </p:sp>
      <p:sp>
        <p:nvSpPr>
          <p:cNvPr id="26" name="Shape 24"/>
          <p:cNvSpPr/>
          <p:nvPr/>
        </p:nvSpPr>
        <p:spPr>
          <a:xfrm>
            <a:off x="4460974" y="2931914"/>
            <a:ext cx="222052" cy="222052"/>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27" name="Text 25"/>
          <p:cNvSpPr/>
          <p:nvPr/>
        </p:nvSpPr>
        <p:spPr>
          <a:xfrm>
            <a:off x="4501232" y="2972172"/>
            <a:ext cx="141536" cy="141536"/>
          </a:xfrm>
          <a:prstGeom prst="rect">
            <a:avLst/>
          </a:prstGeom>
          <a:noFill/>
          <a:ln/>
        </p:spPr>
        <p:txBody>
          <a:bodyPr wrap="none" lIns="0" tIns="0" rIns="0" bIns="0" rtlCol="0" anchor="ctr"/>
          <a:lstStyle/>
          <a:p>
            <a:pPr marL="0" indent="0" algn="ctr">
              <a:lnSpc>
                <a:spcPct val="100000"/>
              </a:lnSpc>
              <a:buNone/>
            </a:pPr>
            <a:r>
              <a:rPr lang="en-US" sz="1100" dirty="0">
                <a:solidFill>
                  <a:srgbClr val="E5E0DF"/>
                </a:solidFill>
                <a:latin typeface="Fraunces Medium" pitchFamily="34" charset="0"/>
                <a:ea typeface="Fraunces Medium" pitchFamily="34" charset="-122"/>
                <a:cs typeface="Fraunces Medium" pitchFamily="34" charset="-120"/>
              </a:rPr>
              <a:t>5</a:t>
            </a:r>
            <a:endParaRPr lang="en-US" sz="1100" dirty="0"/>
          </a:p>
        </p:txBody>
      </p:sp>
      <p:sp>
        <p:nvSpPr>
          <p:cNvPr id="28" name="Text 26"/>
          <p:cNvSpPr/>
          <p:nvPr/>
        </p:nvSpPr>
        <p:spPr>
          <a:xfrm>
            <a:off x="561454" y="2981251"/>
            <a:ext cx="3517106" cy="118021"/>
          </a:xfrm>
          <a:prstGeom prst="rect">
            <a:avLst/>
          </a:prstGeom>
          <a:noFill/>
          <a:ln/>
        </p:spPr>
        <p:txBody>
          <a:bodyPr wrap="none" lIns="0" tIns="0" rIns="0" bIns="0" rtlCol="0" anchor="t"/>
          <a:lstStyle/>
          <a:p>
            <a:pPr marL="0" indent="0" algn="r">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Gaudete et Exsultate — 19 Mar 2018</a:t>
            </a:r>
            <a:endParaRPr lang="en-US" sz="900" dirty="0"/>
          </a:p>
        </p:txBody>
      </p:sp>
      <p:sp>
        <p:nvSpPr>
          <p:cNvPr id="29" name="Text 27"/>
          <p:cNvSpPr/>
          <p:nvPr/>
        </p:nvSpPr>
        <p:spPr>
          <a:xfrm>
            <a:off x="561454" y="3140869"/>
            <a:ext cx="3517106" cy="84013"/>
          </a:xfrm>
          <a:prstGeom prst="rect">
            <a:avLst/>
          </a:prstGeom>
          <a:noFill/>
          <a:ln/>
        </p:spPr>
        <p:txBody>
          <a:bodyPr wrap="none" lIns="0" tIns="0" rIns="0" bIns="0" rtlCol="0" anchor="t"/>
          <a:lstStyle/>
          <a:p>
            <a:pPr marL="0" indent="0" algn="r">
              <a:lnSpc>
                <a:spcPct val="71000"/>
              </a:lnSpc>
              <a:buNone/>
            </a:pPr>
            <a:r>
              <a:rPr lang="en-US" sz="750" dirty="0">
                <a:solidFill>
                  <a:srgbClr val="E5E0DF"/>
                </a:solidFill>
                <a:latin typeface="Barlow" pitchFamily="34" charset="0"/>
                <a:ea typeface="Barlow" pitchFamily="34" charset="-122"/>
                <a:cs typeface="Barlow" pitchFamily="34" charset="-120"/>
              </a:rPr>
              <a:t>REJOICE and be GLAD! — The Call to Holiness in Today's World.</a:t>
            </a:r>
            <a:endParaRPr lang="en-US" sz="750" dirty="0"/>
          </a:p>
        </p:txBody>
      </p:sp>
      <p:sp>
        <p:nvSpPr>
          <p:cNvPr id="30" name="Shape 28"/>
          <p:cNvSpPr/>
          <p:nvPr/>
        </p:nvSpPr>
        <p:spPr>
          <a:xfrm>
            <a:off x="4668738" y="3524622"/>
            <a:ext cx="296019" cy="14288"/>
          </a:xfrm>
          <a:prstGeom prst="roundRect">
            <a:avLst>
              <a:gd name="adj" fmla="val 290121"/>
            </a:avLst>
          </a:prstGeom>
          <a:solidFill>
            <a:srgbClr val="922022"/>
          </a:solidFill>
          <a:ln/>
        </p:spPr>
        <p:txBody>
          <a:bodyPr/>
          <a:lstStyle/>
          <a:p>
            <a:endParaRPr lang="en-IN"/>
          </a:p>
        </p:txBody>
      </p:sp>
      <p:sp>
        <p:nvSpPr>
          <p:cNvPr id="31" name="Shape 29"/>
          <p:cNvSpPr/>
          <p:nvPr/>
        </p:nvSpPr>
        <p:spPr>
          <a:xfrm>
            <a:off x="4460974" y="3420740"/>
            <a:ext cx="222052" cy="222052"/>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32" name="Text 30"/>
          <p:cNvSpPr/>
          <p:nvPr/>
        </p:nvSpPr>
        <p:spPr>
          <a:xfrm>
            <a:off x="4501232" y="3460998"/>
            <a:ext cx="141536" cy="141536"/>
          </a:xfrm>
          <a:prstGeom prst="rect">
            <a:avLst/>
          </a:prstGeom>
          <a:noFill/>
          <a:ln/>
        </p:spPr>
        <p:txBody>
          <a:bodyPr wrap="none" lIns="0" tIns="0" rIns="0" bIns="0" rtlCol="0" anchor="ctr"/>
          <a:lstStyle/>
          <a:p>
            <a:pPr marL="0" indent="0" algn="ctr">
              <a:lnSpc>
                <a:spcPct val="100000"/>
              </a:lnSpc>
              <a:buNone/>
            </a:pPr>
            <a:r>
              <a:rPr lang="en-US" sz="1100" dirty="0">
                <a:solidFill>
                  <a:srgbClr val="E5E0DF"/>
                </a:solidFill>
                <a:latin typeface="Fraunces Medium" pitchFamily="34" charset="0"/>
                <a:ea typeface="Fraunces Medium" pitchFamily="34" charset="-122"/>
                <a:cs typeface="Fraunces Medium" pitchFamily="34" charset="-120"/>
              </a:rPr>
              <a:t>6</a:t>
            </a:r>
            <a:endParaRPr lang="en-US" sz="1100" dirty="0"/>
          </a:p>
        </p:txBody>
      </p:sp>
      <p:sp>
        <p:nvSpPr>
          <p:cNvPr id="33" name="Text 31"/>
          <p:cNvSpPr/>
          <p:nvPr/>
        </p:nvSpPr>
        <p:spPr>
          <a:xfrm>
            <a:off x="5065440" y="3470077"/>
            <a:ext cx="3517106" cy="118021"/>
          </a:xfrm>
          <a:prstGeom prst="rect">
            <a:avLst/>
          </a:prstGeom>
          <a:noFill/>
          <a:ln/>
        </p:spPr>
        <p:txBody>
          <a:bodyPr wrap="none" lIns="0" tIns="0" rIns="0" bIns="0" rtlCol="0" anchor="t"/>
          <a:lstStyle/>
          <a:p>
            <a:pPr marL="0" indent="0" algn="l">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Christus Vivit — 25 Mar 2019</a:t>
            </a:r>
            <a:endParaRPr lang="en-US" sz="900" dirty="0"/>
          </a:p>
        </p:txBody>
      </p:sp>
      <p:sp>
        <p:nvSpPr>
          <p:cNvPr id="34" name="Text 32"/>
          <p:cNvSpPr/>
          <p:nvPr/>
        </p:nvSpPr>
        <p:spPr>
          <a:xfrm>
            <a:off x="5065440" y="3629695"/>
            <a:ext cx="3517106" cy="84013"/>
          </a:xfrm>
          <a:prstGeom prst="rect">
            <a:avLst/>
          </a:prstGeom>
          <a:noFill/>
          <a:ln/>
        </p:spPr>
        <p:txBody>
          <a:bodyPr wrap="none" lIns="0" tIns="0" rIns="0" bIns="0" rtlCol="0" anchor="t"/>
          <a:lstStyle/>
          <a:p>
            <a:pPr marL="0" indent="0" algn="l">
              <a:lnSpc>
                <a:spcPct val="71000"/>
              </a:lnSpc>
              <a:buNone/>
            </a:pPr>
            <a:r>
              <a:rPr lang="en-US" sz="750" dirty="0">
                <a:solidFill>
                  <a:srgbClr val="E5E0DF"/>
                </a:solidFill>
                <a:latin typeface="Barlow" pitchFamily="34" charset="0"/>
                <a:ea typeface="Barlow" pitchFamily="34" charset="-122"/>
                <a:cs typeface="Barlow" pitchFamily="34" charset="-120"/>
              </a:rPr>
              <a:t>CHRIST IS ALIVE! — Post-Synodal Apostolic Exhortation to Young People.</a:t>
            </a:r>
            <a:endParaRPr lang="en-US" sz="750" dirty="0"/>
          </a:p>
        </p:txBody>
      </p:sp>
      <p:sp>
        <p:nvSpPr>
          <p:cNvPr id="35" name="Shape 33"/>
          <p:cNvSpPr/>
          <p:nvPr/>
        </p:nvSpPr>
        <p:spPr>
          <a:xfrm>
            <a:off x="4179243" y="4013448"/>
            <a:ext cx="296019" cy="14288"/>
          </a:xfrm>
          <a:prstGeom prst="roundRect">
            <a:avLst>
              <a:gd name="adj" fmla="val 290121"/>
            </a:avLst>
          </a:prstGeom>
          <a:solidFill>
            <a:srgbClr val="922022"/>
          </a:solidFill>
          <a:ln/>
        </p:spPr>
        <p:txBody>
          <a:bodyPr/>
          <a:lstStyle/>
          <a:p>
            <a:endParaRPr lang="en-IN"/>
          </a:p>
        </p:txBody>
      </p:sp>
      <p:sp>
        <p:nvSpPr>
          <p:cNvPr id="36" name="Shape 34"/>
          <p:cNvSpPr/>
          <p:nvPr/>
        </p:nvSpPr>
        <p:spPr>
          <a:xfrm>
            <a:off x="4460974" y="3909566"/>
            <a:ext cx="222052" cy="222052"/>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37" name="Text 35"/>
          <p:cNvSpPr/>
          <p:nvPr/>
        </p:nvSpPr>
        <p:spPr>
          <a:xfrm>
            <a:off x="4501232" y="3949824"/>
            <a:ext cx="141536" cy="141536"/>
          </a:xfrm>
          <a:prstGeom prst="rect">
            <a:avLst/>
          </a:prstGeom>
          <a:noFill/>
          <a:ln/>
        </p:spPr>
        <p:txBody>
          <a:bodyPr wrap="none" lIns="0" tIns="0" rIns="0" bIns="0" rtlCol="0" anchor="ctr"/>
          <a:lstStyle/>
          <a:p>
            <a:pPr marL="0" indent="0" algn="ctr">
              <a:lnSpc>
                <a:spcPct val="100000"/>
              </a:lnSpc>
              <a:buNone/>
            </a:pPr>
            <a:r>
              <a:rPr lang="en-US" sz="1100" dirty="0">
                <a:solidFill>
                  <a:srgbClr val="E5E0DF"/>
                </a:solidFill>
                <a:latin typeface="Fraunces Medium" pitchFamily="34" charset="0"/>
                <a:ea typeface="Fraunces Medium" pitchFamily="34" charset="-122"/>
                <a:cs typeface="Fraunces Medium" pitchFamily="34" charset="-120"/>
              </a:rPr>
              <a:t>7</a:t>
            </a:r>
            <a:endParaRPr lang="en-US" sz="1100" dirty="0"/>
          </a:p>
        </p:txBody>
      </p:sp>
      <p:sp>
        <p:nvSpPr>
          <p:cNvPr id="38" name="Text 36"/>
          <p:cNvSpPr/>
          <p:nvPr/>
        </p:nvSpPr>
        <p:spPr>
          <a:xfrm>
            <a:off x="561454" y="3958903"/>
            <a:ext cx="3517106" cy="118021"/>
          </a:xfrm>
          <a:prstGeom prst="rect">
            <a:avLst/>
          </a:prstGeom>
          <a:noFill/>
          <a:ln/>
        </p:spPr>
        <p:txBody>
          <a:bodyPr wrap="none" lIns="0" tIns="0" rIns="0" bIns="0" rtlCol="0" anchor="t"/>
          <a:lstStyle/>
          <a:p>
            <a:pPr marL="0" indent="0" algn="r">
              <a:lnSpc>
                <a:spcPct val="83000"/>
              </a:lnSpc>
              <a:buNone/>
            </a:pPr>
            <a:r>
              <a:rPr lang="en-US" sz="900" dirty="0">
                <a:solidFill>
                  <a:srgbClr val="E5E0DF"/>
                </a:solidFill>
                <a:latin typeface="Fraunces Medium" pitchFamily="34" charset="0"/>
                <a:ea typeface="Fraunces Medium" pitchFamily="34" charset="-122"/>
                <a:cs typeface="Fraunces Medium" pitchFamily="34" charset="-120"/>
              </a:rPr>
              <a:t>Querida Amazonia — 2 Feb 2020</a:t>
            </a:r>
            <a:endParaRPr lang="en-US" sz="900" dirty="0"/>
          </a:p>
        </p:txBody>
      </p:sp>
      <p:sp>
        <p:nvSpPr>
          <p:cNvPr id="39" name="Text 37"/>
          <p:cNvSpPr/>
          <p:nvPr/>
        </p:nvSpPr>
        <p:spPr>
          <a:xfrm>
            <a:off x="561454" y="4118521"/>
            <a:ext cx="3517106" cy="84013"/>
          </a:xfrm>
          <a:prstGeom prst="rect">
            <a:avLst/>
          </a:prstGeom>
          <a:noFill/>
          <a:ln/>
        </p:spPr>
        <p:txBody>
          <a:bodyPr wrap="none" lIns="0" tIns="0" rIns="0" bIns="0" rtlCol="0" anchor="t"/>
          <a:lstStyle/>
          <a:p>
            <a:pPr marL="0" indent="0" algn="r">
              <a:lnSpc>
                <a:spcPct val="71000"/>
              </a:lnSpc>
              <a:buNone/>
            </a:pPr>
            <a:r>
              <a:rPr lang="en-US" sz="750" dirty="0">
                <a:solidFill>
                  <a:srgbClr val="E5E0DF"/>
                </a:solidFill>
                <a:latin typeface="Barlow" pitchFamily="34" charset="0"/>
                <a:ea typeface="Barlow" pitchFamily="34" charset="-122"/>
                <a:cs typeface="Barlow" pitchFamily="34" charset="-120"/>
              </a:rPr>
              <a:t>Beloved Amazon — Post Synodal Apostolic Exhortation.</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1454" y="1343323"/>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Foundations of Theology</a:t>
            </a:r>
            <a:endParaRPr lang="en-US" sz="2600" dirty="0"/>
          </a:p>
        </p:txBody>
      </p:sp>
      <p:sp>
        <p:nvSpPr>
          <p:cNvPr id="3" name="Text 1"/>
          <p:cNvSpPr/>
          <p:nvPr/>
        </p:nvSpPr>
        <p:spPr>
          <a:xfrm>
            <a:off x="561454" y="1959694"/>
            <a:ext cx="8021092" cy="719286"/>
          </a:xfrm>
          <a:prstGeom prst="rect">
            <a:avLst/>
          </a:prstGeom>
          <a:noFill/>
          <a:ln/>
        </p:spPr>
        <p:txBody>
          <a:bodyPr wrap="square" lIns="0" tIns="0" rIns="0" bIns="0" rtlCol="0" anchor="t">
            <a:normAutofit/>
          </a:bodyPr>
          <a:lstStyle/>
          <a:p>
            <a:pPr marL="0" indent="0" algn="l">
              <a:lnSpc>
                <a:spcPct val="83000"/>
              </a:lnSpc>
              <a:spcAft>
                <a:spcPts val="1200"/>
              </a:spcAft>
              <a:buNone/>
            </a:pPr>
            <a:r>
              <a:rPr lang="en-US" sz="1100" dirty="0">
                <a:solidFill>
                  <a:srgbClr val="E5E0DF"/>
                </a:solidFill>
                <a:latin typeface="Barlow" pitchFamily="34" charset="0"/>
                <a:ea typeface="Barlow" pitchFamily="34" charset="-122"/>
                <a:cs typeface="Barlow" pitchFamily="34" charset="-120"/>
              </a:rPr>
              <a:t>Faith Experience of the Early Christian Community — Attested in the Sacred Scripture and the Tradition — Embodied in the Liturgy and the Sacraments, the Creeds and the Teachings of the Church.</a:t>
            </a:r>
            <a:endParaRPr lang="en-US" sz="1100" dirty="0"/>
          </a:p>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a:t>
            </a:r>
            <a:r>
              <a:rPr lang="en-US" sz="1100" b="1" dirty="0">
                <a:solidFill>
                  <a:srgbClr val="E5E0DF"/>
                </a:solidFill>
                <a:latin typeface="Barlow Bold" pitchFamily="34" charset="0"/>
                <a:ea typeface="Barlow Bold" pitchFamily="34" charset="-122"/>
                <a:cs typeface="Barlow Bold" pitchFamily="34" charset="-120"/>
              </a:rPr>
              <a:t>Abba Experience of Jesus (Kingdom of God)</a:t>
            </a:r>
            <a:r>
              <a:rPr lang="en-US" sz="1100" dirty="0">
                <a:solidFill>
                  <a:srgbClr val="E5E0DF"/>
                </a:solidFill>
                <a:latin typeface="Barlow" pitchFamily="34" charset="0"/>
                <a:ea typeface="Barlow" pitchFamily="34" charset="-122"/>
                <a:cs typeface="Barlow" pitchFamily="34" charset="-120"/>
              </a:rPr>
              <a:t> experienced by the Disciples is the Starting Point of Christianity. This presupposes God's Revelation in Jesus Christ for the Salvation of Humankind. Hence Faith and Revelation are the Two Foundations of Theology.</a:t>
            </a:r>
            <a:endParaRPr lang="en-US" sz="1100" dirty="0"/>
          </a:p>
        </p:txBody>
      </p:sp>
      <p:sp>
        <p:nvSpPr>
          <p:cNvPr id="4" name="Shape 2"/>
          <p:cNvSpPr/>
          <p:nvPr/>
        </p:nvSpPr>
        <p:spPr>
          <a:xfrm>
            <a:off x="561454" y="2836887"/>
            <a:ext cx="8021092" cy="963216"/>
          </a:xfrm>
          <a:prstGeom prst="roundRect">
            <a:avLst>
              <a:gd name="adj" fmla="val 6121"/>
            </a:avLst>
          </a:prstGeom>
          <a:solidFill>
            <a:srgbClr val="790709"/>
          </a:solidFill>
          <a:ln w="4763">
            <a:solidFill>
              <a:srgbClr val="922022"/>
            </a:solidFill>
            <a:prstDash val="solid"/>
          </a:ln>
        </p:spPr>
        <p:txBody>
          <a:bodyPr/>
          <a:lstStyle/>
          <a:p>
            <a:endParaRPr lang="en-IN"/>
          </a:p>
        </p:txBody>
      </p:sp>
      <p:sp>
        <p:nvSpPr>
          <p:cNvPr id="5" name="Shape 3"/>
          <p:cNvSpPr/>
          <p:nvPr/>
        </p:nvSpPr>
        <p:spPr>
          <a:xfrm>
            <a:off x="566217" y="2841650"/>
            <a:ext cx="4005783" cy="953691"/>
          </a:xfrm>
          <a:prstGeom prst="rect">
            <a:avLst/>
          </a:prstGeom>
          <a:solidFill>
            <a:srgbClr val="790709"/>
          </a:solidFill>
          <a:ln/>
        </p:spPr>
        <p:txBody>
          <a:bodyPr/>
          <a:lstStyle/>
          <a:p>
            <a:endParaRPr lang="en-IN"/>
          </a:p>
        </p:txBody>
      </p:sp>
      <p:sp>
        <p:nvSpPr>
          <p:cNvPr id="6" name="Text 4"/>
          <p:cNvSpPr/>
          <p:nvPr/>
        </p:nvSpPr>
        <p:spPr>
          <a:xfrm>
            <a:off x="706562" y="2981995"/>
            <a:ext cx="372509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Foundation 1: FAITH</a:t>
            </a:r>
            <a:endParaRPr lang="en-US" sz="1300" dirty="0"/>
          </a:p>
        </p:txBody>
      </p:sp>
      <p:sp>
        <p:nvSpPr>
          <p:cNvPr id="7" name="Text 5"/>
          <p:cNvSpPr/>
          <p:nvPr/>
        </p:nvSpPr>
        <p:spPr>
          <a:xfrm>
            <a:off x="706562" y="3233961"/>
            <a:ext cx="372509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total response and commitment of the whole person to God as revealed in Jesus Christ. Faith is the condition for the possibility of theology.</a:t>
            </a:r>
            <a:endParaRPr lang="en-US" sz="1100" dirty="0"/>
          </a:p>
        </p:txBody>
      </p:sp>
      <p:sp>
        <p:nvSpPr>
          <p:cNvPr id="8" name="Shape 6"/>
          <p:cNvSpPr/>
          <p:nvPr/>
        </p:nvSpPr>
        <p:spPr>
          <a:xfrm>
            <a:off x="4572000" y="2841650"/>
            <a:ext cx="4005783" cy="953691"/>
          </a:xfrm>
          <a:prstGeom prst="rect">
            <a:avLst/>
          </a:prstGeom>
          <a:solidFill>
            <a:srgbClr val="790709"/>
          </a:solidFill>
          <a:ln/>
        </p:spPr>
        <p:txBody>
          <a:bodyPr/>
          <a:lstStyle/>
          <a:p>
            <a:endParaRPr lang="en-IN"/>
          </a:p>
        </p:txBody>
      </p:sp>
      <p:sp>
        <p:nvSpPr>
          <p:cNvPr id="9" name="Shape 7"/>
          <p:cNvSpPr/>
          <p:nvPr/>
        </p:nvSpPr>
        <p:spPr>
          <a:xfrm>
            <a:off x="4572000" y="2841650"/>
            <a:ext cx="19050" cy="953691"/>
          </a:xfrm>
          <a:prstGeom prst="roundRect">
            <a:avLst>
              <a:gd name="adj" fmla="val 309474"/>
            </a:avLst>
          </a:prstGeom>
          <a:solidFill>
            <a:srgbClr val="922022"/>
          </a:solidFill>
          <a:ln/>
        </p:spPr>
        <p:txBody>
          <a:bodyPr/>
          <a:lstStyle/>
          <a:p>
            <a:endParaRPr lang="en-IN"/>
          </a:p>
        </p:txBody>
      </p:sp>
      <p:sp>
        <p:nvSpPr>
          <p:cNvPr id="10" name="Text 8"/>
          <p:cNvSpPr/>
          <p:nvPr/>
        </p:nvSpPr>
        <p:spPr>
          <a:xfrm>
            <a:off x="4712345" y="2981995"/>
            <a:ext cx="372509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Foundation 2: REVELATION</a:t>
            </a:r>
            <a:endParaRPr lang="en-US" sz="1300" dirty="0"/>
          </a:p>
        </p:txBody>
      </p:sp>
      <p:sp>
        <p:nvSpPr>
          <p:cNvPr id="11" name="Text 9"/>
          <p:cNvSpPr/>
          <p:nvPr/>
        </p:nvSpPr>
        <p:spPr>
          <a:xfrm>
            <a:off x="4712345" y="3233961"/>
            <a:ext cx="372509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God's Self-Communication to Humans. Revelation is to be received, perceived, grasped and responded to through Faith. The two are inseparably united.</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1454" y="125008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What Is Faith?</a:t>
            </a:r>
            <a:endParaRPr lang="en-US" sz="2600" dirty="0"/>
          </a:p>
        </p:txBody>
      </p:sp>
      <p:sp>
        <p:nvSpPr>
          <p:cNvPr id="3" name="Shape 1"/>
          <p:cNvSpPr/>
          <p:nvPr/>
        </p:nvSpPr>
        <p:spPr>
          <a:xfrm>
            <a:off x="561454" y="1866454"/>
            <a:ext cx="19050" cy="736848"/>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2024360"/>
            <a:ext cx="781057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"Faith is the Assurance of Things hoped for, the Conviction of Things not seen. Indeed by Faith Our Ancestors received Approval. By Faith We understand that the Worlds were prepared by the Word of God, so that what is seen was made from Things that are not visible." — </a:t>
            </a:r>
            <a:r>
              <a:rPr lang="en-US" sz="1100" b="1" dirty="0">
                <a:solidFill>
                  <a:srgbClr val="E5E0DF"/>
                </a:solidFill>
                <a:latin typeface="Barlow Bold" pitchFamily="34" charset="0"/>
                <a:ea typeface="Barlow Bold" pitchFamily="34" charset="-122"/>
                <a:cs typeface="Barlow Bold" pitchFamily="34" charset="-120"/>
              </a:rPr>
              <a:t>Heb 11:1-3</a:t>
            </a:r>
            <a:endParaRPr lang="en-US" sz="1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761208"/>
            <a:ext cx="3940373" cy="1132136"/>
          </a:xfrm>
          <a:prstGeom prst="rect">
            <a:avLst/>
          </a:prstGeom>
        </p:spPr>
      </p:pic>
      <p:sp>
        <p:nvSpPr>
          <p:cNvPr id="6" name="Text 3"/>
          <p:cNvSpPr/>
          <p:nvPr/>
        </p:nvSpPr>
        <p:spPr>
          <a:xfrm>
            <a:off x="797049" y="2920603"/>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Faith as Personal Encounter</a:t>
            </a:r>
            <a:endParaRPr lang="en-US" sz="1300" dirty="0"/>
          </a:p>
        </p:txBody>
      </p:sp>
      <p:sp>
        <p:nvSpPr>
          <p:cNvPr id="7" name="Text 4"/>
          <p:cNvSpPr/>
          <p:nvPr/>
        </p:nvSpPr>
        <p:spPr>
          <a:xfrm>
            <a:off x="797049" y="3172569"/>
            <a:ext cx="354538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Faith is not merely an Assent of Intellect to a Set of Truths; it is a Personal Encounter and Experience, which transforms the whole Person (Ex 3; Jn 4; Mt 17; Lk 24). For Christians the Encounter is with Jesus Christ.</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2761208"/>
            <a:ext cx="3940373" cy="1132136"/>
          </a:xfrm>
          <a:prstGeom prst="rect">
            <a:avLst/>
          </a:prstGeom>
        </p:spPr>
      </p:pic>
      <p:sp>
        <p:nvSpPr>
          <p:cNvPr id="9" name="Text 5"/>
          <p:cNvSpPr/>
          <p:nvPr/>
        </p:nvSpPr>
        <p:spPr>
          <a:xfrm>
            <a:off x="4877767" y="2920603"/>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Christian Faith as Total Response</a:t>
            </a:r>
            <a:endParaRPr lang="en-US" sz="1300" dirty="0"/>
          </a:p>
        </p:txBody>
      </p:sp>
      <p:sp>
        <p:nvSpPr>
          <p:cNvPr id="10" name="Text 6"/>
          <p:cNvSpPr/>
          <p:nvPr/>
        </p:nvSpPr>
        <p:spPr>
          <a:xfrm>
            <a:off x="4877767" y="3172569"/>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Christian Faith is "Faith in Jesus Christ." Christian Faith is the </a:t>
            </a:r>
            <a:r>
              <a:rPr lang="en-US" sz="1100" b="1" dirty="0">
                <a:solidFill>
                  <a:srgbClr val="E5E0DF"/>
                </a:solidFill>
                <a:latin typeface="Barlow Bold" pitchFamily="34" charset="0"/>
                <a:ea typeface="Barlow Bold" pitchFamily="34" charset="-122"/>
                <a:cs typeface="Barlow Bold" pitchFamily="34" charset="-120"/>
              </a:rPr>
              <a:t>Total Response and Commitment of the Whole Person</a:t>
            </a:r>
            <a:r>
              <a:rPr lang="en-US" sz="1100" dirty="0">
                <a:solidFill>
                  <a:srgbClr val="E5E0DF"/>
                </a:solidFill>
                <a:latin typeface="Barlow" pitchFamily="34" charset="0"/>
                <a:ea typeface="Barlow" pitchFamily="34" charset="-122"/>
                <a:cs typeface="Barlow" pitchFamily="34" charset="-120"/>
              </a:rPr>
              <a:t> to God as revealed in Jesus Christ.</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1454" y="145687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Faith in OT and NT</a:t>
            </a:r>
            <a:endParaRPr lang="en-US" sz="2600" dirty="0"/>
          </a:p>
        </p:txBody>
      </p:sp>
      <p:sp>
        <p:nvSpPr>
          <p:cNvPr id="3" name="Text 1"/>
          <p:cNvSpPr/>
          <p:nvPr/>
        </p:nvSpPr>
        <p:spPr>
          <a:xfrm>
            <a:off x="561454" y="2143423"/>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Faith in the Old Testament</a:t>
            </a:r>
            <a:endParaRPr lang="en-US" sz="1300" dirty="0"/>
          </a:p>
        </p:txBody>
      </p:sp>
      <p:sp>
        <p:nvSpPr>
          <p:cNvPr id="4" name="Text 2"/>
          <p:cNvSpPr/>
          <p:nvPr/>
        </p:nvSpPr>
        <p:spPr>
          <a:xfrm>
            <a:off x="561454" y="2451571"/>
            <a:ext cx="3839319" cy="110869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NT is written within the Religious and Linguistic Tradition of Israel (OT). </a:t>
            </a:r>
            <a:r>
              <a:rPr lang="en-US" sz="1100" b="1" dirty="0">
                <a:solidFill>
                  <a:srgbClr val="E5E0DF"/>
                </a:solidFill>
                <a:latin typeface="Barlow Bold" pitchFamily="34" charset="0"/>
                <a:ea typeface="Barlow Bold" pitchFamily="34" charset="-122"/>
                <a:cs typeface="Barlow Bold" pitchFamily="34" charset="-120"/>
              </a:rPr>
              <a:t>Abraham</a:t>
            </a:r>
            <a:r>
              <a:rPr lang="en-US" sz="1100" dirty="0">
                <a:solidFill>
                  <a:srgbClr val="E5E0DF"/>
                </a:solidFill>
                <a:latin typeface="Barlow" pitchFamily="34" charset="0"/>
                <a:ea typeface="Barlow" pitchFamily="34" charset="-122"/>
                <a:cs typeface="Barlow" pitchFamily="34" charset="-120"/>
              </a:rPr>
              <a:t> is called the 'Father of Faith', 'Father of all who believe' (Rom 4:3). The OT Describes Their Foundational Experience of Liberation and Their being constituted into a Nation by the Covenant with God.</a:t>
            </a:r>
            <a:endParaRPr lang="en-US" sz="1100" dirty="0"/>
          </a:p>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In OT Faith is rooted in </a:t>
            </a:r>
            <a:r>
              <a:rPr lang="en-US" sz="1100" b="1" dirty="0">
                <a:solidFill>
                  <a:srgbClr val="E5E0DF"/>
                </a:solidFill>
                <a:latin typeface="Barlow Bold" pitchFamily="34" charset="0"/>
                <a:ea typeface="Barlow Bold" pitchFamily="34" charset="-122"/>
                <a:cs typeface="Barlow Bold" pitchFamily="34" charset="-120"/>
              </a:rPr>
              <a:t>God's Fidelity to the Divine Promises</a:t>
            </a:r>
            <a:r>
              <a:rPr lang="en-US" sz="1100" dirty="0">
                <a:solidFill>
                  <a:srgbClr val="E5E0DF"/>
                </a:solidFill>
                <a:latin typeface="Barlow" pitchFamily="34" charset="0"/>
                <a:ea typeface="Barlow" pitchFamily="34" charset="-122"/>
                <a:cs typeface="Barlow" pitchFamily="34" charset="-120"/>
              </a:rPr>
              <a:t> and to the Covenant with Israel.</a:t>
            </a:r>
            <a:endParaRPr lang="en-US" sz="1100" dirty="0"/>
          </a:p>
        </p:txBody>
      </p:sp>
      <p:sp>
        <p:nvSpPr>
          <p:cNvPr id="5" name="Text 3"/>
          <p:cNvSpPr/>
          <p:nvPr/>
        </p:nvSpPr>
        <p:spPr>
          <a:xfrm>
            <a:off x="4747989" y="2143423"/>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Faith in the New Testament</a:t>
            </a:r>
            <a:endParaRPr lang="en-US" sz="1300" dirty="0"/>
          </a:p>
        </p:txBody>
      </p:sp>
      <p:sp>
        <p:nvSpPr>
          <p:cNvPr id="6" name="Text 4"/>
          <p:cNvSpPr/>
          <p:nvPr/>
        </p:nvSpPr>
        <p:spPr>
          <a:xfrm>
            <a:off x="4747989" y="2451571"/>
            <a:ext cx="3839319" cy="968350"/>
          </a:xfrm>
          <a:prstGeom prst="rect">
            <a:avLst/>
          </a:prstGeom>
          <a:noFill/>
          <a:ln/>
        </p:spPr>
        <p:txBody>
          <a:bodyPr wrap="square" lIns="0" tIns="0" rIns="0" bIns="0" rtlCol="0" anchor="t">
            <a:normAutofit/>
          </a:bodyPr>
          <a:lstStyle/>
          <a:p>
            <a:pPr marL="0" indent="0" algn="l">
              <a:lnSpc>
                <a:spcPct val="83000"/>
              </a:lnSpc>
              <a:spcAft>
                <a:spcPts val="950"/>
              </a:spcAft>
              <a:buNone/>
            </a:pPr>
            <a:r>
              <a:rPr lang="en-US" sz="1100" dirty="0">
                <a:solidFill>
                  <a:srgbClr val="E5E0DF"/>
                </a:solidFill>
                <a:latin typeface="Barlow" pitchFamily="34" charset="0"/>
                <a:ea typeface="Barlow" pitchFamily="34" charset="-122"/>
                <a:cs typeface="Barlow" pitchFamily="34" charset="-120"/>
              </a:rPr>
              <a:t>In NT, Faith is Acceptance of Jesus and His Message, And Later of the Apostolic Preaching, Centred on the Risen Lord. To believe in Christ means to accept and have Faith in the Events of His Life, Death, Resurrection and Ascension.</a:t>
            </a:r>
            <a:endParaRPr lang="en-US" sz="1100" dirty="0"/>
          </a:p>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Models of Faith in the NT are </a:t>
            </a:r>
            <a:r>
              <a:rPr lang="en-US" sz="1100" b="1" dirty="0">
                <a:solidFill>
                  <a:srgbClr val="E5E0DF"/>
                </a:solidFill>
                <a:latin typeface="Barlow Bold" pitchFamily="34" charset="0"/>
                <a:ea typeface="Barlow Bold" pitchFamily="34" charset="-122"/>
                <a:cs typeface="Barlow Bold" pitchFamily="34" charset="-120"/>
              </a:rPr>
              <a:t>Mary, Joseph, Zachariah, Elizabeth, Disciples</a:t>
            </a:r>
            <a:r>
              <a:rPr lang="en-US" sz="1100" dirty="0">
                <a:solidFill>
                  <a:srgbClr val="E5E0DF"/>
                </a:solidFill>
                <a:latin typeface="Barlow" pitchFamily="34" charset="0"/>
                <a:ea typeface="Barlow" pitchFamily="34" charset="-122"/>
                <a:cs typeface="Barlow" pitchFamily="34" charset="-120"/>
              </a:rPr>
              <a:t> and above all </a:t>
            </a:r>
            <a:r>
              <a:rPr lang="en-US" sz="1100" b="1" dirty="0">
                <a:solidFill>
                  <a:srgbClr val="E5E0DF"/>
                </a:solidFill>
                <a:latin typeface="Barlow Bold" pitchFamily="34" charset="0"/>
                <a:ea typeface="Barlow Bold" pitchFamily="34" charset="-122"/>
                <a:cs typeface="Barlow Bold" pitchFamily="34" charset="-120"/>
              </a:rPr>
              <a:t>Jesus Christ Himself</a:t>
            </a:r>
            <a:r>
              <a:rPr lang="en-US" sz="1100" dirty="0">
                <a:solidFill>
                  <a:srgbClr val="E5E0DF"/>
                </a:solidFill>
                <a:latin typeface="Barlow" pitchFamily="34" charset="0"/>
                <a:ea typeface="Barlow" pitchFamily="34" charset="-122"/>
                <a:cs typeface="Barlow" pitchFamily="34" charset="-120"/>
              </a:rPr>
              <a: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1454" y="1535460"/>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Response of Faith &amp; Jesus the Model of Faith</a:t>
            </a:r>
            <a:endParaRPr lang="en-US" sz="2600" dirty="0"/>
          </a:p>
        </p:txBody>
      </p:sp>
      <p:sp>
        <p:nvSpPr>
          <p:cNvPr id="3" name="Text 1"/>
          <p:cNvSpPr/>
          <p:nvPr/>
        </p:nvSpPr>
        <p:spPr>
          <a:xfrm>
            <a:off x="561454" y="2151831"/>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In the OT God's Word was Present Among His People as Word Spoken. In the NT God's Word is made Flesh. From the Divine Point of View, Jesus is God Fully Present and Given to Humanity in Love, in the Flesh. From the Human Viewpoint, He is </a:t>
            </a:r>
            <a:r>
              <a:rPr lang="en-US" sz="1100" b="1" dirty="0">
                <a:solidFill>
                  <a:srgbClr val="E5E0DF"/>
                </a:solidFill>
                <a:latin typeface="Barlow Bold" pitchFamily="34" charset="0"/>
                <a:ea typeface="Barlow Bold" pitchFamily="34" charset="-122"/>
                <a:cs typeface="Barlow Bold" pitchFamily="34" charset="-120"/>
              </a:rPr>
              <a:t>The Model of Perfect Response</a:t>
            </a:r>
            <a:r>
              <a:rPr lang="en-US" sz="1100" dirty="0">
                <a:solidFill>
                  <a:srgbClr val="E5E0DF"/>
                </a:solidFill>
                <a:latin typeface="Barlow" pitchFamily="34" charset="0"/>
                <a:ea typeface="Barlow" pitchFamily="34" charset="-122"/>
                <a:cs typeface="Barlow" pitchFamily="34" charset="-120"/>
              </a:rPr>
              <a:t>, the Human Person fully turned to God, in Love.</a:t>
            </a:r>
            <a:endParaRPr lang="en-US" sz="1100" dirty="0"/>
          </a:p>
        </p:txBody>
      </p:sp>
      <p:sp>
        <p:nvSpPr>
          <p:cNvPr id="4" name="Shape 2"/>
          <p:cNvSpPr/>
          <p:nvPr/>
        </p:nvSpPr>
        <p:spPr>
          <a:xfrm>
            <a:off x="561454" y="2730773"/>
            <a:ext cx="19050" cy="877193"/>
          </a:xfrm>
          <a:prstGeom prst="roundRect">
            <a:avLst>
              <a:gd name="adj" fmla="val 60000"/>
            </a:avLst>
          </a:prstGeom>
          <a:solidFill>
            <a:srgbClr val="F65F62"/>
          </a:solidFill>
          <a:ln/>
        </p:spPr>
        <p:txBody>
          <a:bodyPr/>
          <a:lstStyle/>
          <a:p>
            <a:endParaRPr lang="en-IN"/>
          </a:p>
        </p:txBody>
      </p:sp>
      <p:sp>
        <p:nvSpPr>
          <p:cNvPr id="5" name="Text 3"/>
          <p:cNvSpPr/>
          <p:nvPr/>
        </p:nvSpPr>
        <p:spPr>
          <a:xfrm>
            <a:off x="771971" y="2888679"/>
            <a:ext cx="781057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Jesus is the Model of Faith Par Excellence. Jesus entrusts Himself to His Abba Throughout His Life, lives in deep Communion with God, seeks God's Will and goes all out to fulfill it. Jesus had to discern His Father's Will through Struggle and Yet, He remained Faithful to His Call and Commitment. His </a:t>
            </a:r>
            <a:r>
              <a:rPr lang="en-US" sz="1100" b="1" dirty="0">
                <a:solidFill>
                  <a:srgbClr val="E5E0DF"/>
                </a:solidFill>
                <a:latin typeface="Barlow Bold" pitchFamily="34" charset="0"/>
                <a:ea typeface="Barlow Bold" pitchFamily="34" charset="-122"/>
                <a:cs typeface="Barlow Bold" pitchFamily="34" charset="-120"/>
              </a:rPr>
              <a:t>"YES" to the Father was Total and Irrevocable</a:t>
            </a:r>
            <a:r>
              <a:rPr lang="en-US" sz="1100" dirty="0">
                <a:solidFill>
                  <a:srgbClr val="E5E0DF"/>
                </a:solidFill>
                <a:latin typeface="Barlow" pitchFamily="34" charset="0"/>
                <a:ea typeface="Barlow" pitchFamily="34" charset="-122"/>
                <a:cs typeface="Barlow" pitchFamily="34" charset="-120"/>
              </a:rPr>
              <a:t>. Our Faith Response should be like that of Jesus.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1454" y="956890"/>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Faith and Revelation</a:t>
            </a:r>
            <a:endParaRPr lang="en-US" sz="2600" dirty="0"/>
          </a:p>
        </p:txBody>
      </p:sp>
      <p:sp>
        <p:nvSpPr>
          <p:cNvPr id="3" name="Text 1"/>
          <p:cNvSpPr/>
          <p:nvPr/>
        </p:nvSpPr>
        <p:spPr>
          <a:xfrm>
            <a:off x="561454" y="1573262"/>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Faith and Revelation are inseparably united. The Object of Faith is God, who can be known only when God reveals Himself. </a:t>
            </a:r>
            <a:r>
              <a:rPr lang="en-US" sz="1100" b="1" dirty="0">
                <a:solidFill>
                  <a:srgbClr val="E5E0DF"/>
                </a:solidFill>
                <a:latin typeface="Barlow Bold" pitchFamily="34" charset="0"/>
                <a:ea typeface="Barlow Bold" pitchFamily="34" charset="-122"/>
                <a:cs typeface="Barlow Bold" pitchFamily="34" charset="-120"/>
              </a:rPr>
              <a:t>Revelation is God's Self-Communication to Humans</a:t>
            </a:r>
            <a:r>
              <a:rPr lang="en-US" sz="1100" dirty="0">
                <a:solidFill>
                  <a:srgbClr val="E5E0DF"/>
                </a:solidFill>
                <a:latin typeface="Barlow" pitchFamily="34" charset="0"/>
                <a:ea typeface="Barlow" pitchFamily="34" charset="-122"/>
                <a:cs typeface="Barlow" pitchFamily="34" charset="-120"/>
              </a:rPr>
              <a:t> and Faith is the Response on the Human Side (Annunciation: </a:t>
            </a:r>
            <a:r>
              <a:rPr lang="en-US" sz="1100" i="1" dirty="0">
                <a:solidFill>
                  <a:srgbClr val="E5E0DF"/>
                </a:solidFill>
                <a:latin typeface="Barlow" pitchFamily="34" charset="0"/>
                <a:ea typeface="Barlow" pitchFamily="34" charset="-122"/>
                <a:cs typeface="Barlow" pitchFamily="34" charset="-120"/>
              </a:rPr>
              <a:t>Fiat</a:t>
            </a:r>
            <a:r>
              <a:rPr lang="en-US" sz="1100" dirty="0">
                <a:solidFill>
                  <a:srgbClr val="E5E0DF"/>
                </a:solidFill>
                <a:latin typeface="Barlow" pitchFamily="34" charset="0"/>
                <a:ea typeface="Barlow" pitchFamily="34" charset="-122"/>
                <a:cs typeface="Barlow" pitchFamily="34" charset="-120"/>
              </a:rPr>
              <a:t>). God's Self Revelation becomes complete only when it is actualized and concretized by the Human Response.</a:t>
            </a:r>
            <a:endParaRPr lang="en-US" sz="1100" dirty="0"/>
          </a:p>
        </p:txBody>
      </p:sp>
      <p:sp>
        <p:nvSpPr>
          <p:cNvPr id="4" name="Shape 2"/>
          <p:cNvSpPr/>
          <p:nvPr/>
        </p:nvSpPr>
        <p:spPr>
          <a:xfrm>
            <a:off x="561454" y="2152204"/>
            <a:ext cx="19050" cy="736848"/>
          </a:xfrm>
          <a:prstGeom prst="roundRect">
            <a:avLst>
              <a:gd name="adj" fmla="val 60000"/>
            </a:avLst>
          </a:prstGeom>
          <a:solidFill>
            <a:srgbClr val="F65F62"/>
          </a:solidFill>
          <a:ln/>
        </p:spPr>
        <p:txBody>
          <a:bodyPr/>
          <a:lstStyle/>
          <a:p>
            <a:endParaRPr lang="en-IN"/>
          </a:p>
        </p:txBody>
      </p:sp>
      <p:sp>
        <p:nvSpPr>
          <p:cNvPr id="5" name="Text 3"/>
          <p:cNvSpPr/>
          <p:nvPr/>
        </p:nvSpPr>
        <p:spPr>
          <a:xfrm>
            <a:off x="771971" y="2310110"/>
            <a:ext cx="781057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"In His Goodness and Wisdom God chose to reveal Himself and to make known to us the Hidden Purpose of His Will by which through Christ, the Word made Flesh, we might in the Holy Spirit have access to the Father and come to share in the Divine Nature." — </a:t>
            </a:r>
            <a:r>
              <a:rPr lang="en-US" sz="1100" b="1" dirty="0">
                <a:solidFill>
                  <a:srgbClr val="E5E0DF"/>
                </a:solidFill>
                <a:latin typeface="Barlow Bold" pitchFamily="34" charset="0"/>
                <a:ea typeface="Barlow Bold" pitchFamily="34" charset="-122"/>
                <a:cs typeface="Barlow Bold" pitchFamily="34" charset="-120"/>
              </a:rPr>
              <a:t>DV 2</a:t>
            </a:r>
            <a:endParaRPr lang="en-US" sz="1100" dirty="0"/>
          </a:p>
        </p:txBody>
      </p:sp>
      <p:sp>
        <p:nvSpPr>
          <p:cNvPr id="6" name="Text 4"/>
          <p:cNvSpPr/>
          <p:nvPr/>
        </p:nvSpPr>
        <p:spPr>
          <a:xfrm>
            <a:off x="561454" y="3099569"/>
            <a:ext cx="8021092"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God Reveals Through Deeds/Events</a:t>
            </a:r>
            <a:endParaRPr lang="en-US" sz="1300" dirty="0"/>
          </a:p>
        </p:txBody>
      </p:sp>
      <p:sp>
        <p:nvSpPr>
          <p:cNvPr id="7" name="Text 5"/>
          <p:cNvSpPr/>
          <p:nvPr/>
        </p:nvSpPr>
        <p:spPr>
          <a:xfrm>
            <a:off x="561454" y="3477890"/>
            <a:ext cx="8021092" cy="708720"/>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Creation</a:t>
            </a:r>
            <a:r>
              <a:rPr lang="en-US" sz="1100" dirty="0">
                <a:solidFill>
                  <a:srgbClr val="E5E0DF"/>
                </a:solidFill>
                <a:latin typeface="Barlow" pitchFamily="34" charset="0"/>
                <a:ea typeface="Barlow" pitchFamily="34" charset="-122"/>
                <a:cs typeface="Barlow" pitchFamily="34" charset="-120"/>
              </a:rPr>
              <a:t> — God is the Author of Life</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Exodus</a:t>
            </a:r>
            <a:r>
              <a:rPr lang="en-US" sz="1100" dirty="0">
                <a:solidFill>
                  <a:srgbClr val="E5E0DF"/>
                </a:solidFill>
                <a:latin typeface="Barlow" pitchFamily="34" charset="0"/>
                <a:ea typeface="Barlow" pitchFamily="34" charset="-122"/>
                <a:cs typeface="Barlow" pitchFamily="34" charset="-120"/>
              </a:rPr>
              <a:t> — God is the Liberator</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Paschal Mystery</a:t>
            </a:r>
            <a:r>
              <a:rPr lang="en-US" sz="1100" dirty="0">
                <a:solidFill>
                  <a:srgbClr val="E5E0DF"/>
                </a:solidFill>
                <a:latin typeface="Barlow" pitchFamily="34" charset="0"/>
                <a:ea typeface="Barlow" pitchFamily="34" charset="-122"/>
                <a:cs typeface="Barlow" pitchFamily="34" charset="-120"/>
              </a:rPr>
              <a:t> — God is the Lover</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Church</a:t>
            </a:r>
            <a:r>
              <a:rPr lang="en-US" sz="1100" dirty="0">
                <a:solidFill>
                  <a:srgbClr val="E5E0DF"/>
                </a:solidFill>
                <a:latin typeface="Barlow" pitchFamily="34" charset="0"/>
                <a:ea typeface="Barlow" pitchFamily="34" charset="-122"/>
                <a:cs typeface="Barlow" pitchFamily="34" charset="-120"/>
              </a:rPr>
              <a:t> — God is of the New People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1454" y="1109737"/>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Jesus the Fullness of Revelation</a:t>
            </a:r>
            <a:endParaRPr lang="en-US" sz="2600" dirty="0"/>
          </a:p>
        </p:txBody>
      </p:sp>
      <p:sp>
        <p:nvSpPr>
          <p:cNvPr id="3" name="Shape 1"/>
          <p:cNvSpPr/>
          <p:nvPr/>
        </p:nvSpPr>
        <p:spPr>
          <a:xfrm>
            <a:off x="561454" y="1726109"/>
            <a:ext cx="19050" cy="596503"/>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1884015"/>
            <a:ext cx="7810574"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"Long Ago God spoke to Our Ancestors in many and various Ways by the Prophets, but in these last Days He has spoken to us by a Son, whom He appointed Heir of all Things, through whom He also created the Worlds." — </a:t>
            </a:r>
            <a:r>
              <a:rPr lang="en-US" sz="1100" b="1" dirty="0">
                <a:solidFill>
                  <a:srgbClr val="E5E0DF"/>
                </a:solidFill>
                <a:latin typeface="Barlow Bold" pitchFamily="34" charset="0"/>
                <a:ea typeface="Barlow Bold" pitchFamily="34" charset="-122"/>
                <a:cs typeface="Barlow Bold" pitchFamily="34" charset="-120"/>
              </a:rPr>
              <a:t>Heb 1:1-2</a:t>
            </a:r>
            <a:endParaRPr lang="en-US" sz="1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480518"/>
            <a:ext cx="3940373" cy="1553170"/>
          </a:xfrm>
          <a:prstGeom prst="rect">
            <a:avLst/>
          </a:prstGeom>
        </p:spPr>
      </p:pic>
      <p:sp>
        <p:nvSpPr>
          <p:cNvPr id="6" name="Text 3"/>
          <p:cNvSpPr/>
          <p:nvPr/>
        </p:nvSpPr>
        <p:spPr>
          <a:xfrm>
            <a:off x="797049" y="2639913"/>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Definitive Revelation</a:t>
            </a:r>
            <a:endParaRPr lang="en-US" sz="1300" dirty="0"/>
          </a:p>
        </p:txBody>
      </p:sp>
      <p:sp>
        <p:nvSpPr>
          <p:cNvPr id="7" name="Text 4"/>
          <p:cNvSpPr/>
          <p:nvPr/>
        </p:nvSpPr>
        <p:spPr>
          <a:xfrm>
            <a:off x="797049" y="2891879"/>
            <a:ext cx="3545384" cy="98241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Jesus Christ is the Fullness of Revelation. With the Resurrection of Jesus and sending of the Holy Spirit, Salvation History has already entered into a new and definitive Period with the Eruption of the Kingdom of God in this World. No New Public Revelation is to be expected before the Glorious Manifestation of our Lord Jesus Christ (CCC 65-66; DV 4).</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2480518"/>
            <a:ext cx="3940373" cy="1553170"/>
          </a:xfrm>
          <a:prstGeom prst="rect">
            <a:avLst/>
          </a:prstGeom>
        </p:spPr>
      </p:pic>
      <p:sp>
        <p:nvSpPr>
          <p:cNvPr id="9" name="Text 5"/>
          <p:cNvSpPr/>
          <p:nvPr/>
        </p:nvSpPr>
        <p:spPr>
          <a:xfrm>
            <a:off x="4877767" y="2639913"/>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God's Presence in Other Religions</a:t>
            </a:r>
            <a:endParaRPr lang="en-US" sz="1300" dirty="0"/>
          </a:p>
        </p:txBody>
      </p:sp>
      <p:sp>
        <p:nvSpPr>
          <p:cNvPr id="10" name="Text 6"/>
          <p:cNvSpPr/>
          <p:nvPr/>
        </p:nvSpPr>
        <p:spPr>
          <a:xfrm>
            <a:off x="4877767" y="2891879"/>
            <a:ext cx="354538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Vatican II affirms God's Presence and Action in other Cultures and Religions (NA; GS 22; AG 7; USW 1 Tim 2:4). This opens the door to a theology of religions and interreligious dialogue.</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1454" y="1081013"/>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Centre of Christian Revelation: The Trinity</a:t>
            </a:r>
            <a:endParaRPr lang="en-US" sz="2600" dirty="0"/>
          </a:p>
        </p:txBody>
      </p:sp>
      <p:sp>
        <p:nvSpPr>
          <p:cNvPr id="3" name="Text 1"/>
          <p:cNvSpPr/>
          <p:nvPr/>
        </p:nvSpPr>
        <p:spPr>
          <a:xfrm>
            <a:off x="561454" y="1697385"/>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Christian Experience of the Ultimate articulated in the Bible as the Self-Disclosure of God as Father, Son and the Spirit (Mk 14:36; Rom 8:15-16; Gal 4:6) is the Foundation of the Trinitarian Doctrine in the Christian Tradition. </a:t>
            </a:r>
            <a:r>
              <a:rPr lang="en-US" sz="1100" b="1" dirty="0">
                <a:solidFill>
                  <a:srgbClr val="E5E0DF"/>
                </a:solidFill>
                <a:latin typeface="Barlow Bold" pitchFamily="34" charset="0"/>
                <a:ea typeface="Barlow Bold" pitchFamily="34" charset="-122"/>
                <a:cs typeface="Barlow Bold" pitchFamily="34" charset="-120"/>
              </a:rPr>
              <a:t>The Trinitarian Mystery is the Source, Model and Reference Point of all Human Communities.</a:t>
            </a:r>
            <a:endParaRPr lang="en-US" sz="1100" dirty="0"/>
          </a:p>
        </p:txBody>
      </p:sp>
      <p:sp>
        <p:nvSpPr>
          <p:cNvPr id="4" name="Shape 2"/>
          <p:cNvSpPr/>
          <p:nvPr/>
        </p:nvSpPr>
        <p:spPr>
          <a:xfrm>
            <a:off x="561454" y="2276326"/>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5" name="Text 3"/>
          <p:cNvSpPr/>
          <p:nvPr/>
        </p:nvSpPr>
        <p:spPr>
          <a:xfrm>
            <a:off x="706562" y="2421434"/>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Trinitarian</a:t>
            </a:r>
            <a:endParaRPr lang="en-US" sz="1300" dirty="0"/>
          </a:p>
        </p:txBody>
      </p:sp>
      <p:sp>
        <p:nvSpPr>
          <p:cNvPr id="6" name="Text 4"/>
          <p:cNvSpPr/>
          <p:nvPr/>
        </p:nvSpPr>
        <p:spPr>
          <a:xfrm>
            <a:off x="706562" y="2673400"/>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Revelation in NT is fundamentally Trinitarian — Father, Son and Holy Spirit disclosed in the Christ-Event.</a:t>
            </a:r>
            <a:endParaRPr lang="en-US" sz="1100" dirty="0"/>
          </a:p>
        </p:txBody>
      </p:sp>
      <p:sp>
        <p:nvSpPr>
          <p:cNvPr id="7" name="Shape 5"/>
          <p:cNvSpPr/>
          <p:nvPr/>
        </p:nvSpPr>
        <p:spPr>
          <a:xfrm>
            <a:off x="4642172" y="2276326"/>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8" name="Text 6"/>
          <p:cNvSpPr/>
          <p:nvPr/>
        </p:nvSpPr>
        <p:spPr>
          <a:xfrm>
            <a:off x="4787280" y="2421434"/>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Jesus Centred</a:t>
            </a:r>
            <a:endParaRPr lang="en-US" sz="1300" dirty="0"/>
          </a:p>
        </p:txBody>
      </p:sp>
      <p:sp>
        <p:nvSpPr>
          <p:cNvPr id="9" name="Text 7"/>
          <p:cNvSpPr/>
          <p:nvPr/>
        </p:nvSpPr>
        <p:spPr>
          <a:xfrm>
            <a:off x="4787280" y="2673400"/>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Jesus the Mediator, God Revealing, God Revealed — the one through whom the Father is made known.</a:t>
            </a:r>
            <a:endParaRPr lang="en-US" sz="1100" dirty="0"/>
          </a:p>
        </p:txBody>
      </p:sp>
      <p:sp>
        <p:nvSpPr>
          <p:cNvPr id="10" name="Shape 8"/>
          <p:cNvSpPr/>
          <p:nvPr/>
        </p:nvSpPr>
        <p:spPr>
          <a:xfrm>
            <a:off x="561454" y="3239542"/>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11" name="Text 9"/>
          <p:cNvSpPr/>
          <p:nvPr/>
        </p:nvSpPr>
        <p:spPr>
          <a:xfrm>
            <a:off x="706562" y="3384649"/>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Fulfilment of OT</a:t>
            </a:r>
            <a:endParaRPr lang="en-US" sz="1300" dirty="0"/>
          </a:p>
        </p:txBody>
      </p:sp>
      <p:sp>
        <p:nvSpPr>
          <p:cNvPr id="12" name="Text 10"/>
          <p:cNvSpPr/>
          <p:nvPr/>
        </p:nvSpPr>
        <p:spPr>
          <a:xfrm>
            <a:off x="706562" y="3636615"/>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Kingdom of God, Saviour, Messiah — Jesus as the culmination of Israel's hope and expectation.</a:t>
            </a:r>
            <a:endParaRPr lang="en-US" sz="1100" dirty="0"/>
          </a:p>
        </p:txBody>
      </p:sp>
      <p:sp>
        <p:nvSpPr>
          <p:cNvPr id="13" name="Shape 11"/>
          <p:cNvSpPr/>
          <p:nvPr/>
        </p:nvSpPr>
        <p:spPr>
          <a:xfrm>
            <a:off x="4642172" y="3239542"/>
            <a:ext cx="3940373" cy="822871"/>
          </a:xfrm>
          <a:prstGeom prst="roundRect">
            <a:avLst>
              <a:gd name="adj" fmla="val 7165"/>
            </a:avLst>
          </a:prstGeom>
          <a:solidFill>
            <a:srgbClr val="790709"/>
          </a:solidFill>
          <a:ln w="4763">
            <a:solidFill>
              <a:srgbClr val="922022"/>
            </a:solidFill>
            <a:prstDash val="solid"/>
          </a:ln>
        </p:spPr>
        <p:txBody>
          <a:bodyPr/>
          <a:lstStyle/>
          <a:p>
            <a:endParaRPr lang="en-IN"/>
          </a:p>
        </p:txBody>
      </p:sp>
      <p:sp>
        <p:nvSpPr>
          <p:cNvPr id="14" name="Text 12"/>
          <p:cNvSpPr/>
          <p:nvPr/>
        </p:nvSpPr>
        <p:spPr>
          <a:xfrm>
            <a:off x="4787280" y="3384649"/>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Present and Parousia</a:t>
            </a:r>
            <a:endParaRPr lang="en-US" sz="1300" dirty="0"/>
          </a:p>
        </p:txBody>
      </p:sp>
      <p:sp>
        <p:nvSpPr>
          <p:cNvPr id="15" name="Text 13"/>
          <p:cNvSpPr/>
          <p:nvPr/>
        </p:nvSpPr>
        <p:spPr>
          <a:xfrm>
            <a:off x="4787280" y="3636615"/>
            <a:ext cx="365015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Fullness of Revelation — Revelation is Ongoing. The Spirit continues to guide the Church into all truth.</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1454" y="1215777"/>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Sources of Theology</a:t>
            </a:r>
            <a:endParaRPr lang="en-US" sz="26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832149"/>
            <a:ext cx="2580084" cy="2095500"/>
          </a:xfrm>
          <a:prstGeom prst="rect">
            <a:avLst/>
          </a:prstGeom>
        </p:spPr>
      </p:pic>
      <p:sp>
        <p:nvSpPr>
          <p:cNvPr id="4" name="Text 1"/>
          <p:cNvSpPr/>
          <p:nvPr/>
        </p:nvSpPr>
        <p:spPr>
          <a:xfrm>
            <a:off x="1767260" y="1958429"/>
            <a:ext cx="168399" cy="168399"/>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Fraunces Medium" pitchFamily="34" charset="0"/>
                <a:ea typeface="Fraunces Medium" pitchFamily="34" charset="-122"/>
                <a:cs typeface="Fraunces Medium" pitchFamily="34" charset="-120"/>
              </a:rPr>
              <a:t>1</a:t>
            </a:r>
            <a:endParaRPr lang="en-US" sz="1300" dirty="0"/>
          </a:p>
        </p:txBody>
      </p:sp>
      <p:sp>
        <p:nvSpPr>
          <p:cNvPr id="5" name="Text 2"/>
          <p:cNvSpPr/>
          <p:nvPr/>
        </p:nvSpPr>
        <p:spPr>
          <a:xfrm>
            <a:off x="720849" y="2393528"/>
            <a:ext cx="226129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Sacred Scripture</a:t>
            </a:r>
            <a:endParaRPr lang="en-US" sz="1300" dirty="0"/>
          </a:p>
        </p:txBody>
      </p:sp>
      <p:sp>
        <p:nvSpPr>
          <p:cNvPr id="6" name="Text 3"/>
          <p:cNvSpPr/>
          <p:nvPr/>
        </p:nvSpPr>
        <p:spPr>
          <a:xfrm>
            <a:off x="720849" y="2645494"/>
            <a:ext cx="2261295" cy="98241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Bible with its </a:t>
            </a:r>
            <a:r>
              <a:rPr lang="en-US" sz="1100" b="1" dirty="0">
                <a:solidFill>
                  <a:srgbClr val="E5E0DF"/>
                </a:solidFill>
                <a:latin typeface="Barlow Bold" pitchFamily="34" charset="0"/>
                <a:ea typeface="Barlow Bold" pitchFamily="34" charset="-122"/>
                <a:cs typeface="Barlow Bold" pitchFamily="34" charset="-120"/>
              </a:rPr>
              <a:t>73 Books</a:t>
            </a:r>
            <a:r>
              <a:rPr lang="en-US" sz="1100" dirty="0">
                <a:solidFill>
                  <a:srgbClr val="E5E0DF"/>
                </a:solidFill>
                <a:latin typeface="Barlow" pitchFamily="34" charset="0"/>
                <a:ea typeface="Barlow" pitchFamily="34" charset="-122"/>
                <a:cs typeface="Barlow" pitchFamily="34" charset="-120"/>
              </a:rPr>
              <a:t> (46 OT + 27 NT). The Four Gospels occupy the Central Place because Christ Jesus is their Centre. Scripture is the Unnormed Norm of Faith. </a:t>
            </a:r>
            <a:r>
              <a:rPr lang="en-US" sz="1100" b="1" dirty="0">
                <a:solidFill>
                  <a:srgbClr val="E5E0DF"/>
                </a:solidFill>
                <a:latin typeface="Barlow Bold" pitchFamily="34" charset="0"/>
                <a:ea typeface="Barlow Bold" pitchFamily="34" charset="-122"/>
                <a:cs typeface="Barlow Bold" pitchFamily="34" charset="-120"/>
              </a:rPr>
              <a:t>"The Scripture is the Soul of Theology"</a:t>
            </a:r>
            <a:r>
              <a:rPr lang="en-US" sz="1100" dirty="0">
                <a:solidFill>
                  <a:srgbClr val="E5E0DF"/>
                </a:solidFill>
                <a:latin typeface="Barlow" pitchFamily="34" charset="0"/>
                <a:ea typeface="Barlow" pitchFamily="34" charset="-122"/>
                <a:cs typeface="Barlow" pitchFamily="34" charset="-120"/>
              </a:rPr>
              <a:t> (DV 24).</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1883" y="1832149"/>
            <a:ext cx="2580159" cy="2095500"/>
          </a:xfrm>
          <a:prstGeom prst="rect">
            <a:avLst/>
          </a:prstGeom>
        </p:spPr>
      </p:pic>
      <p:sp>
        <p:nvSpPr>
          <p:cNvPr id="8" name="Text 4"/>
          <p:cNvSpPr/>
          <p:nvPr/>
        </p:nvSpPr>
        <p:spPr>
          <a:xfrm>
            <a:off x="4487689" y="1958429"/>
            <a:ext cx="168399" cy="168399"/>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Fraunces Medium" pitchFamily="34" charset="0"/>
                <a:ea typeface="Fraunces Medium" pitchFamily="34" charset="-122"/>
                <a:cs typeface="Fraunces Medium" pitchFamily="34" charset="-120"/>
              </a:rPr>
              <a:t>2</a:t>
            </a:r>
            <a:endParaRPr lang="en-US" sz="1300" dirty="0"/>
          </a:p>
        </p:txBody>
      </p:sp>
      <p:sp>
        <p:nvSpPr>
          <p:cNvPr id="9" name="Text 5"/>
          <p:cNvSpPr/>
          <p:nvPr/>
        </p:nvSpPr>
        <p:spPr>
          <a:xfrm>
            <a:off x="3441278" y="2393528"/>
            <a:ext cx="22613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Sacred Tradition</a:t>
            </a:r>
            <a:endParaRPr lang="en-US" sz="1300" dirty="0"/>
          </a:p>
        </p:txBody>
      </p:sp>
      <p:sp>
        <p:nvSpPr>
          <p:cNvPr id="10" name="Text 6"/>
          <p:cNvSpPr/>
          <p:nvPr/>
        </p:nvSpPr>
        <p:spPr>
          <a:xfrm>
            <a:off x="3441278" y="2645494"/>
            <a:ext cx="2261369" cy="1122759"/>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From the Latin </a:t>
            </a:r>
            <a:r>
              <a:rPr lang="en-US" sz="1100" i="1" dirty="0">
                <a:solidFill>
                  <a:srgbClr val="E5E0DF"/>
                </a:solidFill>
                <a:latin typeface="Barlow" pitchFamily="34" charset="0"/>
                <a:ea typeface="Barlow" pitchFamily="34" charset="-122"/>
                <a:cs typeface="Barlow" pitchFamily="34" charset="-120"/>
              </a:rPr>
              <a:t>trado, tradere</a:t>
            </a:r>
            <a:r>
              <a:rPr lang="en-US" sz="1100" dirty="0">
                <a:solidFill>
                  <a:srgbClr val="E5E0DF"/>
                </a:solidFill>
                <a:latin typeface="Barlow" pitchFamily="34" charset="0"/>
                <a:ea typeface="Barlow" pitchFamily="34" charset="-122"/>
                <a:cs typeface="Barlow" pitchFamily="34" charset="-120"/>
              </a:rPr>
              <a:t> — to hand over, to deliver. It is the Transmission of the Teachings of Tradition from one Generation to the Next. "For I received from the Lord what I also handed on to You" (1 Cor 11:23). Sacred Tradition has its origin from the Apostles.</a:t>
            </a:r>
            <a:endParaRPr lang="en-US" sz="11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2387" y="1832149"/>
            <a:ext cx="2580159" cy="2095500"/>
          </a:xfrm>
          <a:prstGeom prst="rect">
            <a:avLst/>
          </a:prstGeom>
        </p:spPr>
      </p:pic>
      <p:sp>
        <p:nvSpPr>
          <p:cNvPr id="12" name="Text 7"/>
          <p:cNvSpPr/>
          <p:nvPr/>
        </p:nvSpPr>
        <p:spPr>
          <a:xfrm>
            <a:off x="7208193" y="1958429"/>
            <a:ext cx="168399" cy="168399"/>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Fraunces Medium" pitchFamily="34" charset="0"/>
                <a:ea typeface="Fraunces Medium" pitchFamily="34" charset="-122"/>
                <a:cs typeface="Fraunces Medium" pitchFamily="34" charset="-120"/>
              </a:rPr>
              <a:t>3</a:t>
            </a:r>
            <a:endParaRPr lang="en-US" sz="1300" dirty="0"/>
          </a:p>
        </p:txBody>
      </p:sp>
      <p:sp>
        <p:nvSpPr>
          <p:cNvPr id="13" name="Text 8"/>
          <p:cNvSpPr/>
          <p:nvPr/>
        </p:nvSpPr>
        <p:spPr>
          <a:xfrm>
            <a:off x="6161782" y="2393528"/>
            <a:ext cx="226136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Church and the Magisterium</a:t>
            </a:r>
            <a:endParaRPr lang="en-US" sz="1300" dirty="0"/>
          </a:p>
        </p:txBody>
      </p:sp>
      <p:sp>
        <p:nvSpPr>
          <p:cNvPr id="14" name="Text 9"/>
          <p:cNvSpPr/>
          <p:nvPr/>
        </p:nvSpPr>
        <p:spPr>
          <a:xfrm>
            <a:off x="6161782" y="2813298"/>
            <a:ext cx="2261369"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Teaching Office of the Church, endowed with Pastoral Authority ultimately derived from Christ. </a:t>
            </a:r>
            <a:r>
              <a:rPr lang="en-US" sz="1100" b="1" dirty="0">
                <a:solidFill>
                  <a:srgbClr val="E5E0DF"/>
                </a:solidFill>
                <a:latin typeface="Barlow Bold" pitchFamily="34" charset="0"/>
                <a:ea typeface="Barlow Bold" pitchFamily="34" charset="-122"/>
                <a:cs typeface="Barlow Bold" pitchFamily="34" charset="-120"/>
              </a:rPr>
              <a:t>Magisterium is not Superior to the Word of God, but is its Servant.</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1454" y="1202531"/>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'TRADITION' and 'traditions'</a:t>
            </a:r>
            <a:endParaRPr lang="en-US" sz="2600" dirty="0"/>
          </a:p>
        </p:txBody>
      </p:sp>
      <p:sp>
        <p:nvSpPr>
          <p:cNvPr id="3" name="Shape 1"/>
          <p:cNvSpPr/>
          <p:nvPr/>
        </p:nvSpPr>
        <p:spPr>
          <a:xfrm>
            <a:off x="460400" y="1748730"/>
            <a:ext cx="4041428" cy="1416844"/>
          </a:xfrm>
          <a:prstGeom prst="roundRect">
            <a:avLst>
              <a:gd name="adj" fmla="val 7133"/>
            </a:avLst>
          </a:prstGeom>
          <a:solidFill>
            <a:srgbClr val="F65F62">
              <a:alpha val="95000"/>
            </a:srgbClr>
          </a:solidFill>
          <a:ln/>
        </p:spPr>
        <p:txBody>
          <a:bodyPr/>
          <a:lstStyle/>
          <a:p>
            <a:endParaRPr lang="en-IN"/>
          </a:p>
        </p:txBody>
      </p:sp>
      <p:sp>
        <p:nvSpPr>
          <p:cNvPr id="4" name="Text 2"/>
          <p:cNvSpPr/>
          <p:nvPr/>
        </p:nvSpPr>
        <p:spPr>
          <a:xfrm>
            <a:off x="600745" y="1889075"/>
            <a:ext cx="3760738" cy="167804"/>
          </a:xfrm>
          <a:prstGeom prst="rect">
            <a:avLst/>
          </a:prstGeom>
          <a:noFill/>
          <a:ln/>
        </p:spPr>
        <p:txBody>
          <a:bodyPr wrap="none" lIns="0" tIns="0" rIns="0" bIns="0" rtlCol="0" anchor="t"/>
          <a:lstStyle/>
          <a:p>
            <a:pPr marL="0" indent="0" algn="l">
              <a:lnSpc>
                <a:spcPct val="83000"/>
              </a:lnSpc>
              <a:buNone/>
            </a:pPr>
            <a:r>
              <a:rPr lang="en-US" sz="1300" dirty="0">
                <a:solidFill>
                  <a:srgbClr val="000000"/>
                </a:solidFill>
                <a:latin typeface="Fraunces Medium" pitchFamily="34" charset="0"/>
                <a:ea typeface="Fraunces Medium" pitchFamily="34" charset="-122"/>
                <a:cs typeface="Fraunces Medium" pitchFamily="34" charset="-120"/>
              </a:rPr>
              <a:t>TRADITION (Capital T)</a:t>
            </a:r>
            <a:endParaRPr lang="en-US" sz="1300" dirty="0"/>
          </a:p>
        </p:txBody>
      </p:sp>
      <p:sp>
        <p:nvSpPr>
          <p:cNvPr id="5" name="Text 3"/>
          <p:cNvSpPr/>
          <p:nvPr/>
        </p:nvSpPr>
        <p:spPr>
          <a:xfrm>
            <a:off x="600745" y="2197224"/>
            <a:ext cx="3760738" cy="84207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000000"/>
                </a:solidFill>
                <a:latin typeface="Barlow" pitchFamily="34" charset="0"/>
                <a:ea typeface="Barlow" pitchFamily="34" charset="-122"/>
                <a:cs typeface="Barlow" pitchFamily="34" charset="-120"/>
              </a:rPr>
              <a:t>The Life of the Church as a whole, having its Roots in the Apostolic Preaching but continuing to live and grow today. TRADITION includes the Sum Total of Beliefs, Practices and Worship of the Community. The Ongoing Self-Communication of God by TRADITION through various 'traditions' is basically the Work of the Holy Spirit.</a:t>
            </a:r>
            <a:endParaRPr lang="en-US" sz="1100" dirty="0"/>
          </a:p>
        </p:txBody>
      </p:sp>
      <p:sp>
        <p:nvSpPr>
          <p:cNvPr id="6" name="Text 4"/>
          <p:cNvSpPr/>
          <p:nvPr/>
        </p:nvSpPr>
        <p:spPr>
          <a:xfrm>
            <a:off x="4747989" y="1889075"/>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'traditions' (lowercase t)</a:t>
            </a:r>
            <a:endParaRPr lang="en-US" sz="1300" dirty="0"/>
          </a:p>
        </p:txBody>
      </p:sp>
      <p:sp>
        <p:nvSpPr>
          <p:cNvPr id="7" name="Text 5"/>
          <p:cNvSpPr/>
          <p:nvPr/>
        </p:nvSpPr>
        <p:spPr>
          <a:xfrm>
            <a:off x="4747989" y="2197224"/>
            <a:ext cx="3839319"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Concrete Historical Expressions of the Life of the Church in Worship, Structures, Customs and Formulations that need to be constantly checked and judged by the Authentic Spirit of Tradition. The (One) TRADITION can be found only in and through the (Many) 'traditions'.</a:t>
            </a:r>
            <a:endParaRPr lang="en-US" sz="1100" dirty="0"/>
          </a:p>
        </p:txBody>
      </p:sp>
      <p:sp>
        <p:nvSpPr>
          <p:cNvPr id="8" name="Shape 6"/>
          <p:cNvSpPr/>
          <p:nvPr/>
        </p:nvSpPr>
        <p:spPr>
          <a:xfrm>
            <a:off x="561454" y="3323481"/>
            <a:ext cx="8021092" cy="617413"/>
          </a:xfrm>
          <a:prstGeom prst="roundRect">
            <a:avLst>
              <a:gd name="adj" fmla="val 9549"/>
            </a:avLst>
          </a:prstGeom>
          <a:solidFill>
            <a:srgbClr val="790709"/>
          </a:solidFill>
          <a:ln/>
        </p:spPr>
        <p:txBody>
          <a:bodyPr/>
          <a:lstStyle/>
          <a:p>
            <a:endParaRPr lang="en-IN"/>
          </a:p>
        </p:txBody>
      </p:sp>
      <p:pic>
        <p:nvPicPr>
          <p:cNvPr id="9" name="Image 0" descr="preencoded.png"/>
          <p:cNvPicPr>
            <a:picLocks noChangeAspect="1"/>
          </p:cNvPicPr>
          <p:nvPr/>
        </p:nvPicPr>
        <p:blipFill>
          <a:blip r:embed="rId3"/>
          <a:stretch>
            <a:fillRect/>
          </a:stretch>
        </p:blipFill>
        <p:spPr>
          <a:xfrm>
            <a:off x="701799" y="3498875"/>
            <a:ext cx="175394" cy="140345"/>
          </a:xfrm>
          <a:prstGeom prst="rect">
            <a:avLst/>
          </a:prstGeom>
        </p:spPr>
      </p:pic>
      <p:sp>
        <p:nvSpPr>
          <p:cNvPr id="10" name="Text 7"/>
          <p:cNvSpPr/>
          <p:nvPr/>
        </p:nvSpPr>
        <p:spPr>
          <a:xfrm>
            <a:off x="1017538" y="3498875"/>
            <a:ext cx="7424663"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FFFFFF"/>
                </a:solidFill>
                <a:latin typeface="Barlow" pitchFamily="34" charset="0"/>
                <a:ea typeface="Barlow" pitchFamily="34" charset="-122"/>
                <a:cs typeface="Barlow" pitchFamily="34" charset="-120"/>
              </a:rPr>
              <a:t>The Catholic Church = 23 Oriental Churches + Latin Roman Church = </a:t>
            </a:r>
            <a:r>
              <a:rPr lang="en-US" sz="1100" b="1" dirty="0">
                <a:solidFill>
                  <a:srgbClr val="FFFFFF"/>
                </a:solidFill>
                <a:latin typeface="Barlow Bold" pitchFamily="34" charset="0"/>
                <a:ea typeface="Barlow Bold" pitchFamily="34" charset="-122"/>
                <a:cs typeface="Barlow Bold" pitchFamily="34" charset="-120"/>
              </a:rPr>
              <a:t>24 Churches</a:t>
            </a:r>
            <a:r>
              <a:rPr lang="en-US" sz="1100" dirty="0">
                <a:solidFill>
                  <a:srgbClr val="FFFFFF"/>
                </a:solidFill>
                <a:latin typeface="Barlow" pitchFamily="34" charset="0"/>
                <a:ea typeface="Barlow" pitchFamily="34" charset="-122"/>
                <a:cs typeface="Barlow" pitchFamily="34" charset="-120"/>
              </a:rPr>
              <a:t>. They follow Six Different Rites: Roman, Alexandrian, Antiochian, Armenian, Chaldean and Byzantine.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1454" y="1276424"/>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Liturgy, Sacraments, Prayers</a:t>
            </a:r>
            <a:endParaRPr lang="en-US" sz="26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892796"/>
            <a:ext cx="2580084" cy="1974205"/>
          </a:xfrm>
          <a:prstGeom prst="rect">
            <a:avLst/>
          </a:prstGeom>
        </p:spPr>
      </p:pic>
      <p:sp>
        <p:nvSpPr>
          <p:cNvPr id="4" name="Text 1"/>
          <p:cNvSpPr/>
          <p:nvPr/>
        </p:nvSpPr>
        <p:spPr>
          <a:xfrm>
            <a:off x="797049" y="2052191"/>
            <a:ext cx="218509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Liturgy</a:t>
            </a:r>
            <a:endParaRPr lang="en-US" sz="1300" dirty="0"/>
          </a:p>
        </p:txBody>
      </p:sp>
      <p:sp>
        <p:nvSpPr>
          <p:cNvPr id="5" name="Text 2"/>
          <p:cNvSpPr/>
          <p:nvPr/>
        </p:nvSpPr>
        <p:spPr>
          <a:xfrm>
            <a:off x="797049" y="2304157"/>
            <a:ext cx="2185095" cy="1403449"/>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Liturgy is the Participation of the People in the Work of God, which is primarily the Saving Work of Jesus Christ. In the Liturgy, Christ is present and continues the Work of Redemption. Rituals are Symbolic Actions that provide a Way of Participation in them — Symbolic Gestures performed with Material Things.</a:t>
            </a:r>
            <a:endParaRPr lang="en-US" sz="11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1883" y="1892796"/>
            <a:ext cx="2580159" cy="1974205"/>
          </a:xfrm>
          <a:prstGeom prst="rect">
            <a:avLst/>
          </a:prstGeom>
        </p:spPr>
      </p:pic>
      <p:sp>
        <p:nvSpPr>
          <p:cNvPr id="7" name="Text 3"/>
          <p:cNvSpPr/>
          <p:nvPr/>
        </p:nvSpPr>
        <p:spPr>
          <a:xfrm>
            <a:off x="3517478" y="2052191"/>
            <a:ext cx="21851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Sacraments</a:t>
            </a:r>
            <a:endParaRPr lang="en-US" sz="1300" dirty="0"/>
          </a:p>
        </p:txBody>
      </p:sp>
      <p:sp>
        <p:nvSpPr>
          <p:cNvPr id="8" name="Text 4"/>
          <p:cNvSpPr/>
          <p:nvPr/>
        </p:nvSpPr>
        <p:spPr>
          <a:xfrm>
            <a:off x="3517478" y="2304157"/>
            <a:ext cx="2185169" cy="98241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"Sacrament is the Visible Sign of the Invisible Grace." Sacraments are Prophetic, Symbolic Actions, radically united with the Prophetic Acts and Words of Jesus, now repeated in the Power of the Holy Spirit by the Church.</a:t>
            </a:r>
            <a:endParaRPr lang="en-US" sz="11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2387" y="1892796"/>
            <a:ext cx="2580159" cy="1974205"/>
          </a:xfrm>
          <a:prstGeom prst="rect">
            <a:avLst/>
          </a:prstGeom>
        </p:spPr>
      </p:pic>
      <p:sp>
        <p:nvSpPr>
          <p:cNvPr id="10" name="Text 5"/>
          <p:cNvSpPr/>
          <p:nvPr/>
        </p:nvSpPr>
        <p:spPr>
          <a:xfrm>
            <a:off x="6237982" y="2052191"/>
            <a:ext cx="21851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Prayers</a:t>
            </a:r>
            <a:endParaRPr lang="en-US" sz="1300" dirty="0"/>
          </a:p>
        </p:txBody>
      </p:sp>
      <p:sp>
        <p:nvSpPr>
          <p:cNvPr id="11" name="Text 6"/>
          <p:cNvSpPr/>
          <p:nvPr/>
        </p:nvSpPr>
        <p:spPr>
          <a:xfrm>
            <a:off x="6237982" y="2304157"/>
            <a:ext cx="2185169" cy="84207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Prayers are the Basic and Elementary Forms of Faith-Experiences, such as Divine Office, Doxology, Adoration, Rites, Rituals, Sacraments, Popular Devotions, etc.</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1454" y="1155427"/>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Creeds, Doctrines, Dogmas</a:t>
            </a:r>
            <a:endParaRPr lang="en-US" sz="2600" dirty="0"/>
          </a:p>
        </p:txBody>
      </p:sp>
      <p:sp>
        <p:nvSpPr>
          <p:cNvPr id="3" name="Text 1"/>
          <p:cNvSpPr/>
          <p:nvPr/>
        </p:nvSpPr>
        <p:spPr>
          <a:xfrm>
            <a:off x="561454" y="1841971"/>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Creeds</a:t>
            </a:r>
            <a:endParaRPr lang="en-US" sz="1300" dirty="0"/>
          </a:p>
        </p:txBody>
      </p:sp>
      <p:sp>
        <p:nvSpPr>
          <p:cNvPr id="4" name="Text 2"/>
          <p:cNvSpPr/>
          <p:nvPr/>
        </p:nvSpPr>
        <p:spPr>
          <a:xfrm>
            <a:off x="561454" y="2150120"/>
            <a:ext cx="3839319"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Latin Word </a:t>
            </a:r>
            <a:r>
              <a:rPr lang="en-US" sz="1100" i="1" dirty="0">
                <a:solidFill>
                  <a:srgbClr val="E5E0DF"/>
                </a:solidFill>
                <a:latin typeface="Barlow" pitchFamily="34" charset="0"/>
                <a:ea typeface="Barlow" pitchFamily="34" charset="-122"/>
                <a:cs typeface="Barlow" pitchFamily="34" charset="-120"/>
              </a:rPr>
              <a:t>credo</a:t>
            </a:r>
            <a:r>
              <a:rPr lang="en-US" sz="1100" dirty="0">
                <a:solidFill>
                  <a:srgbClr val="E5E0DF"/>
                </a:solidFill>
                <a:latin typeface="Barlow" pitchFamily="34" charset="0"/>
                <a:ea typeface="Barlow" pitchFamily="34" charset="-122"/>
                <a:cs typeface="Barlow" pitchFamily="34" charset="-120"/>
              </a:rPr>
              <a:t> (I believe): 'Jesus is Christ', 'Jesus is the Lord' and 'Jesus is the Son of God'. The Central Point of the Creed is Trinity, Incarnation, Salvation, Communion, Eternal Life etc. </a:t>
            </a:r>
            <a:r>
              <a:rPr lang="en-US" sz="1100" b="1" dirty="0">
                <a:solidFill>
                  <a:srgbClr val="E5E0DF"/>
                </a:solidFill>
                <a:latin typeface="Barlow Bold" pitchFamily="34" charset="0"/>
                <a:ea typeface="Barlow Bold" pitchFamily="34" charset="-122"/>
                <a:cs typeface="Barlow Bold" pitchFamily="34" charset="-120"/>
              </a:rPr>
              <a:t>Apostles' Creed</a:t>
            </a:r>
            <a:r>
              <a:rPr lang="en-US" sz="1100" dirty="0">
                <a:solidFill>
                  <a:srgbClr val="E5E0DF"/>
                </a:solidFill>
                <a:latin typeface="Barlow" pitchFamily="34" charset="0"/>
                <a:ea typeface="Barlow" pitchFamily="34" charset="-122"/>
                <a:cs typeface="Barlow" pitchFamily="34" charset="-120"/>
              </a:rPr>
              <a:t> and </a:t>
            </a:r>
            <a:r>
              <a:rPr lang="en-US" sz="1100" b="1" dirty="0">
                <a:solidFill>
                  <a:srgbClr val="E5E0DF"/>
                </a:solidFill>
                <a:latin typeface="Barlow Bold" pitchFamily="34" charset="0"/>
                <a:ea typeface="Barlow Bold" pitchFamily="34" charset="-122"/>
                <a:cs typeface="Barlow Bold" pitchFamily="34" charset="-120"/>
              </a:rPr>
              <a:t>Nicene Creed</a:t>
            </a:r>
            <a:r>
              <a:rPr lang="en-US" sz="1100" dirty="0">
                <a:solidFill>
                  <a:srgbClr val="E5E0DF"/>
                </a:solidFill>
                <a:latin typeface="Barlow" pitchFamily="34" charset="0"/>
                <a:ea typeface="Barlow" pitchFamily="34" charset="-122"/>
                <a:cs typeface="Barlow" pitchFamily="34" charset="-120"/>
              </a:rPr>
              <a:t> are the Most Common.</a:t>
            </a:r>
            <a:endParaRPr lang="en-US" sz="1100" dirty="0"/>
          </a:p>
        </p:txBody>
      </p:sp>
      <p:sp>
        <p:nvSpPr>
          <p:cNvPr id="5" name="Text 3"/>
          <p:cNvSpPr/>
          <p:nvPr/>
        </p:nvSpPr>
        <p:spPr>
          <a:xfrm>
            <a:off x="561454" y="2851845"/>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Doctrines &amp; Dogmas</a:t>
            </a:r>
            <a:endParaRPr lang="en-US" sz="1300" dirty="0"/>
          </a:p>
        </p:txBody>
      </p:sp>
      <p:sp>
        <p:nvSpPr>
          <p:cNvPr id="6" name="Text 4"/>
          <p:cNvSpPr/>
          <p:nvPr/>
        </p:nvSpPr>
        <p:spPr>
          <a:xfrm>
            <a:off x="561454" y="3159993"/>
            <a:ext cx="3839319"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Fathers of the Church are Ancient Christian Writers articulating Doctrines: Apostolic, Apologists, Syrian, Greek, Latin. </a:t>
            </a:r>
            <a:r>
              <a:rPr lang="en-US" sz="1100" b="1" dirty="0">
                <a:solidFill>
                  <a:srgbClr val="E5E0DF"/>
                </a:solidFill>
                <a:latin typeface="Barlow Bold" pitchFamily="34" charset="0"/>
                <a:ea typeface="Barlow Bold" pitchFamily="34" charset="-122"/>
                <a:cs typeface="Barlow Bold" pitchFamily="34" charset="-120"/>
              </a:rPr>
              <a:t>Dogma</a:t>
            </a:r>
            <a:r>
              <a:rPr lang="en-US" sz="1100" dirty="0">
                <a:solidFill>
                  <a:srgbClr val="E5E0DF"/>
                </a:solidFill>
                <a:latin typeface="Barlow" pitchFamily="34" charset="0"/>
                <a:ea typeface="Barlow" pitchFamily="34" charset="-122"/>
                <a:cs typeface="Barlow" pitchFamily="34" charset="-120"/>
              </a:rPr>
              <a:t> = Article of Faith revealed by God. Magisterium exercises the Authority it holds from Christ to the fullest Extent when it defines Dogmas.</a:t>
            </a:r>
            <a:endParaRPr lang="en-US" sz="1100" dirty="0"/>
          </a:p>
        </p:txBody>
      </p:sp>
      <p:sp>
        <p:nvSpPr>
          <p:cNvPr id="7" name="Text 5"/>
          <p:cNvSpPr/>
          <p:nvPr/>
        </p:nvSpPr>
        <p:spPr>
          <a:xfrm>
            <a:off x="4747989" y="1841971"/>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Catechism of the Catholic Church (CCC)</a:t>
            </a:r>
            <a:endParaRPr lang="en-US" sz="1300" dirty="0"/>
          </a:p>
        </p:txBody>
      </p:sp>
      <p:sp>
        <p:nvSpPr>
          <p:cNvPr id="8" name="Text 6"/>
          <p:cNvSpPr/>
          <p:nvPr/>
        </p:nvSpPr>
        <p:spPr>
          <a:xfrm>
            <a:off x="4747989" y="2150120"/>
            <a:ext cx="3839319"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Promulgated by Pope John Paul II on </a:t>
            </a:r>
            <a:r>
              <a:rPr lang="en-US" sz="1100" b="1" dirty="0">
                <a:solidFill>
                  <a:srgbClr val="E5E0DF"/>
                </a:solidFill>
                <a:latin typeface="Barlow Bold" pitchFamily="34" charset="0"/>
                <a:ea typeface="Barlow Bold" pitchFamily="34" charset="-122"/>
                <a:cs typeface="Barlow Bold" pitchFamily="34" charset="-120"/>
              </a:rPr>
              <a:t>October 11, 1992</a:t>
            </a:r>
            <a:r>
              <a:rPr lang="en-US" sz="1100" dirty="0">
                <a:solidFill>
                  <a:srgbClr val="E5E0DF"/>
                </a:solidFill>
                <a:latin typeface="Barlow" pitchFamily="34" charset="0"/>
                <a:ea typeface="Barlow" pitchFamily="34" charset="-122"/>
                <a:cs typeface="Barlow" pitchFamily="34" charset="-120"/>
              </a:rPr>
              <a:t>. Divided in Four Parts:</a:t>
            </a:r>
            <a:endParaRPr lang="en-US" sz="1100" dirty="0"/>
          </a:p>
        </p:txBody>
      </p:sp>
      <p:sp>
        <p:nvSpPr>
          <p:cNvPr id="9" name="Text 7"/>
          <p:cNvSpPr/>
          <p:nvPr/>
        </p:nvSpPr>
        <p:spPr>
          <a:xfrm>
            <a:off x="4747989" y="2557090"/>
            <a:ext cx="3839319" cy="708720"/>
          </a:xfrm>
          <a:prstGeom prst="rect">
            <a:avLst/>
          </a:prstGeom>
          <a:noFill/>
          <a:ln/>
        </p:spPr>
        <p:txBody>
          <a:bodyPr wrap="square" lIns="0" tIns="0" rIns="0" bIns="0" rtlCol="0" anchor="t">
            <a:normAutofit/>
          </a:bodyPr>
          <a:lstStyle/>
          <a:p>
            <a:pPr marL="223520" indent="-223520" algn="l">
              <a:lnSpc>
                <a:spcPct val="83000"/>
              </a:lnSpc>
              <a:buSzPct val="100000"/>
              <a:buFont typeface="+mj-lt"/>
              <a:buAutoNum type="arabicPeriod"/>
            </a:pPr>
            <a:r>
              <a:rPr lang="en-US" sz="1100" dirty="0">
                <a:solidFill>
                  <a:srgbClr val="E5E0DF"/>
                </a:solidFill>
                <a:latin typeface="Barlow" pitchFamily="34" charset="0"/>
                <a:ea typeface="Barlow" pitchFamily="34" charset="-122"/>
                <a:cs typeface="Barlow" pitchFamily="34" charset="-120"/>
              </a:rPr>
              <a:t>Profession of Faith</a:t>
            </a:r>
            <a:endParaRPr lang="en-US" sz="1100" dirty="0"/>
          </a:p>
          <a:p>
            <a:pPr marL="223520" indent="-223520" algn="l">
              <a:lnSpc>
                <a:spcPct val="83000"/>
              </a:lnSpc>
              <a:buSzPct val="100000"/>
              <a:buFont typeface="+mj-lt"/>
              <a:buAutoNum type="arabicPeriod" startAt="2"/>
            </a:pPr>
            <a:r>
              <a:rPr lang="en-US" sz="1100" dirty="0">
                <a:solidFill>
                  <a:srgbClr val="E5E0DF"/>
                </a:solidFill>
                <a:latin typeface="Barlow" pitchFamily="34" charset="0"/>
                <a:ea typeface="Barlow" pitchFamily="34" charset="-122"/>
                <a:cs typeface="Barlow" pitchFamily="34" charset="-120"/>
              </a:rPr>
              <a:t>Celebration of Christian Mystery</a:t>
            </a:r>
            <a:endParaRPr lang="en-US" sz="1100" dirty="0"/>
          </a:p>
          <a:p>
            <a:pPr marL="223520" indent="-223520" algn="l">
              <a:lnSpc>
                <a:spcPct val="83000"/>
              </a:lnSpc>
              <a:buSzPct val="100000"/>
              <a:buFont typeface="+mj-lt"/>
              <a:buAutoNum type="arabicPeriod" startAt="3"/>
            </a:pPr>
            <a:r>
              <a:rPr lang="en-US" sz="1100" dirty="0">
                <a:solidFill>
                  <a:srgbClr val="E5E0DF"/>
                </a:solidFill>
                <a:latin typeface="Barlow" pitchFamily="34" charset="0"/>
                <a:ea typeface="Barlow" pitchFamily="34" charset="-122"/>
                <a:cs typeface="Barlow" pitchFamily="34" charset="-120"/>
              </a:rPr>
              <a:t>Life in Christ</a:t>
            </a:r>
            <a:endParaRPr lang="en-US" sz="1100" dirty="0"/>
          </a:p>
          <a:p>
            <a:pPr marL="223520" indent="-223520" algn="l">
              <a:lnSpc>
                <a:spcPct val="83000"/>
              </a:lnSpc>
              <a:buSzPct val="100000"/>
              <a:buFont typeface="+mj-lt"/>
              <a:buAutoNum type="arabicPeriod" startAt="4"/>
            </a:pPr>
            <a:r>
              <a:rPr lang="en-US" sz="1100" dirty="0">
                <a:solidFill>
                  <a:srgbClr val="E5E0DF"/>
                </a:solidFill>
                <a:latin typeface="Barlow" pitchFamily="34" charset="0"/>
                <a:ea typeface="Barlow" pitchFamily="34" charset="-122"/>
                <a:cs typeface="Barlow" pitchFamily="34" charset="-120"/>
              </a:rPr>
              <a:t>Christian Prayer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1454" y="1273150"/>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Church of Christ &amp; Church as Sacrament</a:t>
            </a:r>
            <a:endParaRPr lang="en-US" sz="2600" dirty="0"/>
          </a:p>
        </p:txBody>
      </p:sp>
      <p:sp>
        <p:nvSpPr>
          <p:cNvPr id="3" name="Text 1"/>
          <p:cNvSpPr/>
          <p:nvPr/>
        </p:nvSpPr>
        <p:spPr>
          <a:xfrm>
            <a:off x="561454" y="1889522"/>
            <a:ext cx="8021092" cy="859631"/>
          </a:xfrm>
          <a:prstGeom prst="rect">
            <a:avLst/>
          </a:prstGeom>
          <a:noFill/>
          <a:ln/>
        </p:spPr>
        <p:txBody>
          <a:bodyPr wrap="square" lIns="0" tIns="0" rIns="0" bIns="0" rtlCol="0" anchor="t">
            <a:normAutofit/>
          </a:bodyPr>
          <a:lstStyle/>
          <a:p>
            <a:pPr marL="0" indent="0" algn="l">
              <a:lnSpc>
                <a:spcPct val="83000"/>
              </a:lnSpc>
              <a:spcAft>
                <a:spcPts val="1200"/>
              </a:spcAft>
              <a:buNone/>
            </a:pPr>
            <a:r>
              <a:rPr lang="en-US" sz="1100" dirty="0">
                <a:solidFill>
                  <a:srgbClr val="E5E0DF"/>
                </a:solidFill>
                <a:latin typeface="Barlow" pitchFamily="34" charset="0"/>
                <a:ea typeface="Barlow" pitchFamily="34" charset="-122"/>
                <a:cs typeface="Barlow" pitchFamily="34" charset="-120"/>
              </a:rPr>
              <a:t>What Jesus achieved at one Moment of this World's History was to be continued in His Church through the Sacraments. He called unto Himself Disciples (Mk 3:13-19), Taught them (Mt 5-7; Jn 13-16), Gave them Authority and Mission (Mk 16:15-20; Mt 28:18-20). The Church was made manifest on the Pentecost by the Outpouring of the Holy Spirit (Acts 2; CCC 1076).</a:t>
            </a:r>
            <a:endParaRPr lang="en-US" sz="1100" dirty="0"/>
          </a:p>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Church sent to the Nations is the </a:t>
            </a:r>
            <a:r>
              <a:rPr lang="en-US" sz="1100" b="1" dirty="0">
                <a:solidFill>
                  <a:srgbClr val="E5E0DF"/>
                </a:solidFill>
                <a:latin typeface="Barlow Bold" pitchFamily="34" charset="0"/>
                <a:ea typeface="Barlow Bold" pitchFamily="34" charset="-122"/>
                <a:cs typeface="Barlow Bold" pitchFamily="34" charset="-120"/>
              </a:rPr>
              <a:t>'Universal Sacrament of Salvation'</a:t>
            </a:r>
            <a:r>
              <a:rPr lang="en-US" sz="1100" dirty="0">
                <a:solidFill>
                  <a:srgbClr val="E5E0DF"/>
                </a:solidFill>
                <a:latin typeface="Barlow" pitchFamily="34" charset="0"/>
                <a:ea typeface="Barlow" pitchFamily="34" charset="-122"/>
                <a:cs typeface="Barlow" pitchFamily="34" charset="-120"/>
              </a:rPr>
              <a:t> (LG 48) because it expresses in its Life the Salvific Value of Christ's Deeds and Words to all People at all Times.</a:t>
            </a:r>
            <a:endParaRPr lang="en-US" sz="1100" dirty="0"/>
          </a:p>
        </p:txBody>
      </p:sp>
      <p:sp>
        <p:nvSpPr>
          <p:cNvPr id="4" name="Shape 2"/>
          <p:cNvSpPr/>
          <p:nvPr/>
        </p:nvSpPr>
        <p:spPr>
          <a:xfrm>
            <a:off x="561454" y="2907060"/>
            <a:ext cx="2580084" cy="963216"/>
          </a:xfrm>
          <a:prstGeom prst="roundRect">
            <a:avLst>
              <a:gd name="adj" fmla="val 6121"/>
            </a:avLst>
          </a:prstGeom>
          <a:solidFill>
            <a:srgbClr val="790709"/>
          </a:solidFill>
          <a:ln w="4763">
            <a:solidFill>
              <a:srgbClr val="922022"/>
            </a:solidFill>
            <a:prstDash val="solid"/>
          </a:ln>
        </p:spPr>
        <p:txBody>
          <a:bodyPr/>
          <a:lstStyle/>
          <a:p>
            <a:endParaRPr lang="en-IN"/>
          </a:p>
        </p:txBody>
      </p:sp>
      <p:sp>
        <p:nvSpPr>
          <p:cNvPr id="5" name="Text 3"/>
          <p:cNvSpPr/>
          <p:nvPr/>
        </p:nvSpPr>
        <p:spPr>
          <a:xfrm>
            <a:off x="706562" y="3052167"/>
            <a:ext cx="2289870"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Martyria</a:t>
            </a:r>
            <a:endParaRPr lang="en-US" sz="1300" dirty="0"/>
          </a:p>
        </p:txBody>
      </p:sp>
      <p:sp>
        <p:nvSpPr>
          <p:cNvPr id="6" name="Text 4"/>
          <p:cNvSpPr/>
          <p:nvPr/>
        </p:nvSpPr>
        <p:spPr>
          <a:xfrm>
            <a:off x="706562" y="3304133"/>
            <a:ext cx="2289870"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Church announces the Good News — witness and proclamation.</a:t>
            </a:r>
            <a:endParaRPr lang="en-US" sz="1100" dirty="0"/>
          </a:p>
        </p:txBody>
      </p:sp>
      <p:sp>
        <p:nvSpPr>
          <p:cNvPr id="7" name="Shape 5"/>
          <p:cNvSpPr/>
          <p:nvPr/>
        </p:nvSpPr>
        <p:spPr>
          <a:xfrm>
            <a:off x="3281883" y="2907060"/>
            <a:ext cx="2580159" cy="963216"/>
          </a:xfrm>
          <a:prstGeom prst="roundRect">
            <a:avLst>
              <a:gd name="adj" fmla="val 6121"/>
            </a:avLst>
          </a:prstGeom>
          <a:solidFill>
            <a:srgbClr val="790709"/>
          </a:solidFill>
          <a:ln w="4763">
            <a:solidFill>
              <a:srgbClr val="922022"/>
            </a:solidFill>
            <a:prstDash val="solid"/>
          </a:ln>
        </p:spPr>
        <p:txBody>
          <a:bodyPr/>
          <a:lstStyle/>
          <a:p>
            <a:endParaRPr lang="en-IN"/>
          </a:p>
        </p:txBody>
      </p:sp>
      <p:sp>
        <p:nvSpPr>
          <p:cNvPr id="8" name="Text 6"/>
          <p:cNvSpPr/>
          <p:nvPr/>
        </p:nvSpPr>
        <p:spPr>
          <a:xfrm>
            <a:off x="3426991" y="3052167"/>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Leitourgia</a:t>
            </a:r>
            <a:endParaRPr lang="en-US" sz="1300" dirty="0"/>
          </a:p>
        </p:txBody>
      </p:sp>
      <p:sp>
        <p:nvSpPr>
          <p:cNvPr id="9" name="Text 7"/>
          <p:cNvSpPr/>
          <p:nvPr/>
        </p:nvSpPr>
        <p:spPr>
          <a:xfrm>
            <a:off x="3426991" y="3304133"/>
            <a:ext cx="228994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Transmits the Confession of Faith in Sacraments and Prayer — worship and celebration.</a:t>
            </a:r>
            <a:endParaRPr lang="en-US" sz="1100" dirty="0"/>
          </a:p>
        </p:txBody>
      </p:sp>
      <p:sp>
        <p:nvSpPr>
          <p:cNvPr id="10" name="Shape 8"/>
          <p:cNvSpPr/>
          <p:nvPr/>
        </p:nvSpPr>
        <p:spPr>
          <a:xfrm>
            <a:off x="6002387" y="2907060"/>
            <a:ext cx="2580159" cy="963216"/>
          </a:xfrm>
          <a:prstGeom prst="roundRect">
            <a:avLst>
              <a:gd name="adj" fmla="val 6121"/>
            </a:avLst>
          </a:prstGeom>
          <a:solidFill>
            <a:srgbClr val="790709"/>
          </a:solidFill>
          <a:ln w="4763">
            <a:solidFill>
              <a:srgbClr val="922022"/>
            </a:solidFill>
            <a:prstDash val="solid"/>
          </a:ln>
        </p:spPr>
        <p:txBody>
          <a:bodyPr/>
          <a:lstStyle/>
          <a:p>
            <a:endParaRPr lang="en-IN"/>
          </a:p>
        </p:txBody>
      </p:sp>
      <p:sp>
        <p:nvSpPr>
          <p:cNvPr id="11" name="Text 9"/>
          <p:cNvSpPr/>
          <p:nvPr/>
        </p:nvSpPr>
        <p:spPr>
          <a:xfrm>
            <a:off x="6147495" y="3052167"/>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Diakonia</a:t>
            </a:r>
            <a:endParaRPr lang="en-US" sz="1300" dirty="0"/>
          </a:p>
        </p:txBody>
      </p:sp>
      <p:sp>
        <p:nvSpPr>
          <p:cNvPr id="12" name="Text 10"/>
          <p:cNvSpPr/>
          <p:nvPr/>
        </p:nvSpPr>
        <p:spPr>
          <a:xfrm>
            <a:off x="6147495" y="3304133"/>
            <a:ext cx="228994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Serves Jesus Christ in the poor, the persecuted, the sick and the dying — service and solidarity.</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1454" y="1492448"/>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Magisterium, Papal Teaching &amp; Collegiality</a:t>
            </a:r>
            <a:endParaRPr lang="en-US" sz="2600" dirty="0"/>
          </a:p>
        </p:txBody>
      </p:sp>
      <p:sp>
        <p:nvSpPr>
          <p:cNvPr id="3" name="Text 1"/>
          <p:cNvSpPr/>
          <p:nvPr/>
        </p:nvSpPr>
        <p:spPr>
          <a:xfrm>
            <a:off x="561454" y="2108820"/>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Magisterium: The Teaching Office of the Church, endowed with Pastoral Authority ultimately derived from Christ. The Pope and Bishops constitute the Magisterium. </a:t>
            </a:r>
            <a:r>
              <a:rPr lang="en-US" sz="1100" b="1" dirty="0">
                <a:solidFill>
                  <a:srgbClr val="E5E0DF"/>
                </a:solidFill>
                <a:latin typeface="Barlow Bold" pitchFamily="34" charset="0"/>
                <a:ea typeface="Barlow Bold" pitchFamily="34" charset="-122"/>
                <a:cs typeface="Barlow Bold" pitchFamily="34" charset="-120"/>
              </a:rPr>
              <a:t>Sacred Tradition, Sacred Scripture and the Magisterium are so connected that One of them cannot stand without the Others</a:t>
            </a:r>
            <a:r>
              <a:rPr lang="en-US" sz="1100" dirty="0">
                <a:solidFill>
                  <a:srgbClr val="E5E0DF"/>
                </a:solidFill>
                <a:latin typeface="Barlow" pitchFamily="34" charset="0"/>
                <a:ea typeface="Barlow" pitchFamily="34" charset="-122"/>
                <a:cs typeface="Barlow" pitchFamily="34" charset="-120"/>
              </a:rPr>
              <a:t> (DV 10).</a:t>
            </a:r>
            <a:endParaRPr lang="en-US" sz="1100" dirty="0"/>
          </a:p>
        </p:txBody>
      </p:sp>
      <p:sp>
        <p:nvSpPr>
          <p:cNvPr id="4" name="Shape 2"/>
          <p:cNvSpPr/>
          <p:nvPr/>
        </p:nvSpPr>
        <p:spPr>
          <a:xfrm>
            <a:off x="561454" y="2687762"/>
            <a:ext cx="8021092" cy="963216"/>
          </a:xfrm>
          <a:prstGeom prst="roundRect">
            <a:avLst>
              <a:gd name="adj" fmla="val 6121"/>
            </a:avLst>
          </a:prstGeom>
          <a:solidFill>
            <a:srgbClr val="790709"/>
          </a:solidFill>
          <a:ln w="4763">
            <a:solidFill>
              <a:srgbClr val="922022"/>
            </a:solidFill>
            <a:prstDash val="solid"/>
          </a:ln>
        </p:spPr>
        <p:txBody>
          <a:bodyPr/>
          <a:lstStyle/>
          <a:p>
            <a:endParaRPr lang="en-IN"/>
          </a:p>
        </p:txBody>
      </p:sp>
      <p:sp>
        <p:nvSpPr>
          <p:cNvPr id="5" name="Shape 3"/>
          <p:cNvSpPr/>
          <p:nvPr/>
        </p:nvSpPr>
        <p:spPr>
          <a:xfrm>
            <a:off x="566217" y="2692524"/>
            <a:ext cx="4005783" cy="953691"/>
          </a:xfrm>
          <a:prstGeom prst="rect">
            <a:avLst/>
          </a:prstGeom>
          <a:solidFill>
            <a:srgbClr val="790709"/>
          </a:solidFill>
          <a:ln/>
        </p:spPr>
        <p:txBody>
          <a:bodyPr/>
          <a:lstStyle/>
          <a:p>
            <a:endParaRPr lang="en-IN"/>
          </a:p>
        </p:txBody>
      </p:sp>
      <p:sp>
        <p:nvSpPr>
          <p:cNvPr id="6" name="Text 4"/>
          <p:cNvSpPr/>
          <p:nvPr/>
        </p:nvSpPr>
        <p:spPr>
          <a:xfrm>
            <a:off x="706562" y="2832869"/>
            <a:ext cx="372509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Ordinary Magisterium</a:t>
            </a:r>
            <a:endParaRPr lang="en-US" sz="1300" dirty="0"/>
          </a:p>
        </p:txBody>
      </p:sp>
      <p:sp>
        <p:nvSpPr>
          <p:cNvPr id="7" name="Text 5"/>
          <p:cNvSpPr/>
          <p:nvPr/>
        </p:nvSpPr>
        <p:spPr>
          <a:xfrm>
            <a:off x="706562" y="3084835"/>
            <a:ext cx="372509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Bishops' Teaching Authority in day-to-day Life of the Church — Proclamation, Education, Guidance, Pastoral Care (LG 25).</a:t>
            </a:r>
            <a:endParaRPr lang="en-US" sz="1100" dirty="0"/>
          </a:p>
        </p:txBody>
      </p:sp>
      <p:sp>
        <p:nvSpPr>
          <p:cNvPr id="8" name="Shape 6"/>
          <p:cNvSpPr/>
          <p:nvPr/>
        </p:nvSpPr>
        <p:spPr>
          <a:xfrm>
            <a:off x="4572000" y="2692524"/>
            <a:ext cx="4005783" cy="953691"/>
          </a:xfrm>
          <a:prstGeom prst="rect">
            <a:avLst/>
          </a:prstGeom>
          <a:solidFill>
            <a:srgbClr val="790709"/>
          </a:solidFill>
          <a:ln/>
        </p:spPr>
        <p:txBody>
          <a:bodyPr/>
          <a:lstStyle/>
          <a:p>
            <a:endParaRPr lang="en-IN"/>
          </a:p>
        </p:txBody>
      </p:sp>
      <p:sp>
        <p:nvSpPr>
          <p:cNvPr id="9" name="Shape 7"/>
          <p:cNvSpPr/>
          <p:nvPr/>
        </p:nvSpPr>
        <p:spPr>
          <a:xfrm>
            <a:off x="4572000" y="2692524"/>
            <a:ext cx="19050" cy="953691"/>
          </a:xfrm>
          <a:prstGeom prst="roundRect">
            <a:avLst>
              <a:gd name="adj" fmla="val 309474"/>
            </a:avLst>
          </a:prstGeom>
          <a:solidFill>
            <a:srgbClr val="922022"/>
          </a:solidFill>
          <a:ln/>
        </p:spPr>
        <p:txBody>
          <a:bodyPr/>
          <a:lstStyle/>
          <a:p>
            <a:endParaRPr lang="en-IN"/>
          </a:p>
        </p:txBody>
      </p:sp>
      <p:sp>
        <p:nvSpPr>
          <p:cNvPr id="10" name="Text 8"/>
          <p:cNvSpPr/>
          <p:nvPr/>
        </p:nvSpPr>
        <p:spPr>
          <a:xfrm>
            <a:off x="4712345" y="2832869"/>
            <a:ext cx="372509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Extraordinary Magisterium</a:t>
            </a:r>
            <a:endParaRPr lang="en-US" sz="1300" dirty="0"/>
          </a:p>
        </p:txBody>
      </p:sp>
      <p:sp>
        <p:nvSpPr>
          <p:cNvPr id="11" name="Text 9"/>
          <p:cNvSpPr/>
          <p:nvPr/>
        </p:nvSpPr>
        <p:spPr>
          <a:xfrm>
            <a:off x="4712345" y="3084835"/>
            <a:ext cx="372509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College of Bishops in Ecumenical Councils; Pope as Head of the College of Bishops defining </a:t>
            </a:r>
            <a:r>
              <a:rPr lang="en-US" sz="1100" i="1" dirty="0">
                <a:solidFill>
                  <a:srgbClr val="E5E0DF"/>
                </a:solidFill>
                <a:latin typeface="Barlow" pitchFamily="34" charset="0"/>
                <a:ea typeface="Barlow" pitchFamily="34" charset="-122"/>
                <a:cs typeface="Barlow" pitchFamily="34" charset="-120"/>
              </a:rPr>
              <a:t>ex cathedra</a:t>
            </a:r>
            <a:r>
              <a:rPr lang="en-US" sz="1100" dirty="0">
                <a:solidFill>
                  <a:srgbClr val="E5E0DF"/>
                </a:solidFill>
                <a:latin typeface="Barlow" pitchFamily="34" charset="0"/>
                <a:ea typeface="Barlow" pitchFamily="34" charset="-122"/>
                <a:cs typeface="Barlow" pitchFamily="34" charset="-120"/>
              </a:rPr>
              <a:t> a Dogma concerning Faith or Morals (LG 25).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1454" y="1527051"/>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Synodality &amp; Sensus Fidei</a:t>
            </a:r>
            <a:endParaRPr lang="en-US" sz="2600" dirty="0"/>
          </a:p>
        </p:txBody>
      </p:sp>
      <p:sp>
        <p:nvSpPr>
          <p:cNvPr id="3" name="Text 1"/>
          <p:cNvSpPr/>
          <p:nvPr/>
        </p:nvSpPr>
        <p:spPr>
          <a:xfrm>
            <a:off x="561454" y="2213595"/>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Synodality</a:t>
            </a:r>
            <a:endParaRPr lang="en-US" sz="1300" dirty="0"/>
          </a:p>
        </p:txBody>
      </p:sp>
      <p:sp>
        <p:nvSpPr>
          <p:cNvPr id="4" name="Text 2"/>
          <p:cNvSpPr/>
          <p:nvPr/>
        </p:nvSpPr>
        <p:spPr>
          <a:xfrm>
            <a:off x="561454" y="2521744"/>
            <a:ext cx="3839319" cy="96835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Synodality comes from </a:t>
            </a:r>
            <a:r>
              <a:rPr lang="en-US" sz="1100" i="1" dirty="0">
                <a:solidFill>
                  <a:srgbClr val="E5E0DF"/>
                </a:solidFill>
                <a:latin typeface="Barlow" pitchFamily="34" charset="0"/>
                <a:ea typeface="Barlow" pitchFamily="34" charset="-122"/>
                <a:cs typeface="Barlow" pitchFamily="34" charset="-120"/>
              </a:rPr>
              <a:t>Synodos</a:t>
            </a:r>
            <a:r>
              <a:rPr lang="en-US" sz="1100" dirty="0">
                <a:solidFill>
                  <a:srgbClr val="E5E0DF"/>
                </a:solidFill>
                <a:latin typeface="Barlow" pitchFamily="34" charset="0"/>
                <a:ea typeface="Barlow" pitchFamily="34" charset="-122"/>
                <a:cs typeface="Barlow" pitchFamily="34" charset="-120"/>
              </a:rPr>
              <a:t> (Gk) which literally means </a:t>
            </a:r>
            <a:r>
              <a:rPr lang="en-US" sz="1100" b="1" dirty="0">
                <a:solidFill>
                  <a:srgbClr val="E5E0DF"/>
                </a:solidFill>
                <a:latin typeface="Barlow Bold" pitchFamily="34" charset="0"/>
                <a:ea typeface="Barlow Bold" pitchFamily="34" charset="-122"/>
                <a:cs typeface="Barlow Bold" pitchFamily="34" charset="-120"/>
              </a:rPr>
              <a:t>the Path Together</a:t>
            </a:r>
            <a:r>
              <a:rPr lang="en-US" sz="1100" dirty="0">
                <a:solidFill>
                  <a:srgbClr val="E5E0DF"/>
                </a:solidFill>
                <a:latin typeface="Barlow" pitchFamily="34" charset="0"/>
                <a:ea typeface="Barlow" pitchFamily="34" charset="-122"/>
                <a:cs typeface="Barlow" pitchFamily="34" charset="-120"/>
              </a:rPr>
              <a:t>. According to Pope Francis, Synodality doesn't mean Democracy. Rather it means a Structured Conversation among ALL of the relevant Ecclesial Players: Bishops, Priests, and Laity, for the sake of hearing the Voice of the Holy Spirit.</a:t>
            </a:r>
            <a:endParaRPr lang="en-US" sz="1100" dirty="0"/>
          </a:p>
          <a:p>
            <a:pPr marL="0" indent="0" algn="l">
              <a:lnSpc>
                <a:spcPct val="83000"/>
              </a:lnSpc>
              <a:buNone/>
            </a:pPr>
            <a:r>
              <a:rPr lang="en-US" sz="1100" i="1" dirty="0">
                <a:solidFill>
                  <a:srgbClr val="E5E0DF"/>
                </a:solidFill>
                <a:latin typeface="Barlow" pitchFamily="34" charset="0"/>
                <a:ea typeface="Barlow" pitchFamily="34" charset="-122"/>
                <a:cs typeface="Barlow" pitchFamily="34" charset="-120"/>
              </a:rPr>
              <a:t>"The Apostolate of the Ear"</a:t>
            </a:r>
            <a:r>
              <a:rPr lang="en-US" sz="1100" dirty="0">
                <a:solidFill>
                  <a:srgbClr val="E5E0DF"/>
                </a:solidFill>
                <a:latin typeface="Barlow" pitchFamily="34" charset="0"/>
                <a:ea typeface="Barlow" pitchFamily="34" charset="-122"/>
                <a:cs typeface="Barlow" pitchFamily="34" charset="-120"/>
              </a:rPr>
              <a:t> — listen in Silence!</a:t>
            </a:r>
            <a:endParaRPr lang="en-US" sz="1100" dirty="0"/>
          </a:p>
        </p:txBody>
      </p:sp>
      <p:sp>
        <p:nvSpPr>
          <p:cNvPr id="5" name="Text 3"/>
          <p:cNvSpPr/>
          <p:nvPr/>
        </p:nvSpPr>
        <p:spPr>
          <a:xfrm>
            <a:off x="4747989" y="2213595"/>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Sensus Fidei, Sensus Fidelium</a:t>
            </a:r>
            <a:endParaRPr lang="en-US" sz="1300" dirty="0"/>
          </a:p>
        </p:txBody>
      </p:sp>
      <p:sp>
        <p:nvSpPr>
          <p:cNvPr id="6" name="Text 4"/>
          <p:cNvSpPr/>
          <p:nvPr/>
        </p:nvSpPr>
        <p:spPr>
          <a:xfrm>
            <a:off x="4747989" y="2521744"/>
            <a:ext cx="3839319" cy="96835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Sense of the Faith, Sense of the Faithful: The Deposit of Faith resides in the </a:t>
            </a:r>
            <a:r>
              <a:rPr lang="en-US" sz="1100" b="1" dirty="0">
                <a:solidFill>
                  <a:srgbClr val="E5E0DF"/>
                </a:solidFill>
                <a:latin typeface="Barlow Bold" pitchFamily="34" charset="0"/>
                <a:ea typeface="Barlow Bold" pitchFamily="34" charset="-122"/>
                <a:cs typeface="Barlow Bold" pitchFamily="34" charset="-120"/>
              </a:rPr>
              <a:t>Entire Body of the Faithful</a:t>
            </a:r>
            <a:r>
              <a:rPr lang="en-US" sz="1100" dirty="0">
                <a:solidFill>
                  <a:srgbClr val="E5E0DF"/>
                </a:solidFill>
                <a:latin typeface="Barlow" pitchFamily="34" charset="0"/>
                <a:ea typeface="Barlow" pitchFamily="34" charset="-122"/>
                <a:cs typeface="Barlow" pitchFamily="34" charset="-120"/>
              </a:rPr>
              <a:t> — the People of God, called to share in the Priestly, Prophetic and Pastoral Ministry of Christ by virtue of their Baptism (LG 31).</a:t>
            </a:r>
            <a:endParaRPr lang="en-US" sz="1100" dirty="0"/>
          </a:p>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Sense of Faith of the Whole Church is the Norm and Basis for Authentic Teaching.</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1454" y="502890"/>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Resources of Theology</a:t>
            </a:r>
            <a:endParaRPr lang="en-US" sz="26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119262"/>
            <a:ext cx="350862" cy="350862"/>
          </a:xfrm>
          <a:prstGeom prst="rect">
            <a:avLst/>
          </a:prstGeom>
        </p:spPr>
      </p:pic>
      <p:sp>
        <p:nvSpPr>
          <p:cNvPr id="4" name="Text 1"/>
          <p:cNvSpPr/>
          <p:nvPr/>
        </p:nvSpPr>
        <p:spPr>
          <a:xfrm>
            <a:off x="561454" y="1645518"/>
            <a:ext cx="255671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People and Their Experience</a:t>
            </a:r>
            <a:endParaRPr lang="en-US" sz="1300" dirty="0"/>
          </a:p>
        </p:txBody>
      </p:sp>
      <p:sp>
        <p:nvSpPr>
          <p:cNvPr id="5" name="Text 2"/>
          <p:cNvSpPr/>
          <p:nvPr/>
        </p:nvSpPr>
        <p:spPr>
          <a:xfrm>
            <a:off x="561454" y="1897484"/>
            <a:ext cx="2556718" cy="1122759"/>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God's Revelation reaches Human Persons through Human Experience. Human Experience is thus the Starting-Point of all Religious and Theological Investigations. Human Experiences are embedded in Art, Architecture, Music, Dance, Stories, Poetry, Literature, Philosophy, etc.</a:t>
            </a:r>
            <a:endParaRPr lang="en-US" sz="11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93566" y="1119262"/>
            <a:ext cx="350862" cy="350862"/>
          </a:xfrm>
          <a:prstGeom prst="rect">
            <a:avLst/>
          </a:prstGeom>
        </p:spPr>
      </p:pic>
      <p:sp>
        <p:nvSpPr>
          <p:cNvPr id="7" name="Text 3"/>
          <p:cNvSpPr/>
          <p:nvPr/>
        </p:nvSpPr>
        <p:spPr>
          <a:xfrm>
            <a:off x="3293566" y="1645518"/>
            <a:ext cx="255679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Socio-Cultural Heritage</a:t>
            </a:r>
            <a:endParaRPr lang="en-US" sz="1300" dirty="0"/>
          </a:p>
        </p:txBody>
      </p:sp>
      <p:sp>
        <p:nvSpPr>
          <p:cNvPr id="8" name="Text 4"/>
          <p:cNvSpPr/>
          <p:nvPr/>
        </p:nvSpPr>
        <p:spPr>
          <a:xfrm>
            <a:off x="3293566" y="1897484"/>
            <a:ext cx="2556793" cy="84207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Culture is a Vision and Way of Life of People integrating Values, Signs and Symbols, Customs, Traditions, Arts, Stories, Folklore, Myths etc. God speaks to Humans according to their Cultures of Different Ages (GS 58).</a:t>
            </a:r>
            <a:endParaRPr lang="en-US" sz="11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25753" y="1119262"/>
            <a:ext cx="350862" cy="350862"/>
          </a:xfrm>
          <a:prstGeom prst="rect">
            <a:avLst/>
          </a:prstGeom>
        </p:spPr>
      </p:pic>
      <p:sp>
        <p:nvSpPr>
          <p:cNvPr id="10" name="Text 5"/>
          <p:cNvSpPr/>
          <p:nvPr/>
        </p:nvSpPr>
        <p:spPr>
          <a:xfrm>
            <a:off x="6025753" y="1645518"/>
            <a:ext cx="255679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Diverse Religious Traditions</a:t>
            </a:r>
            <a:endParaRPr lang="en-US" sz="1300" dirty="0"/>
          </a:p>
        </p:txBody>
      </p:sp>
      <p:sp>
        <p:nvSpPr>
          <p:cNvPr id="11" name="Text 6"/>
          <p:cNvSpPr/>
          <p:nvPr/>
        </p:nvSpPr>
        <p:spPr>
          <a:xfrm>
            <a:off x="6025753" y="1897484"/>
            <a:ext cx="2556793"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Church accepts today that People are saved not only in Spite of, But in and through Their Religions. All Religions reflect a Ray of Truth which enlightens All (NA 2).</a:t>
            </a:r>
            <a:endParaRPr lang="en-US" sz="11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1454" y="3300933"/>
            <a:ext cx="350862" cy="350862"/>
          </a:xfrm>
          <a:prstGeom prst="rect">
            <a:avLst/>
          </a:prstGeom>
        </p:spPr>
      </p:pic>
      <p:sp>
        <p:nvSpPr>
          <p:cNvPr id="13" name="Text 7"/>
          <p:cNvSpPr/>
          <p:nvPr/>
        </p:nvSpPr>
        <p:spPr>
          <a:xfrm>
            <a:off x="561454" y="3827190"/>
            <a:ext cx="255671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Voice of the Marginalized</a:t>
            </a:r>
            <a:endParaRPr lang="en-US" sz="1300" dirty="0"/>
          </a:p>
        </p:txBody>
      </p:sp>
      <p:sp>
        <p:nvSpPr>
          <p:cNvPr id="14" name="Text 8"/>
          <p:cNvSpPr/>
          <p:nvPr/>
        </p:nvSpPr>
        <p:spPr>
          <a:xfrm>
            <a:off x="561454" y="4079156"/>
            <a:ext cx="2556718"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should pay attention to the Voices of the Marginalized as they are the Locus of God's Word and Action in the World Today.</a:t>
            </a:r>
            <a:endParaRPr lang="en-US" sz="11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93566" y="3300933"/>
            <a:ext cx="350862" cy="350862"/>
          </a:xfrm>
          <a:prstGeom prst="rect">
            <a:avLst/>
          </a:prstGeom>
        </p:spPr>
      </p:pic>
      <p:sp>
        <p:nvSpPr>
          <p:cNvPr id="16" name="Text 9"/>
          <p:cNvSpPr/>
          <p:nvPr/>
        </p:nvSpPr>
        <p:spPr>
          <a:xfrm>
            <a:off x="3293566" y="3827190"/>
            <a:ext cx="255679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Contribution of Other Sciences</a:t>
            </a:r>
            <a:endParaRPr lang="en-US" sz="1300" dirty="0"/>
          </a:p>
        </p:txBody>
      </p:sp>
      <p:sp>
        <p:nvSpPr>
          <p:cNvPr id="17" name="Text 10"/>
          <p:cNvSpPr/>
          <p:nvPr/>
        </p:nvSpPr>
        <p:spPr>
          <a:xfrm>
            <a:off x="3293566" y="4079156"/>
            <a:ext cx="2556793"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Sociology, Anthropology, Psychology, Economics, Politics, etc. — all contribute to the theological enterprise.</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1454" y="1165027"/>
            <a:ext cx="8021092" cy="671364"/>
          </a:xfrm>
          <a:prstGeom prst="rect">
            <a:avLst/>
          </a:prstGeom>
          <a:noFill/>
          <a:ln/>
        </p:spPr>
        <p:txBody>
          <a:bodyPr wrap="square" lIns="0" tIns="0" rIns="0" bIns="0" rtlCol="0" anchor="t">
            <a:normAutofit/>
          </a:bodyPr>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Theology and Natural Sciences / Philosophy / Social Sciences</a:t>
            </a:r>
            <a:endParaRPr lang="en-US" sz="2600" dirty="0"/>
          </a:p>
        </p:txBody>
      </p:sp>
      <p:sp>
        <p:nvSpPr>
          <p:cNvPr id="3" name="Shape 1"/>
          <p:cNvSpPr/>
          <p:nvPr/>
        </p:nvSpPr>
        <p:spPr>
          <a:xfrm>
            <a:off x="561454" y="2117080"/>
            <a:ext cx="2580084" cy="1861319"/>
          </a:xfrm>
          <a:prstGeom prst="roundRect">
            <a:avLst>
              <a:gd name="adj" fmla="val 3167"/>
            </a:avLst>
          </a:prstGeom>
          <a:solidFill>
            <a:srgbClr val="191718">
              <a:alpha val="95000"/>
            </a:srgbClr>
          </a:solidFill>
          <a:ln w="19050">
            <a:solidFill>
              <a:srgbClr val="922022"/>
            </a:solidFill>
            <a:prstDash val="solid"/>
          </a:ln>
        </p:spPr>
        <p:txBody>
          <a:bodyPr/>
          <a:lstStyle/>
          <a:p>
            <a:endParaRPr lang="en-IN"/>
          </a:p>
        </p:txBody>
      </p:sp>
      <p:sp>
        <p:nvSpPr>
          <p:cNvPr id="4" name="Text 2"/>
          <p:cNvSpPr/>
          <p:nvPr/>
        </p:nvSpPr>
        <p:spPr>
          <a:xfrm>
            <a:off x="720849" y="2276475"/>
            <a:ext cx="2261295"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Theology and Natural Sciences</a:t>
            </a:r>
            <a:endParaRPr lang="en-US" sz="1300" dirty="0"/>
          </a:p>
        </p:txBody>
      </p:sp>
      <p:sp>
        <p:nvSpPr>
          <p:cNvPr id="5" name="Text 3"/>
          <p:cNvSpPr/>
          <p:nvPr/>
        </p:nvSpPr>
        <p:spPr>
          <a:xfrm>
            <a:off x="720849" y="2696245"/>
            <a:ext cx="2261295" cy="1122759"/>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Science cannot answer all the Questions. Many 'Hows' are answered, but many 'Whys' are unanswered. Complex Questions of Meaning dealing with the Human Realities and Experiences cannot be answered by Sciences. </a:t>
            </a:r>
            <a:r>
              <a:rPr lang="en-US" sz="1100" b="1" dirty="0">
                <a:solidFill>
                  <a:srgbClr val="E5E0DF"/>
                </a:solidFill>
                <a:latin typeface="Barlow Bold" pitchFamily="34" charset="0"/>
                <a:ea typeface="Barlow Bold" pitchFamily="34" charset="-122"/>
                <a:cs typeface="Barlow Bold" pitchFamily="34" charset="-120"/>
              </a:rPr>
              <a:t>Both need to play a Complementary Role.</a:t>
            </a:r>
            <a:endParaRPr lang="en-US" sz="1100" dirty="0"/>
          </a:p>
        </p:txBody>
      </p:sp>
      <p:sp>
        <p:nvSpPr>
          <p:cNvPr id="6" name="Shape 4"/>
          <p:cNvSpPr/>
          <p:nvPr/>
        </p:nvSpPr>
        <p:spPr>
          <a:xfrm>
            <a:off x="3281883" y="2117080"/>
            <a:ext cx="2580159" cy="1861319"/>
          </a:xfrm>
          <a:prstGeom prst="roundRect">
            <a:avLst>
              <a:gd name="adj" fmla="val 3167"/>
            </a:avLst>
          </a:prstGeom>
          <a:solidFill>
            <a:srgbClr val="191718">
              <a:alpha val="95000"/>
            </a:srgbClr>
          </a:solidFill>
          <a:ln w="19050">
            <a:solidFill>
              <a:srgbClr val="922022"/>
            </a:solidFill>
            <a:prstDash val="solid"/>
          </a:ln>
        </p:spPr>
        <p:txBody>
          <a:bodyPr/>
          <a:lstStyle/>
          <a:p>
            <a:endParaRPr lang="en-IN"/>
          </a:p>
        </p:txBody>
      </p:sp>
      <p:sp>
        <p:nvSpPr>
          <p:cNvPr id="7" name="Text 5"/>
          <p:cNvSpPr/>
          <p:nvPr/>
        </p:nvSpPr>
        <p:spPr>
          <a:xfrm>
            <a:off x="3441278" y="2276475"/>
            <a:ext cx="22613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Theology and Philosophy</a:t>
            </a:r>
            <a:endParaRPr lang="en-US" sz="1300" dirty="0"/>
          </a:p>
        </p:txBody>
      </p:sp>
      <p:sp>
        <p:nvSpPr>
          <p:cNvPr id="8" name="Text 6"/>
          <p:cNvSpPr/>
          <p:nvPr/>
        </p:nvSpPr>
        <p:spPr>
          <a:xfrm>
            <a:off x="3441278" y="2528441"/>
            <a:ext cx="2261369" cy="126310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Commonality: The Ultimate Meaning of Human Existence and of the World. Philosophy uses Human Reason as the Guiding Principle. Theology presupposes Faith and Divine Revelation while utilizing Human Reason. Philosophy (in the West) was called the </a:t>
            </a:r>
            <a:r>
              <a:rPr lang="en-US" sz="1100" b="1" dirty="0">
                <a:solidFill>
                  <a:srgbClr val="E5E0DF"/>
                </a:solidFill>
                <a:latin typeface="Barlow Bold" pitchFamily="34" charset="0"/>
                <a:ea typeface="Barlow Bold" pitchFamily="34" charset="-122"/>
                <a:cs typeface="Barlow Bold" pitchFamily="34" charset="-120"/>
              </a:rPr>
              <a:t>Handmaid of Theology</a:t>
            </a:r>
            <a:r>
              <a:rPr lang="en-US" sz="1100" dirty="0">
                <a:solidFill>
                  <a:srgbClr val="E5E0DF"/>
                </a:solidFill>
                <a:latin typeface="Barlow" pitchFamily="34" charset="0"/>
                <a:ea typeface="Barlow" pitchFamily="34" charset="-122"/>
                <a:cs typeface="Barlow" pitchFamily="34" charset="-120"/>
              </a:rPr>
              <a:t>.</a:t>
            </a:r>
            <a:endParaRPr lang="en-US" sz="1100" dirty="0"/>
          </a:p>
        </p:txBody>
      </p:sp>
      <p:sp>
        <p:nvSpPr>
          <p:cNvPr id="9" name="Shape 7"/>
          <p:cNvSpPr/>
          <p:nvPr/>
        </p:nvSpPr>
        <p:spPr>
          <a:xfrm>
            <a:off x="6002387" y="2117080"/>
            <a:ext cx="2580159" cy="1861319"/>
          </a:xfrm>
          <a:prstGeom prst="roundRect">
            <a:avLst>
              <a:gd name="adj" fmla="val 3167"/>
            </a:avLst>
          </a:prstGeom>
          <a:solidFill>
            <a:srgbClr val="191718">
              <a:alpha val="95000"/>
            </a:srgbClr>
          </a:solidFill>
          <a:ln w="19050">
            <a:solidFill>
              <a:srgbClr val="922022"/>
            </a:solidFill>
            <a:prstDash val="solid"/>
          </a:ln>
        </p:spPr>
        <p:txBody>
          <a:bodyPr/>
          <a:lstStyle/>
          <a:p>
            <a:endParaRPr lang="en-IN"/>
          </a:p>
        </p:txBody>
      </p:sp>
      <p:sp>
        <p:nvSpPr>
          <p:cNvPr id="10" name="Text 8"/>
          <p:cNvSpPr/>
          <p:nvPr/>
        </p:nvSpPr>
        <p:spPr>
          <a:xfrm>
            <a:off x="6161782" y="2276475"/>
            <a:ext cx="226136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Theology and Social Sciences</a:t>
            </a:r>
            <a:endParaRPr lang="en-US" sz="1300" dirty="0"/>
          </a:p>
        </p:txBody>
      </p:sp>
      <p:sp>
        <p:nvSpPr>
          <p:cNvPr id="11" name="Text 9"/>
          <p:cNvSpPr/>
          <p:nvPr/>
        </p:nvSpPr>
        <p:spPr>
          <a:xfrm>
            <a:off x="6161782" y="2696245"/>
            <a:ext cx="2261369" cy="1122759"/>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Contemporary Theologies use insights from Social/Human Sciences, and try to go beyond: From </a:t>
            </a:r>
            <a:r>
              <a:rPr lang="en-US" sz="1100" b="1" dirty="0">
                <a:solidFill>
                  <a:srgbClr val="E5E0DF"/>
                </a:solidFill>
                <a:latin typeface="Barlow Bold" pitchFamily="34" charset="0"/>
                <a:ea typeface="Barlow Bold" pitchFamily="34" charset="-122"/>
                <a:cs typeface="Barlow Bold" pitchFamily="34" charset="-120"/>
              </a:rPr>
              <a:t>'Understanding Reality'</a:t>
            </a:r>
            <a:r>
              <a:rPr lang="en-US" sz="1100" dirty="0">
                <a:solidFill>
                  <a:srgbClr val="E5E0DF"/>
                </a:solidFill>
                <a:latin typeface="Barlow" pitchFamily="34" charset="0"/>
                <a:ea typeface="Barlow" pitchFamily="34" charset="-122"/>
                <a:cs typeface="Barlow" pitchFamily="34" charset="-120"/>
              </a:rPr>
              <a:t> to </a:t>
            </a:r>
            <a:r>
              <a:rPr lang="en-US" sz="1100" b="1" dirty="0">
                <a:solidFill>
                  <a:srgbClr val="E5E0DF"/>
                </a:solidFill>
                <a:latin typeface="Barlow Bold" pitchFamily="34" charset="0"/>
                <a:ea typeface="Barlow Bold" pitchFamily="34" charset="-122"/>
                <a:cs typeface="Barlow Bold" pitchFamily="34" charset="-120"/>
              </a:rPr>
              <a:t>'Transforming Reality'</a:t>
            </a:r>
            <a:r>
              <a:rPr lang="en-US" sz="1100" dirty="0">
                <a:solidFill>
                  <a:srgbClr val="E5E0DF"/>
                </a:solidFill>
                <a:latin typeface="Barlow" pitchFamily="34" charset="0"/>
                <a:ea typeface="Barlow" pitchFamily="34" charset="-122"/>
                <a:cs typeface="Barlow" pitchFamily="34" charset="-120"/>
              </a:rPr>
              <a:t>. Four Pillars of Doing Theology: Scripture; Christian Tradition; Faith Experience; Social Context.</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1454" y="428625"/>
            <a:ext cx="8021092" cy="225549"/>
          </a:xfrm>
          <a:prstGeom prst="rect">
            <a:avLst/>
          </a:prstGeom>
          <a:noFill/>
          <a:ln/>
        </p:spPr>
        <p:txBody>
          <a:bodyPr wrap="none" lIns="0" tIns="0" rIns="0" bIns="0" rtlCol="0" anchor="t"/>
          <a:lstStyle/>
          <a:p>
            <a:pPr marL="0" indent="0" algn="l">
              <a:lnSpc>
                <a:spcPct val="83000"/>
              </a:lnSpc>
              <a:buNone/>
            </a:pPr>
            <a:r>
              <a:rPr lang="en-US" sz="1750" dirty="0">
                <a:solidFill>
                  <a:srgbClr val="FFFFFF"/>
                </a:solidFill>
                <a:latin typeface="Fraunces Medium" pitchFamily="34" charset="0"/>
                <a:ea typeface="Fraunces Medium" pitchFamily="34" charset="-122"/>
                <a:cs typeface="Fraunces Medium" pitchFamily="34" charset="-120"/>
              </a:rPr>
              <a:t>Relation of Social Analysis to Theology</a:t>
            </a:r>
            <a:endParaRPr lang="en-US" sz="1750" dirty="0"/>
          </a:p>
        </p:txBody>
      </p:sp>
      <p:pic>
        <p:nvPicPr>
          <p:cNvPr id="3" name="Image 0" descr="preencoded.png"/>
          <p:cNvPicPr>
            <a:picLocks noChangeAspect="1"/>
          </p:cNvPicPr>
          <p:nvPr/>
        </p:nvPicPr>
        <p:blipFill>
          <a:blip r:embed="rId3"/>
          <a:stretch>
            <a:fillRect/>
          </a:stretch>
        </p:blipFill>
        <p:spPr>
          <a:xfrm>
            <a:off x="701353" y="780901"/>
            <a:ext cx="7741221" cy="3783955"/>
          </a:xfrm>
          <a:prstGeom prst="rect">
            <a:avLst/>
          </a:prstGeom>
        </p:spPr>
      </p:pic>
      <p:sp>
        <p:nvSpPr>
          <p:cNvPr id="4" name="Text 1"/>
          <p:cNvSpPr/>
          <p:nvPr/>
        </p:nvSpPr>
        <p:spPr>
          <a:xfrm>
            <a:off x="1326615" y="2109277"/>
            <a:ext cx="1726140" cy="172576"/>
          </a:xfrm>
          <a:prstGeom prst="rect">
            <a:avLst/>
          </a:prstGeom>
          <a:noFill/>
          <a:ln/>
        </p:spPr>
        <p:txBody>
          <a:bodyPr wrap="none" lIns="0" tIns="0" rIns="0" bIns="0" rtlCol="0" anchor="t"/>
          <a:lstStyle/>
          <a:p>
            <a:pPr marL="0" indent="0" algn="ctr">
              <a:lnSpc>
                <a:spcPct val="83000"/>
              </a:lnSpc>
              <a:buNone/>
            </a:pPr>
            <a:r>
              <a:rPr lang="en-US" sz="1350" dirty="0">
                <a:solidFill>
                  <a:srgbClr val="E5E0DF"/>
                </a:solidFill>
                <a:latin typeface="Fraunces Medium" pitchFamily="34" charset="0"/>
                <a:ea typeface="Fraunces Medium" pitchFamily="34" charset="-122"/>
                <a:cs typeface="Fraunces Medium" pitchFamily="34" charset="-120"/>
              </a:rPr>
              <a:t>Insertion</a:t>
            </a:r>
            <a:endParaRPr lang="en-US" sz="1350" dirty="0"/>
          </a:p>
        </p:txBody>
      </p:sp>
      <p:sp>
        <p:nvSpPr>
          <p:cNvPr id="5" name="Text 2"/>
          <p:cNvSpPr/>
          <p:nvPr/>
        </p:nvSpPr>
        <p:spPr>
          <a:xfrm>
            <a:off x="5200749" y="1243011"/>
            <a:ext cx="1726139" cy="172576"/>
          </a:xfrm>
          <a:prstGeom prst="rect">
            <a:avLst/>
          </a:prstGeom>
          <a:noFill/>
          <a:ln/>
        </p:spPr>
        <p:txBody>
          <a:bodyPr wrap="none" lIns="0" tIns="0" rIns="0" bIns="0" rtlCol="0" anchor="t"/>
          <a:lstStyle/>
          <a:p>
            <a:pPr marL="0" indent="0" algn="ctr">
              <a:lnSpc>
                <a:spcPct val="83000"/>
              </a:lnSpc>
              <a:buNone/>
            </a:pPr>
            <a:r>
              <a:rPr lang="en-US" sz="1350" dirty="0">
                <a:solidFill>
                  <a:srgbClr val="E5E0DF"/>
                </a:solidFill>
                <a:latin typeface="Fraunces Medium" pitchFamily="34" charset="0"/>
                <a:ea typeface="Fraunces Medium" pitchFamily="34" charset="-122"/>
                <a:cs typeface="Fraunces Medium" pitchFamily="34" charset="-120"/>
              </a:rPr>
              <a:t>Social Analysis</a:t>
            </a:r>
            <a:endParaRPr lang="en-US" sz="1350" dirty="0"/>
          </a:p>
        </p:txBody>
      </p:sp>
      <p:sp>
        <p:nvSpPr>
          <p:cNvPr id="6" name="Text 3"/>
          <p:cNvSpPr/>
          <p:nvPr/>
        </p:nvSpPr>
        <p:spPr>
          <a:xfrm>
            <a:off x="6030042" y="3023669"/>
            <a:ext cx="1848084" cy="172576"/>
          </a:xfrm>
          <a:prstGeom prst="rect">
            <a:avLst/>
          </a:prstGeom>
          <a:noFill/>
          <a:ln/>
        </p:spPr>
        <p:txBody>
          <a:bodyPr wrap="none" lIns="0" tIns="0" rIns="0" bIns="0" rtlCol="0" anchor="t"/>
          <a:lstStyle/>
          <a:p>
            <a:pPr marL="0" indent="0" algn="ctr">
              <a:lnSpc>
                <a:spcPct val="83000"/>
              </a:lnSpc>
              <a:buNone/>
            </a:pPr>
            <a:r>
              <a:rPr lang="en-US" sz="1350" dirty="0">
                <a:solidFill>
                  <a:srgbClr val="E5E0DF"/>
                </a:solidFill>
                <a:latin typeface="Fraunces Medium" pitchFamily="34" charset="0"/>
                <a:ea typeface="Fraunces Medium" pitchFamily="34" charset="-122"/>
                <a:cs typeface="Fraunces Medium" pitchFamily="34" charset="-120"/>
              </a:rPr>
              <a:t>Theological Reflection</a:t>
            </a:r>
            <a:endParaRPr lang="en-US" sz="1350" dirty="0"/>
          </a:p>
        </p:txBody>
      </p:sp>
      <p:sp>
        <p:nvSpPr>
          <p:cNvPr id="7" name="Text 4"/>
          <p:cNvSpPr/>
          <p:nvPr/>
        </p:nvSpPr>
        <p:spPr>
          <a:xfrm>
            <a:off x="2208923" y="3905977"/>
            <a:ext cx="1726140" cy="172576"/>
          </a:xfrm>
          <a:prstGeom prst="rect">
            <a:avLst/>
          </a:prstGeom>
          <a:noFill/>
          <a:ln/>
        </p:spPr>
        <p:txBody>
          <a:bodyPr wrap="none" lIns="0" tIns="0" rIns="0" bIns="0" rtlCol="0" anchor="t"/>
          <a:lstStyle/>
          <a:p>
            <a:pPr marL="0" indent="0" algn="ctr">
              <a:lnSpc>
                <a:spcPct val="83000"/>
              </a:lnSpc>
              <a:buNone/>
            </a:pPr>
            <a:r>
              <a:rPr lang="en-US" sz="1350" dirty="0">
                <a:solidFill>
                  <a:srgbClr val="E5E0DF"/>
                </a:solidFill>
                <a:latin typeface="Fraunces Medium" pitchFamily="34" charset="0"/>
                <a:ea typeface="Fraunces Medium" pitchFamily="34" charset="-122"/>
                <a:cs typeface="Fraunces Medium" pitchFamily="34" charset="-120"/>
              </a:rPr>
              <a:t>Pastoral Planning</a:t>
            </a:r>
            <a:endParaRPr lang="en-US" sz="1350" dirty="0"/>
          </a:p>
        </p:txBody>
      </p:sp>
      <p:sp>
        <p:nvSpPr>
          <p:cNvPr id="8" name="Text 5"/>
          <p:cNvSpPr/>
          <p:nvPr/>
        </p:nvSpPr>
        <p:spPr>
          <a:xfrm>
            <a:off x="561454" y="4636071"/>
            <a:ext cx="8478292" cy="78804"/>
          </a:xfrm>
          <a:prstGeom prst="rect">
            <a:avLst/>
          </a:prstGeom>
          <a:noFill/>
          <a:ln/>
        </p:spPr>
        <p:txBody>
          <a:bodyPr wrap="none" lIns="0" tIns="0" rIns="0" bIns="0" rtlCol="0" anchor="t"/>
          <a:lstStyle/>
          <a:p>
            <a:pPr marL="0" indent="0" algn="l">
              <a:lnSpc>
                <a:spcPct val="70000"/>
              </a:lnSpc>
              <a:buNone/>
            </a:pPr>
            <a:r>
              <a:rPr lang="en-US" sz="700" dirty="0">
                <a:solidFill>
                  <a:srgbClr val="E5E0DF"/>
                </a:solidFill>
                <a:latin typeface="Barlow" pitchFamily="34" charset="0"/>
                <a:ea typeface="Barlow" pitchFamily="34" charset="-122"/>
                <a:cs typeface="Barlow" pitchFamily="34" charset="-120"/>
              </a:rPr>
              <a:t>This pastoral cycle — rooted in the Incarnation, the Shepherd's gaze, the Kingdom of God ideal, and the Kenosis of the Cross — provides the methodological backbone for contextual theology in India.</a:t>
            </a:r>
            <a:endParaRPr lang="en-US" sz="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1454" y="388441"/>
            <a:ext cx="8021092" cy="283220"/>
          </a:xfrm>
          <a:prstGeom prst="rect">
            <a:avLst/>
          </a:prstGeom>
          <a:noFill/>
          <a:ln/>
        </p:spPr>
        <p:txBody>
          <a:bodyPr wrap="none" lIns="0" tIns="0" rIns="0" bIns="0" rtlCol="0" anchor="t"/>
          <a:lstStyle/>
          <a:p>
            <a:pPr marL="0" indent="0" algn="l">
              <a:lnSpc>
                <a:spcPct val="83000"/>
              </a:lnSpc>
              <a:buNone/>
            </a:pPr>
            <a:r>
              <a:rPr lang="en-US" sz="2200" dirty="0">
                <a:solidFill>
                  <a:srgbClr val="FFFFFF"/>
                </a:solidFill>
                <a:latin typeface="Fraunces Medium" pitchFamily="34" charset="0"/>
                <a:ea typeface="Fraunces Medium" pitchFamily="34" charset="-122"/>
                <a:cs typeface="Fraunces Medium" pitchFamily="34" charset="-120"/>
              </a:rPr>
              <a:t>History of Theology</a:t>
            </a:r>
            <a:endParaRPr lang="en-US" sz="2200" dirty="0"/>
          </a:p>
        </p:txBody>
      </p:sp>
      <p:sp>
        <p:nvSpPr>
          <p:cNvPr id="3" name="Text 1"/>
          <p:cNvSpPr/>
          <p:nvPr/>
        </p:nvSpPr>
        <p:spPr>
          <a:xfrm>
            <a:off x="561454" y="871463"/>
            <a:ext cx="8021092" cy="218331"/>
          </a:xfrm>
          <a:prstGeom prst="rect">
            <a:avLst/>
          </a:prstGeom>
          <a:noFill/>
          <a:ln/>
        </p:spPr>
        <p:txBody>
          <a:bodyPr wrap="square" lIns="0" tIns="0" rIns="0" bIns="0" rtlCol="0" anchor="t">
            <a:normAutofit/>
          </a:bodyPr>
          <a:lstStyle/>
          <a:p>
            <a:pPr marL="0" indent="0" algn="l">
              <a:lnSpc>
                <a:spcPct val="77000"/>
              </a:lnSpc>
              <a:buNone/>
            </a:pPr>
            <a:r>
              <a:rPr lang="en-US" sz="900" dirty="0">
                <a:solidFill>
                  <a:srgbClr val="E5E0DF"/>
                </a:solidFill>
                <a:latin typeface="Barlow" pitchFamily="34" charset="0"/>
                <a:ea typeface="Barlow" pitchFamily="34" charset="-122"/>
                <a:cs typeface="Barlow" pitchFamily="34" charset="-120"/>
              </a:rPr>
              <a:t>Theology is the Encounter of the Human Person with God. When did this Encounter begin? OT? Creation Story? Liberation Experience? Christ Event? Church? Early Fathers? Councils?</a:t>
            </a:r>
            <a:endParaRPr lang="en-US" sz="900" dirty="0"/>
          </a:p>
        </p:txBody>
      </p:sp>
      <p:pic>
        <p:nvPicPr>
          <p:cNvPr id="4" name="Image 0" descr="preencoded.png"/>
          <p:cNvPicPr>
            <a:picLocks noChangeAspect="1"/>
          </p:cNvPicPr>
          <p:nvPr/>
        </p:nvPicPr>
        <p:blipFill>
          <a:blip r:embed="rId3"/>
          <a:stretch>
            <a:fillRect/>
          </a:stretch>
        </p:blipFill>
        <p:spPr>
          <a:xfrm>
            <a:off x="561454" y="1202159"/>
            <a:ext cx="592113" cy="592187"/>
          </a:xfrm>
          <a:prstGeom prst="rect">
            <a:avLst/>
          </a:prstGeom>
        </p:spPr>
      </p:pic>
      <p:sp>
        <p:nvSpPr>
          <p:cNvPr id="5" name="Text 2"/>
          <p:cNvSpPr/>
          <p:nvPr/>
        </p:nvSpPr>
        <p:spPr>
          <a:xfrm>
            <a:off x="1253430" y="1202159"/>
            <a:ext cx="7329115" cy="141610"/>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Fraunces Medium" pitchFamily="34" charset="0"/>
                <a:ea typeface="Fraunces Medium" pitchFamily="34" charset="-122"/>
                <a:cs typeface="Fraunces Medium" pitchFamily="34" charset="-120"/>
              </a:rPr>
              <a:t>A. Biblical and Patristic Theologies</a:t>
            </a:r>
            <a:endParaRPr lang="en-US" sz="1100" dirty="0"/>
          </a:p>
        </p:txBody>
      </p:sp>
      <p:sp>
        <p:nvSpPr>
          <p:cNvPr id="6" name="Text 3"/>
          <p:cNvSpPr/>
          <p:nvPr/>
        </p:nvSpPr>
        <p:spPr>
          <a:xfrm>
            <a:off x="1253430" y="1403672"/>
            <a:ext cx="7329115" cy="109165"/>
          </a:xfrm>
          <a:prstGeom prst="rect">
            <a:avLst/>
          </a:prstGeom>
          <a:noFill/>
          <a:ln/>
        </p:spPr>
        <p:txBody>
          <a:bodyPr wrap="none" lIns="0" tIns="0" rIns="0" bIns="0" rtlCol="0" anchor="t"/>
          <a:lstStyle/>
          <a:p>
            <a:pPr marL="0" indent="0" algn="l">
              <a:lnSpc>
                <a:spcPct val="77000"/>
              </a:lnSpc>
              <a:buNone/>
            </a:pPr>
            <a:r>
              <a:rPr lang="en-US" sz="900" dirty="0">
                <a:solidFill>
                  <a:srgbClr val="E5E0DF"/>
                </a:solidFill>
                <a:latin typeface="Barlow" pitchFamily="34" charset="0"/>
                <a:ea typeface="Barlow" pitchFamily="34" charset="-122"/>
                <a:cs typeface="Barlow" pitchFamily="34" charset="-120"/>
              </a:rPr>
              <a:t>The foundational period of Scripture and the Fathers of the Church.</a:t>
            </a:r>
            <a:endParaRPr lang="en-US" sz="900" dirty="0"/>
          </a:p>
        </p:txBody>
      </p:sp>
      <p:pic>
        <p:nvPicPr>
          <p:cNvPr id="7" name="Image 1" descr="preencoded.png"/>
          <p:cNvPicPr>
            <a:picLocks noChangeAspect="1"/>
          </p:cNvPicPr>
          <p:nvPr/>
        </p:nvPicPr>
        <p:blipFill>
          <a:blip r:embed="rId4"/>
          <a:stretch>
            <a:fillRect/>
          </a:stretch>
        </p:blipFill>
        <p:spPr>
          <a:xfrm>
            <a:off x="561454" y="1912739"/>
            <a:ext cx="592113" cy="592187"/>
          </a:xfrm>
          <a:prstGeom prst="rect">
            <a:avLst/>
          </a:prstGeom>
        </p:spPr>
      </p:pic>
      <p:sp>
        <p:nvSpPr>
          <p:cNvPr id="8" name="Text 4"/>
          <p:cNvSpPr/>
          <p:nvPr/>
        </p:nvSpPr>
        <p:spPr>
          <a:xfrm>
            <a:off x="1253430" y="1912739"/>
            <a:ext cx="7329115" cy="141610"/>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Fraunces Medium" pitchFamily="34" charset="0"/>
                <a:ea typeface="Fraunces Medium" pitchFamily="34" charset="-122"/>
                <a:cs typeface="Fraunces Medium" pitchFamily="34" charset="-120"/>
              </a:rPr>
              <a:t>B. Eastern Theologies</a:t>
            </a:r>
            <a:endParaRPr lang="en-US" sz="1100" dirty="0"/>
          </a:p>
        </p:txBody>
      </p:sp>
      <p:sp>
        <p:nvSpPr>
          <p:cNvPr id="9" name="Text 5"/>
          <p:cNvSpPr/>
          <p:nvPr/>
        </p:nvSpPr>
        <p:spPr>
          <a:xfrm>
            <a:off x="1253430" y="2114252"/>
            <a:ext cx="7329115" cy="109165"/>
          </a:xfrm>
          <a:prstGeom prst="rect">
            <a:avLst/>
          </a:prstGeom>
          <a:noFill/>
          <a:ln/>
        </p:spPr>
        <p:txBody>
          <a:bodyPr wrap="none" lIns="0" tIns="0" rIns="0" bIns="0" rtlCol="0" anchor="t"/>
          <a:lstStyle/>
          <a:p>
            <a:pPr marL="0" indent="0" algn="l">
              <a:lnSpc>
                <a:spcPct val="77000"/>
              </a:lnSpc>
              <a:buNone/>
            </a:pPr>
            <a:r>
              <a:rPr lang="en-US" sz="900" dirty="0">
                <a:solidFill>
                  <a:srgbClr val="E5E0DF"/>
                </a:solidFill>
                <a:latin typeface="Barlow" pitchFamily="34" charset="0"/>
                <a:ea typeface="Barlow" pitchFamily="34" charset="-122"/>
                <a:cs typeface="Barlow" pitchFamily="34" charset="-120"/>
              </a:rPr>
              <a:t>Greek, Syriac, and Oriental Christian traditions.</a:t>
            </a:r>
            <a:endParaRPr lang="en-US" sz="900" dirty="0"/>
          </a:p>
        </p:txBody>
      </p:sp>
      <p:pic>
        <p:nvPicPr>
          <p:cNvPr id="10" name="Image 2" descr="preencoded.png"/>
          <p:cNvPicPr>
            <a:picLocks noChangeAspect="1"/>
          </p:cNvPicPr>
          <p:nvPr/>
        </p:nvPicPr>
        <p:blipFill>
          <a:blip r:embed="rId5"/>
          <a:stretch>
            <a:fillRect/>
          </a:stretch>
        </p:blipFill>
        <p:spPr>
          <a:xfrm>
            <a:off x="561454" y="2623319"/>
            <a:ext cx="592113" cy="592187"/>
          </a:xfrm>
          <a:prstGeom prst="rect">
            <a:avLst/>
          </a:prstGeom>
        </p:spPr>
      </p:pic>
      <p:sp>
        <p:nvSpPr>
          <p:cNvPr id="11" name="Text 6"/>
          <p:cNvSpPr/>
          <p:nvPr/>
        </p:nvSpPr>
        <p:spPr>
          <a:xfrm>
            <a:off x="1253430" y="2623319"/>
            <a:ext cx="7329115" cy="141610"/>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Fraunces Medium" pitchFamily="34" charset="0"/>
                <a:ea typeface="Fraunces Medium" pitchFamily="34" charset="-122"/>
                <a:cs typeface="Fraunces Medium" pitchFamily="34" charset="-120"/>
              </a:rPr>
              <a:t>C. Scholastic Theology</a:t>
            </a:r>
            <a:endParaRPr lang="en-US" sz="1100" dirty="0"/>
          </a:p>
        </p:txBody>
      </p:sp>
      <p:sp>
        <p:nvSpPr>
          <p:cNvPr id="12" name="Text 7"/>
          <p:cNvSpPr/>
          <p:nvPr/>
        </p:nvSpPr>
        <p:spPr>
          <a:xfrm>
            <a:off x="1253430" y="2824832"/>
            <a:ext cx="7329115" cy="109165"/>
          </a:xfrm>
          <a:prstGeom prst="rect">
            <a:avLst/>
          </a:prstGeom>
          <a:noFill/>
          <a:ln/>
        </p:spPr>
        <p:txBody>
          <a:bodyPr wrap="none" lIns="0" tIns="0" rIns="0" bIns="0" rtlCol="0" anchor="t"/>
          <a:lstStyle/>
          <a:p>
            <a:pPr marL="0" indent="0" algn="l">
              <a:lnSpc>
                <a:spcPct val="77000"/>
              </a:lnSpc>
              <a:buNone/>
            </a:pPr>
            <a:r>
              <a:rPr lang="en-US" sz="900" dirty="0">
                <a:solidFill>
                  <a:srgbClr val="E5E0DF"/>
                </a:solidFill>
                <a:latin typeface="Barlow" pitchFamily="34" charset="0"/>
                <a:ea typeface="Barlow" pitchFamily="34" charset="-122"/>
                <a:cs typeface="Barlow" pitchFamily="34" charset="-120"/>
              </a:rPr>
              <a:t>Medieval synthesis of faith and reason.</a:t>
            </a:r>
            <a:endParaRPr lang="en-US" sz="900" dirty="0"/>
          </a:p>
        </p:txBody>
      </p:sp>
      <p:pic>
        <p:nvPicPr>
          <p:cNvPr id="13" name="Image 3" descr="preencoded.png"/>
          <p:cNvPicPr>
            <a:picLocks noChangeAspect="1"/>
          </p:cNvPicPr>
          <p:nvPr/>
        </p:nvPicPr>
        <p:blipFill>
          <a:blip r:embed="rId6"/>
          <a:stretch>
            <a:fillRect/>
          </a:stretch>
        </p:blipFill>
        <p:spPr>
          <a:xfrm>
            <a:off x="561454" y="3333899"/>
            <a:ext cx="592113" cy="592187"/>
          </a:xfrm>
          <a:prstGeom prst="rect">
            <a:avLst/>
          </a:prstGeom>
        </p:spPr>
      </p:pic>
      <p:sp>
        <p:nvSpPr>
          <p:cNvPr id="14" name="Text 8"/>
          <p:cNvSpPr/>
          <p:nvPr/>
        </p:nvSpPr>
        <p:spPr>
          <a:xfrm>
            <a:off x="1253430" y="3333899"/>
            <a:ext cx="7329115" cy="141610"/>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Fraunces Medium" pitchFamily="34" charset="0"/>
                <a:ea typeface="Fraunces Medium" pitchFamily="34" charset="-122"/>
                <a:cs typeface="Fraunces Medium" pitchFamily="34" charset="-120"/>
              </a:rPr>
              <a:t>D. Modern Theologies</a:t>
            </a:r>
            <a:endParaRPr lang="en-US" sz="1100" dirty="0"/>
          </a:p>
        </p:txBody>
      </p:sp>
      <p:sp>
        <p:nvSpPr>
          <p:cNvPr id="15" name="Text 9"/>
          <p:cNvSpPr/>
          <p:nvPr/>
        </p:nvSpPr>
        <p:spPr>
          <a:xfrm>
            <a:off x="1253430" y="3535412"/>
            <a:ext cx="7329115" cy="109165"/>
          </a:xfrm>
          <a:prstGeom prst="rect">
            <a:avLst/>
          </a:prstGeom>
          <a:noFill/>
          <a:ln/>
        </p:spPr>
        <p:txBody>
          <a:bodyPr wrap="none" lIns="0" tIns="0" rIns="0" bIns="0" rtlCol="0" anchor="t"/>
          <a:lstStyle/>
          <a:p>
            <a:pPr marL="0" indent="0" algn="l">
              <a:lnSpc>
                <a:spcPct val="77000"/>
              </a:lnSpc>
              <a:buNone/>
            </a:pPr>
            <a:r>
              <a:rPr lang="en-US" sz="900" dirty="0">
                <a:solidFill>
                  <a:srgbClr val="E5E0DF"/>
                </a:solidFill>
                <a:latin typeface="Barlow" pitchFamily="34" charset="0"/>
                <a:ea typeface="Barlow" pitchFamily="34" charset="-122"/>
                <a:cs typeface="Barlow" pitchFamily="34" charset="-120"/>
              </a:rPr>
              <a:t>Post-Reformation, Neo-Scholastic, and Transcendental approaches.</a:t>
            </a:r>
            <a:endParaRPr lang="en-US" sz="900" dirty="0"/>
          </a:p>
        </p:txBody>
      </p:sp>
      <p:pic>
        <p:nvPicPr>
          <p:cNvPr id="16" name="Image 4" descr="preencoded.png"/>
          <p:cNvPicPr>
            <a:picLocks noChangeAspect="1"/>
          </p:cNvPicPr>
          <p:nvPr/>
        </p:nvPicPr>
        <p:blipFill>
          <a:blip r:embed="rId7"/>
          <a:stretch>
            <a:fillRect/>
          </a:stretch>
        </p:blipFill>
        <p:spPr>
          <a:xfrm>
            <a:off x="561454" y="4044479"/>
            <a:ext cx="592113" cy="592187"/>
          </a:xfrm>
          <a:prstGeom prst="rect">
            <a:avLst/>
          </a:prstGeom>
        </p:spPr>
      </p:pic>
      <p:sp>
        <p:nvSpPr>
          <p:cNvPr id="17" name="Text 10"/>
          <p:cNvSpPr/>
          <p:nvPr/>
        </p:nvSpPr>
        <p:spPr>
          <a:xfrm>
            <a:off x="1253430" y="4044479"/>
            <a:ext cx="7329115" cy="141610"/>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Fraunces Medium" pitchFamily="34" charset="0"/>
                <a:ea typeface="Fraunces Medium" pitchFamily="34" charset="-122"/>
                <a:cs typeface="Fraunces Medium" pitchFamily="34" charset="-120"/>
              </a:rPr>
              <a:t>E. Contextual Theologies</a:t>
            </a:r>
            <a:endParaRPr lang="en-US" sz="1100" dirty="0"/>
          </a:p>
        </p:txBody>
      </p:sp>
      <p:sp>
        <p:nvSpPr>
          <p:cNvPr id="18" name="Text 11"/>
          <p:cNvSpPr/>
          <p:nvPr/>
        </p:nvSpPr>
        <p:spPr>
          <a:xfrm>
            <a:off x="1253430" y="4245992"/>
            <a:ext cx="7329115" cy="109165"/>
          </a:xfrm>
          <a:prstGeom prst="rect">
            <a:avLst/>
          </a:prstGeom>
          <a:noFill/>
          <a:ln/>
        </p:spPr>
        <p:txBody>
          <a:bodyPr wrap="none" lIns="0" tIns="0" rIns="0" bIns="0" rtlCol="0" anchor="t"/>
          <a:lstStyle/>
          <a:p>
            <a:pPr marL="0" indent="0" algn="l">
              <a:lnSpc>
                <a:spcPct val="77000"/>
              </a:lnSpc>
              <a:buNone/>
            </a:pPr>
            <a:r>
              <a:rPr lang="en-US" sz="900" dirty="0">
                <a:solidFill>
                  <a:srgbClr val="E5E0DF"/>
                </a:solidFill>
                <a:latin typeface="Barlow" pitchFamily="34" charset="0"/>
                <a:ea typeface="Barlow" pitchFamily="34" charset="-122"/>
                <a:cs typeface="Barlow" pitchFamily="34" charset="-120"/>
              </a:rPr>
              <a:t>Liberation, Dalit, Tribal, Feminist, Eco-Theology and beyond.</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1454" y="1232371"/>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Biblical Theology</a:t>
            </a:r>
            <a:endParaRPr lang="en-US" sz="2600" dirty="0"/>
          </a:p>
        </p:txBody>
      </p:sp>
      <p:sp>
        <p:nvSpPr>
          <p:cNvPr id="3" name="Text 1"/>
          <p:cNvSpPr/>
          <p:nvPr/>
        </p:nvSpPr>
        <p:spPr>
          <a:xfrm>
            <a:off x="561454" y="1918915"/>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Old Testament</a:t>
            </a:r>
            <a:endParaRPr lang="en-US" sz="1300" dirty="0"/>
          </a:p>
        </p:txBody>
      </p:sp>
      <p:sp>
        <p:nvSpPr>
          <p:cNvPr id="4" name="Text 2"/>
          <p:cNvSpPr/>
          <p:nvPr/>
        </p:nvSpPr>
        <p:spPr>
          <a:xfrm>
            <a:off x="561454" y="2227064"/>
            <a:ext cx="3839319" cy="1249040"/>
          </a:xfrm>
          <a:prstGeom prst="rect">
            <a:avLst/>
          </a:prstGeom>
          <a:noFill/>
          <a:ln/>
        </p:spPr>
        <p:txBody>
          <a:bodyPr wrap="square" lIns="0" tIns="0" rIns="0" bIns="0" rtlCol="0" anchor="t">
            <a:normAutofit/>
          </a:bodyPr>
          <a:lstStyle/>
          <a:p>
            <a:pPr marL="0" indent="0" algn="l">
              <a:lnSpc>
                <a:spcPct val="83000"/>
              </a:lnSpc>
              <a:spcAft>
                <a:spcPts val="950"/>
              </a:spcAft>
              <a:buNone/>
            </a:pPr>
            <a:r>
              <a:rPr lang="en-US" sz="1100" dirty="0">
                <a:solidFill>
                  <a:srgbClr val="E5E0DF"/>
                </a:solidFill>
                <a:latin typeface="Barlow" pitchFamily="34" charset="0"/>
                <a:ea typeface="Barlow" pitchFamily="34" charset="-122"/>
                <a:cs typeface="Barlow" pitchFamily="34" charset="-120"/>
              </a:rPr>
              <a:t>OT and NT as Divinely Inspired — Twofold Authorship: Divine and Human. God chose certain Human Authors, who made full use of their own Faculties and Powers so that, though God acted in them and by them, it was as true Authors that they consigned to writing whatever God wanted written, and no more (DV 11).</a:t>
            </a:r>
            <a:endParaRPr lang="en-US" sz="1100" dirty="0"/>
          </a:p>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In OT we find Yahwist, Elohist, Priestly, Deuteronomic, Wisdom, Prophetic Theology etc. Streams of Revelation: Creation, Law, Prophets, Wisdom, Messianism etc.</a:t>
            </a:r>
            <a:endParaRPr lang="en-US" sz="1100" dirty="0"/>
          </a:p>
        </p:txBody>
      </p:sp>
      <p:sp>
        <p:nvSpPr>
          <p:cNvPr id="5" name="Text 3"/>
          <p:cNvSpPr/>
          <p:nvPr/>
        </p:nvSpPr>
        <p:spPr>
          <a:xfrm>
            <a:off x="4747989" y="1918915"/>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New Testament</a:t>
            </a:r>
            <a:endParaRPr lang="en-US" sz="1300" dirty="0"/>
          </a:p>
        </p:txBody>
      </p:sp>
      <p:sp>
        <p:nvSpPr>
          <p:cNvPr id="6" name="Text 4"/>
          <p:cNvSpPr/>
          <p:nvPr/>
        </p:nvSpPr>
        <p:spPr>
          <a:xfrm>
            <a:off x="4747989" y="2227064"/>
            <a:ext cx="3839319"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NT = God's Self-Communication in History in Jesus Christ for the Salvation of All and the Establishment of the Kingdom of God. The Christ Event is the Most Central Theme of the NT:</a:t>
            </a:r>
            <a:endParaRPr lang="en-US" sz="1100" dirty="0"/>
          </a:p>
        </p:txBody>
      </p:sp>
      <p:sp>
        <p:nvSpPr>
          <p:cNvPr id="7" name="Text 5"/>
          <p:cNvSpPr/>
          <p:nvPr/>
        </p:nvSpPr>
        <p:spPr>
          <a:xfrm>
            <a:off x="4747989" y="2774379"/>
            <a:ext cx="3839319" cy="1087636"/>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Incarnation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Mission (Kingdom of God)</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Law of Love</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Passion – Death – Resurrection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Pentecost – Church – Proclamation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Christocentrism</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1454" y="848023"/>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One Christ — Many Christologies</a:t>
            </a:r>
            <a:endParaRPr lang="en-US" sz="2600" dirty="0"/>
          </a:p>
        </p:txBody>
      </p:sp>
      <p:sp>
        <p:nvSpPr>
          <p:cNvPr id="3" name="Text 1"/>
          <p:cNvSpPr/>
          <p:nvPr/>
        </p:nvSpPr>
        <p:spPr>
          <a:xfrm>
            <a:off x="561454" y="1464394"/>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NT Christology displays Considerable Diversity. A Backward Pattern in the NT Christology: 'Christological Moments' such as 'Second-Coming Christology', 'Resurrection Christology', 'Ministry Christology', 'Boyhood Christology', 'Conception Christology' and 'Pre-Existence Christology' (Raymond E. Brown, "Christology," NJBC 1357-59).</a:t>
            </a:r>
            <a:endParaRPr lang="en-US" sz="1100" dirty="0"/>
          </a:p>
        </p:txBody>
      </p:sp>
      <p:sp>
        <p:nvSpPr>
          <p:cNvPr id="4" name="Shape 2"/>
          <p:cNvSpPr/>
          <p:nvPr/>
        </p:nvSpPr>
        <p:spPr>
          <a:xfrm>
            <a:off x="561454" y="2043336"/>
            <a:ext cx="1900014" cy="850329"/>
          </a:xfrm>
          <a:prstGeom prst="roundRect">
            <a:avLst>
              <a:gd name="adj" fmla="val 6933"/>
            </a:avLst>
          </a:prstGeom>
          <a:solidFill>
            <a:srgbClr val="790709"/>
          </a:solidFill>
          <a:ln w="4763">
            <a:solidFill>
              <a:srgbClr val="922022"/>
            </a:solidFill>
            <a:prstDash val="solid"/>
          </a:ln>
        </p:spPr>
        <p:txBody>
          <a:bodyPr/>
          <a:lstStyle/>
          <a:p>
            <a:endParaRPr lang="en-IN"/>
          </a:p>
        </p:txBody>
      </p:sp>
      <p:sp>
        <p:nvSpPr>
          <p:cNvPr id="5" name="Text 3"/>
          <p:cNvSpPr/>
          <p:nvPr/>
        </p:nvSpPr>
        <p:spPr>
          <a:xfrm>
            <a:off x="706562" y="2188443"/>
            <a:ext cx="160979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Logos Christology</a:t>
            </a:r>
            <a:endParaRPr lang="en-US" sz="1300" dirty="0"/>
          </a:p>
        </p:txBody>
      </p:sp>
      <p:sp>
        <p:nvSpPr>
          <p:cNvPr id="6" name="Text 4"/>
          <p:cNvSpPr/>
          <p:nvPr/>
        </p:nvSpPr>
        <p:spPr>
          <a:xfrm>
            <a:off x="706562" y="2440409"/>
            <a:ext cx="1609799"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John</a:t>
            </a:r>
            <a:endParaRPr lang="en-US" sz="1100" dirty="0"/>
          </a:p>
        </p:txBody>
      </p:sp>
      <p:sp>
        <p:nvSpPr>
          <p:cNvPr id="7" name="Shape 5"/>
          <p:cNvSpPr/>
          <p:nvPr/>
        </p:nvSpPr>
        <p:spPr>
          <a:xfrm>
            <a:off x="2601813" y="2043336"/>
            <a:ext cx="1900014" cy="850329"/>
          </a:xfrm>
          <a:prstGeom prst="roundRect">
            <a:avLst>
              <a:gd name="adj" fmla="val 6933"/>
            </a:avLst>
          </a:prstGeom>
          <a:solidFill>
            <a:srgbClr val="790709"/>
          </a:solidFill>
          <a:ln w="4763">
            <a:solidFill>
              <a:srgbClr val="922022"/>
            </a:solidFill>
            <a:prstDash val="solid"/>
          </a:ln>
        </p:spPr>
        <p:txBody>
          <a:bodyPr/>
          <a:lstStyle/>
          <a:p>
            <a:endParaRPr lang="en-IN"/>
          </a:p>
        </p:txBody>
      </p:sp>
      <p:sp>
        <p:nvSpPr>
          <p:cNvPr id="8" name="Text 6"/>
          <p:cNvSpPr/>
          <p:nvPr/>
        </p:nvSpPr>
        <p:spPr>
          <a:xfrm>
            <a:off x="2746921" y="2188443"/>
            <a:ext cx="160979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Messianic Christology</a:t>
            </a:r>
            <a:endParaRPr lang="en-US" sz="1300" dirty="0"/>
          </a:p>
        </p:txBody>
      </p:sp>
      <p:sp>
        <p:nvSpPr>
          <p:cNvPr id="9" name="Text 7"/>
          <p:cNvSpPr/>
          <p:nvPr/>
        </p:nvSpPr>
        <p:spPr>
          <a:xfrm>
            <a:off x="2746921" y="2608213"/>
            <a:ext cx="1609799"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Acts, Synoptics</a:t>
            </a:r>
            <a:endParaRPr lang="en-US" sz="1100" dirty="0"/>
          </a:p>
        </p:txBody>
      </p:sp>
      <p:sp>
        <p:nvSpPr>
          <p:cNvPr id="10" name="Shape 8"/>
          <p:cNvSpPr/>
          <p:nvPr/>
        </p:nvSpPr>
        <p:spPr>
          <a:xfrm>
            <a:off x="4642172" y="2043336"/>
            <a:ext cx="1900014" cy="850329"/>
          </a:xfrm>
          <a:prstGeom prst="roundRect">
            <a:avLst>
              <a:gd name="adj" fmla="val 6933"/>
            </a:avLst>
          </a:prstGeom>
          <a:solidFill>
            <a:srgbClr val="790709"/>
          </a:solidFill>
          <a:ln w="4763">
            <a:solidFill>
              <a:srgbClr val="922022"/>
            </a:solidFill>
            <a:prstDash val="solid"/>
          </a:ln>
        </p:spPr>
        <p:txBody>
          <a:bodyPr/>
          <a:lstStyle/>
          <a:p>
            <a:endParaRPr lang="en-IN"/>
          </a:p>
        </p:txBody>
      </p:sp>
      <p:sp>
        <p:nvSpPr>
          <p:cNvPr id="11" name="Text 9"/>
          <p:cNvSpPr/>
          <p:nvPr/>
        </p:nvSpPr>
        <p:spPr>
          <a:xfrm>
            <a:off x="4787280" y="2188443"/>
            <a:ext cx="160979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Soteriology</a:t>
            </a:r>
            <a:endParaRPr lang="en-US" sz="1300" dirty="0"/>
          </a:p>
        </p:txBody>
      </p:sp>
      <p:sp>
        <p:nvSpPr>
          <p:cNvPr id="12" name="Text 10"/>
          <p:cNvSpPr/>
          <p:nvPr/>
        </p:nvSpPr>
        <p:spPr>
          <a:xfrm>
            <a:off x="4787280" y="2440409"/>
            <a:ext cx="1609799"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Synoptics, Paul</a:t>
            </a:r>
            <a:endParaRPr lang="en-US" sz="1100" dirty="0"/>
          </a:p>
        </p:txBody>
      </p:sp>
      <p:sp>
        <p:nvSpPr>
          <p:cNvPr id="13" name="Shape 11"/>
          <p:cNvSpPr/>
          <p:nvPr/>
        </p:nvSpPr>
        <p:spPr>
          <a:xfrm>
            <a:off x="6682532" y="2043336"/>
            <a:ext cx="1900014" cy="850329"/>
          </a:xfrm>
          <a:prstGeom prst="roundRect">
            <a:avLst>
              <a:gd name="adj" fmla="val 6933"/>
            </a:avLst>
          </a:prstGeom>
          <a:solidFill>
            <a:srgbClr val="790709"/>
          </a:solidFill>
          <a:ln w="4763">
            <a:solidFill>
              <a:srgbClr val="922022"/>
            </a:solidFill>
            <a:prstDash val="solid"/>
          </a:ln>
        </p:spPr>
        <p:txBody>
          <a:bodyPr/>
          <a:lstStyle/>
          <a:p>
            <a:endParaRPr lang="en-IN"/>
          </a:p>
        </p:txBody>
      </p:sp>
      <p:sp>
        <p:nvSpPr>
          <p:cNvPr id="14" name="Text 12"/>
          <p:cNvSpPr/>
          <p:nvPr/>
        </p:nvSpPr>
        <p:spPr>
          <a:xfrm>
            <a:off x="6827639" y="2188443"/>
            <a:ext cx="160979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Cosmic Christology</a:t>
            </a:r>
            <a:endParaRPr lang="en-US" sz="1300" dirty="0"/>
          </a:p>
        </p:txBody>
      </p:sp>
      <p:sp>
        <p:nvSpPr>
          <p:cNvPr id="15" name="Text 13"/>
          <p:cNvSpPr/>
          <p:nvPr/>
        </p:nvSpPr>
        <p:spPr>
          <a:xfrm>
            <a:off x="6827639" y="2440409"/>
            <a:ext cx="1609799"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Ephesians and Colossians</a:t>
            </a:r>
            <a:endParaRPr lang="en-US" sz="1100" dirty="0"/>
          </a:p>
        </p:txBody>
      </p:sp>
      <p:sp>
        <p:nvSpPr>
          <p:cNvPr id="16" name="Shape 14"/>
          <p:cNvSpPr/>
          <p:nvPr/>
        </p:nvSpPr>
        <p:spPr>
          <a:xfrm>
            <a:off x="561454" y="3034010"/>
            <a:ext cx="3940373" cy="682526"/>
          </a:xfrm>
          <a:prstGeom prst="roundRect">
            <a:avLst>
              <a:gd name="adj" fmla="val 8638"/>
            </a:avLst>
          </a:prstGeom>
          <a:solidFill>
            <a:srgbClr val="790709"/>
          </a:solidFill>
          <a:ln w="4763">
            <a:solidFill>
              <a:srgbClr val="922022"/>
            </a:solidFill>
            <a:prstDash val="solid"/>
          </a:ln>
        </p:spPr>
        <p:txBody>
          <a:bodyPr/>
          <a:lstStyle/>
          <a:p>
            <a:endParaRPr lang="en-IN"/>
          </a:p>
        </p:txBody>
      </p:sp>
      <p:sp>
        <p:nvSpPr>
          <p:cNvPr id="17" name="Text 15"/>
          <p:cNvSpPr/>
          <p:nvPr/>
        </p:nvSpPr>
        <p:spPr>
          <a:xfrm>
            <a:off x="706562" y="3179118"/>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Liturgical Christology</a:t>
            </a:r>
            <a:endParaRPr lang="en-US" sz="1300" dirty="0"/>
          </a:p>
        </p:txBody>
      </p:sp>
      <p:sp>
        <p:nvSpPr>
          <p:cNvPr id="18" name="Text 16"/>
          <p:cNvSpPr/>
          <p:nvPr/>
        </p:nvSpPr>
        <p:spPr>
          <a:xfrm>
            <a:off x="706562" y="3431084"/>
            <a:ext cx="3650159"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Hebrews</a:t>
            </a:r>
            <a:endParaRPr lang="en-US" sz="1100" dirty="0"/>
          </a:p>
        </p:txBody>
      </p:sp>
      <p:sp>
        <p:nvSpPr>
          <p:cNvPr id="19" name="Shape 17"/>
          <p:cNvSpPr/>
          <p:nvPr/>
        </p:nvSpPr>
        <p:spPr>
          <a:xfrm>
            <a:off x="4642172" y="3034010"/>
            <a:ext cx="3940373" cy="682526"/>
          </a:xfrm>
          <a:prstGeom prst="roundRect">
            <a:avLst>
              <a:gd name="adj" fmla="val 8638"/>
            </a:avLst>
          </a:prstGeom>
          <a:solidFill>
            <a:srgbClr val="790709"/>
          </a:solidFill>
          <a:ln w="4763">
            <a:solidFill>
              <a:srgbClr val="922022"/>
            </a:solidFill>
            <a:prstDash val="solid"/>
          </a:ln>
        </p:spPr>
        <p:txBody>
          <a:bodyPr/>
          <a:lstStyle/>
          <a:p>
            <a:endParaRPr lang="en-IN"/>
          </a:p>
        </p:txBody>
      </p:sp>
      <p:sp>
        <p:nvSpPr>
          <p:cNvPr id="20" name="Text 18"/>
          <p:cNvSpPr/>
          <p:nvPr/>
        </p:nvSpPr>
        <p:spPr>
          <a:xfrm>
            <a:off x="4787280" y="3179118"/>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Apocalyptic Christology</a:t>
            </a:r>
            <a:endParaRPr lang="en-US" sz="1300" dirty="0"/>
          </a:p>
        </p:txBody>
      </p:sp>
      <p:sp>
        <p:nvSpPr>
          <p:cNvPr id="21" name="Text 19"/>
          <p:cNvSpPr/>
          <p:nvPr/>
        </p:nvSpPr>
        <p:spPr>
          <a:xfrm>
            <a:off x="4787280" y="3431084"/>
            <a:ext cx="3650159"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Revelation</a:t>
            </a:r>
            <a:endParaRPr lang="en-US" sz="1100" dirty="0"/>
          </a:p>
        </p:txBody>
      </p:sp>
      <p:sp>
        <p:nvSpPr>
          <p:cNvPr id="22" name="Text 20"/>
          <p:cNvSpPr/>
          <p:nvPr/>
        </p:nvSpPr>
        <p:spPr>
          <a:xfrm>
            <a:off x="561454" y="3874443"/>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Five NT Christologies proposed by Haight: Jesus Christ as Last Adam, as Son of God, as Empowered by the Spirit, as the Wisdom of God, and as the Logos of God. The most Relevant Commonality: </a:t>
            </a:r>
            <a:r>
              <a:rPr lang="en-US" sz="1100" b="1" dirty="0">
                <a:solidFill>
                  <a:srgbClr val="E5E0DF"/>
                </a:solidFill>
                <a:latin typeface="Barlow Bold" pitchFamily="34" charset="0"/>
                <a:ea typeface="Barlow Bold" pitchFamily="34" charset="-122"/>
                <a:cs typeface="Barlow Bold" pitchFamily="34" charset="-120"/>
              </a:rPr>
              <a:t>Jesus is the Bearer of Salvation from God. Jesus means God is Our Saviour.</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1454" y="50809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Patristic Theology</a:t>
            </a:r>
            <a:endParaRPr lang="en-US" sz="2600" dirty="0"/>
          </a:p>
        </p:txBody>
      </p:sp>
      <p:sp>
        <p:nvSpPr>
          <p:cNvPr id="3" name="Text 1"/>
          <p:cNvSpPr/>
          <p:nvPr/>
        </p:nvSpPr>
        <p:spPr>
          <a:xfrm>
            <a:off x="561454" y="1124471"/>
            <a:ext cx="8021092"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Fathers of the Church: Ecclesiastical Writers of Antiquity having Soundness of Doctrine, Holiness of Life, Ecclesiastical Endorsement and Antiquity — Period from Apostolic Time till 8th CE.</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563067"/>
            <a:ext cx="140345" cy="140345"/>
          </a:xfrm>
          <a:prstGeom prst="rect">
            <a:avLst/>
          </a:prstGeom>
        </p:spPr>
      </p:pic>
      <p:sp>
        <p:nvSpPr>
          <p:cNvPr id="5" name="Shape 2"/>
          <p:cNvSpPr/>
          <p:nvPr/>
        </p:nvSpPr>
        <p:spPr>
          <a:xfrm>
            <a:off x="561454" y="1747465"/>
            <a:ext cx="3940373" cy="19050"/>
          </a:xfrm>
          <a:prstGeom prst="rect">
            <a:avLst/>
          </a:prstGeom>
          <a:solidFill>
            <a:srgbClr val="F65F62"/>
          </a:solidFill>
          <a:ln/>
        </p:spPr>
        <p:txBody>
          <a:bodyPr/>
          <a:lstStyle/>
          <a:p>
            <a:endParaRPr lang="en-IN"/>
          </a:p>
        </p:txBody>
      </p:sp>
      <p:sp>
        <p:nvSpPr>
          <p:cNvPr id="6" name="Text 3"/>
          <p:cNvSpPr/>
          <p:nvPr/>
        </p:nvSpPr>
        <p:spPr>
          <a:xfrm>
            <a:off x="561454" y="1855738"/>
            <a:ext cx="394037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Fixing of the NT Canon</a:t>
            </a:r>
            <a:endParaRPr lang="en-US" sz="1300" dirty="0"/>
          </a:p>
        </p:txBody>
      </p:sp>
      <p:sp>
        <p:nvSpPr>
          <p:cNvPr id="7" name="Text 4"/>
          <p:cNvSpPr/>
          <p:nvPr/>
        </p:nvSpPr>
        <p:spPr>
          <a:xfrm>
            <a:off x="561454" y="2107704"/>
            <a:ext cx="3940373"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Discernment of the authoritative apostolic writings.</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2172" y="1563067"/>
            <a:ext cx="140345" cy="140345"/>
          </a:xfrm>
          <a:prstGeom prst="rect">
            <a:avLst/>
          </a:prstGeom>
        </p:spPr>
      </p:pic>
      <p:sp>
        <p:nvSpPr>
          <p:cNvPr id="9" name="Shape 5"/>
          <p:cNvSpPr/>
          <p:nvPr/>
        </p:nvSpPr>
        <p:spPr>
          <a:xfrm>
            <a:off x="4642172" y="1747465"/>
            <a:ext cx="3940373" cy="19050"/>
          </a:xfrm>
          <a:prstGeom prst="rect">
            <a:avLst/>
          </a:prstGeom>
          <a:solidFill>
            <a:srgbClr val="F65F62"/>
          </a:solidFill>
          <a:ln/>
        </p:spPr>
        <p:txBody>
          <a:bodyPr/>
          <a:lstStyle/>
          <a:p>
            <a:endParaRPr lang="en-IN"/>
          </a:p>
        </p:txBody>
      </p:sp>
      <p:sp>
        <p:nvSpPr>
          <p:cNvPr id="10" name="Text 6"/>
          <p:cNvSpPr/>
          <p:nvPr/>
        </p:nvSpPr>
        <p:spPr>
          <a:xfrm>
            <a:off x="4642172" y="1855738"/>
            <a:ext cx="394037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Role of Tradition</a:t>
            </a:r>
            <a:endParaRPr lang="en-US" sz="1300" dirty="0"/>
          </a:p>
        </p:txBody>
      </p:sp>
      <p:sp>
        <p:nvSpPr>
          <p:cNvPr id="11" name="Text 7"/>
          <p:cNvSpPr/>
          <p:nvPr/>
        </p:nvSpPr>
        <p:spPr>
          <a:xfrm>
            <a:off x="4642172" y="2107704"/>
            <a:ext cx="3940373"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Christian Faith reflected in Creeds, Liturgy and Doctrinal Pronouncements.</a:t>
            </a:r>
            <a:endParaRPr lang="en-US" sz="11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1454" y="2633960"/>
            <a:ext cx="140345" cy="140345"/>
          </a:xfrm>
          <a:prstGeom prst="rect">
            <a:avLst/>
          </a:prstGeom>
        </p:spPr>
      </p:pic>
      <p:sp>
        <p:nvSpPr>
          <p:cNvPr id="13" name="Shape 8"/>
          <p:cNvSpPr/>
          <p:nvPr/>
        </p:nvSpPr>
        <p:spPr>
          <a:xfrm>
            <a:off x="561454" y="2818358"/>
            <a:ext cx="3940373" cy="19050"/>
          </a:xfrm>
          <a:prstGeom prst="rect">
            <a:avLst/>
          </a:prstGeom>
          <a:solidFill>
            <a:srgbClr val="F65F62"/>
          </a:solidFill>
          <a:ln/>
        </p:spPr>
        <p:txBody>
          <a:bodyPr/>
          <a:lstStyle/>
          <a:p>
            <a:endParaRPr lang="en-IN"/>
          </a:p>
        </p:txBody>
      </p:sp>
      <p:sp>
        <p:nvSpPr>
          <p:cNvPr id="14" name="Text 9"/>
          <p:cNvSpPr/>
          <p:nvPr/>
        </p:nvSpPr>
        <p:spPr>
          <a:xfrm>
            <a:off x="561454" y="2926631"/>
            <a:ext cx="394037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Ecumenical Creeds</a:t>
            </a:r>
            <a:endParaRPr lang="en-US" sz="1300" dirty="0"/>
          </a:p>
        </p:txBody>
      </p:sp>
      <p:sp>
        <p:nvSpPr>
          <p:cNvPr id="15" name="Text 10"/>
          <p:cNvSpPr/>
          <p:nvPr/>
        </p:nvSpPr>
        <p:spPr>
          <a:xfrm>
            <a:off x="561454" y="3178597"/>
            <a:ext cx="3940373"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Baptismal, Apostles', Nicene-Constantinopolitan.</a:t>
            </a:r>
            <a:endParaRPr lang="en-US" sz="11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2172" y="2633960"/>
            <a:ext cx="140345" cy="140345"/>
          </a:xfrm>
          <a:prstGeom prst="rect">
            <a:avLst/>
          </a:prstGeom>
        </p:spPr>
      </p:pic>
      <p:sp>
        <p:nvSpPr>
          <p:cNvPr id="17" name="Shape 11"/>
          <p:cNvSpPr/>
          <p:nvPr/>
        </p:nvSpPr>
        <p:spPr>
          <a:xfrm>
            <a:off x="4642172" y="2818358"/>
            <a:ext cx="3940373" cy="19050"/>
          </a:xfrm>
          <a:prstGeom prst="rect">
            <a:avLst/>
          </a:prstGeom>
          <a:solidFill>
            <a:srgbClr val="F65F62"/>
          </a:solidFill>
          <a:ln/>
        </p:spPr>
        <p:txBody>
          <a:bodyPr/>
          <a:lstStyle/>
          <a:p>
            <a:endParaRPr lang="en-IN"/>
          </a:p>
        </p:txBody>
      </p:sp>
      <p:sp>
        <p:nvSpPr>
          <p:cNvPr id="18" name="Text 12"/>
          <p:cNvSpPr/>
          <p:nvPr/>
        </p:nvSpPr>
        <p:spPr>
          <a:xfrm>
            <a:off x="4642172" y="2926631"/>
            <a:ext cx="394037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Christology: Chalcedon (451)</a:t>
            </a:r>
            <a:endParaRPr lang="en-US" sz="1300" dirty="0"/>
          </a:p>
        </p:txBody>
      </p:sp>
      <p:sp>
        <p:nvSpPr>
          <p:cNvPr id="19" name="Text 13"/>
          <p:cNvSpPr/>
          <p:nvPr/>
        </p:nvSpPr>
        <p:spPr>
          <a:xfrm>
            <a:off x="4642172" y="3178597"/>
            <a:ext cx="3940373"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Human-Divine Nature (ND 613-615); Doctrine of Trinity: One God, Three Persons.</a:t>
            </a:r>
            <a:endParaRPr lang="en-US" sz="11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1454" y="3704853"/>
            <a:ext cx="140345" cy="140345"/>
          </a:xfrm>
          <a:prstGeom prst="rect">
            <a:avLst/>
          </a:prstGeom>
        </p:spPr>
      </p:pic>
      <p:sp>
        <p:nvSpPr>
          <p:cNvPr id="21" name="Shape 14"/>
          <p:cNvSpPr/>
          <p:nvPr/>
        </p:nvSpPr>
        <p:spPr>
          <a:xfrm>
            <a:off x="561454" y="3889251"/>
            <a:ext cx="3940373" cy="19050"/>
          </a:xfrm>
          <a:prstGeom prst="rect">
            <a:avLst/>
          </a:prstGeom>
          <a:solidFill>
            <a:srgbClr val="F65F62"/>
          </a:solidFill>
          <a:ln/>
        </p:spPr>
        <p:txBody>
          <a:bodyPr/>
          <a:lstStyle/>
          <a:p>
            <a:endParaRPr lang="en-IN"/>
          </a:p>
        </p:txBody>
      </p:sp>
      <p:sp>
        <p:nvSpPr>
          <p:cNvPr id="22" name="Text 15"/>
          <p:cNvSpPr/>
          <p:nvPr/>
        </p:nvSpPr>
        <p:spPr>
          <a:xfrm>
            <a:off x="561454" y="3997523"/>
            <a:ext cx="394037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Church: Five Patriarchates</a:t>
            </a:r>
            <a:endParaRPr lang="en-US" sz="1300" dirty="0"/>
          </a:p>
        </p:txBody>
      </p:sp>
      <p:sp>
        <p:nvSpPr>
          <p:cNvPr id="23" name="Text 16"/>
          <p:cNvSpPr/>
          <p:nvPr/>
        </p:nvSpPr>
        <p:spPr>
          <a:xfrm>
            <a:off x="561454" y="4249489"/>
            <a:ext cx="3940373"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Rome, Alexandria, Antioch, Constantinople, Jerusalem.</a:t>
            </a:r>
            <a:endParaRPr lang="en-US" sz="1100"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42172" y="3704853"/>
            <a:ext cx="140345" cy="140345"/>
          </a:xfrm>
          <a:prstGeom prst="rect">
            <a:avLst/>
          </a:prstGeom>
        </p:spPr>
      </p:pic>
      <p:sp>
        <p:nvSpPr>
          <p:cNvPr id="25" name="Shape 17"/>
          <p:cNvSpPr/>
          <p:nvPr/>
        </p:nvSpPr>
        <p:spPr>
          <a:xfrm>
            <a:off x="4642172" y="3889251"/>
            <a:ext cx="3940373" cy="19050"/>
          </a:xfrm>
          <a:prstGeom prst="rect">
            <a:avLst/>
          </a:prstGeom>
          <a:solidFill>
            <a:srgbClr val="F65F62"/>
          </a:solidFill>
          <a:ln/>
        </p:spPr>
        <p:txBody>
          <a:bodyPr/>
          <a:lstStyle/>
          <a:p>
            <a:endParaRPr lang="en-IN"/>
          </a:p>
        </p:txBody>
      </p:sp>
      <p:sp>
        <p:nvSpPr>
          <p:cNvPr id="26" name="Text 18"/>
          <p:cNvSpPr/>
          <p:nvPr/>
        </p:nvSpPr>
        <p:spPr>
          <a:xfrm>
            <a:off x="4642172" y="3997523"/>
            <a:ext cx="3940373"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Sacramentality &amp; Grace</a:t>
            </a:r>
            <a:endParaRPr lang="en-US" sz="1300" dirty="0"/>
          </a:p>
        </p:txBody>
      </p:sp>
      <p:sp>
        <p:nvSpPr>
          <p:cNvPr id="27" name="Text 19"/>
          <p:cNvSpPr/>
          <p:nvPr/>
        </p:nvSpPr>
        <p:spPr>
          <a:xfrm>
            <a:off x="4642172" y="4249489"/>
            <a:ext cx="3940373" cy="280690"/>
          </a:xfrm>
          <a:prstGeom prst="rect">
            <a:avLst/>
          </a:prstGeom>
          <a:noFill/>
          <a:ln/>
        </p:spPr>
        <p:txBody>
          <a:bodyPr wrap="square" lIns="0" tIns="0" rIns="0" bIns="0" rtlCol="0" anchor="t">
            <a:normAutofit/>
          </a:bodyPr>
          <a:lstStyle/>
          <a:p>
            <a:pPr marL="0" indent="0" algn="l">
              <a:lnSpc>
                <a:spcPct val="83000"/>
              </a:lnSpc>
              <a:buNone/>
            </a:pPr>
            <a:r>
              <a:rPr lang="en-US" sz="1100" i="1" dirty="0">
                <a:solidFill>
                  <a:srgbClr val="E5E0DF"/>
                </a:solidFill>
                <a:latin typeface="Barlow" pitchFamily="34" charset="0"/>
                <a:ea typeface="Barlow" pitchFamily="34" charset="-122"/>
                <a:cs typeface="Barlow" pitchFamily="34" charset="-120"/>
              </a:rPr>
              <a:t>Ex opere operato, ex opere operantis</a:t>
            </a:r>
            <a:r>
              <a:rPr lang="en-US" sz="1100" dirty="0">
                <a:solidFill>
                  <a:srgbClr val="E5E0DF"/>
                </a:solidFill>
                <a:latin typeface="Barlow" pitchFamily="34" charset="0"/>
                <a:ea typeface="Barlow" pitchFamily="34" charset="-122"/>
                <a:cs typeface="Barlow" pitchFamily="34" charset="-120"/>
              </a:rPr>
              <a:t>; Priority and Primacy of Grace vis-à-vis Pelagius.</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1454" y="434727"/>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Models of Theology</a:t>
            </a:r>
            <a:endParaRPr lang="en-US" sz="2600" dirty="0"/>
          </a:p>
        </p:txBody>
      </p:sp>
      <p:pic>
        <p:nvPicPr>
          <p:cNvPr id="3" name="Image 0" descr="preencoded.png"/>
          <p:cNvPicPr>
            <a:picLocks noChangeAspect="1"/>
          </p:cNvPicPr>
          <p:nvPr/>
        </p:nvPicPr>
        <p:blipFill>
          <a:blip r:embed="rId3"/>
          <a:stretch>
            <a:fillRect/>
          </a:stretch>
        </p:blipFill>
        <p:spPr>
          <a:xfrm>
            <a:off x="561454" y="1051099"/>
            <a:ext cx="6553200" cy="36576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1454" y="968276"/>
            <a:ext cx="8021092" cy="671364"/>
          </a:xfrm>
          <a:prstGeom prst="rect">
            <a:avLst/>
          </a:prstGeom>
          <a:noFill/>
          <a:ln/>
        </p:spPr>
        <p:txBody>
          <a:bodyPr wrap="square" lIns="0" tIns="0" rIns="0" bIns="0" rtlCol="0" anchor="t">
            <a:normAutofit/>
          </a:bodyPr>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Greek, Latin &amp; Syriac Christian Models of Theology</a:t>
            </a:r>
            <a:endParaRPr lang="en-US" sz="2600" dirty="0"/>
          </a:p>
        </p:txBody>
      </p:sp>
      <p:sp>
        <p:nvSpPr>
          <p:cNvPr id="3" name="Shape 1"/>
          <p:cNvSpPr/>
          <p:nvPr/>
        </p:nvSpPr>
        <p:spPr>
          <a:xfrm>
            <a:off x="561454" y="1920329"/>
            <a:ext cx="2580084" cy="2254895"/>
          </a:xfrm>
          <a:prstGeom prst="roundRect">
            <a:avLst>
              <a:gd name="adj" fmla="val 2615"/>
            </a:avLst>
          </a:prstGeom>
          <a:solidFill>
            <a:srgbClr val="191718">
              <a:alpha val="95000"/>
            </a:srgbClr>
          </a:solidFill>
          <a:ln w="19050">
            <a:solidFill>
              <a:srgbClr val="922022"/>
            </a:solidFill>
            <a:prstDash val="solid"/>
          </a:ln>
        </p:spPr>
        <p:txBody>
          <a:bodyPr/>
          <a:lstStyle/>
          <a:p>
            <a:endParaRPr lang="en-IN"/>
          </a:p>
        </p:txBody>
      </p:sp>
      <p:sp>
        <p:nvSpPr>
          <p:cNvPr id="4" name="Text 2"/>
          <p:cNvSpPr/>
          <p:nvPr/>
        </p:nvSpPr>
        <p:spPr>
          <a:xfrm>
            <a:off x="720849" y="2079724"/>
            <a:ext cx="226129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Greek Christian Model</a:t>
            </a:r>
            <a:endParaRPr lang="en-US" sz="1300" dirty="0"/>
          </a:p>
        </p:txBody>
      </p:sp>
      <p:sp>
        <p:nvSpPr>
          <p:cNvPr id="5" name="Text 3"/>
          <p:cNvSpPr/>
          <p:nvPr/>
        </p:nvSpPr>
        <p:spPr>
          <a:xfrm>
            <a:off x="720849" y="2331690"/>
            <a:ext cx="2261295" cy="126310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Articulates the Encounter of the Gospel with the Greek World; Focal Point in Alexandria. Prominent Fathers: Clement of Alexandria, Origen, Cappadocian Fathers. Their Approach to the Mystery of Trinity began with the </a:t>
            </a:r>
            <a:r>
              <a:rPr lang="en-US" sz="1100" b="1" dirty="0">
                <a:solidFill>
                  <a:srgbClr val="E5E0DF"/>
                </a:solidFill>
                <a:latin typeface="Barlow Bold" pitchFamily="34" charset="0"/>
                <a:ea typeface="Barlow Bold" pitchFamily="34" charset="-122"/>
                <a:cs typeface="Barlow Bold" pitchFamily="34" charset="-120"/>
              </a:rPr>
              <a:t>Three Persons</a:t>
            </a:r>
            <a:r>
              <a:rPr lang="en-US" sz="1100" dirty="0">
                <a:solidFill>
                  <a:srgbClr val="E5E0DF"/>
                </a:solidFill>
                <a:latin typeface="Barlow" pitchFamily="34" charset="0"/>
                <a:ea typeface="Barlow" pitchFamily="34" charset="-122"/>
                <a:cs typeface="Barlow" pitchFamily="34" charset="-120"/>
              </a:rPr>
              <a:t> of Father, Son and Spirit, whom they understood as One God.</a:t>
            </a:r>
            <a:endParaRPr lang="en-US" sz="1100" dirty="0"/>
          </a:p>
        </p:txBody>
      </p:sp>
      <p:sp>
        <p:nvSpPr>
          <p:cNvPr id="6" name="Shape 4"/>
          <p:cNvSpPr/>
          <p:nvPr/>
        </p:nvSpPr>
        <p:spPr>
          <a:xfrm>
            <a:off x="3281883" y="1920329"/>
            <a:ext cx="2580159" cy="2254895"/>
          </a:xfrm>
          <a:prstGeom prst="roundRect">
            <a:avLst>
              <a:gd name="adj" fmla="val 2615"/>
            </a:avLst>
          </a:prstGeom>
          <a:solidFill>
            <a:srgbClr val="191718">
              <a:alpha val="95000"/>
            </a:srgbClr>
          </a:solidFill>
          <a:ln w="19050">
            <a:solidFill>
              <a:srgbClr val="922022"/>
            </a:solidFill>
            <a:prstDash val="solid"/>
          </a:ln>
        </p:spPr>
        <p:txBody>
          <a:bodyPr/>
          <a:lstStyle/>
          <a:p>
            <a:endParaRPr lang="en-IN"/>
          </a:p>
        </p:txBody>
      </p:sp>
      <p:sp>
        <p:nvSpPr>
          <p:cNvPr id="7" name="Text 5"/>
          <p:cNvSpPr/>
          <p:nvPr/>
        </p:nvSpPr>
        <p:spPr>
          <a:xfrm>
            <a:off x="3441278" y="2079724"/>
            <a:ext cx="22613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Latin Christian Model</a:t>
            </a:r>
            <a:endParaRPr lang="en-US" sz="1300" dirty="0"/>
          </a:p>
        </p:txBody>
      </p:sp>
      <p:sp>
        <p:nvSpPr>
          <p:cNvPr id="8" name="Text 6"/>
          <p:cNvSpPr/>
          <p:nvPr/>
        </p:nvSpPr>
        <p:spPr>
          <a:xfrm>
            <a:off x="3441278" y="2331690"/>
            <a:ext cx="2261369" cy="126310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At Rome and Carthage Christianity encountered Latin Culture. Proponents: Hippolytus of Rome, Tertullian, Ambrose of Milan, Augustine of Hippo. Their Approach to the Mystery of Trinity began with the Focus on the </a:t>
            </a:r>
            <a:r>
              <a:rPr lang="en-US" sz="1100" b="1" dirty="0">
                <a:solidFill>
                  <a:srgbClr val="E5E0DF"/>
                </a:solidFill>
                <a:latin typeface="Barlow Bold" pitchFamily="34" charset="0"/>
                <a:ea typeface="Barlow Bold" pitchFamily="34" charset="-122"/>
                <a:cs typeface="Barlow Bold" pitchFamily="34" charset="-120"/>
              </a:rPr>
              <a:t>One God</a:t>
            </a:r>
            <a:r>
              <a:rPr lang="en-US" sz="1100" dirty="0">
                <a:solidFill>
                  <a:srgbClr val="E5E0DF"/>
                </a:solidFill>
                <a:latin typeface="Barlow" pitchFamily="34" charset="0"/>
                <a:ea typeface="Barlow" pitchFamily="34" charset="-122"/>
                <a:cs typeface="Barlow" pitchFamily="34" charset="-120"/>
              </a:rPr>
              <a:t> and situated the Godhead as Three Persons.</a:t>
            </a:r>
            <a:endParaRPr lang="en-US" sz="1100" dirty="0"/>
          </a:p>
        </p:txBody>
      </p:sp>
      <p:sp>
        <p:nvSpPr>
          <p:cNvPr id="9" name="Shape 7"/>
          <p:cNvSpPr/>
          <p:nvPr/>
        </p:nvSpPr>
        <p:spPr>
          <a:xfrm>
            <a:off x="6002387" y="1920329"/>
            <a:ext cx="2580159" cy="2254895"/>
          </a:xfrm>
          <a:prstGeom prst="roundRect">
            <a:avLst>
              <a:gd name="adj" fmla="val 2615"/>
            </a:avLst>
          </a:prstGeom>
          <a:solidFill>
            <a:srgbClr val="191718">
              <a:alpha val="95000"/>
            </a:srgbClr>
          </a:solidFill>
          <a:ln w="19050">
            <a:solidFill>
              <a:srgbClr val="922022"/>
            </a:solidFill>
            <a:prstDash val="solid"/>
          </a:ln>
        </p:spPr>
        <p:txBody>
          <a:bodyPr/>
          <a:lstStyle/>
          <a:p>
            <a:endParaRPr lang="en-IN"/>
          </a:p>
        </p:txBody>
      </p:sp>
      <p:sp>
        <p:nvSpPr>
          <p:cNvPr id="10" name="Text 8"/>
          <p:cNvSpPr/>
          <p:nvPr/>
        </p:nvSpPr>
        <p:spPr>
          <a:xfrm>
            <a:off x="6161782" y="2079724"/>
            <a:ext cx="22613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Syriac Christian Model</a:t>
            </a:r>
            <a:endParaRPr lang="en-US" sz="1300" dirty="0"/>
          </a:p>
        </p:txBody>
      </p:sp>
      <p:sp>
        <p:nvSpPr>
          <p:cNvPr id="11" name="Text 9"/>
          <p:cNvSpPr/>
          <p:nvPr/>
        </p:nvSpPr>
        <p:spPr>
          <a:xfrm>
            <a:off x="6161782" y="2331690"/>
            <a:ext cx="2261369" cy="1684139"/>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Ephraem (306-373) the Syrian — With Semitic Perspectives in Christian Theology. The First Christian Tradition in India: St Thomas Christians of Malabar Coast. One cannot define God in Definitions; </a:t>
            </a:r>
            <a:r>
              <a:rPr lang="en-US" sz="1100" b="1" dirty="0">
                <a:solidFill>
                  <a:srgbClr val="E5E0DF"/>
                </a:solidFill>
                <a:latin typeface="Barlow Bold" pitchFamily="34" charset="0"/>
                <a:ea typeface="Barlow Bold" pitchFamily="34" charset="-122"/>
                <a:cs typeface="Barlow Bold" pitchFamily="34" charset="-120"/>
              </a:rPr>
              <a:t>Poetry is the suitable Medium</a:t>
            </a:r>
            <a:r>
              <a:rPr lang="en-US" sz="1100" dirty="0">
                <a:solidFill>
                  <a:srgbClr val="E5E0DF"/>
                </a:solidFill>
                <a:latin typeface="Barlow" pitchFamily="34" charset="0"/>
                <a:ea typeface="Barlow" pitchFamily="34" charset="-122"/>
                <a:cs typeface="Barlow" pitchFamily="34" charset="-120"/>
              </a:rPr>
              <a:t> for Creative Theological Expression; Attitude of Love and Wonder. Use of Symbols and Metaphors; Faith needs to be accompanied by Love, Prayer, Wonder and Awe.</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1454" y="94461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East-West Schism &amp; Scholastic Model</a:t>
            </a:r>
            <a:endParaRPr lang="en-US" sz="2600" dirty="0"/>
          </a:p>
        </p:txBody>
      </p:sp>
      <p:sp>
        <p:nvSpPr>
          <p:cNvPr id="3" name="Text 1"/>
          <p:cNvSpPr/>
          <p:nvPr/>
        </p:nvSpPr>
        <p:spPr>
          <a:xfrm>
            <a:off x="561454" y="1631156"/>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East-West Schism (1054)</a:t>
            </a:r>
            <a:endParaRPr lang="en-US" sz="1300" dirty="0"/>
          </a:p>
        </p:txBody>
      </p:sp>
      <p:sp>
        <p:nvSpPr>
          <p:cNvPr id="4" name="Text 2"/>
          <p:cNvSpPr/>
          <p:nvPr/>
        </p:nvSpPr>
        <p:spPr>
          <a:xfrm>
            <a:off x="561454" y="1939305"/>
            <a:ext cx="3839319" cy="84207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a:t>
            </a:r>
            <a:r>
              <a:rPr lang="en-US" sz="1100" i="1" dirty="0">
                <a:solidFill>
                  <a:srgbClr val="E5E0DF"/>
                </a:solidFill>
                <a:latin typeface="Barlow" pitchFamily="34" charset="0"/>
                <a:ea typeface="Barlow" pitchFamily="34" charset="-122"/>
                <a:cs typeface="Barlow" pitchFamily="34" charset="-120"/>
              </a:rPr>
              <a:t>Filioque</a:t>
            </a:r>
            <a:r>
              <a:rPr lang="en-US" sz="1100" dirty="0">
                <a:solidFill>
                  <a:srgbClr val="E5E0DF"/>
                </a:solidFill>
                <a:latin typeface="Barlow" pitchFamily="34" charset="0"/>
                <a:ea typeface="Barlow" pitchFamily="34" charset="-122"/>
                <a:cs typeface="Barlow" pitchFamily="34" charset="-120"/>
              </a:rPr>
              <a:t> Problem: Nicene-Constantinopolitan Creed — "I believe in the Holy Spirit ... who proceeds from the Father and/through the Son." The East West Schism was the First Great Schism that occurred in 1054, when on July 16, 1054, Michael Cerularius, the Emperor and all their Followers, were excommunicated.</a:t>
            </a:r>
            <a:endParaRPr lang="en-US" sz="1100" dirty="0"/>
          </a:p>
        </p:txBody>
      </p:sp>
      <p:sp>
        <p:nvSpPr>
          <p:cNvPr id="5" name="Text 3"/>
          <p:cNvSpPr/>
          <p:nvPr/>
        </p:nvSpPr>
        <p:spPr>
          <a:xfrm>
            <a:off x="4747989" y="1631156"/>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Scholastic Model</a:t>
            </a:r>
            <a:endParaRPr lang="en-US" sz="1300" dirty="0"/>
          </a:p>
        </p:txBody>
      </p:sp>
      <p:sp>
        <p:nvSpPr>
          <p:cNvPr id="6" name="Text 4"/>
          <p:cNvSpPr/>
          <p:nvPr/>
        </p:nvSpPr>
        <p:spPr>
          <a:xfrm>
            <a:off x="4747989" y="1939305"/>
            <a:ext cx="3839319" cy="2210395"/>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Anselm of Canterbury (1033-1109):</a:t>
            </a:r>
            <a:r>
              <a:rPr lang="en-US" sz="1100" dirty="0">
                <a:solidFill>
                  <a:srgbClr val="E5E0DF"/>
                </a:solidFill>
                <a:latin typeface="Barlow" pitchFamily="34" charset="0"/>
                <a:ea typeface="Barlow" pitchFamily="34" charset="-122"/>
                <a:cs typeface="Barlow" pitchFamily="34" charset="-120"/>
              </a:rPr>
              <a:t> Father of Scholasticism: </a:t>
            </a:r>
            <a:r>
              <a:rPr lang="en-US" sz="1100" i="1" dirty="0">
                <a:solidFill>
                  <a:srgbClr val="E5E0DF"/>
                </a:solidFill>
                <a:latin typeface="Barlow" pitchFamily="34" charset="0"/>
                <a:ea typeface="Barlow" pitchFamily="34" charset="-122"/>
                <a:cs typeface="Barlow" pitchFamily="34" charset="-120"/>
              </a:rPr>
              <a:t>Fides quaerens intellectum</a:t>
            </a:r>
            <a:r>
              <a:rPr lang="en-US" sz="1100" dirty="0">
                <a:solidFill>
                  <a:srgbClr val="E5E0DF"/>
                </a:solidFill>
                <a:latin typeface="Barlow" pitchFamily="34" charset="0"/>
                <a:ea typeface="Barlow" pitchFamily="34" charset="-122"/>
                <a:cs typeface="Barlow" pitchFamily="34" charset="-120"/>
              </a:rPr>
              <a:t>.</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Bernard of Clairvaux (1091-1153):</a:t>
            </a:r>
            <a:r>
              <a:rPr lang="en-US" sz="1100" dirty="0">
                <a:solidFill>
                  <a:srgbClr val="E5E0DF"/>
                </a:solidFill>
                <a:latin typeface="Barlow" pitchFamily="34" charset="0"/>
                <a:ea typeface="Barlow" pitchFamily="34" charset="-122"/>
                <a:cs typeface="Barlow" pitchFamily="34" charset="-120"/>
              </a:rPr>
              <a:t> Mystical Theology: Personal Experience/Ecstasy = Knowing Jesus and Him Crucified.</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Thomas Aquinas (1225-1274):</a:t>
            </a:r>
            <a:r>
              <a:rPr lang="en-US" sz="1100" dirty="0">
                <a:solidFill>
                  <a:srgbClr val="E5E0DF"/>
                </a:solidFill>
                <a:latin typeface="Barlow" pitchFamily="34" charset="0"/>
                <a:ea typeface="Barlow" pitchFamily="34" charset="-122"/>
                <a:cs typeface="Barlow" pitchFamily="34" charset="-120"/>
              </a:rPr>
              <a:t> Theological Synthesis with the Primacy of the Intellect over the Will.</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Bonaventure (1221-1274):</a:t>
            </a:r>
            <a:r>
              <a:rPr lang="en-US" sz="1100" dirty="0">
                <a:solidFill>
                  <a:srgbClr val="E5E0DF"/>
                </a:solidFill>
                <a:latin typeface="Barlow" pitchFamily="34" charset="0"/>
                <a:ea typeface="Barlow" pitchFamily="34" charset="-122"/>
                <a:cs typeface="Barlow" pitchFamily="34" charset="-120"/>
              </a:rPr>
              <a:t> Theological Synthesis with the Primacy of the Will over the Intellect.</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John Duns Scotus (1266-1308):</a:t>
            </a:r>
            <a:r>
              <a:rPr lang="en-US" sz="1100" dirty="0">
                <a:solidFill>
                  <a:srgbClr val="E5E0DF"/>
                </a:solidFill>
                <a:latin typeface="Barlow" pitchFamily="34" charset="0"/>
                <a:ea typeface="Barlow" pitchFamily="34" charset="-122"/>
                <a:cs typeface="Barlow" pitchFamily="34" charset="-120"/>
              </a:rPr>
              <a:t> Christocentric Synthesis: God is the Object of Theology who reveals His Love in the Incarnation.</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William of Ockham (1285-1347):</a:t>
            </a:r>
            <a:r>
              <a:rPr lang="en-US" sz="1100" dirty="0">
                <a:solidFill>
                  <a:srgbClr val="E5E0DF"/>
                </a:solidFill>
                <a:latin typeface="Barlow" pitchFamily="34" charset="0"/>
                <a:ea typeface="Barlow" pitchFamily="34" charset="-122"/>
                <a:cs typeface="Barlow" pitchFamily="34" charset="-120"/>
              </a:rPr>
              <a:t> Modern Way (</a:t>
            </a:r>
            <a:r>
              <a:rPr lang="en-US" sz="1100" i="1" dirty="0">
                <a:solidFill>
                  <a:srgbClr val="E5E0DF"/>
                </a:solidFill>
                <a:latin typeface="Barlow" pitchFamily="34" charset="0"/>
                <a:ea typeface="Barlow" pitchFamily="34" charset="-122"/>
                <a:cs typeface="Barlow" pitchFamily="34" charset="-120"/>
              </a:rPr>
              <a:t>via moderna</a:t>
            </a:r>
            <a:r>
              <a:rPr lang="en-US" sz="1100" dirty="0">
                <a:solidFill>
                  <a:srgbClr val="E5E0DF"/>
                </a:solidFill>
                <a:latin typeface="Barlow" pitchFamily="34" charset="0"/>
                <a:ea typeface="Barlow" pitchFamily="34" charset="-122"/>
                <a:cs typeface="Barlow" pitchFamily="34" charset="-120"/>
              </a:rPr>
              <a:t>): Ockham's Razor.</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1454" y="1534046"/>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Kerygmatic Model &amp; Modern Theologies</a:t>
            </a:r>
            <a:endParaRPr lang="en-US" sz="2600" dirty="0"/>
          </a:p>
        </p:txBody>
      </p:sp>
      <p:sp>
        <p:nvSpPr>
          <p:cNvPr id="3" name="Text 1"/>
          <p:cNvSpPr/>
          <p:nvPr/>
        </p:nvSpPr>
        <p:spPr>
          <a:xfrm>
            <a:off x="561454" y="2220590"/>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Kerygmatic Model (16th CE)</a:t>
            </a:r>
            <a:endParaRPr lang="en-US" sz="1300" dirty="0"/>
          </a:p>
        </p:txBody>
      </p:sp>
      <p:sp>
        <p:nvSpPr>
          <p:cNvPr id="4" name="Text 2"/>
          <p:cNvSpPr/>
          <p:nvPr/>
        </p:nvSpPr>
        <p:spPr>
          <a:xfrm>
            <a:off x="561454" y="2528739"/>
            <a:ext cx="3839319"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Protestant Reformation: </a:t>
            </a:r>
            <a:r>
              <a:rPr lang="en-US" sz="1100" i="1" dirty="0">
                <a:solidFill>
                  <a:srgbClr val="E5E0DF"/>
                </a:solidFill>
                <a:latin typeface="Barlow" pitchFamily="34" charset="0"/>
                <a:ea typeface="Barlow" pitchFamily="34" charset="-122"/>
                <a:cs typeface="Barlow" pitchFamily="34" charset="-120"/>
              </a:rPr>
              <a:t>Sola Scriptura, Sola Fide, Sola Gratia</a:t>
            </a:r>
            <a:r>
              <a:rPr lang="en-US" sz="1100" dirty="0">
                <a:solidFill>
                  <a:srgbClr val="E5E0DF"/>
                </a:solidFill>
                <a:latin typeface="Barlow" pitchFamily="34" charset="0"/>
                <a:ea typeface="Barlow" pitchFamily="34" charset="-122"/>
                <a:cs typeface="Barlow" pitchFamily="34" charset="-120"/>
              </a:rPr>
              <a:t>. Theology is a Science which seeks to understand and speak of God who reveals Godself in the Word — Response of Faith. In the Church, none is above the other: Hence Rejection of the Authority.</a:t>
            </a:r>
            <a:endParaRPr lang="en-US" sz="1100" dirty="0"/>
          </a:p>
        </p:txBody>
      </p:sp>
      <p:sp>
        <p:nvSpPr>
          <p:cNvPr id="5" name="Text 3"/>
          <p:cNvSpPr/>
          <p:nvPr/>
        </p:nvSpPr>
        <p:spPr>
          <a:xfrm>
            <a:off x="4747989" y="2220590"/>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Modern Theologies</a:t>
            </a:r>
            <a:endParaRPr lang="en-US" sz="1300" dirty="0"/>
          </a:p>
        </p:txBody>
      </p:sp>
      <p:sp>
        <p:nvSpPr>
          <p:cNvPr id="6" name="Text 4"/>
          <p:cNvSpPr/>
          <p:nvPr/>
        </p:nvSpPr>
        <p:spPr>
          <a:xfrm>
            <a:off x="4747989" y="2528739"/>
            <a:ext cx="3839319" cy="1031528"/>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Neo-Scholasticism:</a:t>
            </a:r>
            <a:r>
              <a:rPr lang="en-US" sz="1100" dirty="0">
                <a:solidFill>
                  <a:srgbClr val="E5E0DF"/>
                </a:solidFill>
                <a:latin typeface="Barlow" pitchFamily="34" charset="0"/>
                <a:ea typeface="Barlow" pitchFamily="34" charset="-122"/>
                <a:cs typeface="Barlow" pitchFamily="34" charset="-120"/>
              </a:rPr>
              <a:t> Pope Leo XIII (1897) recommended the Study of the Scholastic Philosophy: No Contradiction between Philosophy and Theology.</a:t>
            </a:r>
            <a:endParaRPr lang="en-US" sz="1100" dirty="0"/>
          </a:p>
          <a:p>
            <a:pPr marL="223520" indent="-223520" algn="l">
              <a:lnSpc>
                <a:spcPct val="83000"/>
              </a:lnSpc>
              <a:buSzPct val="100000"/>
              <a:buChar char="•"/>
            </a:pPr>
            <a:r>
              <a:rPr lang="en-US" sz="1100" b="1" dirty="0">
                <a:solidFill>
                  <a:srgbClr val="E5E0DF"/>
                </a:solidFill>
                <a:latin typeface="Barlow Bold" pitchFamily="34" charset="0"/>
                <a:ea typeface="Barlow Bold" pitchFamily="34" charset="-122"/>
                <a:cs typeface="Barlow Bold" pitchFamily="34" charset="-120"/>
              </a:rPr>
              <a:t>Gabriel Marcel (1889-1973):</a:t>
            </a:r>
            <a:r>
              <a:rPr lang="en-US" sz="1100" dirty="0">
                <a:solidFill>
                  <a:srgbClr val="E5E0DF"/>
                </a:solidFill>
                <a:latin typeface="Barlow" pitchFamily="34" charset="0"/>
                <a:ea typeface="Barlow" pitchFamily="34" charset="-122"/>
                <a:cs typeface="Barlow" pitchFamily="34" charset="-120"/>
              </a:rPr>
              <a:t> Distinguishes Problem from Mystery. Distinguishes between Having and Being. The Locus of Human Existence is not to be found in the isolated 'I' rather in the Community 'WE'.</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1454" y="1562621"/>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 Kairos of Vatican II (1962–65)</a:t>
            </a:r>
            <a:endParaRPr lang="en-US" sz="2600" dirty="0"/>
          </a:p>
        </p:txBody>
      </p:sp>
      <p:sp>
        <p:nvSpPr>
          <p:cNvPr id="3" name="Text 1"/>
          <p:cNvSpPr/>
          <p:nvPr/>
        </p:nvSpPr>
        <p:spPr>
          <a:xfrm>
            <a:off x="561454" y="2178993"/>
            <a:ext cx="8478292"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21st Ecumenical Council: Pontificates of John XXIII and Paul VI. Need for New Winds; Allowed the Church to breathe in Fresh Air.</a:t>
            </a:r>
            <a:endParaRPr lang="en-US" sz="1100" dirty="0"/>
          </a:p>
        </p:txBody>
      </p:sp>
      <p:sp>
        <p:nvSpPr>
          <p:cNvPr id="4" name="Shape 2"/>
          <p:cNvSpPr/>
          <p:nvPr/>
        </p:nvSpPr>
        <p:spPr>
          <a:xfrm>
            <a:off x="561454" y="2477244"/>
            <a:ext cx="2580084" cy="1103561"/>
          </a:xfrm>
          <a:prstGeom prst="roundRect">
            <a:avLst>
              <a:gd name="adj" fmla="val 5342"/>
            </a:avLst>
          </a:prstGeom>
          <a:solidFill>
            <a:srgbClr val="790709"/>
          </a:solidFill>
          <a:ln w="4763">
            <a:solidFill>
              <a:srgbClr val="922022"/>
            </a:solidFill>
            <a:prstDash val="solid"/>
          </a:ln>
        </p:spPr>
        <p:txBody>
          <a:bodyPr/>
          <a:lstStyle/>
          <a:p>
            <a:endParaRPr lang="en-IN"/>
          </a:p>
        </p:txBody>
      </p:sp>
      <p:sp>
        <p:nvSpPr>
          <p:cNvPr id="5" name="Text 3"/>
          <p:cNvSpPr/>
          <p:nvPr/>
        </p:nvSpPr>
        <p:spPr>
          <a:xfrm>
            <a:off x="706562" y="2622352"/>
            <a:ext cx="2289870"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Twofold Purpose</a:t>
            </a:r>
            <a:endParaRPr lang="en-US" sz="1300" dirty="0"/>
          </a:p>
        </p:txBody>
      </p:sp>
      <p:sp>
        <p:nvSpPr>
          <p:cNvPr id="6" name="Text 4"/>
          <p:cNvSpPr/>
          <p:nvPr/>
        </p:nvSpPr>
        <p:spPr>
          <a:xfrm>
            <a:off x="706562" y="2874318"/>
            <a:ext cx="2289870" cy="280690"/>
          </a:xfrm>
          <a:prstGeom prst="rect">
            <a:avLst/>
          </a:prstGeom>
          <a:noFill/>
          <a:ln/>
        </p:spPr>
        <p:txBody>
          <a:bodyPr wrap="square" lIns="0" tIns="0" rIns="0" bIns="0" rtlCol="0" anchor="t">
            <a:normAutofit/>
          </a:bodyPr>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Aggiornamento</a:t>
            </a:r>
            <a:r>
              <a:rPr lang="en-US" sz="1100" dirty="0">
                <a:solidFill>
                  <a:srgbClr val="E5E0DF"/>
                </a:solidFill>
                <a:latin typeface="Barlow" pitchFamily="34" charset="0"/>
                <a:ea typeface="Barlow" pitchFamily="34" charset="-122"/>
                <a:cs typeface="Barlow" pitchFamily="34" charset="-120"/>
              </a:rPr>
              <a:t> = Updating; </a:t>
            </a:r>
            <a:r>
              <a:rPr lang="en-US" sz="1100" b="1" dirty="0">
                <a:solidFill>
                  <a:srgbClr val="E5E0DF"/>
                </a:solidFill>
                <a:latin typeface="Barlow Bold" pitchFamily="34" charset="0"/>
                <a:ea typeface="Barlow Bold" pitchFamily="34" charset="-122"/>
                <a:cs typeface="Barlow Bold" pitchFamily="34" charset="-120"/>
              </a:rPr>
              <a:t>Riunione</a:t>
            </a:r>
            <a:r>
              <a:rPr lang="en-US" sz="1100" dirty="0">
                <a:solidFill>
                  <a:srgbClr val="E5E0DF"/>
                </a:solidFill>
                <a:latin typeface="Barlow" pitchFamily="34" charset="0"/>
                <a:ea typeface="Barlow" pitchFamily="34" charset="-122"/>
                <a:cs typeface="Barlow" pitchFamily="34" charset="-120"/>
              </a:rPr>
              <a:t> = Reunion, Unity of the Church.</a:t>
            </a:r>
            <a:endParaRPr lang="en-US" sz="1100" dirty="0"/>
          </a:p>
        </p:txBody>
      </p:sp>
      <p:sp>
        <p:nvSpPr>
          <p:cNvPr id="7" name="Shape 5"/>
          <p:cNvSpPr/>
          <p:nvPr/>
        </p:nvSpPr>
        <p:spPr>
          <a:xfrm>
            <a:off x="3281883" y="2477244"/>
            <a:ext cx="2580159" cy="1103561"/>
          </a:xfrm>
          <a:prstGeom prst="roundRect">
            <a:avLst>
              <a:gd name="adj" fmla="val 5342"/>
            </a:avLst>
          </a:prstGeom>
          <a:solidFill>
            <a:srgbClr val="790709"/>
          </a:solidFill>
          <a:ln w="4763">
            <a:solidFill>
              <a:srgbClr val="922022"/>
            </a:solidFill>
            <a:prstDash val="solid"/>
          </a:ln>
        </p:spPr>
        <p:txBody>
          <a:bodyPr/>
          <a:lstStyle/>
          <a:p>
            <a:endParaRPr lang="en-IN"/>
          </a:p>
        </p:txBody>
      </p:sp>
      <p:sp>
        <p:nvSpPr>
          <p:cNvPr id="8" name="Text 6"/>
          <p:cNvSpPr/>
          <p:nvPr/>
        </p:nvSpPr>
        <p:spPr>
          <a:xfrm>
            <a:off x="3426991" y="2622352"/>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4 Periods; 16 Documents</a:t>
            </a:r>
            <a:endParaRPr lang="en-US" sz="1300" dirty="0"/>
          </a:p>
        </p:txBody>
      </p:sp>
      <p:sp>
        <p:nvSpPr>
          <p:cNvPr id="9" name="Text 7"/>
          <p:cNvSpPr/>
          <p:nvPr/>
        </p:nvSpPr>
        <p:spPr>
          <a:xfrm>
            <a:off x="3426991" y="2874318"/>
            <a:ext cx="2289944" cy="561380"/>
          </a:xfrm>
          <a:prstGeom prst="rect">
            <a:avLst/>
          </a:prstGeom>
          <a:noFill/>
          <a:ln/>
        </p:spPr>
        <p:txBody>
          <a:bodyPr wrap="square" lIns="0" tIns="0" rIns="0" bIns="0" rtlCol="0" anchor="t">
            <a:normAutofit/>
          </a:bodyPr>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4 Constitutions:</a:t>
            </a:r>
            <a:r>
              <a:rPr lang="en-US" sz="1100" dirty="0">
                <a:solidFill>
                  <a:srgbClr val="E5E0DF"/>
                </a:solidFill>
                <a:latin typeface="Barlow" pitchFamily="34" charset="0"/>
                <a:ea typeface="Barlow" pitchFamily="34" charset="-122"/>
                <a:cs typeface="Barlow" pitchFamily="34" charset="-120"/>
              </a:rPr>
              <a:t> SC, LG, DV, GS</a:t>
            </a:r>
            <a:endParaRPr lang="en-US" sz="1100" dirty="0"/>
          </a:p>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9 Decrees:</a:t>
            </a:r>
            <a:r>
              <a:rPr lang="en-US" sz="1100" dirty="0">
                <a:solidFill>
                  <a:srgbClr val="E5E0DF"/>
                </a:solidFill>
                <a:latin typeface="Barlow" pitchFamily="34" charset="0"/>
                <a:ea typeface="Barlow" pitchFamily="34" charset="-122"/>
                <a:cs typeface="Barlow" pitchFamily="34" charset="-120"/>
              </a:rPr>
              <a:t> IM, AG, UR, EO, AA, PC, OT, PO, CD</a:t>
            </a:r>
            <a:endParaRPr lang="en-US" sz="1100" dirty="0"/>
          </a:p>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3 Declarations:</a:t>
            </a:r>
            <a:r>
              <a:rPr lang="en-US" sz="1100" dirty="0">
                <a:solidFill>
                  <a:srgbClr val="E5E0DF"/>
                </a:solidFill>
                <a:latin typeface="Barlow" pitchFamily="34" charset="0"/>
                <a:ea typeface="Barlow" pitchFamily="34" charset="-122"/>
                <a:cs typeface="Barlow" pitchFamily="34" charset="-120"/>
              </a:rPr>
              <a:t> NA, GE, DH</a:t>
            </a:r>
            <a:endParaRPr lang="en-US" sz="1100" dirty="0"/>
          </a:p>
        </p:txBody>
      </p:sp>
      <p:sp>
        <p:nvSpPr>
          <p:cNvPr id="10" name="Shape 8"/>
          <p:cNvSpPr/>
          <p:nvPr/>
        </p:nvSpPr>
        <p:spPr>
          <a:xfrm>
            <a:off x="6002387" y="2477244"/>
            <a:ext cx="2580159" cy="1103561"/>
          </a:xfrm>
          <a:prstGeom prst="roundRect">
            <a:avLst>
              <a:gd name="adj" fmla="val 5342"/>
            </a:avLst>
          </a:prstGeom>
          <a:solidFill>
            <a:srgbClr val="790709"/>
          </a:solidFill>
          <a:ln w="4763">
            <a:solidFill>
              <a:srgbClr val="922022"/>
            </a:solidFill>
            <a:prstDash val="solid"/>
          </a:ln>
        </p:spPr>
        <p:txBody>
          <a:bodyPr/>
          <a:lstStyle/>
          <a:p>
            <a:endParaRPr lang="en-IN"/>
          </a:p>
        </p:txBody>
      </p:sp>
      <p:sp>
        <p:nvSpPr>
          <p:cNvPr id="11" name="Text 9"/>
          <p:cNvSpPr/>
          <p:nvPr/>
        </p:nvSpPr>
        <p:spPr>
          <a:xfrm>
            <a:off x="6147495" y="2622352"/>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Renewed Understanding</a:t>
            </a:r>
            <a:endParaRPr lang="en-US" sz="1300" dirty="0"/>
          </a:p>
        </p:txBody>
      </p:sp>
      <p:sp>
        <p:nvSpPr>
          <p:cNvPr id="12" name="Text 10"/>
          <p:cNvSpPr/>
          <p:nvPr/>
        </p:nvSpPr>
        <p:spPr>
          <a:xfrm>
            <a:off x="6147495" y="2874318"/>
            <a:ext cx="228994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Church, Hierarchy, Formation, World, Religions, Salvation, Dialogue, Ecumenism, Culture, Liturgy, Human Family, Mission.</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1454" y="1113606"/>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Postconciliar Era</a:t>
            </a:r>
            <a:endParaRPr lang="en-US" sz="2600" dirty="0"/>
          </a:p>
        </p:txBody>
      </p:sp>
      <p:sp>
        <p:nvSpPr>
          <p:cNvPr id="3" name="Text 1"/>
          <p:cNvSpPr/>
          <p:nvPr/>
        </p:nvSpPr>
        <p:spPr>
          <a:xfrm>
            <a:off x="561454" y="1729978"/>
            <a:ext cx="8021092"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More than 50 Years since Vatican II. Issues of the Authority of Magisterium and Infallibility: Collegiality, Synodality, Lay Participation, Women's Ordination.</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168575"/>
            <a:ext cx="2580084" cy="1861319"/>
          </a:xfrm>
          <a:prstGeom prst="rect">
            <a:avLst/>
          </a:prstGeom>
        </p:spPr>
      </p:pic>
      <p:sp>
        <p:nvSpPr>
          <p:cNvPr id="5" name="Text 2"/>
          <p:cNvSpPr/>
          <p:nvPr/>
        </p:nvSpPr>
        <p:spPr>
          <a:xfrm>
            <a:off x="797049" y="2327970"/>
            <a:ext cx="2185095"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Changing Cultural Landscape</a:t>
            </a:r>
            <a:endParaRPr lang="en-US" sz="1300" dirty="0"/>
          </a:p>
        </p:txBody>
      </p:sp>
      <p:sp>
        <p:nvSpPr>
          <p:cNvPr id="6" name="Text 3"/>
          <p:cNvSpPr/>
          <p:nvPr/>
        </p:nvSpPr>
        <p:spPr>
          <a:xfrm>
            <a:off x="797049" y="2747739"/>
            <a:ext cx="2185095" cy="1122759"/>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Situation is complicated by Changing Cultures in the Church that is ruled by Clericalism, Secularism, Globalization, Democratic and Multi-religious World, Academic Freedom, and New Means of Knowledge and Communication.</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1883" y="2168575"/>
            <a:ext cx="2580159" cy="1861319"/>
          </a:xfrm>
          <a:prstGeom prst="rect">
            <a:avLst/>
          </a:prstGeom>
        </p:spPr>
      </p:pic>
      <p:sp>
        <p:nvSpPr>
          <p:cNvPr id="8" name="Text 4"/>
          <p:cNvSpPr/>
          <p:nvPr/>
        </p:nvSpPr>
        <p:spPr>
          <a:xfrm>
            <a:off x="3517478" y="2327970"/>
            <a:ext cx="21851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Challenges and Scandals</a:t>
            </a:r>
            <a:endParaRPr lang="en-US" sz="1300" dirty="0"/>
          </a:p>
        </p:txBody>
      </p:sp>
      <p:sp>
        <p:nvSpPr>
          <p:cNvPr id="9" name="Text 5"/>
          <p:cNvSpPr/>
          <p:nvPr/>
        </p:nvSpPr>
        <p:spPr>
          <a:xfrm>
            <a:off x="3517478" y="2579936"/>
            <a:ext cx="2185169"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Church faced with Many Challenges and Scandals. Example of Pope Francis dealing with Issues related to Authority, Church, Ecology, Poor, Marginalized.</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2387" y="2168575"/>
            <a:ext cx="2580159" cy="1861319"/>
          </a:xfrm>
          <a:prstGeom prst="rect">
            <a:avLst/>
          </a:prstGeom>
        </p:spPr>
      </p:pic>
      <p:sp>
        <p:nvSpPr>
          <p:cNvPr id="11" name="Text 6"/>
          <p:cNvSpPr/>
          <p:nvPr/>
        </p:nvSpPr>
        <p:spPr>
          <a:xfrm>
            <a:off x="6237982" y="2327970"/>
            <a:ext cx="2185169"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Emergence of Contextual Theologies</a:t>
            </a:r>
            <a:endParaRPr lang="en-US" sz="1300" dirty="0"/>
          </a:p>
        </p:txBody>
      </p:sp>
      <p:sp>
        <p:nvSpPr>
          <p:cNvPr id="12" name="Text 7"/>
          <p:cNvSpPr/>
          <p:nvPr/>
        </p:nvSpPr>
        <p:spPr>
          <a:xfrm>
            <a:off x="6237982" y="2747739"/>
            <a:ext cx="2185169"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postconciliar era has witnessed the flowering of Liberation, Dalit, Tribal, Feminist, Eco-Theology and other contextual approaches that theologize from the peripheries.</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1454" y="126436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Theological Anthropology</a:t>
            </a:r>
            <a:endParaRPr lang="en-US" sz="2600" dirty="0"/>
          </a:p>
        </p:txBody>
      </p:sp>
      <p:sp>
        <p:nvSpPr>
          <p:cNvPr id="3" name="Shape 1"/>
          <p:cNvSpPr/>
          <p:nvPr/>
        </p:nvSpPr>
        <p:spPr>
          <a:xfrm>
            <a:off x="561454" y="1880741"/>
            <a:ext cx="19050" cy="736848"/>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2038648"/>
            <a:ext cx="781057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is God seeking Human Being ("Where are You?") and Human Being seeking God ("As a Deer... my Soul longs for you, O God" — Ps 42). Limitedness of Human who is open to the Transcendent (Horizon); Human Existence as Fundamentally oriented towards God = </a:t>
            </a:r>
            <a:r>
              <a:rPr lang="en-US" sz="1100" b="1" dirty="0">
                <a:solidFill>
                  <a:srgbClr val="E5E0DF"/>
                </a:solidFill>
                <a:latin typeface="Barlow Bold" pitchFamily="34" charset="0"/>
                <a:ea typeface="Barlow Bold" pitchFamily="34" charset="-122"/>
                <a:cs typeface="Barlow Bold" pitchFamily="34" charset="-120"/>
              </a:rPr>
              <a:t>Supernatural Existential</a:t>
            </a:r>
            <a:r>
              <a:rPr lang="en-US" sz="1100" dirty="0">
                <a:solidFill>
                  <a:srgbClr val="E5E0DF"/>
                </a:solidFill>
                <a:latin typeface="Barlow" pitchFamily="34" charset="0"/>
                <a:ea typeface="Barlow" pitchFamily="34" charset="-122"/>
                <a:cs typeface="Barlow" pitchFamily="34" charset="-120"/>
              </a:rPr>
              <a:t>.</a:t>
            </a:r>
            <a:endParaRPr lang="en-US" sz="1100" dirty="0"/>
          </a:p>
        </p:txBody>
      </p:sp>
      <p:sp>
        <p:nvSpPr>
          <p:cNvPr id="5" name="Shape 3"/>
          <p:cNvSpPr/>
          <p:nvPr/>
        </p:nvSpPr>
        <p:spPr>
          <a:xfrm>
            <a:off x="561454" y="2775496"/>
            <a:ext cx="8021092" cy="1103561"/>
          </a:xfrm>
          <a:prstGeom prst="roundRect">
            <a:avLst>
              <a:gd name="adj" fmla="val 5342"/>
            </a:avLst>
          </a:prstGeom>
          <a:solidFill>
            <a:srgbClr val="790709"/>
          </a:solidFill>
          <a:ln w="4763">
            <a:solidFill>
              <a:srgbClr val="922022"/>
            </a:solidFill>
            <a:prstDash val="solid"/>
          </a:ln>
        </p:spPr>
        <p:txBody>
          <a:bodyPr/>
          <a:lstStyle/>
          <a:p>
            <a:endParaRPr lang="en-IN"/>
          </a:p>
        </p:txBody>
      </p:sp>
      <p:sp>
        <p:nvSpPr>
          <p:cNvPr id="6" name="Shape 4"/>
          <p:cNvSpPr/>
          <p:nvPr/>
        </p:nvSpPr>
        <p:spPr>
          <a:xfrm>
            <a:off x="566217" y="2780258"/>
            <a:ext cx="4005783" cy="1094036"/>
          </a:xfrm>
          <a:prstGeom prst="rect">
            <a:avLst/>
          </a:prstGeom>
          <a:solidFill>
            <a:srgbClr val="790709"/>
          </a:solidFill>
          <a:ln/>
        </p:spPr>
        <p:txBody>
          <a:bodyPr/>
          <a:lstStyle/>
          <a:p>
            <a:endParaRPr lang="en-IN"/>
          </a:p>
        </p:txBody>
      </p:sp>
      <p:sp>
        <p:nvSpPr>
          <p:cNvPr id="7" name="Text 5"/>
          <p:cNvSpPr/>
          <p:nvPr/>
        </p:nvSpPr>
        <p:spPr>
          <a:xfrm>
            <a:off x="706562" y="2920603"/>
            <a:ext cx="372509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Rahner's Theological Anthropology</a:t>
            </a:r>
            <a:endParaRPr lang="en-US" sz="1300" dirty="0"/>
          </a:p>
        </p:txBody>
      </p:sp>
      <p:sp>
        <p:nvSpPr>
          <p:cNvPr id="8" name="Text 6"/>
          <p:cNvSpPr/>
          <p:nvPr/>
        </p:nvSpPr>
        <p:spPr>
          <a:xfrm>
            <a:off x="706562" y="3172569"/>
            <a:ext cx="372509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 and Humanity are correlative terms. The object of Theology is not God as such, rather </a:t>
            </a:r>
            <a:r>
              <a:rPr lang="en-US" sz="1100" b="1" dirty="0">
                <a:solidFill>
                  <a:srgbClr val="E5E0DF"/>
                </a:solidFill>
                <a:latin typeface="Barlow Bold" pitchFamily="34" charset="0"/>
                <a:ea typeface="Barlow Bold" pitchFamily="34" charset="-122"/>
                <a:cs typeface="Barlow Bold" pitchFamily="34" charset="-120"/>
              </a:rPr>
              <a:t>Human Person as related to God</a:t>
            </a:r>
            <a:r>
              <a:rPr lang="en-US" sz="1100" dirty="0">
                <a:solidFill>
                  <a:srgbClr val="E5E0DF"/>
                </a:solidFill>
                <a:latin typeface="Barlow" pitchFamily="34" charset="0"/>
                <a:ea typeface="Barlow" pitchFamily="34" charset="-122"/>
                <a:cs typeface="Barlow" pitchFamily="34" charset="-120"/>
              </a:rPr>
              <a:t>. Hence Theology can be rightly understood as Theological Anthropology.</a:t>
            </a:r>
            <a:endParaRPr lang="en-US" sz="1100" dirty="0"/>
          </a:p>
        </p:txBody>
      </p:sp>
      <p:sp>
        <p:nvSpPr>
          <p:cNvPr id="9" name="Shape 7"/>
          <p:cNvSpPr/>
          <p:nvPr/>
        </p:nvSpPr>
        <p:spPr>
          <a:xfrm>
            <a:off x="4572000" y="2780258"/>
            <a:ext cx="4005783" cy="1094036"/>
          </a:xfrm>
          <a:prstGeom prst="rect">
            <a:avLst/>
          </a:prstGeom>
          <a:solidFill>
            <a:srgbClr val="790709"/>
          </a:solidFill>
          <a:ln/>
        </p:spPr>
        <p:txBody>
          <a:bodyPr/>
          <a:lstStyle/>
          <a:p>
            <a:endParaRPr lang="en-IN"/>
          </a:p>
        </p:txBody>
      </p:sp>
      <p:sp>
        <p:nvSpPr>
          <p:cNvPr id="10" name="Shape 8"/>
          <p:cNvSpPr/>
          <p:nvPr/>
        </p:nvSpPr>
        <p:spPr>
          <a:xfrm>
            <a:off x="4572000" y="2780258"/>
            <a:ext cx="19050" cy="1094036"/>
          </a:xfrm>
          <a:prstGeom prst="roundRect">
            <a:avLst>
              <a:gd name="adj" fmla="val 309474"/>
            </a:avLst>
          </a:prstGeom>
          <a:solidFill>
            <a:srgbClr val="922022"/>
          </a:solidFill>
          <a:ln/>
        </p:spPr>
        <p:txBody>
          <a:bodyPr/>
          <a:lstStyle/>
          <a:p>
            <a:endParaRPr lang="en-IN"/>
          </a:p>
        </p:txBody>
      </p:sp>
      <p:sp>
        <p:nvSpPr>
          <p:cNvPr id="11" name="Text 9"/>
          <p:cNvSpPr/>
          <p:nvPr/>
        </p:nvSpPr>
        <p:spPr>
          <a:xfrm>
            <a:off x="4712345" y="2920603"/>
            <a:ext cx="372509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Anthropological Turn</a:t>
            </a:r>
            <a:endParaRPr lang="en-US" sz="1300" dirty="0"/>
          </a:p>
        </p:txBody>
      </p:sp>
      <p:sp>
        <p:nvSpPr>
          <p:cNvPr id="12" name="Text 10"/>
          <p:cNvSpPr/>
          <p:nvPr/>
        </p:nvSpPr>
        <p:spPr>
          <a:xfrm>
            <a:off x="4712345" y="3172569"/>
            <a:ext cx="372509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All Questions of Theology, Christology, Trinity, Eschatology etc have to be understood Anthropologically — In Relation to Human Person. The human being is the place where God's self-communication occurs.</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1454" y="1132805"/>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Contemplative Model</a:t>
            </a:r>
            <a:endParaRPr lang="en-US" sz="2600" dirty="0"/>
          </a:p>
        </p:txBody>
      </p:sp>
      <p:sp>
        <p:nvSpPr>
          <p:cNvPr id="3" name="Text 1"/>
          <p:cNvSpPr/>
          <p:nvPr/>
        </p:nvSpPr>
        <p:spPr>
          <a:xfrm>
            <a:off x="561454" y="1749177"/>
            <a:ext cx="8021092"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Ashram Tradition; </a:t>
            </a:r>
            <a:r>
              <a:rPr lang="en-US" sz="1100" i="1" dirty="0">
                <a:solidFill>
                  <a:srgbClr val="E5E0DF"/>
                </a:solidFill>
                <a:latin typeface="Barlow" pitchFamily="34" charset="0"/>
                <a:ea typeface="Barlow" pitchFamily="34" charset="-122"/>
                <a:cs typeface="Barlow" pitchFamily="34" charset="-120"/>
              </a:rPr>
              <a:t>Saccidananda</a:t>
            </a:r>
            <a:r>
              <a:rPr lang="en-US" sz="1100" dirty="0">
                <a:solidFill>
                  <a:srgbClr val="E5E0DF"/>
                </a:solidFill>
                <a:latin typeface="Barlow" pitchFamily="34" charset="0"/>
                <a:ea typeface="Barlow" pitchFamily="34" charset="-122"/>
                <a:cs typeface="Barlow" pitchFamily="34" charset="-120"/>
              </a:rPr>
              <a:t> — in the Cave of the Heart — Hindu Christian Mystical Koinonia, Christian Advaita. Dialogical Approach with the Indian Tradition of Jnana-Bhakti-Karma.</a:t>
            </a:r>
            <a:endParaRPr lang="en-US" sz="1100" dirty="0"/>
          </a:p>
        </p:txBody>
      </p:sp>
      <p:sp>
        <p:nvSpPr>
          <p:cNvPr id="4" name="Shape 2"/>
          <p:cNvSpPr/>
          <p:nvPr/>
        </p:nvSpPr>
        <p:spPr>
          <a:xfrm>
            <a:off x="561454" y="2187773"/>
            <a:ext cx="2580084" cy="1243905"/>
          </a:xfrm>
          <a:prstGeom prst="roundRect">
            <a:avLst>
              <a:gd name="adj" fmla="val 4739"/>
            </a:avLst>
          </a:prstGeom>
          <a:solidFill>
            <a:srgbClr val="790709"/>
          </a:solidFill>
          <a:ln w="4763">
            <a:solidFill>
              <a:srgbClr val="922022"/>
            </a:solidFill>
            <a:prstDash val="solid"/>
          </a:ln>
        </p:spPr>
        <p:txBody>
          <a:bodyPr/>
          <a:lstStyle/>
          <a:p>
            <a:endParaRPr lang="en-IN"/>
          </a:p>
        </p:txBody>
      </p:sp>
      <p:sp>
        <p:nvSpPr>
          <p:cNvPr id="5" name="Text 3"/>
          <p:cNvSpPr/>
          <p:nvPr/>
        </p:nvSpPr>
        <p:spPr>
          <a:xfrm>
            <a:off x="706562" y="2332881"/>
            <a:ext cx="2289870"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Jnana Marga</a:t>
            </a:r>
            <a:endParaRPr lang="en-US" sz="1300" dirty="0"/>
          </a:p>
        </p:txBody>
      </p:sp>
      <p:sp>
        <p:nvSpPr>
          <p:cNvPr id="6" name="Text 4"/>
          <p:cNvSpPr/>
          <p:nvPr/>
        </p:nvSpPr>
        <p:spPr>
          <a:xfrm>
            <a:off x="706562" y="2584847"/>
            <a:ext cx="2289870"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 is discovered in the Cave of the Heart as </a:t>
            </a:r>
            <a:r>
              <a:rPr lang="en-US" sz="1100" i="1" dirty="0">
                <a:solidFill>
                  <a:srgbClr val="E5E0DF"/>
                </a:solidFill>
                <a:latin typeface="Barlow" pitchFamily="34" charset="0"/>
                <a:ea typeface="Barlow" pitchFamily="34" charset="-122"/>
                <a:cs typeface="Barlow" pitchFamily="34" charset="-120"/>
              </a:rPr>
              <a:t>Saccidananda</a:t>
            </a:r>
            <a:r>
              <a:rPr lang="en-US" sz="1100" dirty="0">
                <a:solidFill>
                  <a:srgbClr val="E5E0DF"/>
                </a:solidFill>
                <a:latin typeface="Barlow" pitchFamily="34" charset="0"/>
                <a:ea typeface="Barlow" pitchFamily="34" charset="-122"/>
                <a:cs typeface="Barlow" pitchFamily="34" charset="-120"/>
              </a:rPr>
              <a:t> in Oneness where One could finally say '</a:t>
            </a:r>
            <a:r>
              <a:rPr lang="en-US" sz="1100" i="1" dirty="0">
                <a:solidFill>
                  <a:srgbClr val="E5E0DF"/>
                </a:solidFill>
                <a:latin typeface="Barlow" pitchFamily="34" charset="0"/>
                <a:ea typeface="Barlow" pitchFamily="34" charset="-122"/>
                <a:cs typeface="Barlow" pitchFamily="34" charset="-120"/>
              </a:rPr>
              <a:t>Aham Brahmasmi</a:t>
            </a:r>
            <a:r>
              <a:rPr lang="en-US" sz="1100" dirty="0">
                <a:solidFill>
                  <a:srgbClr val="E5E0DF"/>
                </a:solidFill>
                <a:latin typeface="Barlow" pitchFamily="34" charset="0"/>
                <a:ea typeface="Barlow" pitchFamily="34" charset="-122"/>
                <a:cs typeface="Barlow" pitchFamily="34" charset="-120"/>
              </a:rPr>
              <a:t>'; the Christian could speak of it as Koinonia.</a:t>
            </a:r>
            <a:endParaRPr lang="en-US" sz="1100" dirty="0"/>
          </a:p>
        </p:txBody>
      </p:sp>
      <p:sp>
        <p:nvSpPr>
          <p:cNvPr id="7" name="Shape 5"/>
          <p:cNvSpPr/>
          <p:nvPr/>
        </p:nvSpPr>
        <p:spPr>
          <a:xfrm>
            <a:off x="3281883" y="2187773"/>
            <a:ext cx="2580159" cy="1243905"/>
          </a:xfrm>
          <a:prstGeom prst="roundRect">
            <a:avLst>
              <a:gd name="adj" fmla="val 4739"/>
            </a:avLst>
          </a:prstGeom>
          <a:solidFill>
            <a:srgbClr val="790709"/>
          </a:solidFill>
          <a:ln w="4763">
            <a:solidFill>
              <a:srgbClr val="922022"/>
            </a:solidFill>
            <a:prstDash val="solid"/>
          </a:ln>
        </p:spPr>
        <p:txBody>
          <a:bodyPr/>
          <a:lstStyle/>
          <a:p>
            <a:endParaRPr lang="en-IN"/>
          </a:p>
        </p:txBody>
      </p:sp>
      <p:sp>
        <p:nvSpPr>
          <p:cNvPr id="8" name="Text 6"/>
          <p:cNvSpPr/>
          <p:nvPr/>
        </p:nvSpPr>
        <p:spPr>
          <a:xfrm>
            <a:off x="3426991" y="2332881"/>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Bhakti Marga</a:t>
            </a:r>
            <a:endParaRPr lang="en-US" sz="1300" dirty="0"/>
          </a:p>
        </p:txBody>
      </p:sp>
      <p:sp>
        <p:nvSpPr>
          <p:cNvPr id="9" name="Text 7"/>
          <p:cNvSpPr/>
          <p:nvPr/>
        </p:nvSpPr>
        <p:spPr>
          <a:xfrm>
            <a:off x="3426991" y="2584847"/>
            <a:ext cx="228994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 could be related to as the Personal God — Avatar — where the Bhakta experiences Him in the Relationship of Vine and Branches.</a:t>
            </a:r>
            <a:endParaRPr lang="en-US" sz="1100" dirty="0"/>
          </a:p>
        </p:txBody>
      </p:sp>
      <p:sp>
        <p:nvSpPr>
          <p:cNvPr id="10" name="Shape 8"/>
          <p:cNvSpPr/>
          <p:nvPr/>
        </p:nvSpPr>
        <p:spPr>
          <a:xfrm>
            <a:off x="6002387" y="2187773"/>
            <a:ext cx="2580159" cy="1243905"/>
          </a:xfrm>
          <a:prstGeom prst="roundRect">
            <a:avLst>
              <a:gd name="adj" fmla="val 4739"/>
            </a:avLst>
          </a:prstGeom>
          <a:solidFill>
            <a:srgbClr val="790709"/>
          </a:solidFill>
          <a:ln w="4763">
            <a:solidFill>
              <a:srgbClr val="922022"/>
            </a:solidFill>
            <a:prstDash val="solid"/>
          </a:ln>
        </p:spPr>
        <p:txBody>
          <a:bodyPr/>
          <a:lstStyle/>
          <a:p>
            <a:endParaRPr lang="en-IN"/>
          </a:p>
        </p:txBody>
      </p:sp>
      <p:sp>
        <p:nvSpPr>
          <p:cNvPr id="11" name="Text 9"/>
          <p:cNvSpPr/>
          <p:nvPr/>
        </p:nvSpPr>
        <p:spPr>
          <a:xfrm>
            <a:off x="6147495" y="2332881"/>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Karma Marga</a:t>
            </a:r>
            <a:endParaRPr lang="en-US" sz="1300" dirty="0"/>
          </a:p>
        </p:txBody>
      </p:sp>
      <p:sp>
        <p:nvSpPr>
          <p:cNvPr id="12" name="Text 10"/>
          <p:cNvSpPr/>
          <p:nvPr/>
        </p:nvSpPr>
        <p:spPr>
          <a:xfrm>
            <a:off x="6147495" y="2584847"/>
            <a:ext cx="228994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 could be found on the Indian Road by engaging in creating Human Communities — </a:t>
            </a:r>
            <a:r>
              <a:rPr lang="en-US" sz="1100" i="1" dirty="0">
                <a:solidFill>
                  <a:srgbClr val="E5E0DF"/>
                </a:solidFill>
                <a:latin typeface="Barlow" pitchFamily="34" charset="0"/>
                <a:ea typeface="Barlow" pitchFamily="34" charset="-122"/>
                <a:cs typeface="Barlow" pitchFamily="34" charset="-120"/>
              </a:rPr>
              <a:t>Vasudhaivakutumbakam</a:t>
            </a:r>
            <a:r>
              <a:rPr lang="en-US" sz="1100" dirty="0">
                <a:solidFill>
                  <a:srgbClr val="E5E0DF"/>
                </a:solidFill>
                <a:latin typeface="Barlow" pitchFamily="34" charset="0"/>
                <a:ea typeface="Barlow" pitchFamily="34" charset="-122"/>
                <a:cs typeface="Barlow" pitchFamily="34" charset="-120"/>
              </a:rPr>
              <a:t>.</a:t>
            </a:r>
            <a:endParaRPr lang="en-US" sz="1100" dirty="0"/>
          </a:p>
        </p:txBody>
      </p:sp>
      <p:sp>
        <p:nvSpPr>
          <p:cNvPr id="13" name="Text 11"/>
          <p:cNvSpPr/>
          <p:nvPr/>
        </p:nvSpPr>
        <p:spPr>
          <a:xfrm>
            <a:off x="561454" y="3589586"/>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Since the 1940's, Attempts were made to relate Christian Faith with the Tradition of Sannyasa and Ashram — traced back to Swami Parama Arubi Anandam, Swami Abhishiktananda and Swami Dayananda (Bede Griffiths) associated with the Saccidananda Ashram of Shantivanam.</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1454" y="1413346"/>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Praxis Model</a:t>
            </a:r>
            <a:endParaRPr lang="en-US" sz="2600" dirty="0"/>
          </a:p>
        </p:txBody>
      </p:sp>
      <p:sp>
        <p:nvSpPr>
          <p:cNvPr id="3" name="Text 1"/>
          <p:cNvSpPr/>
          <p:nvPr/>
        </p:nvSpPr>
        <p:spPr>
          <a:xfrm>
            <a:off x="561454" y="2029718"/>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Liberation Theology of 1960s in Latin America: Theology from below, involved in Praxis; Context, Option, Consequences, Transformation, Kingdom of God. God of History (Ex 3; Lk 4; Mt 25); God's Option for the Poor; Announce God's Love in a non-Human World; </a:t>
            </a:r>
            <a:r>
              <a:rPr lang="en-US" sz="1100" b="1" dirty="0">
                <a:solidFill>
                  <a:srgbClr val="E5E0DF"/>
                </a:solidFill>
                <a:latin typeface="Barlow Bold" pitchFamily="34" charset="0"/>
                <a:ea typeface="Barlow Bold" pitchFamily="34" charset="-122"/>
                <a:cs typeface="Barlow Bold" pitchFamily="34" charset="-120"/>
              </a:rPr>
              <a:t>Genuine Theology is possible only if it involves a liberating Commitment to the Poor.</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4065" y="2591023"/>
            <a:ext cx="210517" cy="210517"/>
          </a:xfrm>
          <a:prstGeom prst="rect">
            <a:avLst/>
          </a:prstGeom>
        </p:spPr>
      </p:pic>
      <p:sp>
        <p:nvSpPr>
          <p:cNvPr id="5" name="Text 2"/>
          <p:cNvSpPr/>
          <p:nvPr/>
        </p:nvSpPr>
        <p:spPr>
          <a:xfrm>
            <a:off x="1017612" y="2608659"/>
            <a:ext cx="2100560"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Analyse the Context</a:t>
            </a:r>
            <a:endParaRPr lang="en-US" sz="1300" dirty="0"/>
          </a:p>
        </p:txBody>
      </p:sp>
      <p:sp>
        <p:nvSpPr>
          <p:cNvPr id="6" name="Text 3"/>
          <p:cNvSpPr/>
          <p:nvPr/>
        </p:nvSpPr>
        <p:spPr>
          <a:xfrm>
            <a:off x="1017612" y="2860625"/>
            <a:ext cx="2100560"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View the Human Person as dignified; Realize the Promise of Salvation (Kingdom of God) given by Jesus.</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6177" y="2591023"/>
            <a:ext cx="210517" cy="210517"/>
          </a:xfrm>
          <a:prstGeom prst="rect">
            <a:avLst/>
          </a:prstGeom>
        </p:spPr>
      </p:pic>
      <p:sp>
        <p:nvSpPr>
          <p:cNvPr id="8" name="Text 4"/>
          <p:cNvSpPr/>
          <p:nvPr/>
        </p:nvSpPr>
        <p:spPr>
          <a:xfrm>
            <a:off x="3749725" y="2608659"/>
            <a:ext cx="2100635"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Impetus for Other Theologies</a:t>
            </a:r>
            <a:endParaRPr lang="en-US" sz="1300" dirty="0"/>
          </a:p>
        </p:txBody>
      </p:sp>
      <p:sp>
        <p:nvSpPr>
          <p:cNvPr id="9" name="Text 5"/>
          <p:cNvSpPr/>
          <p:nvPr/>
        </p:nvSpPr>
        <p:spPr>
          <a:xfrm>
            <a:off x="3749725" y="3028429"/>
            <a:ext cx="2100635"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Movement has given an Impetus to various other Theologies such as Subaltern, Black, Feminist, Dalit, Tribal, Minjung, etc.</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78364" y="2591023"/>
            <a:ext cx="210517" cy="210517"/>
          </a:xfrm>
          <a:prstGeom prst="rect">
            <a:avLst/>
          </a:prstGeom>
        </p:spPr>
      </p:pic>
      <p:sp>
        <p:nvSpPr>
          <p:cNvPr id="11" name="Text 6"/>
          <p:cNvSpPr/>
          <p:nvPr/>
        </p:nvSpPr>
        <p:spPr>
          <a:xfrm>
            <a:off x="6481911" y="2608659"/>
            <a:ext cx="210063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Theologizing in India</a:t>
            </a:r>
            <a:endParaRPr lang="en-US" sz="1300" dirty="0"/>
          </a:p>
        </p:txBody>
      </p:sp>
      <p:sp>
        <p:nvSpPr>
          <p:cNvPr id="12" name="Text 7"/>
          <p:cNvSpPr/>
          <p:nvPr/>
        </p:nvSpPr>
        <p:spPr>
          <a:xfrm>
            <a:off x="6481911" y="2860625"/>
            <a:ext cx="2100635"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This Model impels us to theologize in India from its multifaceted Context — from the peripheries, not the centre.</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1454" y="751508"/>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Contextualizing in India</a:t>
            </a:r>
            <a:endParaRPr lang="en-US" sz="2600" dirty="0"/>
          </a:p>
        </p:txBody>
      </p:sp>
      <p:sp>
        <p:nvSpPr>
          <p:cNvPr id="3" name="Shape 1"/>
          <p:cNvSpPr/>
          <p:nvPr/>
        </p:nvSpPr>
        <p:spPr>
          <a:xfrm>
            <a:off x="460400" y="1297707"/>
            <a:ext cx="4041428" cy="1879922"/>
          </a:xfrm>
          <a:prstGeom prst="roundRect">
            <a:avLst>
              <a:gd name="adj" fmla="val 5376"/>
            </a:avLst>
          </a:prstGeom>
          <a:solidFill>
            <a:srgbClr val="F65F62">
              <a:alpha val="95000"/>
            </a:srgbClr>
          </a:solidFill>
          <a:ln/>
        </p:spPr>
        <p:txBody>
          <a:bodyPr/>
          <a:lstStyle/>
          <a:p>
            <a:endParaRPr lang="en-IN"/>
          </a:p>
        </p:txBody>
      </p:sp>
      <p:sp>
        <p:nvSpPr>
          <p:cNvPr id="4" name="Text 2"/>
          <p:cNvSpPr/>
          <p:nvPr/>
        </p:nvSpPr>
        <p:spPr>
          <a:xfrm>
            <a:off x="600745" y="1438052"/>
            <a:ext cx="3760738" cy="167804"/>
          </a:xfrm>
          <a:prstGeom prst="rect">
            <a:avLst/>
          </a:prstGeom>
          <a:noFill/>
          <a:ln/>
        </p:spPr>
        <p:txBody>
          <a:bodyPr wrap="none" lIns="0" tIns="0" rIns="0" bIns="0" rtlCol="0" anchor="t"/>
          <a:lstStyle/>
          <a:p>
            <a:pPr marL="0" indent="0" algn="l">
              <a:lnSpc>
                <a:spcPct val="83000"/>
              </a:lnSpc>
              <a:buNone/>
            </a:pPr>
            <a:r>
              <a:rPr lang="en-US" sz="1300" dirty="0">
                <a:solidFill>
                  <a:srgbClr val="000000"/>
                </a:solidFill>
                <a:latin typeface="Fraunces Medium" pitchFamily="34" charset="0"/>
                <a:ea typeface="Fraunces Medium" pitchFamily="34" charset="-122"/>
                <a:cs typeface="Fraunces Medium" pitchFamily="34" charset="-120"/>
              </a:rPr>
              <a:t>India's Richness</a:t>
            </a:r>
            <a:endParaRPr lang="en-US" sz="1300" dirty="0"/>
          </a:p>
        </p:txBody>
      </p:sp>
      <p:sp>
        <p:nvSpPr>
          <p:cNvPr id="5" name="Text 3"/>
          <p:cNvSpPr/>
          <p:nvPr/>
        </p:nvSpPr>
        <p:spPr>
          <a:xfrm>
            <a:off x="600745" y="1746200"/>
            <a:ext cx="3760738"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000000"/>
                </a:solidFill>
                <a:latin typeface="Barlow" pitchFamily="34" charset="0"/>
                <a:ea typeface="Barlow" pitchFamily="34" charset="-122"/>
                <a:cs typeface="Barlow" pitchFamily="34" charset="-120"/>
              </a:rPr>
              <a:t>India is a Land Rich with Culture and Religions, Full of Natural and Personal Resources.</a:t>
            </a:r>
            <a:endParaRPr lang="en-US" sz="1100" dirty="0"/>
          </a:p>
        </p:txBody>
      </p:sp>
      <p:sp>
        <p:nvSpPr>
          <p:cNvPr id="6" name="Text 4"/>
          <p:cNvSpPr/>
          <p:nvPr/>
        </p:nvSpPr>
        <p:spPr>
          <a:xfrm>
            <a:off x="4747989" y="1438052"/>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India's Contradictions</a:t>
            </a:r>
            <a:endParaRPr lang="en-US" sz="1300" dirty="0"/>
          </a:p>
        </p:txBody>
      </p:sp>
      <p:sp>
        <p:nvSpPr>
          <p:cNvPr id="7" name="Text 5"/>
          <p:cNvSpPr/>
          <p:nvPr/>
        </p:nvSpPr>
        <p:spPr>
          <a:xfrm>
            <a:off x="4747989" y="1746200"/>
            <a:ext cx="3839319" cy="898178"/>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Gross Poverty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Inhuman Discrimination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Religious Bigotry and Fundamentalism</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Growing Disregard for Weaker Sections</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Violence, Corruption, Adharma and Consumerism</a:t>
            </a:r>
            <a:endParaRPr lang="en-US" sz="1100" dirty="0"/>
          </a:p>
        </p:txBody>
      </p:sp>
      <p:sp>
        <p:nvSpPr>
          <p:cNvPr id="8" name="Text 6"/>
          <p:cNvSpPr/>
          <p:nvPr/>
        </p:nvSpPr>
        <p:spPr>
          <a:xfrm>
            <a:off x="4747989" y="2770659"/>
            <a:ext cx="3839319" cy="280690"/>
          </a:xfrm>
          <a:prstGeom prst="rect">
            <a:avLst/>
          </a:prstGeom>
          <a:noFill/>
          <a:ln/>
        </p:spPr>
        <p:txBody>
          <a:bodyPr wrap="square" lIns="0" tIns="0" rIns="0" bIns="0" rtlCol="0" anchor="t">
            <a:normAutofit/>
          </a:bodyPr>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What Answer has Christianity and other Religions to offer to our Nation?</a:t>
            </a:r>
            <a:endParaRPr lang="en-US" sz="1100" dirty="0"/>
          </a:p>
        </p:txBody>
      </p:sp>
      <p:sp>
        <p:nvSpPr>
          <p:cNvPr id="9" name="Shape 7"/>
          <p:cNvSpPr/>
          <p:nvPr/>
        </p:nvSpPr>
        <p:spPr>
          <a:xfrm>
            <a:off x="561454" y="3335536"/>
            <a:ext cx="1900014" cy="458019"/>
          </a:xfrm>
          <a:prstGeom prst="roundRect">
            <a:avLst>
              <a:gd name="adj" fmla="val 12872"/>
            </a:avLst>
          </a:prstGeom>
          <a:solidFill>
            <a:srgbClr val="790709"/>
          </a:solidFill>
          <a:ln w="4763">
            <a:solidFill>
              <a:srgbClr val="922022"/>
            </a:solidFill>
            <a:prstDash val="solid"/>
          </a:ln>
        </p:spPr>
        <p:txBody>
          <a:bodyPr/>
          <a:lstStyle/>
          <a:p>
            <a:endParaRPr lang="en-IN"/>
          </a:p>
        </p:txBody>
      </p:sp>
      <p:sp>
        <p:nvSpPr>
          <p:cNvPr id="10" name="Text 8"/>
          <p:cNvSpPr/>
          <p:nvPr/>
        </p:nvSpPr>
        <p:spPr>
          <a:xfrm>
            <a:off x="706562" y="3480643"/>
            <a:ext cx="160979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Subaltern Theology</a:t>
            </a:r>
            <a:endParaRPr lang="en-US" sz="1300" dirty="0"/>
          </a:p>
        </p:txBody>
      </p:sp>
      <p:sp>
        <p:nvSpPr>
          <p:cNvPr id="11" name="Shape 9"/>
          <p:cNvSpPr/>
          <p:nvPr/>
        </p:nvSpPr>
        <p:spPr>
          <a:xfrm>
            <a:off x="2601813" y="3335536"/>
            <a:ext cx="1900014" cy="458019"/>
          </a:xfrm>
          <a:prstGeom prst="roundRect">
            <a:avLst>
              <a:gd name="adj" fmla="val 12872"/>
            </a:avLst>
          </a:prstGeom>
          <a:solidFill>
            <a:srgbClr val="790709"/>
          </a:solidFill>
          <a:ln w="4763">
            <a:solidFill>
              <a:srgbClr val="922022"/>
            </a:solidFill>
            <a:prstDash val="solid"/>
          </a:ln>
        </p:spPr>
        <p:txBody>
          <a:bodyPr/>
          <a:lstStyle/>
          <a:p>
            <a:endParaRPr lang="en-IN"/>
          </a:p>
        </p:txBody>
      </p:sp>
      <p:sp>
        <p:nvSpPr>
          <p:cNvPr id="12" name="Text 10"/>
          <p:cNvSpPr/>
          <p:nvPr/>
        </p:nvSpPr>
        <p:spPr>
          <a:xfrm>
            <a:off x="2746921" y="3480643"/>
            <a:ext cx="160979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Dalit Theology</a:t>
            </a:r>
            <a:endParaRPr lang="en-US" sz="1300" dirty="0"/>
          </a:p>
        </p:txBody>
      </p:sp>
      <p:sp>
        <p:nvSpPr>
          <p:cNvPr id="13" name="Shape 11"/>
          <p:cNvSpPr/>
          <p:nvPr/>
        </p:nvSpPr>
        <p:spPr>
          <a:xfrm>
            <a:off x="4642172" y="3335536"/>
            <a:ext cx="1900014" cy="458019"/>
          </a:xfrm>
          <a:prstGeom prst="roundRect">
            <a:avLst>
              <a:gd name="adj" fmla="val 12872"/>
            </a:avLst>
          </a:prstGeom>
          <a:solidFill>
            <a:srgbClr val="790709"/>
          </a:solidFill>
          <a:ln w="4763">
            <a:solidFill>
              <a:srgbClr val="922022"/>
            </a:solidFill>
            <a:prstDash val="solid"/>
          </a:ln>
        </p:spPr>
        <p:txBody>
          <a:bodyPr/>
          <a:lstStyle/>
          <a:p>
            <a:endParaRPr lang="en-IN"/>
          </a:p>
        </p:txBody>
      </p:sp>
      <p:sp>
        <p:nvSpPr>
          <p:cNvPr id="14" name="Text 12"/>
          <p:cNvSpPr/>
          <p:nvPr/>
        </p:nvSpPr>
        <p:spPr>
          <a:xfrm>
            <a:off x="4787280" y="3480643"/>
            <a:ext cx="160979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Tribal Theology</a:t>
            </a:r>
            <a:endParaRPr lang="en-US" sz="1300" dirty="0"/>
          </a:p>
        </p:txBody>
      </p:sp>
      <p:sp>
        <p:nvSpPr>
          <p:cNvPr id="15" name="Shape 13"/>
          <p:cNvSpPr/>
          <p:nvPr/>
        </p:nvSpPr>
        <p:spPr>
          <a:xfrm>
            <a:off x="6682532" y="3335536"/>
            <a:ext cx="1900014" cy="458019"/>
          </a:xfrm>
          <a:prstGeom prst="roundRect">
            <a:avLst>
              <a:gd name="adj" fmla="val 12872"/>
            </a:avLst>
          </a:prstGeom>
          <a:solidFill>
            <a:srgbClr val="790709"/>
          </a:solidFill>
          <a:ln w="4763">
            <a:solidFill>
              <a:srgbClr val="922022"/>
            </a:solidFill>
            <a:prstDash val="solid"/>
          </a:ln>
        </p:spPr>
        <p:txBody>
          <a:bodyPr/>
          <a:lstStyle/>
          <a:p>
            <a:endParaRPr lang="en-IN"/>
          </a:p>
        </p:txBody>
      </p:sp>
      <p:sp>
        <p:nvSpPr>
          <p:cNvPr id="16" name="Text 14"/>
          <p:cNvSpPr/>
          <p:nvPr/>
        </p:nvSpPr>
        <p:spPr>
          <a:xfrm>
            <a:off x="6827639" y="3480643"/>
            <a:ext cx="160979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Feminist Theology</a:t>
            </a:r>
            <a:endParaRPr lang="en-US" sz="1300" dirty="0"/>
          </a:p>
        </p:txBody>
      </p:sp>
      <p:sp>
        <p:nvSpPr>
          <p:cNvPr id="17" name="Shape 15"/>
          <p:cNvSpPr/>
          <p:nvPr/>
        </p:nvSpPr>
        <p:spPr>
          <a:xfrm>
            <a:off x="561454" y="3933899"/>
            <a:ext cx="3940373" cy="458019"/>
          </a:xfrm>
          <a:prstGeom prst="roundRect">
            <a:avLst>
              <a:gd name="adj" fmla="val 12872"/>
            </a:avLst>
          </a:prstGeom>
          <a:solidFill>
            <a:srgbClr val="790709"/>
          </a:solidFill>
          <a:ln w="4763">
            <a:solidFill>
              <a:srgbClr val="922022"/>
            </a:solidFill>
            <a:prstDash val="solid"/>
          </a:ln>
        </p:spPr>
        <p:txBody>
          <a:bodyPr/>
          <a:lstStyle/>
          <a:p>
            <a:endParaRPr lang="en-IN"/>
          </a:p>
        </p:txBody>
      </p:sp>
      <p:sp>
        <p:nvSpPr>
          <p:cNvPr id="18" name="Text 16"/>
          <p:cNvSpPr/>
          <p:nvPr/>
        </p:nvSpPr>
        <p:spPr>
          <a:xfrm>
            <a:off x="706562" y="4079007"/>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Theology of Dialogue</a:t>
            </a:r>
            <a:endParaRPr lang="en-US" sz="1300" dirty="0"/>
          </a:p>
        </p:txBody>
      </p:sp>
      <p:sp>
        <p:nvSpPr>
          <p:cNvPr id="19" name="Shape 17"/>
          <p:cNvSpPr/>
          <p:nvPr/>
        </p:nvSpPr>
        <p:spPr>
          <a:xfrm>
            <a:off x="4642172" y="3933899"/>
            <a:ext cx="3940373" cy="458019"/>
          </a:xfrm>
          <a:prstGeom prst="roundRect">
            <a:avLst>
              <a:gd name="adj" fmla="val 12872"/>
            </a:avLst>
          </a:prstGeom>
          <a:solidFill>
            <a:srgbClr val="790709"/>
          </a:solidFill>
          <a:ln w="4763">
            <a:solidFill>
              <a:srgbClr val="922022"/>
            </a:solidFill>
            <a:prstDash val="solid"/>
          </a:ln>
        </p:spPr>
        <p:txBody>
          <a:bodyPr/>
          <a:lstStyle/>
          <a:p>
            <a:endParaRPr lang="en-IN"/>
          </a:p>
        </p:txBody>
      </p:sp>
      <p:sp>
        <p:nvSpPr>
          <p:cNvPr id="20" name="Text 18"/>
          <p:cNvSpPr/>
          <p:nvPr/>
        </p:nvSpPr>
        <p:spPr>
          <a:xfrm>
            <a:off x="4787280" y="4079007"/>
            <a:ext cx="365015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Pluralism &amp; Convergence</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1454" y="160563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Indian Context of Theology</a:t>
            </a:r>
            <a:endParaRPr lang="en-US" sz="2600" dirty="0"/>
          </a:p>
        </p:txBody>
      </p:sp>
      <p:sp>
        <p:nvSpPr>
          <p:cNvPr id="3" name="Shape 1"/>
          <p:cNvSpPr/>
          <p:nvPr/>
        </p:nvSpPr>
        <p:spPr>
          <a:xfrm>
            <a:off x="561454" y="2222004"/>
            <a:ext cx="19050" cy="736848"/>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2379911"/>
            <a:ext cx="781057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Christians in India are divided in Various Groups across the Country… Dalits, Tribals, Poor, Oppressed … Their Theology is yet to be discovered… Rather to be re-invented… For that we need to enter the </a:t>
            </a:r>
            <a:r>
              <a:rPr lang="en-US" sz="1100" b="1" dirty="0">
                <a:solidFill>
                  <a:srgbClr val="E5E0DF"/>
                </a:solidFill>
                <a:latin typeface="Barlow Bold" pitchFamily="34" charset="0"/>
                <a:ea typeface="Barlow Bold" pitchFamily="34" charset="-122"/>
                <a:cs typeface="Barlow Bold" pitchFamily="34" charset="-120"/>
              </a:rPr>
              <a:t>'Jordan of Religions'</a:t>
            </a:r>
            <a:r>
              <a:rPr lang="en-US" sz="1100" dirty="0">
                <a:solidFill>
                  <a:srgbClr val="E5E0DF"/>
                </a:solidFill>
                <a:latin typeface="Barlow" pitchFamily="34" charset="0"/>
                <a:ea typeface="Barlow" pitchFamily="34" charset="-122"/>
                <a:cs typeface="Barlow" pitchFamily="34" charset="-120"/>
              </a:rPr>
              <a:t> and </a:t>
            </a:r>
            <a:r>
              <a:rPr lang="en-US" sz="1100" b="1" dirty="0">
                <a:solidFill>
                  <a:srgbClr val="E5E0DF"/>
                </a:solidFill>
                <a:latin typeface="Barlow Bold" pitchFamily="34" charset="0"/>
                <a:ea typeface="Barlow Bold" pitchFamily="34" charset="-122"/>
                <a:cs typeface="Barlow Bold" pitchFamily="34" charset="-120"/>
              </a:rPr>
              <a:t>'Calvary of Poverty'</a:t>
            </a:r>
            <a:r>
              <a:rPr lang="en-US" sz="1100" dirty="0">
                <a:solidFill>
                  <a:srgbClr val="E5E0DF"/>
                </a:solidFill>
                <a:latin typeface="Barlow" pitchFamily="34" charset="0"/>
                <a:ea typeface="Barlow" pitchFamily="34" charset="-122"/>
                <a:cs typeface="Barlow" pitchFamily="34" charset="-120"/>
              </a:rPr>
              <a:t> and be crucified with People's Struggles…</a:t>
            </a:r>
            <a:endParaRPr lang="en-US" sz="1100" dirty="0"/>
          </a:p>
        </p:txBody>
      </p:sp>
      <p:sp>
        <p:nvSpPr>
          <p:cNvPr id="5" name="Text 3"/>
          <p:cNvSpPr/>
          <p:nvPr/>
        </p:nvSpPr>
        <p:spPr>
          <a:xfrm>
            <a:off x="561454" y="3116759"/>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Indian context demands a theology that is not imported from the West but born from the soil — from the struggles, spiritualities, and stories of the people of India. The theologian must be willing to be immersed, to be changed, to be crucified with the people before any authentic theological word can be spoken.</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1454" y="1358652"/>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Contextual Theologies</a:t>
            </a:r>
            <a:endParaRPr lang="en-US" sz="2600" dirty="0"/>
          </a:p>
        </p:txBody>
      </p:sp>
      <p:sp>
        <p:nvSpPr>
          <p:cNvPr id="3" name="Text 1"/>
          <p:cNvSpPr/>
          <p:nvPr/>
        </p:nvSpPr>
        <p:spPr>
          <a:xfrm>
            <a:off x="561454" y="1975024"/>
            <a:ext cx="8021092"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from the Peripheries — Third World Theologies. Context: Oppression, Disparity, Conflicts. Method: </a:t>
            </a:r>
            <a:r>
              <a:rPr lang="en-US" sz="1100" b="1" dirty="0">
                <a:solidFill>
                  <a:srgbClr val="E5E0DF"/>
                </a:solidFill>
                <a:latin typeface="Barlow Bold" pitchFamily="34" charset="0"/>
                <a:ea typeface="Barlow Bold" pitchFamily="34" charset="-122"/>
                <a:cs typeface="Barlow Bold" pitchFamily="34" charset="-120"/>
              </a:rPr>
              <a:t>Worm's Eye View</a:t>
            </a:r>
            <a:r>
              <a:rPr lang="en-US" sz="1100" dirty="0">
                <a:solidFill>
                  <a:srgbClr val="E5E0DF"/>
                </a:solidFill>
                <a:latin typeface="Barlow" pitchFamily="34" charset="0"/>
                <a:ea typeface="Barlow" pitchFamily="34" charset="-122"/>
                <a:cs typeface="Barlow" pitchFamily="34" charset="-120"/>
              </a:rPr>
              <a:t> rather than Bird's Eye View; </a:t>
            </a:r>
            <a:r>
              <a:rPr lang="en-US" sz="1100" b="1" dirty="0">
                <a:solidFill>
                  <a:srgbClr val="E5E0DF"/>
                </a:solidFill>
                <a:latin typeface="Barlow Bold" pitchFamily="34" charset="0"/>
                <a:ea typeface="Barlow Bold" pitchFamily="34" charset="-122"/>
                <a:cs typeface="Barlow Bold" pitchFamily="34" charset="-120"/>
              </a:rPr>
              <a:t>Bullock Cart Theology</a:t>
            </a:r>
            <a:r>
              <a:rPr lang="en-US" sz="1100" dirty="0">
                <a:solidFill>
                  <a:srgbClr val="E5E0DF"/>
                </a:solidFill>
                <a:latin typeface="Barlow" pitchFamily="34" charset="0"/>
                <a:ea typeface="Barlow" pitchFamily="34" charset="-122"/>
                <a:cs typeface="Barlow" pitchFamily="34" charset="-120"/>
              </a:rPr>
              <a:t> rather than Helicopter Theology.</a:t>
            </a:r>
            <a:endParaRPr lang="en-US" sz="1100" dirty="0"/>
          </a:p>
        </p:txBody>
      </p:sp>
      <p:sp>
        <p:nvSpPr>
          <p:cNvPr id="4" name="Text 2"/>
          <p:cNvSpPr/>
          <p:nvPr/>
        </p:nvSpPr>
        <p:spPr>
          <a:xfrm>
            <a:off x="561454" y="2553965"/>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Bird's Eye View (Helicopter Theology)</a:t>
            </a:r>
            <a:endParaRPr lang="en-US" sz="1300" dirty="0"/>
          </a:p>
        </p:txBody>
      </p:sp>
      <p:sp>
        <p:nvSpPr>
          <p:cNvPr id="5" name="Text 3"/>
          <p:cNvSpPr/>
          <p:nvPr/>
        </p:nvSpPr>
        <p:spPr>
          <a:xfrm>
            <a:off x="561454" y="2862114"/>
            <a:ext cx="3839319" cy="519261"/>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Dogmatic, Upanishadic, Sanskritic</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Advaitic, Classical Theology</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Church Oriented People</a:t>
            </a:r>
            <a:endParaRPr lang="en-US" sz="1100" dirty="0"/>
          </a:p>
        </p:txBody>
      </p:sp>
      <p:sp>
        <p:nvSpPr>
          <p:cNvPr id="6" name="Text 4"/>
          <p:cNvSpPr/>
          <p:nvPr/>
        </p:nvSpPr>
        <p:spPr>
          <a:xfrm>
            <a:off x="4747989" y="2553965"/>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Worm's Eye View (Bullock Cart Theology)</a:t>
            </a:r>
            <a:endParaRPr lang="en-US" sz="1300" dirty="0"/>
          </a:p>
        </p:txBody>
      </p:sp>
      <p:sp>
        <p:nvSpPr>
          <p:cNvPr id="7" name="Text 5"/>
          <p:cNvSpPr/>
          <p:nvPr/>
        </p:nvSpPr>
        <p:spPr>
          <a:xfrm>
            <a:off x="4747989" y="2862114"/>
            <a:ext cx="3839319" cy="519261"/>
          </a:xfrm>
          <a:prstGeom prst="rect">
            <a:avLst/>
          </a:prstGeom>
          <a:noFill/>
          <a:ln/>
        </p:spPr>
        <p:txBody>
          <a:bodyPr wrap="square" lIns="0" tIns="0" rIns="0" bIns="0" rtlCol="0" anchor="t">
            <a:normAutofit/>
          </a:bodyPr>
          <a:lstStyle/>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Dalit, Tribal, Women, Marginalized (Subaltern)</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Liberation, Culture, Dialogue</a:t>
            </a:r>
            <a:endParaRPr lang="en-US" sz="1100" dirty="0"/>
          </a:p>
          <a:p>
            <a:pPr marL="223520" indent="-223520" algn="l">
              <a:lnSpc>
                <a:spcPct val="83000"/>
              </a:lnSpc>
              <a:buSzPct val="100000"/>
              <a:buChar char="•"/>
            </a:pPr>
            <a:r>
              <a:rPr lang="en-US" sz="1100" dirty="0">
                <a:solidFill>
                  <a:srgbClr val="E5E0DF"/>
                </a:solidFill>
                <a:latin typeface="Barlow" pitchFamily="34" charset="0"/>
                <a:ea typeface="Barlow" pitchFamily="34" charset="-122"/>
                <a:cs typeface="Barlow" pitchFamily="34" charset="-120"/>
              </a:rPr>
              <a:t>People Oriented Church</a:t>
            </a:r>
            <a:endParaRPr lang="en-US" sz="1100" dirty="0"/>
          </a:p>
        </p:txBody>
      </p:sp>
      <p:sp>
        <p:nvSpPr>
          <p:cNvPr id="8" name="Shape 6"/>
          <p:cNvSpPr/>
          <p:nvPr/>
        </p:nvSpPr>
        <p:spPr>
          <a:xfrm>
            <a:off x="561454" y="3588395"/>
            <a:ext cx="771599" cy="196379"/>
          </a:xfrm>
          <a:prstGeom prst="roundRect">
            <a:avLst>
              <a:gd name="adj" fmla="val 24017"/>
            </a:avLst>
          </a:prstGeom>
          <a:solidFill>
            <a:srgbClr val="480405"/>
          </a:solidFill>
          <a:ln/>
        </p:spPr>
        <p:txBody>
          <a:bodyPr/>
          <a:lstStyle/>
          <a:p>
            <a:endParaRPr lang="en-IN"/>
          </a:p>
        </p:txBody>
      </p:sp>
      <p:sp>
        <p:nvSpPr>
          <p:cNvPr id="9" name="Text 7"/>
          <p:cNvSpPr/>
          <p:nvPr/>
        </p:nvSpPr>
        <p:spPr>
          <a:xfrm>
            <a:off x="645616" y="3630439"/>
            <a:ext cx="1060475"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LIBERATION</a:t>
            </a:r>
            <a:endParaRPr lang="en-US" sz="850" dirty="0"/>
          </a:p>
        </p:txBody>
      </p:sp>
      <p:sp>
        <p:nvSpPr>
          <p:cNvPr id="10" name="Shape 8"/>
          <p:cNvSpPr/>
          <p:nvPr/>
        </p:nvSpPr>
        <p:spPr>
          <a:xfrm>
            <a:off x="1403226" y="3588395"/>
            <a:ext cx="772269" cy="196379"/>
          </a:xfrm>
          <a:prstGeom prst="roundRect">
            <a:avLst>
              <a:gd name="adj" fmla="val 24017"/>
            </a:avLst>
          </a:prstGeom>
          <a:solidFill>
            <a:srgbClr val="480405"/>
          </a:solidFill>
          <a:ln/>
        </p:spPr>
        <p:txBody>
          <a:bodyPr/>
          <a:lstStyle/>
          <a:p>
            <a:endParaRPr lang="en-IN"/>
          </a:p>
        </p:txBody>
      </p:sp>
      <p:sp>
        <p:nvSpPr>
          <p:cNvPr id="11" name="Text 9"/>
          <p:cNvSpPr/>
          <p:nvPr/>
        </p:nvSpPr>
        <p:spPr>
          <a:xfrm>
            <a:off x="1487388" y="3630439"/>
            <a:ext cx="1061145"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SUBALTERN</a:t>
            </a:r>
            <a:endParaRPr lang="en-US" sz="850" dirty="0"/>
          </a:p>
        </p:txBody>
      </p:sp>
      <p:sp>
        <p:nvSpPr>
          <p:cNvPr id="12" name="Shape 10"/>
          <p:cNvSpPr/>
          <p:nvPr/>
        </p:nvSpPr>
        <p:spPr>
          <a:xfrm>
            <a:off x="2245668" y="3588395"/>
            <a:ext cx="510629" cy="196379"/>
          </a:xfrm>
          <a:prstGeom prst="roundRect">
            <a:avLst>
              <a:gd name="adj" fmla="val 24017"/>
            </a:avLst>
          </a:prstGeom>
          <a:solidFill>
            <a:srgbClr val="480405"/>
          </a:solidFill>
          <a:ln/>
        </p:spPr>
        <p:txBody>
          <a:bodyPr/>
          <a:lstStyle/>
          <a:p>
            <a:endParaRPr lang="en-IN"/>
          </a:p>
        </p:txBody>
      </p:sp>
      <p:sp>
        <p:nvSpPr>
          <p:cNvPr id="13" name="Text 11"/>
          <p:cNvSpPr/>
          <p:nvPr/>
        </p:nvSpPr>
        <p:spPr>
          <a:xfrm>
            <a:off x="2329830" y="3630439"/>
            <a:ext cx="799505"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BLACK</a:t>
            </a:r>
            <a:endParaRPr lang="en-US" sz="850" dirty="0"/>
          </a:p>
        </p:txBody>
      </p:sp>
      <p:sp>
        <p:nvSpPr>
          <p:cNvPr id="14" name="Shape 12"/>
          <p:cNvSpPr/>
          <p:nvPr/>
        </p:nvSpPr>
        <p:spPr>
          <a:xfrm>
            <a:off x="2826469" y="3588395"/>
            <a:ext cx="459879" cy="196379"/>
          </a:xfrm>
          <a:prstGeom prst="roundRect">
            <a:avLst>
              <a:gd name="adj" fmla="val 24017"/>
            </a:avLst>
          </a:prstGeom>
          <a:solidFill>
            <a:srgbClr val="480405"/>
          </a:solidFill>
          <a:ln/>
        </p:spPr>
        <p:txBody>
          <a:bodyPr/>
          <a:lstStyle/>
          <a:p>
            <a:endParaRPr lang="en-IN"/>
          </a:p>
        </p:txBody>
      </p:sp>
      <p:sp>
        <p:nvSpPr>
          <p:cNvPr id="15" name="Text 13"/>
          <p:cNvSpPr/>
          <p:nvPr/>
        </p:nvSpPr>
        <p:spPr>
          <a:xfrm>
            <a:off x="2910632" y="3630439"/>
            <a:ext cx="748754"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DALIT</a:t>
            </a:r>
            <a:endParaRPr lang="en-US" sz="850" dirty="0"/>
          </a:p>
        </p:txBody>
      </p:sp>
      <p:sp>
        <p:nvSpPr>
          <p:cNvPr id="16" name="Shape 14"/>
          <p:cNvSpPr/>
          <p:nvPr/>
        </p:nvSpPr>
        <p:spPr>
          <a:xfrm>
            <a:off x="3356521" y="3588395"/>
            <a:ext cx="529605" cy="196379"/>
          </a:xfrm>
          <a:prstGeom prst="roundRect">
            <a:avLst>
              <a:gd name="adj" fmla="val 24017"/>
            </a:avLst>
          </a:prstGeom>
          <a:solidFill>
            <a:srgbClr val="480405"/>
          </a:solidFill>
          <a:ln/>
        </p:spPr>
        <p:txBody>
          <a:bodyPr/>
          <a:lstStyle/>
          <a:p>
            <a:endParaRPr lang="en-IN"/>
          </a:p>
        </p:txBody>
      </p:sp>
      <p:sp>
        <p:nvSpPr>
          <p:cNvPr id="17" name="Text 15"/>
          <p:cNvSpPr/>
          <p:nvPr/>
        </p:nvSpPr>
        <p:spPr>
          <a:xfrm>
            <a:off x="3440683" y="3630439"/>
            <a:ext cx="818480"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TRIBAL</a:t>
            </a:r>
            <a:endParaRPr lang="en-US" sz="850" dirty="0"/>
          </a:p>
        </p:txBody>
      </p:sp>
      <p:sp>
        <p:nvSpPr>
          <p:cNvPr id="18" name="Shape 16"/>
          <p:cNvSpPr/>
          <p:nvPr/>
        </p:nvSpPr>
        <p:spPr>
          <a:xfrm>
            <a:off x="3956298" y="3588395"/>
            <a:ext cx="641226" cy="196379"/>
          </a:xfrm>
          <a:prstGeom prst="roundRect">
            <a:avLst>
              <a:gd name="adj" fmla="val 24017"/>
            </a:avLst>
          </a:prstGeom>
          <a:solidFill>
            <a:srgbClr val="480405"/>
          </a:solidFill>
          <a:ln/>
        </p:spPr>
        <p:txBody>
          <a:bodyPr/>
          <a:lstStyle/>
          <a:p>
            <a:endParaRPr lang="en-IN"/>
          </a:p>
        </p:txBody>
      </p:sp>
      <p:sp>
        <p:nvSpPr>
          <p:cNvPr id="19" name="Text 17"/>
          <p:cNvSpPr/>
          <p:nvPr/>
        </p:nvSpPr>
        <p:spPr>
          <a:xfrm>
            <a:off x="4040460" y="3630439"/>
            <a:ext cx="930101"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FEMINIST</a:t>
            </a:r>
            <a:endParaRPr lang="en-US" sz="850" dirty="0"/>
          </a:p>
        </p:txBody>
      </p:sp>
      <p:sp>
        <p:nvSpPr>
          <p:cNvPr id="20" name="Shape 18"/>
          <p:cNvSpPr/>
          <p:nvPr/>
        </p:nvSpPr>
        <p:spPr>
          <a:xfrm>
            <a:off x="4667696" y="3588395"/>
            <a:ext cx="951533" cy="196379"/>
          </a:xfrm>
          <a:prstGeom prst="roundRect">
            <a:avLst>
              <a:gd name="adj" fmla="val 24017"/>
            </a:avLst>
          </a:prstGeom>
          <a:solidFill>
            <a:srgbClr val="480405"/>
          </a:solidFill>
          <a:ln/>
        </p:spPr>
        <p:txBody>
          <a:bodyPr/>
          <a:lstStyle/>
          <a:p>
            <a:endParaRPr lang="en-IN"/>
          </a:p>
        </p:txBody>
      </p:sp>
      <p:sp>
        <p:nvSpPr>
          <p:cNvPr id="21" name="Text 19"/>
          <p:cNvSpPr/>
          <p:nvPr/>
        </p:nvSpPr>
        <p:spPr>
          <a:xfrm>
            <a:off x="4751859" y="3630439"/>
            <a:ext cx="1240408"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ECO-THEOLOGY</a:t>
            </a:r>
            <a:endParaRPr lang="en-US" sz="850" dirty="0"/>
          </a:p>
        </p:txBody>
      </p:sp>
      <p:sp>
        <p:nvSpPr>
          <p:cNvPr id="22" name="Shape 20"/>
          <p:cNvSpPr/>
          <p:nvPr/>
        </p:nvSpPr>
        <p:spPr>
          <a:xfrm>
            <a:off x="5689402" y="3588395"/>
            <a:ext cx="635645" cy="196379"/>
          </a:xfrm>
          <a:prstGeom prst="roundRect">
            <a:avLst>
              <a:gd name="adj" fmla="val 24017"/>
            </a:avLst>
          </a:prstGeom>
          <a:solidFill>
            <a:srgbClr val="480405"/>
          </a:solidFill>
          <a:ln/>
        </p:spPr>
        <p:txBody>
          <a:bodyPr/>
          <a:lstStyle/>
          <a:p>
            <a:endParaRPr lang="en-IN"/>
          </a:p>
        </p:txBody>
      </p:sp>
      <p:sp>
        <p:nvSpPr>
          <p:cNvPr id="23" name="Text 21"/>
          <p:cNvSpPr/>
          <p:nvPr/>
        </p:nvSpPr>
        <p:spPr>
          <a:xfrm>
            <a:off x="5773564" y="3630439"/>
            <a:ext cx="924520"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MINJUNG</a:t>
            </a:r>
            <a:endParaRPr lang="en-US" sz="850" dirty="0"/>
          </a:p>
        </p:txBody>
      </p:sp>
      <p:sp>
        <p:nvSpPr>
          <p:cNvPr id="24" name="Shape 22"/>
          <p:cNvSpPr/>
          <p:nvPr/>
        </p:nvSpPr>
        <p:spPr>
          <a:xfrm>
            <a:off x="6395219" y="3588395"/>
            <a:ext cx="775915" cy="196379"/>
          </a:xfrm>
          <a:prstGeom prst="roundRect">
            <a:avLst>
              <a:gd name="adj" fmla="val 24017"/>
            </a:avLst>
          </a:prstGeom>
          <a:solidFill>
            <a:srgbClr val="480405"/>
          </a:solidFill>
          <a:ln/>
        </p:spPr>
        <p:txBody>
          <a:bodyPr/>
          <a:lstStyle/>
          <a:p>
            <a:endParaRPr lang="en-IN"/>
          </a:p>
        </p:txBody>
      </p:sp>
      <p:sp>
        <p:nvSpPr>
          <p:cNvPr id="25" name="Text 23"/>
          <p:cNvSpPr/>
          <p:nvPr/>
        </p:nvSpPr>
        <p:spPr>
          <a:xfrm>
            <a:off x="6479381" y="3630439"/>
            <a:ext cx="1064791"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ECUMENISM</a:t>
            </a:r>
            <a:endParaRPr lang="en-US" sz="850" dirty="0"/>
          </a:p>
        </p:txBody>
      </p:sp>
      <p:sp>
        <p:nvSpPr>
          <p:cNvPr id="26" name="Shape 24"/>
          <p:cNvSpPr/>
          <p:nvPr/>
        </p:nvSpPr>
        <p:spPr>
          <a:xfrm>
            <a:off x="7241307" y="3588395"/>
            <a:ext cx="1052885" cy="196379"/>
          </a:xfrm>
          <a:prstGeom prst="roundRect">
            <a:avLst>
              <a:gd name="adj" fmla="val 24017"/>
            </a:avLst>
          </a:prstGeom>
          <a:solidFill>
            <a:srgbClr val="480405"/>
          </a:solidFill>
          <a:ln/>
        </p:spPr>
        <p:txBody>
          <a:bodyPr/>
          <a:lstStyle/>
          <a:p>
            <a:endParaRPr lang="en-IN"/>
          </a:p>
        </p:txBody>
      </p:sp>
      <p:sp>
        <p:nvSpPr>
          <p:cNvPr id="27" name="Text 25"/>
          <p:cNvSpPr/>
          <p:nvPr/>
        </p:nvSpPr>
        <p:spPr>
          <a:xfrm>
            <a:off x="7325469" y="3630439"/>
            <a:ext cx="1341760" cy="112291"/>
          </a:xfrm>
          <a:prstGeom prst="rect">
            <a:avLst/>
          </a:prstGeom>
          <a:noFill/>
          <a:ln/>
        </p:spPr>
        <p:txBody>
          <a:bodyPr wrap="none" lIns="0" tIns="0" rIns="0" bIns="0" rtlCol="0" anchor="t"/>
          <a:lstStyle/>
          <a:p>
            <a:pPr marL="0" indent="0" algn="l">
              <a:lnSpc>
                <a:spcPct val="83000"/>
              </a:lnSpc>
              <a:buNone/>
            </a:pPr>
            <a:r>
              <a:rPr lang="en-US" sz="850" dirty="0">
                <a:solidFill>
                  <a:srgbClr val="E5E0DF"/>
                </a:solidFill>
                <a:latin typeface="Barlow" pitchFamily="34" charset="0"/>
                <a:ea typeface="Barlow" pitchFamily="34" charset="-122"/>
                <a:cs typeface="Barlow" pitchFamily="34" charset="-120"/>
              </a:rPr>
              <a:t>INTER-RELIGIOUS</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1454" y="421853"/>
            <a:ext cx="8021092" cy="325189"/>
          </a:xfrm>
          <a:prstGeom prst="rect">
            <a:avLst/>
          </a:prstGeom>
          <a:noFill/>
          <a:ln/>
        </p:spPr>
        <p:txBody>
          <a:bodyPr wrap="none" lIns="0" tIns="0" rIns="0" bIns="0" rtlCol="0" anchor="t"/>
          <a:lstStyle/>
          <a:p>
            <a:pPr marL="0" indent="0" algn="l">
              <a:lnSpc>
                <a:spcPct val="83000"/>
              </a:lnSpc>
              <a:buNone/>
            </a:pPr>
            <a:r>
              <a:rPr lang="en-US" sz="2550" dirty="0">
                <a:solidFill>
                  <a:srgbClr val="FFFFFF"/>
                </a:solidFill>
                <a:latin typeface="Fraunces Medium" pitchFamily="34" charset="0"/>
                <a:ea typeface="Fraunces Medium" pitchFamily="34" charset="-122"/>
                <a:cs typeface="Fraunces Medium" pitchFamily="34" charset="-120"/>
              </a:rPr>
              <a:t>St Thomas Tradition &amp; Thomas Christians</a:t>
            </a:r>
            <a:endParaRPr lang="en-US" sz="2550" dirty="0"/>
          </a:p>
        </p:txBody>
      </p:sp>
      <p:sp>
        <p:nvSpPr>
          <p:cNvPr id="3" name="Text 1"/>
          <p:cNvSpPr/>
          <p:nvPr/>
        </p:nvSpPr>
        <p:spPr>
          <a:xfrm>
            <a:off x="561454" y="1010469"/>
            <a:ext cx="8021092" cy="401389"/>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St Thomas: Kodungallur Near Kochi in </a:t>
            </a:r>
            <a:r>
              <a:rPr lang="en-US" sz="1050" b="1" dirty="0">
                <a:solidFill>
                  <a:srgbClr val="E5E0DF"/>
                </a:solidFill>
                <a:latin typeface="Barlow Bold" pitchFamily="34" charset="0"/>
                <a:ea typeface="Barlow Bold" pitchFamily="34" charset="-122"/>
                <a:cs typeface="Barlow Bold" pitchFamily="34" charset="-120"/>
              </a:rPr>
              <a:t>52 CE</a:t>
            </a:r>
            <a:r>
              <a:rPr lang="en-US" sz="1050" dirty="0">
                <a:solidFill>
                  <a:srgbClr val="E5E0DF"/>
                </a:solidFill>
                <a:latin typeface="Barlow" pitchFamily="34" charset="0"/>
                <a:ea typeface="Barlow" pitchFamily="34" charset="-122"/>
                <a:cs typeface="Barlow" pitchFamily="34" charset="-120"/>
              </a:rPr>
              <a:t> and martyred in Mylapore: </a:t>
            </a:r>
            <a:r>
              <a:rPr lang="en-US" sz="1050" b="1" dirty="0">
                <a:solidFill>
                  <a:srgbClr val="E5E0DF"/>
                </a:solidFill>
                <a:latin typeface="Barlow Bold" pitchFamily="34" charset="0"/>
                <a:ea typeface="Barlow Bold" pitchFamily="34" charset="-122"/>
                <a:cs typeface="Barlow Bold" pitchFamily="34" charset="-120"/>
              </a:rPr>
              <a:t>72 CE</a:t>
            </a:r>
            <a:r>
              <a:rPr lang="en-US" sz="1050" dirty="0">
                <a:solidFill>
                  <a:srgbClr val="E5E0DF"/>
                </a:solidFill>
                <a:latin typeface="Barlow" pitchFamily="34" charset="0"/>
                <a:ea typeface="Barlow" pitchFamily="34" charset="-122"/>
                <a:cs typeface="Barlow" pitchFamily="34" charset="-120"/>
              </a:rPr>
              <a:t>. Thomas Christians are described as </a:t>
            </a:r>
            <a:r>
              <a:rPr lang="en-US" sz="1050" b="1" dirty="0">
                <a:solidFill>
                  <a:srgbClr val="E5E0DF"/>
                </a:solidFill>
                <a:latin typeface="Barlow Bold" pitchFamily="34" charset="0"/>
                <a:ea typeface="Barlow Bold" pitchFamily="34" charset="-122"/>
                <a:cs typeface="Barlow Bold" pitchFamily="34" charset="-120"/>
              </a:rPr>
              <a:t>"Hindu in Culture, Christian in Faith and Syrian in Worship."</a:t>
            </a:r>
            <a:r>
              <a:rPr lang="en-US" sz="1050" dirty="0">
                <a:solidFill>
                  <a:srgbClr val="E5E0DF"/>
                </a:solidFill>
                <a:latin typeface="Barlow" pitchFamily="34" charset="0"/>
                <a:ea typeface="Barlow" pitchFamily="34" charset="-122"/>
                <a:cs typeface="Barlow" pitchFamily="34" charset="-120"/>
              </a:rPr>
              <a:t> Link to the East Syrian Church; their Christology had Traits of Nestorianism, which positively promoted a Great Devotion to the Humanity of Jesus.</a:t>
            </a:r>
            <a:endParaRPr lang="en-US" sz="1050" dirty="0"/>
          </a:p>
        </p:txBody>
      </p:sp>
      <p:sp>
        <p:nvSpPr>
          <p:cNvPr id="4" name="Text 2"/>
          <p:cNvSpPr/>
          <p:nvPr/>
        </p:nvSpPr>
        <p:spPr>
          <a:xfrm>
            <a:off x="561454" y="1609427"/>
            <a:ext cx="8021092" cy="162595"/>
          </a:xfrm>
          <a:prstGeom prst="rect">
            <a:avLst/>
          </a:prstGeom>
          <a:noFill/>
          <a:ln/>
        </p:spPr>
        <p:txBody>
          <a:bodyPr wrap="none" lIns="0" tIns="0" rIns="0" bIns="0" rtlCol="0" anchor="t"/>
          <a:lstStyle/>
          <a:p>
            <a:pPr marL="0" indent="0" algn="l">
              <a:lnSpc>
                <a:spcPct val="83000"/>
              </a:lnSpc>
              <a:buNone/>
            </a:pPr>
            <a:r>
              <a:rPr lang="en-US" sz="1250" dirty="0">
                <a:solidFill>
                  <a:srgbClr val="FFFFFF"/>
                </a:solidFill>
                <a:latin typeface="Fraunces Medium" pitchFamily="34" charset="0"/>
                <a:ea typeface="Fraunces Medium" pitchFamily="34" charset="-122"/>
                <a:cs typeface="Fraunces Medium" pitchFamily="34" charset="-120"/>
              </a:rPr>
              <a:t>Eight Oriental Churches in India</a:t>
            </a:r>
            <a:endParaRPr lang="en-US" sz="1250" dirty="0"/>
          </a:p>
        </p:txBody>
      </p:sp>
      <p:sp>
        <p:nvSpPr>
          <p:cNvPr id="5" name="Text 3"/>
          <p:cNvSpPr/>
          <p:nvPr/>
        </p:nvSpPr>
        <p:spPr>
          <a:xfrm>
            <a:off x="561454" y="1969591"/>
            <a:ext cx="271909" cy="135954"/>
          </a:xfrm>
          <a:prstGeom prst="rect">
            <a:avLst/>
          </a:prstGeom>
          <a:noFill/>
          <a:ln/>
        </p:spPr>
        <p:txBody>
          <a:bodyPr wrap="none" lIns="0" tIns="0" rIns="0" bIns="0" rtlCol="0" anchor="ctr"/>
          <a:lstStyle/>
          <a:p>
            <a:pPr marL="0" indent="0" algn="l">
              <a:lnSpc>
                <a:spcPct val="100000"/>
              </a:lnSpc>
              <a:buNone/>
            </a:pPr>
            <a:r>
              <a:rPr lang="en-US" sz="1050" dirty="0">
                <a:solidFill>
                  <a:srgbClr val="E5E0DF"/>
                </a:solidFill>
                <a:latin typeface="Fraunces Light" pitchFamily="34" charset="0"/>
                <a:ea typeface="Fraunces Light" pitchFamily="34" charset="-122"/>
                <a:cs typeface="Fraunces Light" pitchFamily="34" charset="-120"/>
              </a:rPr>
              <a:t>01</a:t>
            </a:r>
            <a:endParaRPr lang="en-US" sz="1050" dirty="0"/>
          </a:p>
        </p:txBody>
      </p:sp>
      <p:sp>
        <p:nvSpPr>
          <p:cNvPr id="6" name="Shape 4"/>
          <p:cNvSpPr/>
          <p:nvPr/>
        </p:nvSpPr>
        <p:spPr>
          <a:xfrm>
            <a:off x="561454" y="2147590"/>
            <a:ext cx="3944689" cy="19050"/>
          </a:xfrm>
          <a:prstGeom prst="rect">
            <a:avLst/>
          </a:prstGeom>
          <a:solidFill>
            <a:srgbClr val="F65F62"/>
          </a:solidFill>
          <a:ln/>
        </p:spPr>
        <p:txBody>
          <a:bodyPr/>
          <a:lstStyle/>
          <a:p>
            <a:endParaRPr lang="en-IN"/>
          </a:p>
        </p:txBody>
      </p:sp>
      <p:sp>
        <p:nvSpPr>
          <p:cNvPr id="7" name="Text 5"/>
          <p:cNvSpPr/>
          <p:nvPr/>
        </p:nvSpPr>
        <p:spPr>
          <a:xfrm>
            <a:off x="561454" y="2253630"/>
            <a:ext cx="3944689"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The Syro-Malabar Church (Catholic)</a:t>
            </a:r>
            <a:endParaRPr lang="en-US" sz="1250" dirty="0"/>
          </a:p>
        </p:txBody>
      </p:sp>
      <p:sp>
        <p:nvSpPr>
          <p:cNvPr id="8" name="Text 6"/>
          <p:cNvSpPr/>
          <p:nvPr/>
        </p:nvSpPr>
        <p:spPr>
          <a:xfrm>
            <a:off x="4637856" y="1969591"/>
            <a:ext cx="271909" cy="135954"/>
          </a:xfrm>
          <a:prstGeom prst="rect">
            <a:avLst/>
          </a:prstGeom>
          <a:noFill/>
          <a:ln/>
        </p:spPr>
        <p:txBody>
          <a:bodyPr wrap="none" lIns="0" tIns="0" rIns="0" bIns="0" rtlCol="0" anchor="ctr"/>
          <a:lstStyle/>
          <a:p>
            <a:pPr marL="0" indent="0" algn="l">
              <a:lnSpc>
                <a:spcPct val="100000"/>
              </a:lnSpc>
              <a:buNone/>
            </a:pPr>
            <a:r>
              <a:rPr lang="en-US" sz="1050" dirty="0">
                <a:solidFill>
                  <a:srgbClr val="E5E0DF"/>
                </a:solidFill>
                <a:latin typeface="Fraunces Light" pitchFamily="34" charset="0"/>
                <a:ea typeface="Fraunces Light" pitchFamily="34" charset="-122"/>
                <a:cs typeface="Fraunces Light" pitchFamily="34" charset="-120"/>
              </a:rPr>
              <a:t>02</a:t>
            </a:r>
            <a:endParaRPr lang="en-US" sz="1050" dirty="0"/>
          </a:p>
        </p:txBody>
      </p:sp>
      <p:sp>
        <p:nvSpPr>
          <p:cNvPr id="9" name="Shape 7"/>
          <p:cNvSpPr/>
          <p:nvPr/>
        </p:nvSpPr>
        <p:spPr>
          <a:xfrm>
            <a:off x="4637856" y="2147590"/>
            <a:ext cx="3944689" cy="19050"/>
          </a:xfrm>
          <a:prstGeom prst="rect">
            <a:avLst/>
          </a:prstGeom>
          <a:solidFill>
            <a:srgbClr val="F65F62"/>
          </a:solidFill>
          <a:ln/>
        </p:spPr>
        <p:txBody>
          <a:bodyPr/>
          <a:lstStyle/>
          <a:p>
            <a:endParaRPr lang="en-IN"/>
          </a:p>
        </p:txBody>
      </p:sp>
      <p:sp>
        <p:nvSpPr>
          <p:cNvPr id="10" name="Text 8"/>
          <p:cNvSpPr/>
          <p:nvPr/>
        </p:nvSpPr>
        <p:spPr>
          <a:xfrm>
            <a:off x="4637856" y="2253630"/>
            <a:ext cx="3944689"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The Syrian Orthodox Jacobite Church</a:t>
            </a:r>
            <a:endParaRPr lang="en-US" sz="1250" dirty="0"/>
          </a:p>
        </p:txBody>
      </p:sp>
      <p:sp>
        <p:nvSpPr>
          <p:cNvPr id="11" name="Text 9"/>
          <p:cNvSpPr/>
          <p:nvPr/>
        </p:nvSpPr>
        <p:spPr>
          <a:xfrm>
            <a:off x="561454" y="2649885"/>
            <a:ext cx="271909" cy="135954"/>
          </a:xfrm>
          <a:prstGeom prst="rect">
            <a:avLst/>
          </a:prstGeom>
          <a:noFill/>
          <a:ln/>
        </p:spPr>
        <p:txBody>
          <a:bodyPr wrap="none" lIns="0" tIns="0" rIns="0" bIns="0" rtlCol="0" anchor="ctr"/>
          <a:lstStyle/>
          <a:p>
            <a:pPr marL="0" indent="0" algn="l">
              <a:lnSpc>
                <a:spcPct val="100000"/>
              </a:lnSpc>
              <a:buNone/>
            </a:pPr>
            <a:r>
              <a:rPr lang="en-US" sz="1050" dirty="0">
                <a:solidFill>
                  <a:srgbClr val="E5E0DF"/>
                </a:solidFill>
                <a:latin typeface="Fraunces Light" pitchFamily="34" charset="0"/>
                <a:ea typeface="Fraunces Light" pitchFamily="34" charset="-122"/>
                <a:cs typeface="Fraunces Light" pitchFamily="34" charset="-120"/>
              </a:rPr>
              <a:t>03</a:t>
            </a:r>
            <a:endParaRPr lang="en-US" sz="1050" dirty="0"/>
          </a:p>
        </p:txBody>
      </p:sp>
      <p:sp>
        <p:nvSpPr>
          <p:cNvPr id="12" name="Shape 10"/>
          <p:cNvSpPr/>
          <p:nvPr/>
        </p:nvSpPr>
        <p:spPr>
          <a:xfrm>
            <a:off x="561454" y="2827883"/>
            <a:ext cx="3944689" cy="19050"/>
          </a:xfrm>
          <a:prstGeom prst="rect">
            <a:avLst/>
          </a:prstGeom>
          <a:solidFill>
            <a:srgbClr val="F65F62"/>
          </a:solidFill>
          <a:ln/>
        </p:spPr>
        <p:txBody>
          <a:bodyPr/>
          <a:lstStyle/>
          <a:p>
            <a:endParaRPr lang="en-IN"/>
          </a:p>
        </p:txBody>
      </p:sp>
      <p:sp>
        <p:nvSpPr>
          <p:cNvPr id="13" name="Text 11"/>
          <p:cNvSpPr/>
          <p:nvPr/>
        </p:nvSpPr>
        <p:spPr>
          <a:xfrm>
            <a:off x="561454" y="2933923"/>
            <a:ext cx="3944689"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The Malankara Orthodox Syrian Church</a:t>
            </a:r>
            <a:endParaRPr lang="en-US" sz="1250" dirty="0"/>
          </a:p>
        </p:txBody>
      </p:sp>
      <p:sp>
        <p:nvSpPr>
          <p:cNvPr id="14" name="Text 12"/>
          <p:cNvSpPr/>
          <p:nvPr/>
        </p:nvSpPr>
        <p:spPr>
          <a:xfrm>
            <a:off x="4637856" y="2649885"/>
            <a:ext cx="271909" cy="135954"/>
          </a:xfrm>
          <a:prstGeom prst="rect">
            <a:avLst/>
          </a:prstGeom>
          <a:noFill/>
          <a:ln/>
        </p:spPr>
        <p:txBody>
          <a:bodyPr wrap="none" lIns="0" tIns="0" rIns="0" bIns="0" rtlCol="0" anchor="ctr"/>
          <a:lstStyle/>
          <a:p>
            <a:pPr marL="0" indent="0" algn="l">
              <a:lnSpc>
                <a:spcPct val="100000"/>
              </a:lnSpc>
              <a:buNone/>
            </a:pPr>
            <a:r>
              <a:rPr lang="en-US" sz="1050" dirty="0">
                <a:solidFill>
                  <a:srgbClr val="E5E0DF"/>
                </a:solidFill>
                <a:latin typeface="Fraunces Light" pitchFamily="34" charset="0"/>
                <a:ea typeface="Fraunces Light" pitchFamily="34" charset="-122"/>
                <a:cs typeface="Fraunces Light" pitchFamily="34" charset="-120"/>
              </a:rPr>
              <a:t>04</a:t>
            </a:r>
            <a:endParaRPr lang="en-US" sz="1050" dirty="0"/>
          </a:p>
        </p:txBody>
      </p:sp>
      <p:sp>
        <p:nvSpPr>
          <p:cNvPr id="15" name="Shape 13"/>
          <p:cNvSpPr/>
          <p:nvPr/>
        </p:nvSpPr>
        <p:spPr>
          <a:xfrm>
            <a:off x="4637856" y="2827883"/>
            <a:ext cx="3944689" cy="19050"/>
          </a:xfrm>
          <a:prstGeom prst="rect">
            <a:avLst/>
          </a:prstGeom>
          <a:solidFill>
            <a:srgbClr val="F65F62"/>
          </a:solidFill>
          <a:ln/>
        </p:spPr>
        <p:txBody>
          <a:bodyPr/>
          <a:lstStyle/>
          <a:p>
            <a:endParaRPr lang="en-IN"/>
          </a:p>
        </p:txBody>
      </p:sp>
      <p:sp>
        <p:nvSpPr>
          <p:cNvPr id="16" name="Text 14"/>
          <p:cNvSpPr/>
          <p:nvPr/>
        </p:nvSpPr>
        <p:spPr>
          <a:xfrm>
            <a:off x="4637856" y="2933923"/>
            <a:ext cx="3944689"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The Mar Thoma Church</a:t>
            </a:r>
            <a:endParaRPr lang="en-US" sz="1250" dirty="0"/>
          </a:p>
        </p:txBody>
      </p:sp>
      <p:sp>
        <p:nvSpPr>
          <p:cNvPr id="17" name="Text 15"/>
          <p:cNvSpPr/>
          <p:nvPr/>
        </p:nvSpPr>
        <p:spPr>
          <a:xfrm>
            <a:off x="561454" y="3330178"/>
            <a:ext cx="271909" cy="135954"/>
          </a:xfrm>
          <a:prstGeom prst="rect">
            <a:avLst/>
          </a:prstGeom>
          <a:noFill/>
          <a:ln/>
        </p:spPr>
        <p:txBody>
          <a:bodyPr wrap="none" lIns="0" tIns="0" rIns="0" bIns="0" rtlCol="0" anchor="ctr"/>
          <a:lstStyle/>
          <a:p>
            <a:pPr marL="0" indent="0" algn="l">
              <a:lnSpc>
                <a:spcPct val="100000"/>
              </a:lnSpc>
              <a:buNone/>
            </a:pPr>
            <a:r>
              <a:rPr lang="en-US" sz="1050" dirty="0">
                <a:solidFill>
                  <a:srgbClr val="E5E0DF"/>
                </a:solidFill>
                <a:latin typeface="Fraunces Light" pitchFamily="34" charset="0"/>
                <a:ea typeface="Fraunces Light" pitchFamily="34" charset="-122"/>
                <a:cs typeface="Fraunces Light" pitchFamily="34" charset="-120"/>
              </a:rPr>
              <a:t>05</a:t>
            </a:r>
            <a:endParaRPr lang="en-US" sz="1050" dirty="0"/>
          </a:p>
        </p:txBody>
      </p:sp>
      <p:sp>
        <p:nvSpPr>
          <p:cNvPr id="18" name="Shape 16"/>
          <p:cNvSpPr/>
          <p:nvPr/>
        </p:nvSpPr>
        <p:spPr>
          <a:xfrm>
            <a:off x="561454" y="3508177"/>
            <a:ext cx="3944689" cy="19050"/>
          </a:xfrm>
          <a:prstGeom prst="rect">
            <a:avLst/>
          </a:prstGeom>
          <a:solidFill>
            <a:srgbClr val="F65F62"/>
          </a:solidFill>
          <a:ln/>
        </p:spPr>
        <p:txBody>
          <a:bodyPr/>
          <a:lstStyle/>
          <a:p>
            <a:endParaRPr lang="en-IN"/>
          </a:p>
        </p:txBody>
      </p:sp>
      <p:sp>
        <p:nvSpPr>
          <p:cNvPr id="19" name="Text 17"/>
          <p:cNvSpPr/>
          <p:nvPr/>
        </p:nvSpPr>
        <p:spPr>
          <a:xfrm>
            <a:off x="561454" y="3614217"/>
            <a:ext cx="3944689"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The Syro-Malankara Church (Catholic)</a:t>
            </a:r>
            <a:endParaRPr lang="en-US" sz="1250" dirty="0"/>
          </a:p>
        </p:txBody>
      </p:sp>
      <p:sp>
        <p:nvSpPr>
          <p:cNvPr id="20" name="Text 18"/>
          <p:cNvSpPr/>
          <p:nvPr/>
        </p:nvSpPr>
        <p:spPr>
          <a:xfrm>
            <a:off x="4637856" y="3330178"/>
            <a:ext cx="271909" cy="135954"/>
          </a:xfrm>
          <a:prstGeom prst="rect">
            <a:avLst/>
          </a:prstGeom>
          <a:noFill/>
          <a:ln/>
        </p:spPr>
        <p:txBody>
          <a:bodyPr wrap="none" lIns="0" tIns="0" rIns="0" bIns="0" rtlCol="0" anchor="ctr"/>
          <a:lstStyle/>
          <a:p>
            <a:pPr marL="0" indent="0" algn="l">
              <a:lnSpc>
                <a:spcPct val="100000"/>
              </a:lnSpc>
              <a:buNone/>
            </a:pPr>
            <a:r>
              <a:rPr lang="en-US" sz="1050" dirty="0">
                <a:solidFill>
                  <a:srgbClr val="E5E0DF"/>
                </a:solidFill>
                <a:latin typeface="Fraunces Light" pitchFamily="34" charset="0"/>
                <a:ea typeface="Fraunces Light" pitchFamily="34" charset="-122"/>
                <a:cs typeface="Fraunces Light" pitchFamily="34" charset="-120"/>
              </a:rPr>
              <a:t>06</a:t>
            </a:r>
            <a:endParaRPr lang="en-US" sz="1050" dirty="0"/>
          </a:p>
        </p:txBody>
      </p:sp>
      <p:sp>
        <p:nvSpPr>
          <p:cNvPr id="21" name="Shape 19"/>
          <p:cNvSpPr/>
          <p:nvPr/>
        </p:nvSpPr>
        <p:spPr>
          <a:xfrm>
            <a:off x="4637856" y="3508177"/>
            <a:ext cx="3944689" cy="19050"/>
          </a:xfrm>
          <a:prstGeom prst="rect">
            <a:avLst/>
          </a:prstGeom>
          <a:solidFill>
            <a:srgbClr val="F65F62"/>
          </a:solidFill>
          <a:ln/>
        </p:spPr>
        <p:txBody>
          <a:bodyPr/>
          <a:lstStyle/>
          <a:p>
            <a:endParaRPr lang="en-IN"/>
          </a:p>
        </p:txBody>
      </p:sp>
      <p:sp>
        <p:nvSpPr>
          <p:cNvPr id="22" name="Text 20"/>
          <p:cNvSpPr/>
          <p:nvPr/>
        </p:nvSpPr>
        <p:spPr>
          <a:xfrm>
            <a:off x="4637856" y="3614217"/>
            <a:ext cx="3944689"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The Chaldean Syrian Church</a:t>
            </a:r>
            <a:endParaRPr lang="en-US" sz="1250" dirty="0"/>
          </a:p>
        </p:txBody>
      </p:sp>
      <p:sp>
        <p:nvSpPr>
          <p:cNvPr id="23" name="Text 21"/>
          <p:cNvSpPr/>
          <p:nvPr/>
        </p:nvSpPr>
        <p:spPr>
          <a:xfrm>
            <a:off x="561454" y="4010471"/>
            <a:ext cx="271909" cy="135954"/>
          </a:xfrm>
          <a:prstGeom prst="rect">
            <a:avLst/>
          </a:prstGeom>
          <a:noFill/>
          <a:ln/>
        </p:spPr>
        <p:txBody>
          <a:bodyPr wrap="none" lIns="0" tIns="0" rIns="0" bIns="0" rtlCol="0" anchor="ctr"/>
          <a:lstStyle/>
          <a:p>
            <a:pPr marL="0" indent="0" algn="l">
              <a:lnSpc>
                <a:spcPct val="100000"/>
              </a:lnSpc>
              <a:buNone/>
            </a:pPr>
            <a:r>
              <a:rPr lang="en-US" sz="1050" dirty="0">
                <a:solidFill>
                  <a:srgbClr val="E5E0DF"/>
                </a:solidFill>
                <a:latin typeface="Fraunces Light" pitchFamily="34" charset="0"/>
                <a:ea typeface="Fraunces Light" pitchFamily="34" charset="-122"/>
                <a:cs typeface="Fraunces Light" pitchFamily="34" charset="-120"/>
              </a:rPr>
              <a:t>07</a:t>
            </a:r>
            <a:endParaRPr lang="en-US" sz="1050" dirty="0"/>
          </a:p>
        </p:txBody>
      </p:sp>
      <p:sp>
        <p:nvSpPr>
          <p:cNvPr id="24" name="Shape 22"/>
          <p:cNvSpPr/>
          <p:nvPr/>
        </p:nvSpPr>
        <p:spPr>
          <a:xfrm>
            <a:off x="561454" y="4188470"/>
            <a:ext cx="3944689" cy="19050"/>
          </a:xfrm>
          <a:prstGeom prst="rect">
            <a:avLst/>
          </a:prstGeom>
          <a:solidFill>
            <a:srgbClr val="F65F62"/>
          </a:solidFill>
          <a:ln/>
        </p:spPr>
        <p:txBody>
          <a:bodyPr/>
          <a:lstStyle/>
          <a:p>
            <a:endParaRPr lang="en-IN"/>
          </a:p>
        </p:txBody>
      </p:sp>
      <p:sp>
        <p:nvSpPr>
          <p:cNvPr id="25" name="Text 23"/>
          <p:cNvSpPr/>
          <p:nvPr/>
        </p:nvSpPr>
        <p:spPr>
          <a:xfrm>
            <a:off x="561454" y="4294510"/>
            <a:ext cx="3944689" cy="325189"/>
          </a:xfrm>
          <a:prstGeom prst="rect">
            <a:avLst/>
          </a:prstGeom>
          <a:noFill/>
          <a:ln/>
        </p:spPr>
        <p:txBody>
          <a:bodyPr wrap="square" lIns="0" tIns="0" rIns="0" bIns="0" rtlCol="0" anchor="t">
            <a:normAutofit/>
          </a:bodyPr>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The Independent Syrian Church of Malabar (Thozhiyar Church)</a:t>
            </a:r>
            <a:endParaRPr lang="en-US" sz="1250" dirty="0"/>
          </a:p>
        </p:txBody>
      </p:sp>
      <p:sp>
        <p:nvSpPr>
          <p:cNvPr id="26" name="Text 24"/>
          <p:cNvSpPr/>
          <p:nvPr/>
        </p:nvSpPr>
        <p:spPr>
          <a:xfrm>
            <a:off x="4637856" y="4010471"/>
            <a:ext cx="271909" cy="135954"/>
          </a:xfrm>
          <a:prstGeom prst="rect">
            <a:avLst/>
          </a:prstGeom>
          <a:noFill/>
          <a:ln/>
        </p:spPr>
        <p:txBody>
          <a:bodyPr wrap="none" lIns="0" tIns="0" rIns="0" bIns="0" rtlCol="0" anchor="ctr"/>
          <a:lstStyle/>
          <a:p>
            <a:pPr marL="0" indent="0" algn="l">
              <a:lnSpc>
                <a:spcPct val="100000"/>
              </a:lnSpc>
              <a:buNone/>
            </a:pPr>
            <a:r>
              <a:rPr lang="en-US" sz="1050" dirty="0">
                <a:solidFill>
                  <a:srgbClr val="E5E0DF"/>
                </a:solidFill>
                <a:latin typeface="Fraunces Light" pitchFamily="34" charset="0"/>
                <a:ea typeface="Fraunces Light" pitchFamily="34" charset="-122"/>
                <a:cs typeface="Fraunces Light" pitchFamily="34" charset="-120"/>
              </a:rPr>
              <a:t>08</a:t>
            </a:r>
            <a:endParaRPr lang="en-US" sz="1050" dirty="0"/>
          </a:p>
        </p:txBody>
      </p:sp>
      <p:sp>
        <p:nvSpPr>
          <p:cNvPr id="27" name="Shape 25"/>
          <p:cNvSpPr/>
          <p:nvPr/>
        </p:nvSpPr>
        <p:spPr>
          <a:xfrm>
            <a:off x="4637856" y="4188470"/>
            <a:ext cx="3944689" cy="19050"/>
          </a:xfrm>
          <a:prstGeom prst="rect">
            <a:avLst/>
          </a:prstGeom>
          <a:solidFill>
            <a:srgbClr val="F65F62"/>
          </a:solidFill>
          <a:ln/>
        </p:spPr>
        <p:txBody>
          <a:bodyPr/>
          <a:lstStyle/>
          <a:p>
            <a:endParaRPr lang="en-IN"/>
          </a:p>
        </p:txBody>
      </p:sp>
      <p:sp>
        <p:nvSpPr>
          <p:cNvPr id="28" name="Text 26"/>
          <p:cNvSpPr/>
          <p:nvPr/>
        </p:nvSpPr>
        <p:spPr>
          <a:xfrm>
            <a:off x="4637856" y="4294510"/>
            <a:ext cx="3944689"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The Thomas Evangelical Church of India</a:t>
            </a:r>
            <a:endParaRPr lang="en-US" sz="12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1454" y="1393775"/>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Roman Catholic &amp; Protestant Traditions in India</a:t>
            </a:r>
            <a:endParaRPr lang="en-US" sz="2600" dirty="0"/>
          </a:p>
        </p:txBody>
      </p:sp>
      <p:sp>
        <p:nvSpPr>
          <p:cNvPr id="3" name="Text 1"/>
          <p:cNvSpPr/>
          <p:nvPr/>
        </p:nvSpPr>
        <p:spPr>
          <a:xfrm>
            <a:off x="561454" y="2080320"/>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Roman Catholic Tradition</a:t>
            </a:r>
            <a:endParaRPr lang="en-US" sz="1300" dirty="0"/>
          </a:p>
        </p:txBody>
      </p:sp>
      <p:sp>
        <p:nvSpPr>
          <p:cNvPr id="4" name="Text 2"/>
          <p:cNvSpPr/>
          <p:nvPr/>
        </p:nvSpPr>
        <p:spPr>
          <a:xfrm>
            <a:off x="561454" y="2388468"/>
            <a:ext cx="3839319" cy="96835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Dates back to the 16th CE: Franciscans in </a:t>
            </a:r>
            <a:r>
              <a:rPr lang="en-US" sz="1100" b="1" dirty="0">
                <a:solidFill>
                  <a:srgbClr val="E5E0DF"/>
                </a:solidFill>
                <a:latin typeface="Barlow Bold" pitchFamily="34" charset="0"/>
                <a:ea typeface="Barlow Bold" pitchFamily="34" charset="-122"/>
                <a:cs typeface="Barlow Bold" pitchFamily="34" charset="-120"/>
              </a:rPr>
              <a:t>1518</a:t>
            </a:r>
            <a:r>
              <a:rPr lang="en-US" sz="1100" dirty="0">
                <a:solidFill>
                  <a:srgbClr val="E5E0DF"/>
                </a:solidFill>
                <a:latin typeface="Barlow" pitchFamily="34" charset="0"/>
                <a:ea typeface="Barlow" pitchFamily="34" charset="-122"/>
                <a:cs typeface="Barlow" pitchFamily="34" charset="-120"/>
              </a:rPr>
              <a:t>; First Bishopric in Goa in </a:t>
            </a:r>
            <a:r>
              <a:rPr lang="en-US" sz="1100" b="1" dirty="0">
                <a:solidFill>
                  <a:srgbClr val="E5E0DF"/>
                </a:solidFill>
                <a:latin typeface="Barlow Bold" pitchFamily="34" charset="0"/>
                <a:ea typeface="Barlow Bold" pitchFamily="34" charset="-122"/>
                <a:cs typeface="Barlow Bold" pitchFamily="34" charset="-120"/>
              </a:rPr>
              <a:t>1534</a:t>
            </a:r>
            <a:r>
              <a:rPr lang="en-US" sz="1100" dirty="0">
                <a:solidFill>
                  <a:srgbClr val="E5E0DF"/>
                </a:solidFill>
                <a:latin typeface="Barlow" pitchFamily="34" charset="0"/>
                <a:ea typeface="Barlow" pitchFamily="34" charset="-122"/>
                <a:cs typeface="Barlow" pitchFamily="34" charset="-120"/>
              </a:rPr>
              <a:t>; Francis Xavier in </a:t>
            </a:r>
            <a:r>
              <a:rPr lang="en-US" sz="1100" b="1" dirty="0">
                <a:solidFill>
                  <a:srgbClr val="E5E0DF"/>
                </a:solidFill>
                <a:latin typeface="Barlow Bold" pitchFamily="34" charset="0"/>
                <a:ea typeface="Barlow Bold" pitchFamily="34" charset="-122"/>
                <a:cs typeface="Barlow Bold" pitchFamily="34" charset="-120"/>
              </a:rPr>
              <a:t>1542</a:t>
            </a:r>
            <a:r>
              <a:rPr lang="en-US" sz="1100" dirty="0">
                <a:solidFill>
                  <a:srgbClr val="E5E0DF"/>
                </a:solidFill>
                <a:latin typeface="Barlow" pitchFamily="34" charset="0"/>
                <a:ea typeface="Barlow" pitchFamily="34" charset="-122"/>
                <a:cs typeface="Barlow" pitchFamily="34" charset="-120"/>
              </a:rPr>
              <a:t>.</a:t>
            </a:r>
            <a:endParaRPr lang="en-US" sz="1100" dirty="0"/>
          </a:p>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Robert De Nobili, in His Attempt to adapt to the Indian Situation, took to Sanyasa, studied Sanskrit and Vedas, and wrote in purely Indian Forms of Literature, Puranas, Slokas, Commentaries and Refutations.</a:t>
            </a:r>
            <a:endParaRPr lang="en-US" sz="1100" dirty="0"/>
          </a:p>
        </p:txBody>
      </p:sp>
      <p:sp>
        <p:nvSpPr>
          <p:cNvPr id="5" name="Text 3"/>
          <p:cNvSpPr/>
          <p:nvPr/>
        </p:nvSpPr>
        <p:spPr>
          <a:xfrm>
            <a:off x="4747989" y="2080320"/>
            <a:ext cx="3839319" cy="167804"/>
          </a:xfrm>
          <a:prstGeom prst="rect">
            <a:avLst/>
          </a:prstGeom>
          <a:noFill/>
          <a:ln/>
        </p:spPr>
        <p:txBody>
          <a:bodyPr wrap="none" lIns="0" tIns="0" rIns="0" bIns="0" rtlCol="0" anchor="t"/>
          <a:lstStyle/>
          <a:p>
            <a:pPr marL="0" indent="0" algn="l">
              <a:lnSpc>
                <a:spcPct val="83000"/>
              </a:lnSpc>
              <a:buNone/>
            </a:pPr>
            <a:r>
              <a:rPr lang="en-US" sz="1300" dirty="0">
                <a:solidFill>
                  <a:srgbClr val="FFFFFF"/>
                </a:solidFill>
                <a:latin typeface="Fraunces Medium" pitchFamily="34" charset="0"/>
                <a:ea typeface="Fraunces Medium" pitchFamily="34" charset="-122"/>
                <a:cs typeface="Fraunces Medium" pitchFamily="34" charset="-120"/>
              </a:rPr>
              <a:t>Protestant Tradition</a:t>
            </a:r>
            <a:endParaRPr lang="en-US" sz="1300" dirty="0"/>
          </a:p>
        </p:txBody>
      </p:sp>
      <p:sp>
        <p:nvSpPr>
          <p:cNvPr id="6" name="Text 4"/>
          <p:cNvSpPr/>
          <p:nvPr/>
        </p:nvSpPr>
        <p:spPr>
          <a:xfrm>
            <a:off x="4747989" y="2388468"/>
            <a:ext cx="3839319" cy="1234976"/>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William Carey's Translation of the Bible into </a:t>
            </a:r>
            <a:r>
              <a:rPr lang="en-US" sz="1100" b="1" dirty="0">
                <a:solidFill>
                  <a:srgbClr val="E5E0DF"/>
                </a:solidFill>
                <a:latin typeface="Barlow Bold" pitchFamily="34" charset="0"/>
                <a:ea typeface="Barlow Bold" pitchFamily="34" charset="-122"/>
                <a:cs typeface="Barlow Bold" pitchFamily="34" charset="-120"/>
              </a:rPr>
              <a:t>Thirty Four Languages</a:t>
            </a:r>
            <a:r>
              <a:rPr lang="en-US" sz="1100" dirty="0">
                <a:solidFill>
                  <a:srgbClr val="E5E0DF"/>
                </a:solidFill>
                <a:latin typeface="Barlow" pitchFamily="34" charset="0"/>
                <a:ea typeface="Barlow" pitchFamily="34" charset="-122"/>
                <a:cs typeface="Barlow" pitchFamily="34" charset="-120"/>
              </a:rPr>
              <a:t> in the 18th Century opened the Floodgate for Indian Christian Thinking.</a:t>
            </a:r>
            <a:endParaRPr lang="en-US" sz="1100" dirty="0"/>
          </a:p>
          <a:p>
            <a:pPr marL="0" indent="0" algn="l">
              <a:lnSpc>
                <a:spcPct val="83000"/>
              </a:lnSpc>
              <a:spcAft>
                <a:spcPts val="950"/>
              </a:spcAft>
              <a:buNone/>
            </a:pPr>
            <a:r>
              <a:rPr lang="en-US" sz="1100" dirty="0">
                <a:solidFill>
                  <a:srgbClr val="E5E0DF"/>
                </a:solidFill>
                <a:latin typeface="Barlow" pitchFamily="34" charset="0"/>
                <a:ea typeface="Barlow" pitchFamily="34" charset="-122"/>
                <a:cs typeface="Barlow" pitchFamily="34" charset="-120"/>
              </a:rPr>
              <a:t>J. N. Farquhar considered Hinduism as a Preparation for the Gospel and Christianity as the Fulfillment or Crown of Hinduism.</a:t>
            </a:r>
            <a:endParaRPr lang="en-US" sz="1100" dirty="0"/>
          </a:p>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CSI (1947)</a:t>
            </a:r>
            <a:r>
              <a:rPr lang="en-US" sz="1100" dirty="0">
                <a:solidFill>
                  <a:srgbClr val="E5E0DF"/>
                </a:solidFill>
                <a:latin typeface="Barlow" pitchFamily="34" charset="0"/>
                <a:ea typeface="Barlow" pitchFamily="34" charset="-122"/>
                <a:cs typeface="Barlow" pitchFamily="34" charset="-120"/>
              </a:rPr>
              <a:t> and </a:t>
            </a:r>
            <a:r>
              <a:rPr lang="en-US" sz="1100" b="1" dirty="0">
                <a:solidFill>
                  <a:srgbClr val="E5E0DF"/>
                </a:solidFill>
                <a:latin typeface="Barlow Bold" pitchFamily="34" charset="0"/>
                <a:ea typeface="Barlow Bold" pitchFamily="34" charset="-122"/>
                <a:cs typeface="Barlow Bold" pitchFamily="34" charset="-120"/>
              </a:rPr>
              <a:t>CNI (1970)</a:t>
            </a:r>
            <a:r>
              <a:rPr lang="en-US" sz="1100" dirty="0">
                <a:solidFill>
                  <a:srgbClr val="E5E0DF"/>
                </a:solidFill>
                <a:latin typeface="Barlow" pitchFamily="34" charset="0"/>
                <a:ea typeface="Barlow" pitchFamily="34" charset="-122"/>
                <a:cs typeface="Barlow" pitchFamily="34" charset="-120"/>
              </a:rPr>
              <a:t>: Union of different Protestant Churches.</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1454" y="1407988"/>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Indian Renaissance &amp; Indian Christian Theology</a:t>
            </a:r>
            <a:endParaRPr lang="en-US" sz="2600" dirty="0"/>
          </a:p>
        </p:txBody>
      </p:sp>
      <p:sp>
        <p:nvSpPr>
          <p:cNvPr id="3" name="Text 1"/>
          <p:cNvSpPr/>
          <p:nvPr/>
        </p:nvSpPr>
        <p:spPr>
          <a:xfrm>
            <a:off x="561454" y="2024360"/>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Educated Hindus such as K C Sen and R M Roy challenged Hindu Social Customs such as Sati, Child Marriage, Polygamy, Caste System, Untouchability, Temple Prostitution etc. This was due to the Inspiration from Christian Ideals. Brahma Samaj of R M Roy, New Dispensation of K C Sen are based on the outcome of the Influence of Christ.</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603302"/>
            <a:ext cx="3940373" cy="1132136"/>
          </a:xfrm>
          <a:prstGeom prst="rect">
            <a:avLst/>
          </a:prstGeom>
        </p:spPr>
      </p:pic>
      <p:sp>
        <p:nvSpPr>
          <p:cNvPr id="5" name="Text 2"/>
          <p:cNvSpPr/>
          <p:nvPr/>
        </p:nvSpPr>
        <p:spPr>
          <a:xfrm>
            <a:off x="797049" y="2762696"/>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Hindu Philosophical Foundations</a:t>
            </a:r>
            <a:endParaRPr lang="en-US" sz="1300" dirty="0"/>
          </a:p>
        </p:txBody>
      </p:sp>
      <p:sp>
        <p:nvSpPr>
          <p:cNvPr id="6" name="Text 3"/>
          <p:cNvSpPr/>
          <p:nvPr/>
        </p:nvSpPr>
        <p:spPr>
          <a:xfrm>
            <a:off x="797049" y="3014663"/>
            <a:ext cx="354538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Many Pioneers gave a Direction to Indian Christian Theology, among them are Hindus, Foreigners, Protestants and Catholics. They operated on the Hindu Philosophical Foundations with Christian Impetus.</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2603302"/>
            <a:ext cx="3940373" cy="1132136"/>
          </a:xfrm>
          <a:prstGeom prst="rect">
            <a:avLst/>
          </a:prstGeom>
        </p:spPr>
      </p:pic>
      <p:sp>
        <p:nvSpPr>
          <p:cNvPr id="8" name="Text 4"/>
          <p:cNvSpPr/>
          <p:nvPr/>
        </p:nvSpPr>
        <p:spPr>
          <a:xfrm>
            <a:off x="4877767" y="2762696"/>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Key Pioneers</a:t>
            </a:r>
            <a:endParaRPr lang="en-US" sz="1300" dirty="0"/>
          </a:p>
        </p:txBody>
      </p:sp>
      <p:sp>
        <p:nvSpPr>
          <p:cNvPr id="9" name="Text 5"/>
          <p:cNvSpPr/>
          <p:nvPr/>
        </p:nvSpPr>
        <p:spPr>
          <a:xfrm>
            <a:off x="4877767" y="3014663"/>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Upadhyay's Idea of Hindu Christians; Sundar Singh, Chakkarai and Appasamy's Bhakti; M M Thomas, S J Samartha, G S Prabhu, Kappen's Prophetic Church.</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1454" y="147964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Indian Theology of Liberation</a:t>
            </a:r>
            <a:endParaRPr lang="en-US" sz="2600" dirty="0"/>
          </a:p>
        </p:txBody>
      </p:sp>
      <p:sp>
        <p:nvSpPr>
          <p:cNvPr id="3" name="Shape 1"/>
          <p:cNvSpPr/>
          <p:nvPr/>
        </p:nvSpPr>
        <p:spPr>
          <a:xfrm>
            <a:off x="561454" y="2096021"/>
            <a:ext cx="19050" cy="736848"/>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2253928"/>
            <a:ext cx="781057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Liberation Theology is the Attempt to discern the Action of God in History and to collaborate with God by Transforming the World. Following the Prophetic Mission of Christ, the Peoples have to be </a:t>
            </a:r>
            <a:r>
              <a:rPr lang="en-US" sz="1100" b="1" dirty="0">
                <a:solidFill>
                  <a:srgbClr val="E5E0DF"/>
                </a:solidFill>
                <a:latin typeface="Barlow Bold" pitchFamily="34" charset="0"/>
                <a:ea typeface="Barlow Bold" pitchFamily="34" charset="-122"/>
                <a:cs typeface="Barlow Bold" pitchFamily="34" charset="-120"/>
              </a:rPr>
              <a:t>Fully Liberated from All Forces of Oppression and Enslavement.</a:t>
            </a:r>
            <a:endParaRPr lang="en-US" sz="1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4065" y="2973139"/>
            <a:ext cx="210517" cy="210517"/>
          </a:xfrm>
          <a:prstGeom prst="rect">
            <a:avLst/>
          </a:prstGeom>
        </p:spPr>
      </p:pic>
      <p:sp>
        <p:nvSpPr>
          <p:cNvPr id="6" name="Text 3"/>
          <p:cNvSpPr/>
          <p:nvPr/>
        </p:nvSpPr>
        <p:spPr>
          <a:xfrm>
            <a:off x="1017612" y="2990776"/>
            <a:ext cx="346665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Challenge Dehumanization</a:t>
            </a:r>
            <a:endParaRPr lang="en-US" sz="1300" dirty="0"/>
          </a:p>
        </p:txBody>
      </p:sp>
      <p:sp>
        <p:nvSpPr>
          <p:cNvPr id="7" name="Text 4"/>
          <p:cNvSpPr/>
          <p:nvPr/>
        </p:nvSpPr>
        <p:spPr>
          <a:xfrm>
            <a:off x="1017612" y="3242742"/>
            <a:ext cx="346665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Poverty, Misery, Oppression, Injustice, Ignorance and all that dehumanizes have to be challenged and eliminated from the Society.</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2271" y="2973139"/>
            <a:ext cx="210517" cy="210517"/>
          </a:xfrm>
          <a:prstGeom prst="rect">
            <a:avLst/>
          </a:prstGeom>
        </p:spPr>
      </p:pic>
      <p:sp>
        <p:nvSpPr>
          <p:cNvPr id="9" name="Text 5"/>
          <p:cNvSpPr/>
          <p:nvPr/>
        </p:nvSpPr>
        <p:spPr>
          <a:xfrm>
            <a:off x="5115818" y="2990776"/>
            <a:ext cx="346672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Option for the Poor</a:t>
            </a:r>
            <a:endParaRPr lang="en-US" sz="1300" dirty="0"/>
          </a:p>
        </p:txBody>
      </p:sp>
      <p:sp>
        <p:nvSpPr>
          <p:cNvPr id="10" name="Text 6"/>
          <p:cNvSpPr/>
          <p:nvPr/>
        </p:nvSpPr>
        <p:spPr>
          <a:xfrm>
            <a:off x="5115818" y="3242742"/>
            <a:ext cx="3466728"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Church's Special Option for the Poor and the Marginalized should Never be compromised. This is not optional but constitutive of the Gospel.</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1454" y="112729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Subaltern Traditions &amp; Subaltern Liberation</a:t>
            </a:r>
            <a:endParaRPr lang="en-US" sz="2600" dirty="0"/>
          </a:p>
        </p:txBody>
      </p:sp>
      <p:sp>
        <p:nvSpPr>
          <p:cNvPr id="3" name="Text 1"/>
          <p:cNvSpPr/>
          <p:nvPr/>
        </p:nvSpPr>
        <p:spPr>
          <a:xfrm>
            <a:off x="561454" y="1743670"/>
            <a:ext cx="8021092"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A Subaltern refers to any Person or Group of inferior Rank and Status, whether because of Race, Class, Caste, Gender, Sexual Orientation, Ethnicity or Religion. Subaltern Theology is an attempt to theologize from the perspective of the Dalits, Tribals, Feminists, Coloured People etc. The starting point of this type of Theology is </a:t>
            </a:r>
            <a:r>
              <a:rPr lang="en-US" sz="1100" b="1" dirty="0">
                <a:solidFill>
                  <a:srgbClr val="E5E0DF"/>
                </a:solidFill>
                <a:latin typeface="Barlow Bold" pitchFamily="34" charset="0"/>
                <a:ea typeface="Barlow Bold" pitchFamily="34" charset="-122"/>
                <a:cs typeface="Barlow Bold" pitchFamily="34" charset="-120"/>
              </a:rPr>
              <a:t>Praxis Oriented Theological Reflection on the Context of the Broken People.</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462957"/>
            <a:ext cx="2580084" cy="1553170"/>
          </a:xfrm>
          <a:prstGeom prst="rect">
            <a:avLst/>
          </a:prstGeom>
        </p:spPr>
      </p:pic>
      <p:sp>
        <p:nvSpPr>
          <p:cNvPr id="5" name="Text 2"/>
          <p:cNvSpPr/>
          <p:nvPr/>
        </p:nvSpPr>
        <p:spPr>
          <a:xfrm>
            <a:off x="797049" y="2622352"/>
            <a:ext cx="218509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 Cry of the Subaltern</a:t>
            </a:r>
            <a:endParaRPr lang="en-US" sz="1300" dirty="0"/>
          </a:p>
        </p:txBody>
      </p:sp>
      <p:sp>
        <p:nvSpPr>
          <p:cNvPr id="6" name="Text 3"/>
          <p:cNvSpPr/>
          <p:nvPr/>
        </p:nvSpPr>
        <p:spPr>
          <a:xfrm>
            <a:off x="797049" y="2874318"/>
            <a:ext cx="2185095" cy="98241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Subaltern Theology is the Cry of the Subaltern Groups by which They try to express Their Faith in the Midst of Their Agonies. The Crucified Jesus stands at the Centre of Their Faith and gives Meaning to Their Miserable and Wretched Life.</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1883" y="2462957"/>
            <a:ext cx="2580159" cy="1553170"/>
          </a:xfrm>
          <a:prstGeom prst="rect">
            <a:avLst/>
          </a:prstGeom>
        </p:spPr>
      </p:pic>
      <p:sp>
        <p:nvSpPr>
          <p:cNvPr id="8" name="Text 4"/>
          <p:cNvSpPr/>
          <p:nvPr/>
        </p:nvSpPr>
        <p:spPr>
          <a:xfrm>
            <a:off x="3517478" y="2622352"/>
            <a:ext cx="21851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Suffering and Hope</a:t>
            </a:r>
            <a:endParaRPr lang="en-US" sz="1300" dirty="0"/>
          </a:p>
        </p:txBody>
      </p:sp>
      <p:sp>
        <p:nvSpPr>
          <p:cNvPr id="9" name="Text 5"/>
          <p:cNvSpPr/>
          <p:nvPr/>
        </p:nvSpPr>
        <p:spPr>
          <a:xfrm>
            <a:off x="3517478" y="2874318"/>
            <a:ext cx="2185169"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Risen Lord gives Them Hope in the Midst of Hopelessness. </a:t>
            </a:r>
            <a:r>
              <a:rPr lang="en-US" sz="1100" b="1" dirty="0">
                <a:solidFill>
                  <a:srgbClr val="E5E0DF"/>
                </a:solidFill>
                <a:latin typeface="Barlow Bold" pitchFamily="34" charset="0"/>
                <a:ea typeface="Barlow Bold" pitchFamily="34" charset="-122"/>
                <a:cs typeface="Barlow Bold" pitchFamily="34" charset="-120"/>
              </a:rPr>
              <a:t>Suffering and Hope is the Texture of Subaltern Theology.</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2387" y="2462957"/>
            <a:ext cx="2580159" cy="1553170"/>
          </a:xfrm>
          <a:prstGeom prst="rect">
            <a:avLst/>
          </a:prstGeom>
        </p:spPr>
      </p:pic>
      <p:sp>
        <p:nvSpPr>
          <p:cNvPr id="11" name="Text 6"/>
          <p:cNvSpPr/>
          <p:nvPr/>
        </p:nvSpPr>
        <p:spPr>
          <a:xfrm>
            <a:off x="6237982" y="2622352"/>
            <a:ext cx="21851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Prominent Areas</a:t>
            </a:r>
            <a:endParaRPr lang="en-US" sz="1300" dirty="0"/>
          </a:p>
        </p:txBody>
      </p:sp>
      <p:sp>
        <p:nvSpPr>
          <p:cNvPr id="12" name="Text 7"/>
          <p:cNvSpPr/>
          <p:nvPr/>
        </p:nvSpPr>
        <p:spPr>
          <a:xfrm>
            <a:off x="6237982" y="2874318"/>
            <a:ext cx="2185169"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Dalit Theology, Tribal Theology and Feminist Theology are some of the prominent Areas that strive to work for Subaltern Liberation.</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1454" y="1259458"/>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Dalit Theology</a:t>
            </a:r>
            <a:endParaRPr lang="en-US" sz="2600" dirty="0"/>
          </a:p>
        </p:txBody>
      </p:sp>
      <p:sp>
        <p:nvSpPr>
          <p:cNvPr id="3" name="Text 1"/>
          <p:cNvSpPr/>
          <p:nvPr/>
        </p:nvSpPr>
        <p:spPr>
          <a:xfrm>
            <a:off x="561454" y="1875830"/>
            <a:ext cx="8021092" cy="719286"/>
          </a:xfrm>
          <a:prstGeom prst="rect">
            <a:avLst/>
          </a:prstGeom>
          <a:noFill/>
          <a:ln/>
        </p:spPr>
        <p:txBody>
          <a:bodyPr wrap="square" lIns="0" tIns="0" rIns="0" bIns="0" rtlCol="0" anchor="t">
            <a:normAutofit/>
          </a:bodyPr>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Etymology:</a:t>
            </a:r>
            <a:r>
              <a:rPr lang="en-US" sz="1100" dirty="0">
                <a:solidFill>
                  <a:srgbClr val="E5E0DF"/>
                </a:solidFill>
                <a:latin typeface="Barlow" pitchFamily="34" charset="0"/>
                <a:ea typeface="Barlow" pitchFamily="34" charset="-122"/>
                <a:cs typeface="Barlow" pitchFamily="34" charset="-120"/>
              </a:rPr>
              <a:t> Sanskrit 'dal'; Hebrew 'dall' = feeble, low, weak, broken, crushed, torn apart. Untouchable, Outcaste, Avarna, Panchama, Chandala, Harijan, SC, Depressed, Segregated. Jyotirao Phule (1827-90) First to use 'Dalit'; Ambedkar the Icon.</a:t>
            </a:r>
            <a:endParaRPr lang="en-US" sz="1100" dirty="0"/>
          </a:p>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Why Dalit Theology?</a:t>
            </a:r>
            <a:r>
              <a:rPr lang="en-US" sz="1100" dirty="0">
                <a:solidFill>
                  <a:srgbClr val="E5E0DF"/>
                </a:solidFill>
                <a:latin typeface="Barlow" pitchFamily="34" charset="0"/>
                <a:ea typeface="Barlow" pitchFamily="34" charset="-122"/>
                <a:cs typeface="Barlow" pitchFamily="34" charset="-120"/>
              </a:rPr>
              <a:t> Human Dignity, India is my Country; Image and Likeness; Our Father (Kingdom of God); Table Fellowship, Jesus the Dalit; Suffering Servant; Experience of God-Forsakenness; Resurrection-Hope-Mission.</a:t>
            </a:r>
            <a:endParaRPr lang="en-US" sz="1100" dirty="0"/>
          </a:p>
        </p:txBody>
      </p:sp>
      <p:sp>
        <p:nvSpPr>
          <p:cNvPr id="4" name="Shape 2"/>
          <p:cNvSpPr/>
          <p:nvPr/>
        </p:nvSpPr>
        <p:spPr>
          <a:xfrm>
            <a:off x="561454" y="2753023"/>
            <a:ext cx="2580084" cy="1131019"/>
          </a:xfrm>
          <a:prstGeom prst="roundRect">
            <a:avLst>
              <a:gd name="adj" fmla="val 5213"/>
            </a:avLst>
          </a:prstGeom>
          <a:solidFill>
            <a:srgbClr val="790709"/>
          </a:solidFill>
          <a:ln w="4763">
            <a:solidFill>
              <a:srgbClr val="922022"/>
            </a:solidFill>
            <a:prstDash val="solid"/>
          </a:ln>
        </p:spPr>
        <p:txBody>
          <a:bodyPr/>
          <a:lstStyle/>
          <a:p>
            <a:endParaRPr lang="en-IN"/>
          </a:p>
        </p:txBody>
      </p:sp>
      <p:sp>
        <p:nvSpPr>
          <p:cNvPr id="5" name="Text 3"/>
          <p:cNvSpPr/>
          <p:nvPr/>
        </p:nvSpPr>
        <p:spPr>
          <a:xfrm>
            <a:off x="706562" y="2898130"/>
            <a:ext cx="2289870"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 Theology About the Dalits</a:t>
            </a:r>
            <a:endParaRPr lang="en-US" sz="1300" dirty="0"/>
          </a:p>
        </p:txBody>
      </p:sp>
      <p:sp>
        <p:nvSpPr>
          <p:cNvPr id="6" name="Text 4"/>
          <p:cNvSpPr/>
          <p:nvPr/>
        </p:nvSpPr>
        <p:spPr>
          <a:xfrm>
            <a:off x="706562" y="3150096"/>
            <a:ext cx="2289870"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Theological Reflection upon the Christian Responsibility to the Depressed Classes.</a:t>
            </a:r>
            <a:endParaRPr lang="en-US" sz="1100" dirty="0"/>
          </a:p>
        </p:txBody>
      </p:sp>
      <p:sp>
        <p:nvSpPr>
          <p:cNvPr id="7" name="Shape 5"/>
          <p:cNvSpPr/>
          <p:nvPr/>
        </p:nvSpPr>
        <p:spPr>
          <a:xfrm>
            <a:off x="3281883" y="2753023"/>
            <a:ext cx="2580159" cy="1131019"/>
          </a:xfrm>
          <a:prstGeom prst="roundRect">
            <a:avLst>
              <a:gd name="adj" fmla="val 5213"/>
            </a:avLst>
          </a:prstGeom>
          <a:solidFill>
            <a:srgbClr val="790709"/>
          </a:solidFill>
          <a:ln w="4763">
            <a:solidFill>
              <a:srgbClr val="922022"/>
            </a:solidFill>
            <a:prstDash val="solid"/>
          </a:ln>
        </p:spPr>
        <p:txBody>
          <a:bodyPr/>
          <a:lstStyle/>
          <a:p>
            <a:endParaRPr lang="en-IN"/>
          </a:p>
        </p:txBody>
      </p:sp>
      <p:sp>
        <p:nvSpPr>
          <p:cNvPr id="8" name="Text 6"/>
          <p:cNvSpPr/>
          <p:nvPr/>
        </p:nvSpPr>
        <p:spPr>
          <a:xfrm>
            <a:off x="3426991" y="2898130"/>
            <a:ext cx="228994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b. Theology For the Dalits</a:t>
            </a:r>
            <a:endParaRPr lang="en-US" sz="1300" dirty="0"/>
          </a:p>
        </p:txBody>
      </p:sp>
      <p:sp>
        <p:nvSpPr>
          <p:cNvPr id="9" name="Text 7"/>
          <p:cNvSpPr/>
          <p:nvPr/>
        </p:nvSpPr>
        <p:spPr>
          <a:xfrm>
            <a:off x="3426991" y="3150096"/>
            <a:ext cx="2289944" cy="28069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Theology addressed to the Dalits who respond appropriately.</a:t>
            </a:r>
            <a:endParaRPr lang="en-US" sz="1100" dirty="0"/>
          </a:p>
        </p:txBody>
      </p:sp>
      <p:sp>
        <p:nvSpPr>
          <p:cNvPr id="10" name="Shape 8"/>
          <p:cNvSpPr/>
          <p:nvPr/>
        </p:nvSpPr>
        <p:spPr>
          <a:xfrm>
            <a:off x="6002387" y="2753023"/>
            <a:ext cx="2580159" cy="1131019"/>
          </a:xfrm>
          <a:prstGeom prst="roundRect">
            <a:avLst>
              <a:gd name="adj" fmla="val 5213"/>
            </a:avLst>
          </a:prstGeom>
          <a:solidFill>
            <a:srgbClr val="790709"/>
          </a:solidFill>
          <a:ln w="4763">
            <a:solidFill>
              <a:srgbClr val="922022"/>
            </a:solidFill>
            <a:prstDash val="solid"/>
          </a:ln>
        </p:spPr>
        <p:txBody>
          <a:bodyPr/>
          <a:lstStyle/>
          <a:p>
            <a:endParaRPr lang="en-IN"/>
          </a:p>
        </p:txBody>
      </p:sp>
      <p:sp>
        <p:nvSpPr>
          <p:cNvPr id="11" name="Text 9"/>
          <p:cNvSpPr/>
          <p:nvPr/>
        </p:nvSpPr>
        <p:spPr>
          <a:xfrm>
            <a:off x="6147495" y="2898130"/>
            <a:ext cx="2289944" cy="335607"/>
          </a:xfrm>
          <a:prstGeom prst="rect">
            <a:avLst/>
          </a:prstGeom>
          <a:noFill/>
          <a:ln/>
        </p:spPr>
        <p:txBody>
          <a:bodyPr wrap="square" lIns="0" tIns="0" rIns="0" bIns="0" rtlCol="0" anchor="t">
            <a:normAutofit/>
          </a:bodyPr>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 Theology From/By the Dalits</a:t>
            </a:r>
            <a:endParaRPr lang="en-US" sz="1300" dirty="0"/>
          </a:p>
        </p:txBody>
      </p:sp>
      <p:sp>
        <p:nvSpPr>
          <p:cNvPr id="12" name="Text 10"/>
          <p:cNvSpPr/>
          <p:nvPr/>
        </p:nvSpPr>
        <p:spPr>
          <a:xfrm>
            <a:off x="6147495" y="3317900"/>
            <a:ext cx="228994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Theologian from Dalits like Arvind P Nirmal — theology arising from within the community itself.</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1454" y="1267644"/>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Tribal Theology</a:t>
            </a:r>
            <a:endParaRPr lang="en-US" sz="2600" dirty="0"/>
          </a:p>
        </p:txBody>
      </p:sp>
      <p:sp>
        <p:nvSpPr>
          <p:cNvPr id="3" name="Text 1"/>
          <p:cNvSpPr/>
          <p:nvPr/>
        </p:nvSpPr>
        <p:spPr>
          <a:xfrm>
            <a:off x="561454" y="1884015"/>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Original Indigenous People: </a:t>
            </a:r>
            <a:r>
              <a:rPr lang="en-US" sz="1100" b="1" dirty="0">
                <a:solidFill>
                  <a:srgbClr val="E5E0DF"/>
                </a:solidFill>
                <a:latin typeface="Barlow Bold" pitchFamily="34" charset="0"/>
                <a:ea typeface="Barlow Bold" pitchFamily="34" charset="-122"/>
                <a:cs typeface="Barlow Bold" pitchFamily="34" charset="-120"/>
              </a:rPr>
              <a:t>8% (about 100 million)</a:t>
            </a:r>
            <a:r>
              <a:rPr lang="en-US" sz="1100" dirty="0">
                <a:solidFill>
                  <a:srgbClr val="E5E0DF"/>
                </a:solidFill>
                <a:latin typeface="Barlow" pitchFamily="34" charset="0"/>
                <a:ea typeface="Barlow" pitchFamily="34" charset="-122"/>
                <a:cs typeface="Barlow" pitchFamily="34" charset="-120"/>
              </a:rPr>
              <a:t> — Backward, Shy, Primitive Agriculturists, Adivasis, STs (Article 342). Owners are the most exploited; History of Defeat, Suffering and Oppression. LPG: The Heart of India is under Attack; Discrimination, Genocide, Exploitation, Alienation, Conquest, Slavery; Displacement because of Development (Dams, Mines, MoUs) without Compensation.</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462957"/>
            <a:ext cx="3940373" cy="1412825"/>
          </a:xfrm>
          <a:prstGeom prst="rect">
            <a:avLst/>
          </a:prstGeom>
        </p:spPr>
      </p:pic>
      <p:sp>
        <p:nvSpPr>
          <p:cNvPr id="5" name="Text 2"/>
          <p:cNvSpPr/>
          <p:nvPr/>
        </p:nvSpPr>
        <p:spPr>
          <a:xfrm>
            <a:off x="797049" y="2622352"/>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Jal, Jangal, Jamin — Eco-Theology</a:t>
            </a:r>
            <a:endParaRPr lang="en-US" sz="1300" dirty="0"/>
          </a:p>
        </p:txBody>
      </p:sp>
      <p:sp>
        <p:nvSpPr>
          <p:cNvPr id="6" name="Text 3"/>
          <p:cNvSpPr/>
          <p:nvPr/>
        </p:nvSpPr>
        <p:spPr>
          <a:xfrm>
            <a:off x="797049" y="2874318"/>
            <a:ext cx="3545384" cy="70172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Land belongs to the Community. Symbol of Unity, Prosperity, Harmony. Land is Mother: feeds, bears, sustains. God is Provider (Ps 104; 135; 148). Land belongs to God, hence cannot be sold (Lev 25:23); Sabbatical Year (7) = Jubilee Year (50) (Lev 25:10; Ez 46:17).</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2462957"/>
            <a:ext cx="3940373" cy="1412825"/>
          </a:xfrm>
          <a:prstGeom prst="rect">
            <a:avLst/>
          </a:prstGeom>
        </p:spPr>
      </p:pic>
      <p:sp>
        <p:nvSpPr>
          <p:cNvPr id="8" name="Text 4"/>
          <p:cNvSpPr/>
          <p:nvPr/>
        </p:nvSpPr>
        <p:spPr>
          <a:xfrm>
            <a:off x="4877767" y="2622352"/>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Three Assertions of Tribal Theology</a:t>
            </a:r>
            <a:endParaRPr lang="en-US" sz="1300" dirty="0"/>
          </a:p>
        </p:txBody>
      </p:sp>
      <p:sp>
        <p:nvSpPr>
          <p:cNvPr id="9" name="Text 5"/>
          <p:cNvSpPr/>
          <p:nvPr/>
        </p:nvSpPr>
        <p:spPr>
          <a:xfrm>
            <a:off x="4877767" y="2874318"/>
            <a:ext cx="3545384" cy="842070"/>
          </a:xfrm>
          <a:prstGeom prst="rect">
            <a:avLst/>
          </a:prstGeom>
          <a:noFill/>
          <a:ln/>
        </p:spPr>
        <p:txBody>
          <a:bodyPr wrap="square" lIns="0" tIns="0" rIns="0" bIns="0" rtlCol="0" anchor="t">
            <a:normAutofit/>
          </a:bodyPr>
          <a:lstStyle/>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a.</a:t>
            </a:r>
            <a:r>
              <a:rPr lang="en-US" sz="1100" dirty="0">
                <a:solidFill>
                  <a:srgbClr val="E5E0DF"/>
                </a:solidFill>
                <a:latin typeface="Barlow" pitchFamily="34" charset="0"/>
                <a:ea typeface="Barlow" pitchFamily="34" charset="-122"/>
                <a:cs typeface="Barlow" pitchFamily="34" charset="-120"/>
              </a:rPr>
              <a:t> Different from other Subaltern Theologies: Holistic Liberation.</a:t>
            </a:r>
            <a:endParaRPr lang="en-US" sz="1100" dirty="0"/>
          </a:p>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b.</a:t>
            </a:r>
            <a:r>
              <a:rPr lang="en-US" sz="1100" dirty="0">
                <a:solidFill>
                  <a:srgbClr val="E5E0DF"/>
                </a:solidFill>
                <a:latin typeface="Barlow" pitchFamily="34" charset="0"/>
                <a:ea typeface="Barlow" pitchFamily="34" charset="-122"/>
                <a:cs typeface="Barlow" pitchFamily="34" charset="-120"/>
              </a:rPr>
              <a:t> Salvation is not Personal or Social but for all Creation: Harmony, Integrity.</a:t>
            </a:r>
            <a:endParaRPr lang="en-US" sz="1100" dirty="0"/>
          </a:p>
          <a:p>
            <a:pPr marL="0" indent="0" algn="l">
              <a:lnSpc>
                <a:spcPct val="83000"/>
              </a:lnSpc>
              <a:buNone/>
            </a:pPr>
            <a:r>
              <a:rPr lang="en-US" sz="1100" b="1" dirty="0">
                <a:solidFill>
                  <a:srgbClr val="E5E0DF"/>
                </a:solidFill>
                <a:latin typeface="Barlow Bold" pitchFamily="34" charset="0"/>
                <a:ea typeface="Barlow Bold" pitchFamily="34" charset="-122"/>
                <a:cs typeface="Barlow Bold" pitchFamily="34" charset="-120"/>
              </a:rPr>
              <a:t>c.</a:t>
            </a:r>
            <a:r>
              <a:rPr lang="en-US" sz="1100" dirty="0">
                <a:solidFill>
                  <a:srgbClr val="E5E0DF"/>
                </a:solidFill>
                <a:latin typeface="Barlow" pitchFamily="34" charset="0"/>
                <a:ea typeface="Barlow" pitchFamily="34" charset="-122"/>
                <a:cs typeface="Barlow" pitchFamily="34" charset="-120"/>
              </a:rPr>
              <a:t> Not Scientific Method, but Experiential and Life-relevant, down to Earth.</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1454" y="1422276"/>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Feminist Theology</a:t>
            </a:r>
            <a:endParaRPr lang="en-US" sz="2600" dirty="0"/>
          </a:p>
        </p:txBody>
      </p:sp>
      <p:sp>
        <p:nvSpPr>
          <p:cNvPr id="3" name="Text 1"/>
          <p:cNvSpPr/>
          <p:nvPr/>
        </p:nvSpPr>
        <p:spPr>
          <a:xfrm>
            <a:off x="561454" y="2038648"/>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Theologies of the Past and Present express the Male Perspectives, Concerns and Domination with the Tragic Consequence of the Subordination, Exploitation and Oppression of Women. In Patriarchal Societies and Cultures Women are often treated as Commodities for Men, simply to be used and abused.</a:t>
            </a:r>
            <a:endParaRPr lang="en-US" sz="1100" dirty="0"/>
          </a:p>
        </p:txBody>
      </p:sp>
      <p:sp>
        <p:nvSpPr>
          <p:cNvPr id="4" name="Shape 2"/>
          <p:cNvSpPr/>
          <p:nvPr/>
        </p:nvSpPr>
        <p:spPr>
          <a:xfrm>
            <a:off x="561454" y="2617589"/>
            <a:ext cx="8021092" cy="1103561"/>
          </a:xfrm>
          <a:prstGeom prst="roundRect">
            <a:avLst>
              <a:gd name="adj" fmla="val 5342"/>
            </a:avLst>
          </a:prstGeom>
          <a:solidFill>
            <a:srgbClr val="790709"/>
          </a:solidFill>
          <a:ln w="4763">
            <a:solidFill>
              <a:srgbClr val="922022"/>
            </a:solidFill>
            <a:prstDash val="solid"/>
          </a:ln>
        </p:spPr>
        <p:txBody>
          <a:bodyPr/>
          <a:lstStyle/>
          <a:p>
            <a:endParaRPr lang="en-IN"/>
          </a:p>
        </p:txBody>
      </p:sp>
      <p:sp>
        <p:nvSpPr>
          <p:cNvPr id="5" name="Shape 3"/>
          <p:cNvSpPr/>
          <p:nvPr/>
        </p:nvSpPr>
        <p:spPr>
          <a:xfrm>
            <a:off x="566217" y="2622352"/>
            <a:ext cx="4005783" cy="1094036"/>
          </a:xfrm>
          <a:prstGeom prst="rect">
            <a:avLst/>
          </a:prstGeom>
          <a:solidFill>
            <a:srgbClr val="790709"/>
          </a:solidFill>
          <a:ln/>
        </p:spPr>
        <p:txBody>
          <a:bodyPr/>
          <a:lstStyle/>
          <a:p>
            <a:endParaRPr lang="en-IN"/>
          </a:p>
        </p:txBody>
      </p:sp>
      <p:sp>
        <p:nvSpPr>
          <p:cNvPr id="6" name="Text 4"/>
          <p:cNvSpPr/>
          <p:nvPr/>
        </p:nvSpPr>
        <p:spPr>
          <a:xfrm>
            <a:off x="706562" y="2762696"/>
            <a:ext cx="372509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The Need for Corrective</a:t>
            </a:r>
            <a:endParaRPr lang="en-US" sz="1300" dirty="0"/>
          </a:p>
        </p:txBody>
      </p:sp>
      <p:sp>
        <p:nvSpPr>
          <p:cNvPr id="7" name="Text 5"/>
          <p:cNvSpPr/>
          <p:nvPr/>
        </p:nvSpPr>
        <p:spPr>
          <a:xfrm>
            <a:off x="706562" y="3014663"/>
            <a:ext cx="372509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This Kind of Theologies need the Corrective from a Female Perspective so that Theology may become more balanced and Integral.</a:t>
            </a:r>
            <a:endParaRPr lang="en-US" sz="1100" dirty="0"/>
          </a:p>
        </p:txBody>
      </p:sp>
      <p:sp>
        <p:nvSpPr>
          <p:cNvPr id="8" name="Shape 6"/>
          <p:cNvSpPr/>
          <p:nvPr/>
        </p:nvSpPr>
        <p:spPr>
          <a:xfrm>
            <a:off x="4572000" y="2622352"/>
            <a:ext cx="4005783" cy="1094036"/>
          </a:xfrm>
          <a:prstGeom prst="rect">
            <a:avLst/>
          </a:prstGeom>
          <a:solidFill>
            <a:srgbClr val="790709"/>
          </a:solidFill>
          <a:ln/>
        </p:spPr>
        <p:txBody>
          <a:bodyPr/>
          <a:lstStyle/>
          <a:p>
            <a:endParaRPr lang="en-IN"/>
          </a:p>
        </p:txBody>
      </p:sp>
      <p:sp>
        <p:nvSpPr>
          <p:cNvPr id="9" name="Shape 7"/>
          <p:cNvSpPr/>
          <p:nvPr/>
        </p:nvSpPr>
        <p:spPr>
          <a:xfrm>
            <a:off x="4572000" y="2622352"/>
            <a:ext cx="19050" cy="1094036"/>
          </a:xfrm>
          <a:prstGeom prst="roundRect">
            <a:avLst>
              <a:gd name="adj" fmla="val 309474"/>
            </a:avLst>
          </a:prstGeom>
          <a:solidFill>
            <a:srgbClr val="922022"/>
          </a:solidFill>
          <a:ln/>
        </p:spPr>
        <p:txBody>
          <a:bodyPr/>
          <a:lstStyle/>
          <a:p>
            <a:endParaRPr lang="en-IN"/>
          </a:p>
        </p:txBody>
      </p:sp>
      <p:sp>
        <p:nvSpPr>
          <p:cNvPr id="10" name="Text 8"/>
          <p:cNvSpPr/>
          <p:nvPr/>
        </p:nvSpPr>
        <p:spPr>
          <a:xfrm>
            <a:off x="4712345" y="2762696"/>
            <a:ext cx="372509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Women's Experience as Indispensable</a:t>
            </a:r>
            <a:endParaRPr lang="en-US" sz="1300" dirty="0"/>
          </a:p>
        </p:txBody>
      </p:sp>
      <p:sp>
        <p:nvSpPr>
          <p:cNvPr id="11" name="Text 9"/>
          <p:cNvSpPr/>
          <p:nvPr/>
        </p:nvSpPr>
        <p:spPr>
          <a:xfrm>
            <a:off x="4712345" y="3014663"/>
            <a:ext cx="372509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Experience of Women, their Perspectives, Insights and Intuitions are Indispensable for an Authentic Theology. Theology must be penetrated by the Warmth, Intuitions and the Sharing and Caring Nature of Women.</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1454" y="426467"/>
            <a:ext cx="8021092" cy="325189"/>
          </a:xfrm>
          <a:prstGeom prst="rect">
            <a:avLst/>
          </a:prstGeom>
          <a:noFill/>
          <a:ln/>
        </p:spPr>
        <p:txBody>
          <a:bodyPr wrap="none" lIns="0" tIns="0" rIns="0" bIns="0" rtlCol="0" anchor="t"/>
          <a:lstStyle/>
          <a:p>
            <a:pPr marL="0" indent="0" algn="l">
              <a:lnSpc>
                <a:spcPct val="83000"/>
              </a:lnSpc>
              <a:buNone/>
            </a:pPr>
            <a:r>
              <a:rPr lang="en-US" sz="2550" dirty="0">
                <a:solidFill>
                  <a:srgbClr val="FFFFFF"/>
                </a:solidFill>
                <a:latin typeface="Fraunces Medium" pitchFamily="34" charset="0"/>
                <a:ea typeface="Fraunces Medium" pitchFamily="34" charset="-122"/>
                <a:cs typeface="Fraunces Medium" pitchFamily="34" charset="-120"/>
              </a:rPr>
              <a:t>Theology of Dialogue</a:t>
            </a:r>
            <a:endParaRPr lang="en-US" sz="25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1015082"/>
            <a:ext cx="339923" cy="339923"/>
          </a:xfrm>
          <a:prstGeom prst="rect">
            <a:avLst/>
          </a:prstGeom>
        </p:spPr>
      </p:pic>
      <p:sp>
        <p:nvSpPr>
          <p:cNvPr id="4" name="Text 1"/>
          <p:cNvSpPr/>
          <p:nvPr/>
        </p:nvSpPr>
        <p:spPr>
          <a:xfrm>
            <a:off x="561454" y="1519610"/>
            <a:ext cx="3928244"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God Beyond Religions</a:t>
            </a:r>
            <a:endParaRPr lang="en-US" sz="1250" dirty="0"/>
          </a:p>
        </p:txBody>
      </p:sp>
      <p:sp>
        <p:nvSpPr>
          <p:cNvPr id="5" name="Text 2"/>
          <p:cNvSpPr/>
          <p:nvPr/>
        </p:nvSpPr>
        <p:spPr>
          <a:xfrm>
            <a:off x="561454" y="1761232"/>
            <a:ext cx="3928244" cy="267593"/>
          </a:xfrm>
          <a:prstGeom prst="rect">
            <a:avLst/>
          </a:prstGeom>
          <a:noFill/>
          <a:ln/>
        </p:spPr>
        <p:txBody>
          <a:bodyPr wrap="square" lIns="0" tIns="0" rIns="0" bIns="0" rtlCol="0" anchor="t">
            <a:normAutofit/>
          </a:bodyPr>
          <a:lstStyle/>
          <a:p>
            <a:pPr marL="0" indent="0" algn="l">
              <a:lnSpc>
                <a:spcPct val="82000"/>
              </a:lnSpc>
              <a:buNone/>
            </a:pPr>
            <a:r>
              <a:rPr lang="en-US" sz="1050" i="1" dirty="0">
                <a:solidFill>
                  <a:srgbClr val="E5E0DF"/>
                </a:solidFill>
                <a:latin typeface="Barlow" pitchFamily="34" charset="0"/>
                <a:ea typeface="Barlow" pitchFamily="34" charset="-122"/>
                <a:cs typeface="Barlow" pitchFamily="34" charset="-120"/>
              </a:rPr>
              <a:t>Ekam Sat Viprah Bahudha Vadanti</a:t>
            </a:r>
            <a:r>
              <a:rPr lang="en-US" sz="1050" dirty="0">
                <a:solidFill>
                  <a:srgbClr val="E5E0DF"/>
                </a:solidFill>
                <a:latin typeface="Barlow" pitchFamily="34" charset="0"/>
                <a:ea typeface="Barlow" pitchFamily="34" charset="-122"/>
                <a:cs typeface="Barlow" pitchFamily="34" charset="-120"/>
              </a:rPr>
              <a:t>; I AM WHO I AM; No Claim on the Knowledge of God.</a:t>
            </a:r>
            <a:endParaRPr lang="en-US" sz="10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4302" y="1015082"/>
            <a:ext cx="339923" cy="339923"/>
          </a:xfrm>
          <a:prstGeom prst="rect">
            <a:avLst/>
          </a:prstGeom>
        </p:spPr>
      </p:pic>
      <p:sp>
        <p:nvSpPr>
          <p:cNvPr id="7" name="Text 3"/>
          <p:cNvSpPr/>
          <p:nvPr/>
        </p:nvSpPr>
        <p:spPr>
          <a:xfrm>
            <a:off x="4654302" y="1519610"/>
            <a:ext cx="3928244"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Christian God is Trinity</a:t>
            </a:r>
            <a:endParaRPr lang="en-US" sz="1250" dirty="0"/>
          </a:p>
        </p:txBody>
      </p:sp>
      <p:sp>
        <p:nvSpPr>
          <p:cNvPr id="8" name="Text 4"/>
          <p:cNvSpPr/>
          <p:nvPr/>
        </p:nvSpPr>
        <p:spPr>
          <a:xfrm>
            <a:off x="4654302" y="1761232"/>
            <a:ext cx="3928244" cy="267593"/>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Communion, Harmony, For the Other — the Trinitarian God as the model of dialogical existence.</a:t>
            </a:r>
            <a:endParaRPr lang="en-US" sz="10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1454" y="2292251"/>
            <a:ext cx="339923" cy="339923"/>
          </a:xfrm>
          <a:prstGeom prst="rect">
            <a:avLst/>
          </a:prstGeom>
        </p:spPr>
      </p:pic>
      <p:sp>
        <p:nvSpPr>
          <p:cNvPr id="10" name="Text 5"/>
          <p:cNvSpPr/>
          <p:nvPr/>
        </p:nvSpPr>
        <p:spPr>
          <a:xfrm>
            <a:off x="561454" y="2796778"/>
            <a:ext cx="3928244"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Universal Salvific Will</a:t>
            </a:r>
            <a:endParaRPr lang="en-US" sz="1250" dirty="0"/>
          </a:p>
        </p:txBody>
      </p:sp>
      <p:sp>
        <p:nvSpPr>
          <p:cNvPr id="11" name="Text 6"/>
          <p:cNvSpPr/>
          <p:nvPr/>
        </p:nvSpPr>
        <p:spPr>
          <a:xfrm>
            <a:off x="561454" y="3038401"/>
            <a:ext cx="3928244" cy="133796"/>
          </a:xfrm>
          <a:prstGeom prst="rect">
            <a:avLst/>
          </a:prstGeom>
          <a:noFill/>
          <a:ln/>
        </p:spPr>
        <p:txBody>
          <a:bodyPr wrap="none" lIns="0" tIns="0" rIns="0" bIns="0" rtlCol="0" anchor="t"/>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USW (1 Tim 2:4-5): All have common Origin and Destiny ⇒ OMEGA.</a:t>
            </a:r>
            <a:endParaRPr lang="en-US" sz="10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4302" y="2292251"/>
            <a:ext cx="339923" cy="339923"/>
          </a:xfrm>
          <a:prstGeom prst="rect">
            <a:avLst/>
          </a:prstGeom>
        </p:spPr>
      </p:pic>
      <p:sp>
        <p:nvSpPr>
          <p:cNvPr id="13" name="Text 7"/>
          <p:cNvSpPr/>
          <p:nvPr/>
        </p:nvSpPr>
        <p:spPr>
          <a:xfrm>
            <a:off x="4654302" y="2796778"/>
            <a:ext cx="3928244"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Incarnation as Dialogue</a:t>
            </a:r>
            <a:endParaRPr lang="en-US" sz="1250" dirty="0"/>
          </a:p>
        </p:txBody>
      </p:sp>
      <p:sp>
        <p:nvSpPr>
          <p:cNvPr id="14" name="Text 8"/>
          <p:cNvSpPr/>
          <p:nvPr/>
        </p:nvSpPr>
        <p:spPr>
          <a:xfrm>
            <a:off x="4654302" y="3038401"/>
            <a:ext cx="3928244" cy="267593"/>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God's Dialogue of Life in Solidarity: Baptism, Kingdom of God, Passion, Death, Gathering ALL unto Him.</a:t>
            </a:r>
            <a:endParaRPr lang="en-US" sz="10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1454" y="3569419"/>
            <a:ext cx="339923" cy="339923"/>
          </a:xfrm>
          <a:prstGeom prst="rect">
            <a:avLst/>
          </a:prstGeom>
        </p:spPr>
      </p:pic>
      <p:sp>
        <p:nvSpPr>
          <p:cNvPr id="16" name="Text 9"/>
          <p:cNvSpPr/>
          <p:nvPr/>
        </p:nvSpPr>
        <p:spPr>
          <a:xfrm>
            <a:off x="561454" y="4073947"/>
            <a:ext cx="3928244"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Holy Spirit Everywhere</a:t>
            </a:r>
            <a:endParaRPr lang="en-US" sz="1250" dirty="0"/>
          </a:p>
        </p:txBody>
      </p:sp>
      <p:sp>
        <p:nvSpPr>
          <p:cNvPr id="17" name="Text 10"/>
          <p:cNvSpPr/>
          <p:nvPr/>
        </p:nvSpPr>
        <p:spPr>
          <a:xfrm>
            <a:off x="561454" y="4315569"/>
            <a:ext cx="3928244" cy="267593"/>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Present and Active Everywhere (Jn 3:8) — the Spirit blows where it wills.</a:t>
            </a:r>
            <a:endParaRPr lang="en-US" sz="10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54302" y="3569419"/>
            <a:ext cx="339923" cy="339923"/>
          </a:xfrm>
          <a:prstGeom prst="rect">
            <a:avLst/>
          </a:prstGeom>
        </p:spPr>
      </p:pic>
      <p:sp>
        <p:nvSpPr>
          <p:cNvPr id="19" name="Text 11"/>
          <p:cNvSpPr/>
          <p:nvPr/>
        </p:nvSpPr>
        <p:spPr>
          <a:xfrm>
            <a:off x="4654302" y="4073947"/>
            <a:ext cx="3928244" cy="162595"/>
          </a:xfrm>
          <a:prstGeom prst="rect">
            <a:avLst/>
          </a:prstGeom>
          <a:noFill/>
          <a:ln/>
        </p:spPr>
        <p:txBody>
          <a:bodyPr wrap="none" lIns="0" tIns="0" rIns="0" bIns="0" rtlCol="0" anchor="t"/>
          <a:lstStyle/>
          <a:p>
            <a:pPr marL="0" indent="0" algn="l">
              <a:lnSpc>
                <a:spcPct val="83000"/>
              </a:lnSpc>
              <a:buNone/>
            </a:pPr>
            <a:r>
              <a:rPr lang="en-US" sz="1250" dirty="0">
                <a:solidFill>
                  <a:srgbClr val="E5E0DF"/>
                </a:solidFill>
                <a:latin typeface="Fraunces Medium" pitchFamily="34" charset="0"/>
                <a:ea typeface="Fraunces Medium" pitchFamily="34" charset="-122"/>
                <a:cs typeface="Fraunces Medium" pitchFamily="34" charset="-120"/>
              </a:rPr>
              <a:t>Church as Sacrament of Unity</a:t>
            </a:r>
            <a:endParaRPr lang="en-US" sz="1250" dirty="0"/>
          </a:p>
        </p:txBody>
      </p:sp>
      <p:sp>
        <p:nvSpPr>
          <p:cNvPr id="20" name="Text 12"/>
          <p:cNvSpPr/>
          <p:nvPr/>
        </p:nvSpPr>
        <p:spPr>
          <a:xfrm>
            <a:off x="4654302" y="4315569"/>
            <a:ext cx="3928244" cy="401389"/>
          </a:xfrm>
          <a:prstGeom prst="rect">
            <a:avLst/>
          </a:prstGeom>
          <a:noFill/>
          <a:ln/>
        </p:spPr>
        <p:txBody>
          <a:bodyPr wrap="square" lIns="0" tIns="0" rIns="0" bIns="0" rtlCol="0" anchor="t">
            <a:normAutofit/>
          </a:bodyPr>
          <a:lstStyle/>
          <a:p>
            <a:pPr marL="0" indent="0" algn="l">
              <a:lnSpc>
                <a:spcPct val="82000"/>
              </a:lnSpc>
              <a:buNone/>
            </a:pPr>
            <a:r>
              <a:rPr lang="en-US" sz="1050" dirty="0">
                <a:solidFill>
                  <a:srgbClr val="E5E0DF"/>
                </a:solidFill>
                <a:latin typeface="Barlow" pitchFamily="34" charset="0"/>
                <a:ea typeface="Barlow" pitchFamily="34" charset="-122"/>
                <a:cs typeface="Barlow" pitchFamily="34" charset="-120"/>
              </a:rPr>
              <a:t>Sacrament of Kingdom of God, Salvation, Unity; Body of Christ, Temple of the Holy Spirit, People of God; 'That they may ALL be ONE' (Jn 17:21).</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1454" y="1407988"/>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Pluralism and Convergence</a:t>
            </a:r>
            <a:endParaRPr lang="en-US" sz="2600" dirty="0"/>
          </a:p>
        </p:txBody>
      </p:sp>
      <p:sp>
        <p:nvSpPr>
          <p:cNvPr id="3" name="Text 1"/>
          <p:cNvSpPr/>
          <p:nvPr/>
        </p:nvSpPr>
        <p:spPr>
          <a:xfrm>
            <a:off x="561454" y="2024360"/>
            <a:ext cx="8021092"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Diversity of Contexts, Problems, Issues, Peoples and Their Cultures and Their Mental Horizons and Ethos. Yet </a:t>
            </a:r>
            <a:r>
              <a:rPr lang="en-US" sz="1100" b="1" dirty="0">
                <a:solidFill>
                  <a:srgbClr val="E5E0DF"/>
                </a:solidFill>
                <a:latin typeface="Barlow Bold" pitchFamily="34" charset="0"/>
                <a:ea typeface="Barlow Bold" pitchFamily="34" charset="-122"/>
                <a:cs typeface="Barlow Bold" pitchFamily="34" charset="-120"/>
              </a:rPr>
              <a:t>Convergence</a:t>
            </a:r>
            <a:r>
              <a:rPr lang="en-US" sz="1100" dirty="0">
                <a:solidFill>
                  <a:srgbClr val="E5E0DF"/>
                </a:solidFill>
                <a:latin typeface="Barlow" pitchFamily="34" charset="0"/>
                <a:ea typeface="Barlow" pitchFamily="34" charset="-122"/>
                <a:cs typeface="Barlow" pitchFamily="34" charset="-120"/>
              </a:rPr>
              <a:t> between Theologizing from the Cultural, Philosophical and Religious Point of View and Theologizing from the Socio-Economic and Political Context. This is the Convergence from </a:t>
            </a:r>
            <a:r>
              <a:rPr lang="en-US" sz="1100" i="1" dirty="0">
                <a:solidFill>
                  <a:srgbClr val="E5E0DF"/>
                </a:solidFill>
                <a:latin typeface="Barlow" pitchFamily="34" charset="0"/>
                <a:ea typeface="Barlow" pitchFamily="34" charset="-122"/>
                <a:cs typeface="Barlow" pitchFamily="34" charset="-120"/>
              </a:rPr>
              <a:t>Jnana-Bhakti-Karma Marga</a:t>
            </a:r>
            <a:r>
              <a:rPr lang="en-US" sz="1100" dirty="0">
                <a:solidFill>
                  <a:srgbClr val="E5E0DF"/>
                </a:solidFill>
                <a:latin typeface="Barlow" pitchFamily="34" charset="0"/>
                <a:ea typeface="Barlow" pitchFamily="34" charset="-122"/>
                <a:cs typeface="Barlow" pitchFamily="34" charset="-120"/>
              </a:rPr>
              <a:t> Approach to Reality.</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603302"/>
            <a:ext cx="3940373" cy="1132136"/>
          </a:xfrm>
          <a:prstGeom prst="rect">
            <a:avLst/>
          </a:prstGeom>
        </p:spPr>
      </p:pic>
      <p:sp>
        <p:nvSpPr>
          <p:cNvPr id="5" name="Text 2"/>
          <p:cNvSpPr/>
          <p:nvPr/>
        </p:nvSpPr>
        <p:spPr>
          <a:xfrm>
            <a:off x="797049" y="2762696"/>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Three Catholic Individual Churches in India</a:t>
            </a:r>
            <a:endParaRPr lang="en-US" sz="1300" dirty="0"/>
          </a:p>
        </p:txBody>
      </p:sp>
      <p:sp>
        <p:nvSpPr>
          <p:cNvPr id="6" name="Text 3"/>
          <p:cNvSpPr/>
          <p:nvPr/>
        </p:nvSpPr>
        <p:spPr>
          <a:xfrm>
            <a:off x="797049" y="3014663"/>
            <a:ext cx="354538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Despite their Own Historical Existence and being Firmly rooted in Their Own Traditions the Three Catholic Individual Churches in India try to become more and more authentically Indian and Truly Christian.</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2603302"/>
            <a:ext cx="3940373" cy="1132136"/>
          </a:xfrm>
          <a:prstGeom prst="rect">
            <a:avLst/>
          </a:prstGeom>
        </p:spPr>
      </p:pic>
      <p:sp>
        <p:nvSpPr>
          <p:cNvPr id="8" name="Text 4"/>
          <p:cNvSpPr/>
          <p:nvPr/>
        </p:nvSpPr>
        <p:spPr>
          <a:xfrm>
            <a:off x="4877767" y="2762696"/>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Need for Collaboration</a:t>
            </a:r>
            <a:endParaRPr lang="en-US" sz="1300" dirty="0"/>
          </a:p>
        </p:txBody>
      </p:sp>
      <p:sp>
        <p:nvSpPr>
          <p:cNvPr id="9" name="Text 5"/>
          <p:cNvSpPr/>
          <p:nvPr/>
        </p:nvSpPr>
        <p:spPr>
          <a:xfrm>
            <a:off x="4877767" y="3014663"/>
            <a:ext cx="354538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Need for Collaboration, Networking and Dialogue at the Level of Doctrine, Spirituality, Life and Justice — a convergence that does not erase difference but enriches through encounter.</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1454" y="818629"/>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Guidelines for Contextualizing in India</a:t>
            </a:r>
            <a:endParaRPr lang="en-US" sz="2600" dirty="0"/>
          </a:p>
        </p:txBody>
      </p:sp>
      <p:sp>
        <p:nvSpPr>
          <p:cNvPr id="3" name="Shape 1"/>
          <p:cNvSpPr/>
          <p:nvPr/>
        </p:nvSpPr>
        <p:spPr>
          <a:xfrm>
            <a:off x="561454" y="1435001"/>
            <a:ext cx="315813" cy="315813"/>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4" name="Text 2"/>
          <p:cNvSpPr/>
          <p:nvPr/>
        </p:nvSpPr>
        <p:spPr>
          <a:xfrm>
            <a:off x="618679" y="1492225"/>
            <a:ext cx="201364" cy="201364"/>
          </a:xfrm>
          <a:prstGeom prst="rect">
            <a:avLst/>
          </a:prstGeom>
          <a:noFill/>
          <a:ln/>
        </p:spPr>
        <p:txBody>
          <a:bodyPr wrap="none" lIns="0" tIns="0" rIns="0" bIns="0" rtlCol="0" anchor="ctr"/>
          <a:lstStyle/>
          <a:p>
            <a:pPr marL="0" indent="0" algn="ctr">
              <a:lnSpc>
                <a:spcPct val="100000"/>
              </a:lnSpc>
              <a:buNone/>
            </a:pPr>
            <a:r>
              <a:rPr lang="en-US" sz="1550" dirty="0">
                <a:solidFill>
                  <a:srgbClr val="E5E0DF"/>
                </a:solidFill>
                <a:latin typeface="Fraunces Medium" pitchFamily="34" charset="0"/>
                <a:ea typeface="Fraunces Medium" pitchFamily="34" charset="-122"/>
                <a:cs typeface="Fraunces Medium" pitchFamily="34" charset="-120"/>
              </a:rPr>
              <a:t>1</a:t>
            </a:r>
            <a:endParaRPr lang="en-US" sz="1550" dirty="0"/>
          </a:p>
        </p:txBody>
      </p:sp>
      <p:sp>
        <p:nvSpPr>
          <p:cNvPr id="5" name="Text 3"/>
          <p:cNvSpPr/>
          <p:nvPr/>
        </p:nvSpPr>
        <p:spPr>
          <a:xfrm>
            <a:off x="1017612" y="1505173"/>
            <a:ext cx="346665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Awareness of Indian Pluralistic Context</a:t>
            </a:r>
            <a:endParaRPr lang="en-US" sz="1300" dirty="0"/>
          </a:p>
        </p:txBody>
      </p:sp>
      <p:sp>
        <p:nvSpPr>
          <p:cNvPr id="6" name="Text 4"/>
          <p:cNvSpPr/>
          <p:nvPr/>
        </p:nvSpPr>
        <p:spPr>
          <a:xfrm>
            <a:off x="1017612" y="1757139"/>
            <a:ext cx="346665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Hinduism as an Ocean of many Religions and Cultures, Morals and Philosophies, Caste-System, Belief in Karma and Punarjanma, the Worship of Various Gods and Goddesses, Festivals and Pilgrimages.</a:t>
            </a:r>
            <a:endParaRPr lang="en-US" sz="1100" dirty="0"/>
          </a:p>
        </p:txBody>
      </p:sp>
      <p:sp>
        <p:nvSpPr>
          <p:cNvPr id="7" name="Shape 5"/>
          <p:cNvSpPr/>
          <p:nvPr/>
        </p:nvSpPr>
        <p:spPr>
          <a:xfrm>
            <a:off x="4659660" y="1435001"/>
            <a:ext cx="315813" cy="315813"/>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8" name="Text 6"/>
          <p:cNvSpPr/>
          <p:nvPr/>
        </p:nvSpPr>
        <p:spPr>
          <a:xfrm>
            <a:off x="4716884" y="1492225"/>
            <a:ext cx="201364" cy="201364"/>
          </a:xfrm>
          <a:prstGeom prst="rect">
            <a:avLst/>
          </a:prstGeom>
          <a:noFill/>
          <a:ln/>
        </p:spPr>
        <p:txBody>
          <a:bodyPr wrap="none" lIns="0" tIns="0" rIns="0" bIns="0" rtlCol="0" anchor="ctr"/>
          <a:lstStyle/>
          <a:p>
            <a:pPr marL="0" indent="0" algn="ctr">
              <a:lnSpc>
                <a:spcPct val="100000"/>
              </a:lnSpc>
              <a:buNone/>
            </a:pPr>
            <a:r>
              <a:rPr lang="en-US" sz="1550" dirty="0">
                <a:solidFill>
                  <a:srgbClr val="E5E0DF"/>
                </a:solidFill>
                <a:latin typeface="Fraunces Medium" pitchFamily="34" charset="0"/>
                <a:ea typeface="Fraunces Medium" pitchFamily="34" charset="-122"/>
                <a:cs typeface="Fraunces Medium" pitchFamily="34" charset="-120"/>
              </a:rPr>
              <a:t>2</a:t>
            </a:r>
            <a:endParaRPr lang="en-US" sz="1550" dirty="0"/>
          </a:p>
        </p:txBody>
      </p:sp>
      <p:sp>
        <p:nvSpPr>
          <p:cNvPr id="9" name="Text 7"/>
          <p:cNvSpPr/>
          <p:nvPr/>
        </p:nvSpPr>
        <p:spPr>
          <a:xfrm>
            <a:off x="5115818" y="1505173"/>
            <a:ext cx="346672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Women's Status and Role in India</a:t>
            </a:r>
            <a:endParaRPr lang="en-US" sz="1300" dirty="0"/>
          </a:p>
        </p:txBody>
      </p:sp>
      <p:sp>
        <p:nvSpPr>
          <p:cNvPr id="10" name="Text 8"/>
          <p:cNvSpPr/>
          <p:nvPr/>
        </p:nvSpPr>
        <p:spPr>
          <a:xfrm>
            <a:off x="5115818" y="1757139"/>
            <a:ext cx="3466728" cy="98241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Violence and Discrimination: Female Feticide, Infanticide, Gender Discrimination in Education, Food and Health Care, Restriction of Freedom in Movement, Forced Marriages, Wife Battering, Bride Burning and Dowry Deaths, Sexual Abuse, Rape, Prostitution and Denial of Equal Democratic Rights. The Case of Dalit, Tribal and Backward Women is Worse.</a:t>
            </a:r>
            <a:endParaRPr lang="en-US" sz="1100" dirty="0"/>
          </a:p>
        </p:txBody>
      </p:sp>
      <p:sp>
        <p:nvSpPr>
          <p:cNvPr id="11" name="Shape 9"/>
          <p:cNvSpPr/>
          <p:nvPr/>
        </p:nvSpPr>
        <p:spPr>
          <a:xfrm>
            <a:off x="561454" y="3020244"/>
            <a:ext cx="315813" cy="315813"/>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12" name="Text 10"/>
          <p:cNvSpPr/>
          <p:nvPr/>
        </p:nvSpPr>
        <p:spPr>
          <a:xfrm>
            <a:off x="618679" y="3077468"/>
            <a:ext cx="201364" cy="201364"/>
          </a:xfrm>
          <a:prstGeom prst="rect">
            <a:avLst/>
          </a:prstGeom>
          <a:noFill/>
          <a:ln/>
        </p:spPr>
        <p:txBody>
          <a:bodyPr wrap="none" lIns="0" tIns="0" rIns="0" bIns="0" rtlCol="0" anchor="ctr"/>
          <a:lstStyle/>
          <a:p>
            <a:pPr marL="0" indent="0" algn="ctr">
              <a:lnSpc>
                <a:spcPct val="100000"/>
              </a:lnSpc>
              <a:buNone/>
            </a:pPr>
            <a:r>
              <a:rPr lang="en-US" sz="1550" dirty="0">
                <a:solidFill>
                  <a:srgbClr val="E5E0DF"/>
                </a:solidFill>
                <a:latin typeface="Fraunces Medium" pitchFamily="34" charset="0"/>
                <a:ea typeface="Fraunces Medium" pitchFamily="34" charset="-122"/>
                <a:cs typeface="Fraunces Medium" pitchFamily="34" charset="-120"/>
              </a:rPr>
              <a:t>3</a:t>
            </a:r>
            <a:endParaRPr lang="en-US" sz="1550" dirty="0"/>
          </a:p>
        </p:txBody>
      </p:sp>
      <p:sp>
        <p:nvSpPr>
          <p:cNvPr id="13" name="Text 11"/>
          <p:cNvSpPr/>
          <p:nvPr/>
        </p:nvSpPr>
        <p:spPr>
          <a:xfrm>
            <a:off x="1017612" y="3090416"/>
            <a:ext cx="346665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Incarnational-Inculturation Model</a:t>
            </a:r>
            <a:endParaRPr lang="en-US" sz="1300" dirty="0"/>
          </a:p>
        </p:txBody>
      </p:sp>
      <p:sp>
        <p:nvSpPr>
          <p:cNvPr id="14" name="Text 12"/>
          <p:cNvSpPr/>
          <p:nvPr/>
        </p:nvSpPr>
        <p:spPr>
          <a:xfrm>
            <a:off x="1017612" y="3342382"/>
            <a:ext cx="3466654" cy="98241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Pioneers of Indian Theology followed the Translation Model. However, the Vast Majority of the Indian People belong to the most humiliated Lot namely the Sudras, the Lower Caste, the Dalits and the Tribals. Hence Not Translation Model, rather </a:t>
            </a:r>
            <a:r>
              <a:rPr lang="en-US" sz="1100" b="1" dirty="0">
                <a:solidFill>
                  <a:srgbClr val="E5E0DF"/>
                </a:solidFill>
                <a:latin typeface="Barlow Bold" pitchFamily="34" charset="0"/>
                <a:ea typeface="Barlow Bold" pitchFamily="34" charset="-122"/>
                <a:cs typeface="Barlow Bold" pitchFamily="34" charset="-120"/>
              </a:rPr>
              <a:t>Incarnational-Inculturation Model</a:t>
            </a:r>
            <a:r>
              <a:rPr lang="en-US" sz="1100" dirty="0">
                <a:solidFill>
                  <a:srgbClr val="E5E0DF"/>
                </a:solidFill>
                <a:latin typeface="Barlow" pitchFamily="34" charset="0"/>
                <a:ea typeface="Barlow" pitchFamily="34" charset="-122"/>
                <a:cs typeface="Barlow" pitchFamily="34" charset="-120"/>
              </a:rPr>
              <a:t> that strives to show Solidarity with the Anawim in order to make Justice possible for them.</a:t>
            </a:r>
            <a:endParaRPr lang="en-US" sz="1100" dirty="0"/>
          </a:p>
        </p:txBody>
      </p:sp>
      <p:sp>
        <p:nvSpPr>
          <p:cNvPr id="15" name="Shape 13"/>
          <p:cNvSpPr/>
          <p:nvPr/>
        </p:nvSpPr>
        <p:spPr>
          <a:xfrm>
            <a:off x="4659660" y="3020244"/>
            <a:ext cx="315813" cy="315813"/>
          </a:xfrm>
          <a:prstGeom prst="roundRect">
            <a:avLst>
              <a:gd name="adj" fmla="val 18668"/>
            </a:avLst>
          </a:prstGeom>
          <a:solidFill>
            <a:srgbClr val="790709"/>
          </a:solidFill>
          <a:ln w="4763">
            <a:solidFill>
              <a:srgbClr val="922022"/>
            </a:solidFill>
            <a:prstDash val="solid"/>
          </a:ln>
        </p:spPr>
        <p:txBody>
          <a:bodyPr/>
          <a:lstStyle/>
          <a:p>
            <a:endParaRPr lang="en-IN"/>
          </a:p>
        </p:txBody>
      </p:sp>
      <p:sp>
        <p:nvSpPr>
          <p:cNvPr id="16" name="Text 14"/>
          <p:cNvSpPr/>
          <p:nvPr/>
        </p:nvSpPr>
        <p:spPr>
          <a:xfrm>
            <a:off x="4716884" y="3077468"/>
            <a:ext cx="201364" cy="201364"/>
          </a:xfrm>
          <a:prstGeom prst="rect">
            <a:avLst/>
          </a:prstGeom>
          <a:noFill/>
          <a:ln/>
        </p:spPr>
        <p:txBody>
          <a:bodyPr wrap="none" lIns="0" tIns="0" rIns="0" bIns="0" rtlCol="0" anchor="ctr"/>
          <a:lstStyle/>
          <a:p>
            <a:pPr marL="0" indent="0" algn="ctr">
              <a:lnSpc>
                <a:spcPct val="100000"/>
              </a:lnSpc>
              <a:buNone/>
            </a:pPr>
            <a:r>
              <a:rPr lang="en-US" sz="1550" dirty="0">
                <a:solidFill>
                  <a:srgbClr val="E5E0DF"/>
                </a:solidFill>
                <a:latin typeface="Fraunces Medium" pitchFamily="34" charset="0"/>
                <a:ea typeface="Fraunces Medium" pitchFamily="34" charset="-122"/>
                <a:cs typeface="Fraunces Medium" pitchFamily="34" charset="-120"/>
              </a:rPr>
              <a:t>4</a:t>
            </a:r>
            <a:endParaRPr lang="en-US" sz="1550" dirty="0"/>
          </a:p>
        </p:txBody>
      </p:sp>
      <p:sp>
        <p:nvSpPr>
          <p:cNvPr id="17" name="Text 15"/>
          <p:cNvSpPr/>
          <p:nvPr/>
        </p:nvSpPr>
        <p:spPr>
          <a:xfrm>
            <a:off x="5115818" y="3090416"/>
            <a:ext cx="3466728"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Violence Due to Religious Fundamentalism</a:t>
            </a:r>
            <a:endParaRPr lang="en-US" sz="1300" dirty="0"/>
          </a:p>
        </p:txBody>
      </p:sp>
      <p:sp>
        <p:nvSpPr>
          <p:cNvPr id="18" name="Text 16"/>
          <p:cNvSpPr/>
          <p:nvPr/>
        </p:nvSpPr>
        <p:spPr>
          <a:xfrm>
            <a:off x="5115818" y="3342382"/>
            <a:ext cx="3466728"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Marginalization of the Minority Community — a context that demands a theology of courage, solidarity, and prophetic witness.</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1454" y="758875"/>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Grace-Filled Presence of God in Creation</a:t>
            </a:r>
            <a:endParaRPr lang="en-US" sz="2600" dirty="0"/>
          </a:p>
        </p:txBody>
      </p:sp>
      <p:sp>
        <p:nvSpPr>
          <p:cNvPr id="3" name="Shape 1"/>
          <p:cNvSpPr/>
          <p:nvPr/>
        </p:nvSpPr>
        <p:spPr>
          <a:xfrm>
            <a:off x="561454" y="1375246"/>
            <a:ext cx="19050" cy="736848"/>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1533153"/>
            <a:ext cx="781057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Creation along with the Human Person become the Visible Sign of God's Invisible Grace = </a:t>
            </a:r>
            <a:r>
              <a:rPr lang="en-US" sz="1100" b="1" dirty="0">
                <a:solidFill>
                  <a:srgbClr val="E5E0DF"/>
                </a:solidFill>
                <a:latin typeface="Barlow Bold" pitchFamily="34" charset="0"/>
                <a:ea typeface="Barlow Bold" pitchFamily="34" charset="-122"/>
                <a:cs typeface="Barlow Bold" pitchFamily="34" charset="-120"/>
              </a:rPr>
              <a:t>SACRAMENT</a:t>
            </a:r>
            <a:r>
              <a:rPr lang="en-US" sz="1100" dirty="0">
                <a:solidFill>
                  <a:srgbClr val="E5E0DF"/>
                </a:solidFill>
                <a:latin typeface="Barlow" pitchFamily="34" charset="0"/>
                <a:ea typeface="Barlow" pitchFamily="34" charset="-122"/>
                <a:cs typeface="Barlow" pitchFamily="34" charset="-120"/>
              </a:rPr>
              <a:t>. The Whole World is an Unsacramentalised Host to be transformed into Sacrament by Our Love and Commitment. The Whole World is longing to become the Host of Christ, moving towards the </a:t>
            </a:r>
            <a:r>
              <a:rPr lang="en-US" sz="1100" b="1" dirty="0">
                <a:solidFill>
                  <a:srgbClr val="E5E0DF"/>
                </a:solidFill>
                <a:latin typeface="Barlow Bold" pitchFamily="34" charset="0"/>
                <a:ea typeface="Barlow Bold" pitchFamily="34" charset="-122"/>
                <a:cs typeface="Barlow Bold" pitchFamily="34" charset="-120"/>
              </a:rPr>
              <a:t>Omega Point</a:t>
            </a:r>
            <a:r>
              <a:rPr lang="en-US" sz="1100" dirty="0">
                <a:solidFill>
                  <a:srgbClr val="E5E0DF"/>
                </a:solidFill>
                <a:latin typeface="Barlow" pitchFamily="34" charset="0"/>
                <a:ea typeface="Barlow" pitchFamily="34" charset="-122"/>
                <a:cs typeface="Barlow" pitchFamily="34" charset="-120"/>
              </a:rPr>
              <a:t> (Christ), the Eschaton.</a:t>
            </a:r>
            <a:endParaRPr lang="en-US" sz="1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270001"/>
            <a:ext cx="2580084" cy="2114550"/>
          </a:xfrm>
          <a:prstGeom prst="rect">
            <a:avLst/>
          </a:prstGeom>
        </p:spPr>
      </p:pic>
      <p:sp>
        <p:nvSpPr>
          <p:cNvPr id="6" name="Text 3"/>
          <p:cNvSpPr/>
          <p:nvPr/>
        </p:nvSpPr>
        <p:spPr>
          <a:xfrm>
            <a:off x="797049" y="2429396"/>
            <a:ext cx="2185095"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Creation as Sacrament</a:t>
            </a:r>
            <a:endParaRPr lang="en-US" sz="1300" dirty="0"/>
          </a:p>
        </p:txBody>
      </p:sp>
      <p:sp>
        <p:nvSpPr>
          <p:cNvPr id="7" name="Text 4"/>
          <p:cNvSpPr/>
          <p:nvPr/>
        </p:nvSpPr>
        <p:spPr>
          <a:xfrm>
            <a:off x="797049" y="2681362"/>
            <a:ext cx="2185095" cy="1122759"/>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God is Present in the World. Jesus sees in the Birds of the Air and in the Lilies of the Field, God's Abounding Love and Grace. The Scripture presents the Ecological Spirituality of the World as Sacrament (Gen 1-2; Wis 13:1-5; Ps 8, 104; Acts 17).</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1883" y="2270001"/>
            <a:ext cx="2580159" cy="2114550"/>
          </a:xfrm>
          <a:prstGeom prst="rect">
            <a:avLst/>
          </a:prstGeom>
        </p:spPr>
      </p:pic>
      <p:sp>
        <p:nvSpPr>
          <p:cNvPr id="9" name="Text 5"/>
          <p:cNvSpPr/>
          <p:nvPr/>
        </p:nvSpPr>
        <p:spPr>
          <a:xfrm>
            <a:off x="3517478" y="2429396"/>
            <a:ext cx="21851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When Grace Occurs</a:t>
            </a:r>
            <a:endParaRPr lang="en-US" sz="1300" dirty="0"/>
          </a:p>
        </p:txBody>
      </p:sp>
      <p:sp>
        <p:nvSpPr>
          <p:cNvPr id="10" name="Text 6"/>
          <p:cNvSpPr/>
          <p:nvPr/>
        </p:nvSpPr>
        <p:spPr>
          <a:xfrm>
            <a:off x="3517478" y="2681362"/>
            <a:ext cx="2185169" cy="154379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Grace occurs When Creation sings the Praise of the Divine; When the Human Person laughs and loves, weeps and struggles with the Downtrodden, takes a Stand for Truth, gives Oneself Selflessly, hopes against Hope, Cheerfully carries His/Her Daily Cross, lives in Opposition to Selfishness, fights for Justice against Injustice, in Solidarity with the Abandoned.</a:t>
            </a:r>
            <a:endParaRPr lang="en-US" sz="11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2387" y="2270001"/>
            <a:ext cx="2580159" cy="2114550"/>
          </a:xfrm>
          <a:prstGeom prst="rect">
            <a:avLst/>
          </a:prstGeom>
        </p:spPr>
      </p:pic>
      <p:sp>
        <p:nvSpPr>
          <p:cNvPr id="12" name="Text 7"/>
          <p:cNvSpPr/>
          <p:nvPr/>
        </p:nvSpPr>
        <p:spPr>
          <a:xfrm>
            <a:off x="6237982" y="2429396"/>
            <a:ext cx="2185169"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Finding God in All Things</a:t>
            </a:r>
            <a:endParaRPr lang="en-US" sz="1300" dirty="0"/>
          </a:p>
        </p:txBody>
      </p:sp>
      <p:sp>
        <p:nvSpPr>
          <p:cNvPr id="13" name="Text 8"/>
          <p:cNvSpPr/>
          <p:nvPr/>
        </p:nvSpPr>
        <p:spPr>
          <a:xfrm>
            <a:off x="6237982" y="2681362"/>
            <a:ext cx="2185169" cy="1543794"/>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To find God in all Things, we need to have a Special Vision, the Divine Eye (</a:t>
            </a:r>
            <a:r>
              <a:rPr lang="en-US" sz="1100" i="1" dirty="0">
                <a:solidFill>
                  <a:srgbClr val="E5E0DF"/>
                </a:solidFill>
                <a:latin typeface="Barlow" pitchFamily="34" charset="0"/>
                <a:ea typeface="Barlow" pitchFamily="34" charset="-122"/>
                <a:cs typeface="Barlow" pitchFamily="34" charset="-120"/>
              </a:rPr>
              <a:t>Divyacaksu</a:t>
            </a:r>
            <a:r>
              <a:rPr lang="en-US" sz="1100" dirty="0">
                <a:solidFill>
                  <a:srgbClr val="E5E0DF"/>
                </a:solidFill>
                <a:latin typeface="Barlow" pitchFamily="34" charset="0"/>
                <a:ea typeface="Barlow" pitchFamily="34" charset="-122"/>
                <a:cs typeface="Barlow" pitchFamily="34" charset="-120"/>
              </a:rPr>
              <a:t>), just like Arjuna (Gita 11:8) or the Disciples on the Way to Emmaus. In the Spiritual Exercises of St Ignatius, He shows us the Way to 'Finding God in all Things And all Things in God'. The Whole Creation is </a:t>
            </a:r>
            <a:r>
              <a:rPr lang="en-US" sz="1100" i="1" dirty="0">
                <a:solidFill>
                  <a:srgbClr val="E5E0DF"/>
                </a:solidFill>
                <a:latin typeface="Barlow" pitchFamily="34" charset="0"/>
                <a:ea typeface="Barlow" pitchFamily="34" charset="-122"/>
                <a:cs typeface="Barlow" pitchFamily="34" charset="-120"/>
              </a:rPr>
              <a:t>Divya</a:t>
            </a:r>
            <a:r>
              <a:rPr lang="en-US" sz="1100" dirty="0">
                <a:solidFill>
                  <a:srgbClr val="E5E0DF"/>
                </a:solidFill>
                <a:latin typeface="Barlow" pitchFamily="34" charset="0"/>
                <a:ea typeface="Barlow" pitchFamily="34" charset="-122"/>
                <a:cs typeface="Barlow" pitchFamily="34" charset="-120"/>
              </a:rPr>
              <a:t> (Divine) pervaded by the Divine — </a:t>
            </a:r>
            <a:r>
              <a:rPr lang="en-US" sz="1100" i="1" dirty="0">
                <a:solidFill>
                  <a:srgbClr val="E5E0DF"/>
                </a:solidFill>
                <a:latin typeface="Barlow" pitchFamily="34" charset="0"/>
                <a:ea typeface="Barlow" pitchFamily="34" charset="-122"/>
                <a:cs typeface="Barlow" pitchFamily="34" charset="-120"/>
              </a:rPr>
              <a:t>Isha: Ishavasyam Idam Sarvam</a:t>
            </a:r>
            <a:r>
              <a:rPr lang="en-US" sz="1100" dirty="0">
                <a:solidFill>
                  <a:srgbClr val="E5E0DF"/>
                </a:solidFill>
                <a:latin typeface="Barlow" pitchFamily="34" charset="0"/>
                <a:ea typeface="Barlow" pitchFamily="34" charset="-122"/>
                <a:cs typeface="Barlow" pitchFamily="34" charset="-120"/>
              </a:rPr>
              <a:t>.</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1454" y="1030784"/>
            <a:ext cx="8021092" cy="335682"/>
          </a:xfrm>
          <a:prstGeom prst="rect">
            <a:avLst/>
          </a:prstGeom>
          <a:noFill/>
          <a:ln/>
        </p:spPr>
        <p:txBody>
          <a:bodyPr wrap="none" lIns="0" tIns="0" rIns="0" bIns="0" rtlCol="0" anchor="t"/>
          <a:lstStyle/>
          <a:p>
            <a:pPr marL="0" indent="0" algn="l">
              <a:lnSpc>
                <a:spcPct val="83000"/>
              </a:lnSpc>
              <a:buNone/>
            </a:pPr>
            <a:r>
              <a:rPr lang="en-US" sz="2600" dirty="0">
                <a:solidFill>
                  <a:srgbClr val="FFFFFF"/>
                </a:solidFill>
                <a:latin typeface="Fraunces Medium" pitchFamily="34" charset="0"/>
                <a:ea typeface="Fraunces Medium" pitchFamily="34" charset="-122"/>
                <a:cs typeface="Fraunces Medium" pitchFamily="34" charset="-120"/>
              </a:rPr>
              <a:t>Ecumenical Perspective — </a:t>
            </a:r>
            <a:r>
              <a:rPr lang="en-US" sz="2600" i="1" dirty="0">
                <a:solidFill>
                  <a:srgbClr val="FFFFFF"/>
                </a:solidFill>
                <a:latin typeface="Fraunces Medium" pitchFamily="34" charset="0"/>
                <a:ea typeface="Fraunces Medium" pitchFamily="34" charset="-122"/>
                <a:cs typeface="Fraunces Medium" pitchFamily="34" charset="-120"/>
              </a:rPr>
              <a:t>Jn 17:21</a:t>
            </a:r>
            <a:endParaRPr lang="en-US" sz="2600" dirty="0"/>
          </a:p>
        </p:txBody>
      </p:sp>
      <p:sp>
        <p:nvSpPr>
          <p:cNvPr id="3" name="Shape 1"/>
          <p:cNvSpPr/>
          <p:nvPr/>
        </p:nvSpPr>
        <p:spPr>
          <a:xfrm>
            <a:off x="561454" y="1647155"/>
            <a:ext cx="19050" cy="456084"/>
          </a:xfrm>
          <a:prstGeom prst="roundRect">
            <a:avLst>
              <a:gd name="adj" fmla="val 60000"/>
            </a:avLst>
          </a:prstGeom>
          <a:solidFill>
            <a:srgbClr val="F65F62"/>
          </a:solidFill>
          <a:ln/>
        </p:spPr>
        <p:txBody>
          <a:bodyPr/>
          <a:lstStyle/>
          <a:p>
            <a:endParaRPr lang="en-IN"/>
          </a:p>
        </p:txBody>
      </p:sp>
      <p:sp>
        <p:nvSpPr>
          <p:cNvPr id="4" name="Text 2"/>
          <p:cNvSpPr/>
          <p:nvPr/>
        </p:nvSpPr>
        <p:spPr>
          <a:xfrm>
            <a:off x="771971" y="1805062"/>
            <a:ext cx="8267774" cy="140345"/>
          </a:xfrm>
          <a:prstGeom prst="rect">
            <a:avLst/>
          </a:prstGeom>
          <a:noFill/>
          <a:ln/>
        </p:spPr>
        <p:txBody>
          <a:bodyPr wrap="none" lIns="0" tIns="0" rIns="0" bIns="0" rtlCol="0" anchor="t"/>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"That they All may be One" — </a:t>
            </a:r>
            <a:r>
              <a:rPr lang="en-US" sz="1100" b="1" dirty="0">
                <a:solidFill>
                  <a:srgbClr val="E5E0DF"/>
                </a:solidFill>
                <a:latin typeface="Barlow Bold" pitchFamily="34" charset="0"/>
                <a:ea typeface="Barlow Bold" pitchFamily="34" charset="-122"/>
                <a:cs typeface="Barlow Bold" pitchFamily="34" charset="-120"/>
              </a:rPr>
              <a:t>Jn 17:21</a:t>
            </a:r>
            <a:endParaRPr lang="en-US" sz="1100" dirty="0"/>
          </a:p>
        </p:txBody>
      </p:sp>
      <p:sp>
        <p:nvSpPr>
          <p:cNvPr id="5" name="Text 3"/>
          <p:cNvSpPr/>
          <p:nvPr/>
        </p:nvSpPr>
        <p:spPr>
          <a:xfrm>
            <a:off x="561454" y="2261220"/>
            <a:ext cx="8021092"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The One Church of Jesus Christ has been divided because of Doctrinal Matters, Political and Ethnic Concerns and often to gain Power to control Persons and Movements. There have been Efforts Time and Again (</a:t>
            </a:r>
            <a:r>
              <a:rPr lang="en-US" sz="1100" i="1" dirty="0">
                <a:solidFill>
                  <a:srgbClr val="E5E0DF"/>
                </a:solidFill>
                <a:latin typeface="Barlow" pitchFamily="34" charset="0"/>
                <a:ea typeface="Barlow" pitchFamily="34" charset="-122"/>
                <a:cs typeface="Barlow" pitchFamily="34" charset="-120"/>
              </a:rPr>
              <a:t>Ut Unum Sint</a:t>
            </a:r>
            <a:r>
              <a:rPr lang="en-US" sz="1100" dirty="0">
                <a:solidFill>
                  <a:srgbClr val="E5E0DF"/>
                </a:solidFill>
                <a:latin typeface="Barlow" pitchFamily="34" charset="0"/>
                <a:ea typeface="Barlow" pitchFamily="34" charset="-122"/>
                <a:cs typeface="Barlow" pitchFamily="34" charset="-120"/>
              </a:rPr>
              <a:t>, </a:t>
            </a:r>
            <a:r>
              <a:rPr lang="en-US" sz="1100" i="1" dirty="0">
                <a:solidFill>
                  <a:srgbClr val="E5E0DF"/>
                </a:solidFill>
                <a:latin typeface="Barlow" pitchFamily="34" charset="0"/>
                <a:ea typeface="Barlow" pitchFamily="34" charset="-122"/>
                <a:cs typeface="Barlow" pitchFamily="34" charset="-120"/>
              </a:rPr>
              <a:t>Unitatis Redintegratio</a:t>
            </a:r>
            <a:r>
              <a:rPr lang="en-US" sz="1100" dirty="0">
                <a:solidFill>
                  <a:srgbClr val="E5E0DF"/>
                </a:solidFill>
                <a:latin typeface="Barlow" pitchFamily="34" charset="0"/>
                <a:ea typeface="Barlow" pitchFamily="34" charset="-122"/>
                <a:cs typeface="Barlow" pitchFamily="34" charset="-120"/>
              </a:rPr>
              <a:t>) to be united in Christ. The Existence of Different Churches is a Reminder of Both — the Need for Unity in the Church And Respect for a Healthy Pluralism.</a:t>
            </a:r>
            <a:endParaRPr lang="en-US" sz="11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1454" y="2980506"/>
            <a:ext cx="3940373" cy="1132136"/>
          </a:xfrm>
          <a:prstGeom prst="rect">
            <a:avLst/>
          </a:prstGeom>
        </p:spPr>
      </p:pic>
      <p:sp>
        <p:nvSpPr>
          <p:cNvPr id="7" name="Text 4"/>
          <p:cNvSpPr/>
          <p:nvPr/>
        </p:nvSpPr>
        <p:spPr>
          <a:xfrm>
            <a:off x="797049" y="3139901"/>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Baptism as Bond of Unity</a:t>
            </a:r>
            <a:endParaRPr lang="en-US" sz="1300" dirty="0"/>
          </a:p>
        </p:txBody>
      </p:sp>
      <p:sp>
        <p:nvSpPr>
          <p:cNvPr id="8" name="Text 5"/>
          <p:cNvSpPr/>
          <p:nvPr/>
        </p:nvSpPr>
        <p:spPr>
          <a:xfrm>
            <a:off x="797049" y="3391867"/>
            <a:ext cx="3545384" cy="421035"/>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UR 22 affirms That Baptism is a Bond of Unity and a Source of Potentially Full Unity Among the Divided Christian Communities.</a:t>
            </a:r>
            <a:endParaRPr lang="en-US" sz="11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2172" y="2980506"/>
            <a:ext cx="3940373" cy="1132136"/>
          </a:xfrm>
          <a:prstGeom prst="rect">
            <a:avLst/>
          </a:prstGeom>
        </p:spPr>
      </p:pic>
      <p:sp>
        <p:nvSpPr>
          <p:cNvPr id="10" name="Text 6"/>
          <p:cNvSpPr/>
          <p:nvPr/>
        </p:nvSpPr>
        <p:spPr>
          <a:xfrm>
            <a:off x="4877767" y="3139901"/>
            <a:ext cx="3545384" cy="167804"/>
          </a:xfrm>
          <a:prstGeom prst="rect">
            <a:avLst/>
          </a:prstGeom>
          <a:noFill/>
          <a:ln/>
        </p:spPr>
        <p:txBody>
          <a:bodyPr wrap="none" lIns="0" tIns="0" rIns="0" bIns="0" rtlCol="0" anchor="t"/>
          <a:lstStyle/>
          <a:p>
            <a:pPr marL="0" indent="0" algn="l">
              <a:lnSpc>
                <a:spcPct val="83000"/>
              </a:lnSpc>
              <a:buNone/>
            </a:pPr>
            <a:r>
              <a:rPr lang="en-US" sz="1300" dirty="0">
                <a:solidFill>
                  <a:srgbClr val="E5E0DF"/>
                </a:solidFill>
                <a:latin typeface="Fraunces Medium" pitchFamily="34" charset="0"/>
                <a:ea typeface="Fraunces Medium" pitchFamily="34" charset="-122"/>
                <a:cs typeface="Fraunces Medium" pitchFamily="34" charset="-120"/>
              </a:rPr>
              <a:t>Ecumenism of Blood</a:t>
            </a:r>
            <a:endParaRPr lang="en-US" sz="1300" dirty="0"/>
          </a:p>
        </p:txBody>
      </p:sp>
      <p:sp>
        <p:nvSpPr>
          <p:cNvPr id="11" name="Text 7"/>
          <p:cNvSpPr/>
          <p:nvPr/>
        </p:nvSpPr>
        <p:spPr>
          <a:xfrm>
            <a:off x="4877767" y="3391867"/>
            <a:ext cx="3545384" cy="561380"/>
          </a:xfrm>
          <a:prstGeom prst="rect">
            <a:avLst/>
          </a:prstGeom>
          <a:noFill/>
          <a:ln/>
        </p:spPr>
        <p:txBody>
          <a:bodyPr wrap="square" lIns="0" tIns="0" rIns="0" bIns="0" rtlCol="0" anchor="t">
            <a:normAutofit/>
          </a:bodyPr>
          <a:lstStyle/>
          <a:p>
            <a:pPr marL="0" indent="0" algn="l">
              <a:lnSpc>
                <a:spcPct val="83000"/>
              </a:lnSpc>
              <a:buNone/>
            </a:pPr>
            <a:r>
              <a:rPr lang="en-US" sz="1100" dirty="0">
                <a:solidFill>
                  <a:srgbClr val="E5E0DF"/>
                </a:solidFill>
                <a:latin typeface="Barlow" pitchFamily="34" charset="0"/>
                <a:ea typeface="Barlow" pitchFamily="34" charset="-122"/>
                <a:cs typeface="Barlow" pitchFamily="34" charset="-120"/>
              </a:rPr>
              <a:t>Pope Francis: "Ecumenism of Blood" unites the Christians in Persecution. In </a:t>
            </a:r>
            <a:r>
              <a:rPr lang="en-US" sz="1100" i="1" dirty="0">
                <a:solidFill>
                  <a:srgbClr val="E5E0DF"/>
                </a:solidFill>
                <a:latin typeface="Barlow" pitchFamily="34" charset="0"/>
                <a:ea typeface="Barlow" pitchFamily="34" charset="-122"/>
                <a:cs typeface="Barlow" pitchFamily="34" charset="-120"/>
              </a:rPr>
              <a:t>Evangelii Gaudium</a:t>
            </a:r>
            <a:r>
              <a:rPr lang="en-US" sz="1100" dirty="0">
                <a:solidFill>
                  <a:srgbClr val="E5E0DF"/>
                </a:solidFill>
                <a:latin typeface="Barlow" pitchFamily="34" charset="0"/>
                <a:ea typeface="Barlow" pitchFamily="34" charset="-122"/>
                <a:cs typeface="Barlow" pitchFamily="34" charset="-120"/>
              </a:rPr>
              <a:t>, He writes Extensively on Dialogue and Ecumenism in Various Areas in the Life of the Church (238-258).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10791</Words>
  <Application>Microsoft Office PowerPoint</Application>
  <PresentationFormat>On-screen Show (16:9)</PresentationFormat>
  <Paragraphs>784</Paragraphs>
  <Slides>76</Slides>
  <Notes>76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Arial</vt:lpstr>
      <vt:lpstr>Fraunces Medium</vt:lpstr>
      <vt:lpstr>Fraunces Light</vt:lpstr>
      <vt:lpstr>Barlow</vt:lpstr>
      <vt:lpstr>Barlow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William Anthony</cp:lastModifiedBy>
  <cp:revision>2</cp:revision>
  <dcterms:created xsi:type="dcterms:W3CDTF">2026-07-08T07:24:38Z</dcterms:created>
  <dcterms:modified xsi:type="dcterms:W3CDTF">2026-07-09T04:20:34Z</dcterms:modified>
</cp:coreProperties>
</file>