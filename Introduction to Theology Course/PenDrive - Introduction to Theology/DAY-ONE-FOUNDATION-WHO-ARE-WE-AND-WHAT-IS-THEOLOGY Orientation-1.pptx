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6" r:id="rId3"/>
    <p:sldId id="267" r:id="rId4"/>
    <p:sldId id="265" r:id="rId5"/>
    <p:sldId id="257" r:id="rId6"/>
    <p:sldId id="258" r:id="rId7"/>
    <p:sldId id="259" r:id="rId8"/>
    <p:sldId id="260" r:id="rId9"/>
    <p:sldId id="261" r:id="rId10"/>
    <p:sldId id="262" r:id="rId11"/>
    <p:sldId id="263" r:id="rId12"/>
    <p:sldId id="264" r:id="rId13"/>
  </p:sldIdLst>
  <p:sldSz cx="12192000" cy="6858000"/>
  <p:notesSz cx="6858000" cy="12192000"/>
  <p:embeddedFontLst>
    <p:embeddedFont>
      <p:font typeface="Fira Sans" panose="020B0503050000020004" pitchFamily="34" charset="0"/>
      <p:regular r:id="rId15"/>
      <p:bold r:id="rId16"/>
      <p:italic r:id="rId17"/>
      <p:boldItalic r:id="rId18"/>
    </p:embeddedFont>
    <p:embeddedFont>
      <p:font typeface="Libre Baskerville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6302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txBody>
          <a:bodyPr/>
          <a:lstStyle/>
          <a:p>
            <a:endParaRPr lang="en-IN"/>
          </a:p>
        </p:txBody>
      </p:sp>
      <p:sp>
        <p:nvSpPr>
          <p:cNvPr id="3" name="Shape 1"/>
          <p:cNvSpPr/>
          <p:nvPr/>
        </p:nvSpPr>
        <p:spPr>
          <a:xfrm>
            <a:off x="0" y="0"/>
            <a:ext cx="12191695" cy="6858000"/>
          </a:xfrm>
          <a:prstGeom prst="rect">
            <a:avLst/>
          </a:prstGeom>
          <a:solidFill>
            <a:srgbClr val="B98D34"/>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2384921"/>
            <a:ext cx="10581613" cy="1106884"/>
          </a:xfrm>
          <a:prstGeom prst="rect">
            <a:avLst/>
          </a:prstGeom>
          <a:noFill/>
          <a:ln/>
        </p:spPr>
        <p:txBody>
          <a:bodyPr wrap="square" lIns="0" tIns="0" rIns="0" bIns="0" rtlCol="0" anchor="t">
            <a:normAutofit/>
          </a:bodyPr>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DAY ONE FOUNDATION: WHO ARE WE AND WHAT IS THEOLOGY?</a:t>
            </a:r>
            <a:endParaRPr lang="en-US" sz="3450" dirty="0"/>
          </a:p>
        </p:txBody>
      </p:sp>
      <p:sp>
        <p:nvSpPr>
          <p:cNvPr id="3" name="Text 1"/>
          <p:cNvSpPr/>
          <p:nvPr/>
        </p:nvSpPr>
        <p:spPr>
          <a:xfrm>
            <a:off x="805041" y="3572272"/>
            <a:ext cx="8080471" cy="276820"/>
          </a:xfrm>
          <a:prstGeom prst="rect">
            <a:avLst/>
          </a:prstGeom>
          <a:noFill/>
          <a:ln/>
        </p:spPr>
        <p:txBody>
          <a:bodyPr wrap="none" lIns="0" tIns="0" rIns="0" bIns="0" rtlCol="0" anchor="t"/>
          <a:lstStyle/>
          <a:p>
            <a:pPr marL="0" indent="0" algn="l">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SESSION 1: Welcome, Ice-Breaking, and Community Formation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09210C-3DDE-4153-9FAE-387983E53A5C}"/>
              </a:ext>
            </a:extLst>
          </p:cNvPr>
          <p:cNvSpPr txBox="1"/>
          <p:nvPr/>
        </p:nvSpPr>
        <p:spPr>
          <a:xfrm>
            <a:off x="692726" y="785441"/>
            <a:ext cx="11042073" cy="3175228"/>
          </a:xfrm>
          <a:prstGeom prst="rect">
            <a:avLst/>
          </a:prstGeom>
          <a:noFill/>
        </p:spPr>
        <p:txBody>
          <a:bodyPr wrap="square">
            <a:spAutoFit/>
          </a:bodyPr>
          <a:lstStyle/>
          <a:p>
            <a:pPr>
              <a:spcBef>
                <a:spcPts val="1000"/>
              </a:spcBef>
              <a:spcAft>
                <a:spcPts val="400"/>
              </a:spcAft>
              <a:buNone/>
            </a:pPr>
            <a:r>
              <a:rPr lang="en-IN" sz="3200" b="1" dirty="0">
                <a:effectLst/>
                <a:latin typeface="Times New Roman" panose="02020603050405020304" pitchFamily="18" charset="0"/>
              </a:rPr>
              <a:t>Opening Prayer Suggestion</a:t>
            </a:r>
            <a:endParaRPr lang="en-IN" sz="3200" b="1" dirty="0">
              <a:effectLst/>
              <a:latin typeface="Calibri" panose="020F0502020204030204" pitchFamily="34" charset="0"/>
            </a:endParaRPr>
          </a:p>
          <a:p>
            <a:pPr algn="just">
              <a:spcAft>
                <a:spcPts val="600"/>
              </a:spcAft>
              <a:buNone/>
            </a:pPr>
            <a:r>
              <a:rPr lang="en-IN" sz="3200" dirty="0">
                <a:effectLst/>
                <a:latin typeface="Times New Roman" panose="02020603050405020304" pitchFamily="18" charset="0"/>
                <a:ea typeface="Calibri" panose="020F0502020204030204" pitchFamily="34" charset="0"/>
              </a:rPr>
              <a:t>Begin with a brief prayer: “Lord, you have called us from different parts of this vast land. We come from different languages, different communities, different stories. Help us to learn not just from books but from each other. Amen.”</a:t>
            </a:r>
            <a:endParaRPr lang="en-IN" sz="3200" dirty="0">
              <a:effectLst/>
              <a:latin typeface="Calibri" panose="020F0502020204030204" pitchFamily="34" charset="0"/>
              <a:ea typeface="Calibri" panose="020F0502020204030204" pitchFamily="34" charset="0"/>
            </a:endParaRPr>
          </a:p>
          <a:p>
            <a:pPr>
              <a:spcAft>
                <a:spcPts val="200"/>
              </a:spcAft>
              <a:buNone/>
            </a:pPr>
            <a:r>
              <a:rPr lang="en-IN" sz="3200" dirty="0">
                <a:effectLst/>
                <a:latin typeface="Times New Roman" panose="02020603050405020304" pitchFamily="18" charset="0"/>
                <a:ea typeface="Calibri" panose="020F0502020204030204" pitchFamily="34" charset="0"/>
              </a:rPr>
              <a:t> </a:t>
            </a:r>
            <a:endParaRPr lang="en-IN" sz="3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25160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6F5AA5-E13B-E3C9-FB96-2C705E7C7714}"/>
              </a:ext>
            </a:extLst>
          </p:cNvPr>
          <p:cNvSpPr txBox="1"/>
          <p:nvPr/>
        </p:nvSpPr>
        <p:spPr>
          <a:xfrm>
            <a:off x="928253" y="1231030"/>
            <a:ext cx="10723419" cy="2580194"/>
          </a:xfrm>
          <a:prstGeom prst="rect">
            <a:avLst/>
          </a:prstGeom>
          <a:noFill/>
        </p:spPr>
        <p:txBody>
          <a:bodyPr wrap="square">
            <a:spAutoFit/>
          </a:bodyPr>
          <a:lstStyle/>
          <a:p>
            <a:pPr>
              <a:spcBef>
                <a:spcPts val="1000"/>
              </a:spcBef>
              <a:spcAft>
                <a:spcPts val="400"/>
              </a:spcAft>
              <a:buNone/>
            </a:pPr>
            <a:r>
              <a:rPr lang="en-IN" sz="2800" b="1" dirty="0">
                <a:effectLst/>
                <a:latin typeface="Times New Roman" panose="02020603050405020304" pitchFamily="18" charset="0"/>
              </a:rPr>
              <a:t>Activity 1: The Name-State-Dream Game </a:t>
            </a:r>
          </a:p>
          <a:p>
            <a:pPr>
              <a:spcBef>
                <a:spcPts val="1000"/>
              </a:spcBef>
              <a:spcAft>
                <a:spcPts val="400"/>
              </a:spcAft>
              <a:buNone/>
            </a:pPr>
            <a:r>
              <a:rPr lang="en-IN" sz="2800" dirty="0">
                <a:effectLst/>
                <a:latin typeface="Times New Roman" panose="02020603050405020304" pitchFamily="18" charset="0"/>
                <a:ea typeface="Calibri" panose="020F0502020204030204" pitchFamily="34" charset="0"/>
              </a:rPr>
              <a:t>Each person stands up and says THREE things:</a:t>
            </a:r>
            <a:endParaRPr lang="en-IN" sz="2800" dirty="0">
              <a:effectLst/>
              <a:latin typeface="Calibri" panose="020F0502020204030204" pitchFamily="34" charset="0"/>
              <a:ea typeface="Calibri" panose="020F0502020204030204" pitchFamily="34" charset="0"/>
            </a:endParaRPr>
          </a:p>
          <a:p>
            <a:pPr marL="342900" lvl="0" indent="-342900">
              <a:spcAft>
                <a:spcPts val="400"/>
              </a:spcAft>
              <a:buFont typeface="+mj-lt"/>
              <a:buAutoNum type="arabicPeriod"/>
            </a:pPr>
            <a:r>
              <a:rPr lang="en-IN" sz="2800" dirty="0">
                <a:effectLst/>
                <a:latin typeface="Times New Roman" panose="02020603050405020304" pitchFamily="18" charset="0"/>
                <a:ea typeface="Calibri" panose="020F0502020204030204" pitchFamily="34" charset="0"/>
              </a:rPr>
              <a:t>My name is ______</a:t>
            </a:r>
            <a:endParaRPr lang="en-IN" sz="2800" dirty="0">
              <a:effectLst/>
              <a:latin typeface="Calibri" panose="020F0502020204030204" pitchFamily="34" charset="0"/>
              <a:ea typeface="Calibri" panose="020F0502020204030204" pitchFamily="34" charset="0"/>
            </a:endParaRPr>
          </a:p>
          <a:p>
            <a:pPr marL="342900" lvl="0" indent="-342900">
              <a:spcAft>
                <a:spcPts val="400"/>
              </a:spcAft>
              <a:buFont typeface="+mj-lt"/>
              <a:buAutoNum type="arabicPeriod"/>
            </a:pPr>
            <a:r>
              <a:rPr lang="en-IN" sz="2800" dirty="0">
                <a:effectLst/>
                <a:latin typeface="Times New Roman" panose="02020603050405020304" pitchFamily="18" charset="0"/>
                <a:ea typeface="Calibri" panose="020F0502020204030204" pitchFamily="34" charset="0"/>
              </a:rPr>
              <a:t>I am from ______ (diocese/state)</a:t>
            </a:r>
            <a:endParaRPr lang="en-IN" sz="2800" dirty="0">
              <a:effectLst/>
              <a:latin typeface="Calibri" panose="020F0502020204030204" pitchFamily="34" charset="0"/>
              <a:ea typeface="Calibri" panose="020F0502020204030204" pitchFamily="34" charset="0"/>
            </a:endParaRPr>
          </a:p>
          <a:p>
            <a:pPr marL="342900" lvl="0" indent="-342900">
              <a:spcAft>
                <a:spcPts val="400"/>
              </a:spcAft>
              <a:buFont typeface="+mj-lt"/>
              <a:buAutoNum type="arabicPeriod"/>
            </a:pPr>
            <a:r>
              <a:rPr lang="en-IN" sz="2800" dirty="0">
                <a:effectLst/>
                <a:latin typeface="Times New Roman" panose="02020603050405020304" pitchFamily="18" charset="0"/>
                <a:ea typeface="Calibri" panose="020F0502020204030204" pitchFamily="34" charset="0"/>
              </a:rPr>
              <a:t>My one dream for ministry is ______</a:t>
            </a:r>
            <a:endParaRPr lang="en-IN" sz="2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058819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2856948-48F3-9A2B-03C2-C9AFBF9752B2}"/>
              </a:ext>
            </a:extLst>
          </p:cNvPr>
          <p:cNvSpPr/>
          <p:nvPr/>
        </p:nvSpPr>
        <p:spPr>
          <a:xfrm>
            <a:off x="805041" y="426316"/>
            <a:ext cx="5037607"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What you think Theology is?</a:t>
            </a:r>
            <a:endParaRPr lang="en-US" sz="3450" dirty="0"/>
          </a:p>
        </p:txBody>
      </p:sp>
      <p:sp>
        <p:nvSpPr>
          <p:cNvPr id="7" name="Text 2">
            <a:extLst>
              <a:ext uri="{FF2B5EF4-FFF2-40B4-BE49-F238E27FC236}">
                <a16:creationId xmlns:a16="http://schemas.microsoft.com/office/drawing/2014/main" id="{8A569FEE-2A90-5063-E018-AC3C2FA5E223}"/>
              </a:ext>
            </a:extLst>
          </p:cNvPr>
          <p:cNvSpPr/>
          <p:nvPr/>
        </p:nvSpPr>
        <p:spPr>
          <a:xfrm>
            <a:off x="1427944" y="1870450"/>
            <a:ext cx="3791799" cy="966192"/>
          </a:xfrm>
          <a:prstGeom prst="rect">
            <a:avLst/>
          </a:prstGeom>
          <a:noFill/>
          <a:ln/>
        </p:spPr>
        <p:txBody>
          <a:bodyPr wrap="square" lIns="0" tIns="0" rIns="0" bIns="0" rtlCol="0" anchor="t">
            <a:noAutofit/>
          </a:bodyPr>
          <a:lstStyle/>
          <a:p>
            <a:pPr marL="0" indent="0" algn="l">
              <a:lnSpc>
                <a:spcPct val="133000"/>
              </a:lnSpc>
              <a:buNone/>
            </a:pPr>
            <a:r>
              <a:rPr lang="en-US" sz="2900" b="1" dirty="0">
                <a:solidFill>
                  <a:schemeClr val="accent2">
                    <a:lumMod val="40000"/>
                    <a:lumOff val="60000"/>
                  </a:schemeClr>
                </a:solidFill>
                <a:latin typeface="Fira Sans" pitchFamily="34" charset="0"/>
                <a:ea typeface="Fira Sans" pitchFamily="34" charset="-122"/>
                <a:cs typeface="Fira Sans" pitchFamily="34" charset="-120"/>
              </a:rPr>
              <a:t>God Study?</a:t>
            </a:r>
            <a:endParaRPr lang="en-US" sz="2900" b="1" dirty="0">
              <a:solidFill>
                <a:schemeClr val="accent2">
                  <a:lumMod val="40000"/>
                  <a:lumOff val="60000"/>
                </a:schemeClr>
              </a:solidFill>
            </a:endParaRPr>
          </a:p>
        </p:txBody>
      </p:sp>
      <p:sp>
        <p:nvSpPr>
          <p:cNvPr id="11" name="Text 4">
            <a:extLst>
              <a:ext uri="{FF2B5EF4-FFF2-40B4-BE49-F238E27FC236}">
                <a16:creationId xmlns:a16="http://schemas.microsoft.com/office/drawing/2014/main" id="{07279C63-4273-ADFC-D23B-FC9945BAF349}"/>
              </a:ext>
            </a:extLst>
          </p:cNvPr>
          <p:cNvSpPr/>
          <p:nvPr/>
        </p:nvSpPr>
        <p:spPr>
          <a:xfrm>
            <a:off x="8867352" y="5318576"/>
            <a:ext cx="3324648" cy="644128"/>
          </a:xfrm>
          <a:prstGeom prst="rect">
            <a:avLst/>
          </a:prstGeom>
          <a:noFill/>
          <a:ln/>
        </p:spPr>
        <p:txBody>
          <a:bodyPr wrap="square" lIns="0" tIns="0" rIns="0" bIns="0" rtlCol="0" anchor="t">
            <a:noAutofit/>
          </a:bodyPr>
          <a:lstStyle/>
          <a:p>
            <a:pPr marL="0" indent="0" algn="l">
              <a:lnSpc>
                <a:spcPct val="133000"/>
              </a:lnSpc>
              <a:buNone/>
            </a:pPr>
            <a:r>
              <a:rPr lang="en-US" sz="2900" b="1" dirty="0">
                <a:solidFill>
                  <a:schemeClr val="accent2">
                    <a:lumMod val="40000"/>
                    <a:lumOff val="60000"/>
                  </a:schemeClr>
                </a:solidFill>
                <a:latin typeface="Fira Sans" pitchFamily="34" charset="0"/>
                <a:ea typeface="Fira Sans" pitchFamily="34" charset="-122"/>
                <a:cs typeface="Fira Sans" pitchFamily="34" charset="-120"/>
              </a:rPr>
              <a:t>Tradition?</a:t>
            </a:r>
            <a:endParaRPr lang="en-US" sz="2900" b="1" dirty="0">
              <a:solidFill>
                <a:schemeClr val="accent2">
                  <a:lumMod val="40000"/>
                  <a:lumOff val="60000"/>
                </a:schemeClr>
              </a:solidFill>
            </a:endParaRPr>
          </a:p>
        </p:txBody>
      </p:sp>
      <p:sp>
        <p:nvSpPr>
          <p:cNvPr id="15" name="Text 6">
            <a:extLst>
              <a:ext uri="{FF2B5EF4-FFF2-40B4-BE49-F238E27FC236}">
                <a16:creationId xmlns:a16="http://schemas.microsoft.com/office/drawing/2014/main" id="{C22C79D5-A0F6-EAA3-4EE9-FCEF16146C27}"/>
              </a:ext>
            </a:extLst>
          </p:cNvPr>
          <p:cNvSpPr/>
          <p:nvPr/>
        </p:nvSpPr>
        <p:spPr>
          <a:xfrm>
            <a:off x="6096000" y="3230166"/>
            <a:ext cx="3073828" cy="966192"/>
          </a:xfrm>
          <a:prstGeom prst="rect">
            <a:avLst/>
          </a:prstGeom>
          <a:noFill/>
          <a:ln/>
        </p:spPr>
        <p:txBody>
          <a:bodyPr wrap="square" lIns="0" tIns="0" rIns="0" bIns="0" rtlCol="0" anchor="t">
            <a:noAutofit/>
          </a:bodyPr>
          <a:lstStyle/>
          <a:p>
            <a:pPr marL="0" indent="0" algn="l">
              <a:lnSpc>
                <a:spcPct val="133000"/>
              </a:lnSpc>
              <a:buNone/>
            </a:pPr>
            <a:r>
              <a:rPr lang="en-US" sz="2900" b="1" dirty="0">
                <a:solidFill>
                  <a:schemeClr val="accent2">
                    <a:lumMod val="40000"/>
                    <a:lumOff val="60000"/>
                  </a:schemeClr>
                </a:solidFill>
                <a:latin typeface="Fira Sans" pitchFamily="34" charset="0"/>
                <a:ea typeface="Fira Sans" pitchFamily="34" charset="-122"/>
                <a:cs typeface="Fira Sans" pitchFamily="34" charset="-120"/>
              </a:rPr>
              <a:t>Bible Study?</a:t>
            </a:r>
            <a:endParaRPr lang="en-US" sz="2900" b="1" dirty="0">
              <a:solidFill>
                <a:schemeClr val="accent2">
                  <a:lumMod val="40000"/>
                  <a:lumOff val="60000"/>
                </a:schemeClr>
              </a:solidFill>
            </a:endParaRPr>
          </a:p>
        </p:txBody>
      </p:sp>
    </p:spTree>
    <p:extLst>
      <p:ext uri="{BB962C8B-B14F-4D97-AF65-F5344CB8AC3E}">
        <p14:creationId xmlns:p14="http://schemas.microsoft.com/office/powerpoint/2010/main" val="228508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426316"/>
            <a:ext cx="5037607"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Objectives</a:t>
            </a:r>
            <a:endParaRPr lang="en-US" sz="3450" dirty="0"/>
          </a:p>
        </p:txBody>
      </p:sp>
      <p:sp>
        <p:nvSpPr>
          <p:cNvPr id="3" name="Shape 1"/>
          <p:cNvSpPr/>
          <p:nvPr/>
        </p:nvSpPr>
        <p:spPr>
          <a:xfrm>
            <a:off x="805041" y="1326871"/>
            <a:ext cx="452823" cy="452834"/>
          </a:xfrm>
          <a:prstGeom prst="roundRect">
            <a:avLst>
              <a:gd name="adj" fmla="val 18669"/>
            </a:avLst>
          </a:prstGeom>
          <a:solidFill>
            <a:srgbClr val="FFE6CC"/>
          </a:solidFill>
          <a:ln w="6350">
            <a:solidFill>
              <a:srgbClr val="E5CCB2"/>
            </a:solidFill>
            <a:prstDash val="solid"/>
          </a:ln>
        </p:spPr>
        <p:txBody>
          <a:bodyPr/>
          <a:lstStyle/>
          <a:p>
            <a:endParaRPr lang="en-IN" sz="2900"/>
          </a:p>
        </p:txBody>
      </p:sp>
      <p:sp>
        <p:nvSpPr>
          <p:cNvPr id="4" name="Text 2"/>
          <p:cNvSpPr/>
          <p:nvPr/>
        </p:nvSpPr>
        <p:spPr>
          <a:xfrm>
            <a:off x="1459073" y="1219286"/>
            <a:ext cx="10400417" cy="966192"/>
          </a:xfrm>
          <a:prstGeom prst="rect">
            <a:avLst/>
          </a:prstGeom>
          <a:noFill/>
          <a:ln/>
        </p:spPr>
        <p:txBody>
          <a:bodyPr wrap="square" lIns="0" tIns="0" rIns="0" bIns="0" rtlCol="0" anchor="t">
            <a:noAutofit/>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Context: Pain, Poverty and Positionality</a:t>
            </a:r>
          </a:p>
          <a:p>
            <a:pPr marL="0" indent="0" algn="l">
              <a:lnSpc>
                <a:spcPct val="133000"/>
              </a:lnSpc>
              <a:buNone/>
            </a:pPr>
            <a:r>
              <a:rPr lang="en-US" sz="2400" dirty="0">
                <a:solidFill>
                  <a:srgbClr val="000000"/>
                </a:solidFill>
                <a:latin typeface="Fira Sans" pitchFamily="34" charset="0"/>
                <a:ea typeface="Fira Sans" pitchFamily="34" charset="-122"/>
                <a:cs typeface="Fira Sans" pitchFamily="34" charset="-120"/>
              </a:rPr>
              <a:t>Our Context, My Context: diversity of tribal, Dalit, urban, and rural contexts in the room</a:t>
            </a:r>
            <a:endParaRPr lang="en-US" sz="2400" dirty="0"/>
          </a:p>
        </p:txBody>
      </p:sp>
      <p:sp>
        <p:nvSpPr>
          <p:cNvPr id="5" name="Shape 3"/>
          <p:cNvSpPr/>
          <p:nvPr/>
        </p:nvSpPr>
        <p:spPr>
          <a:xfrm>
            <a:off x="805041" y="4318414"/>
            <a:ext cx="452823" cy="452834"/>
          </a:xfrm>
          <a:prstGeom prst="roundRect">
            <a:avLst>
              <a:gd name="adj" fmla="val 18669"/>
            </a:avLst>
          </a:prstGeom>
          <a:solidFill>
            <a:srgbClr val="FFE6CC"/>
          </a:solidFill>
          <a:ln w="6350">
            <a:solidFill>
              <a:srgbClr val="E5CCB2"/>
            </a:solidFill>
            <a:prstDash val="solid"/>
          </a:ln>
        </p:spPr>
        <p:txBody>
          <a:bodyPr/>
          <a:lstStyle/>
          <a:p>
            <a:endParaRPr lang="en-IN" sz="2900"/>
          </a:p>
        </p:txBody>
      </p:sp>
      <p:sp>
        <p:nvSpPr>
          <p:cNvPr id="6" name="Text 4"/>
          <p:cNvSpPr/>
          <p:nvPr/>
        </p:nvSpPr>
        <p:spPr>
          <a:xfrm>
            <a:off x="1459074" y="4318414"/>
            <a:ext cx="10271553" cy="1209554"/>
          </a:xfrm>
          <a:prstGeom prst="rect">
            <a:avLst/>
          </a:prstGeom>
          <a:noFill/>
          <a:ln/>
        </p:spPr>
        <p:txBody>
          <a:bodyPr wrap="square" lIns="0" tIns="0" rIns="0" bIns="0" rtlCol="0" anchor="t">
            <a:noAutofit/>
          </a:bodyPr>
          <a:lstStyle/>
          <a:p>
            <a:pPr>
              <a:lnSpc>
                <a:spcPct val="133000"/>
              </a:lnSpc>
            </a:pPr>
            <a:r>
              <a:rPr lang="en-IN" sz="2600" b="1" dirty="0">
                <a:latin typeface="Fira Sans" panose="020B0503050000020004" pitchFamily="34" charset="0"/>
              </a:rPr>
              <a:t>Praxis, People, Place</a:t>
            </a:r>
          </a:p>
          <a:p>
            <a:pPr>
              <a:lnSpc>
                <a:spcPct val="133000"/>
              </a:lnSpc>
            </a:pPr>
            <a:r>
              <a:rPr lang="en-US" sz="2600" dirty="0">
                <a:solidFill>
                  <a:srgbClr val="000000"/>
                </a:solidFill>
                <a:latin typeface="Fira Sans" panose="020B0503050000020004" pitchFamily="34" charset="0"/>
                <a:ea typeface="Fira Sans" pitchFamily="34" charset="-122"/>
                <a:cs typeface="Fira Sans" pitchFamily="34" charset="-120"/>
              </a:rPr>
              <a:t>Theology begins with life, not books</a:t>
            </a:r>
            <a:endParaRPr lang="en-US" sz="2600" dirty="0">
              <a:latin typeface="Fira Sans" panose="020B0503050000020004" pitchFamily="34" charset="0"/>
            </a:endParaRPr>
          </a:p>
        </p:txBody>
      </p:sp>
      <p:sp>
        <p:nvSpPr>
          <p:cNvPr id="7" name="Shape 5"/>
          <p:cNvSpPr/>
          <p:nvPr/>
        </p:nvSpPr>
        <p:spPr>
          <a:xfrm>
            <a:off x="779553" y="2848687"/>
            <a:ext cx="452824" cy="452834"/>
          </a:xfrm>
          <a:prstGeom prst="roundRect">
            <a:avLst>
              <a:gd name="adj" fmla="val 18669"/>
            </a:avLst>
          </a:prstGeom>
          <a:solidFill>
            <a:srgbClr val="FFE6CC"/>
          </a:solidFill>
          <a:ln w="6350">
            <a:solidFill>
              <a:srgbClr val="E5CCB2"/>
            </a:solidFill>
            <a:prstDash val="solid"/>
          </a:ln>
        </p:spPr>
        <p:txBody>
          <a:bodyPr/>
          <a:lstStyle/>
          <a:p>
            <a:endParaRPr lang="en-IN" sz="2900"/>
          </a:p>
        </p:txBody>
      </p:sp>
      <p:sp>
        <p:nvSpPr>
          <p:cNvPr id="8" name="Text 6"/>
          <p:cNvSpPr/>
          <p:nvPr/>
        </p:nvSpPr>
        <p:spPr>
          <a:xfrm>
            <a:off x="1449392" y="2712704"/>
            <a:ext cx="10271553" cy="966192"/>
          </a:xfrm>
          <a:prstGeom prst="rect">
            <a:avLst/>
          </a:prstGeom>
          <a:noFill/>
          <a:ln/>
        </p:spPr>
        <p:txBody>
          <a:bodyPr wrap="square" lIns="0" tIns="0" rIns="0" bIns="0" rtlCol="0" anchor="t">
            <a:noAutofit/>
          </a:bodyPr>
          <a:lstStyle/>
          <a:p>
            <a:pPr>
              <a:lnSpc>
                <a:spcPct val="133000"/>
              </a:lnSpc>
            </a:pPr>
            <a:r>
              <a:rPr lang="en-IN" sz="2600" b="1" dirty="0">
                <a:latin typeface="Fira Sans" panose="020B0503050000020004" pitchFamily="34" charset="0"/>
              </a:rPr>
              <a:t>Presence, Patience, Permission,</a:t>
            </a:r>
          </a:p>
          <a:p>
            <a:pPr>
              <a:lnSpc>
                <a:spcPct val="133000"/>
              </a:lnSpc>
            </a:pPr>
            <a:r>
              <a:rPr lang="en-US" sz="2600" dirty="0">
                <a:solidFill>
                  <a:srgbClr val="000000"/>
                </a:solidFill>
                <a:latin typeface="Fira Sans" panose="020B0503050000020004" pitchFamily="34" charset="0"/>
                <a:ea typeface="Fira Sans" pitchFamily="34" charset="-122"/>
                <a:cs typeface="Fira Sans" pitchFamily="34" charset="-120"/>
              </a:rPr>
              <a:t>Build community trust for honest conversation.</a:t>
            </a:r>
            <a:endParaRPr lang="en-US" sz="2600" dirty="0">
              <a:latin typeface="Fira Sans" panose="020B05030500000200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558304"/>
            <a:ext cx="4373453" cy="470495"/>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txBody>
          <a:bodyPr/>
          <a:lstStyle/>
          <a:p>
            <a:endParaRPr lang="en-IN"/>
          </a:p>
        </p:txBody>
      </p:sp>
      <p:sp>
        <p:nvSpPr>
          <p:cNvPr id="4" name="Shape 2"/>
          <p:cNvSpPr/>
          <p:nvPr/>
        </p:nvSpPr>
        <p:spPr>
          <a:xfrm>
            <a:off x="5409221" y="1502470"/>
            <a:ext cx="513246" cy="19050"/>
          </a:xfrm>
          <a:prstGeom prst="roundRect">
            <a:avLst>
              <a:gd name="adj" fmla="val 377198"/>
            </a:avLst>
          </a:prstGeom>
          <a:solidFill>
            <a:srgbClr val="E5CCB2"/>
          </a:solidFill>
          <a:ln/>
        </p:spPr>
        <p:txBody>
          <a:bodyPr/>
          <a:lstStyle/>
          <a:p>
            <a:endParaRPr lang="en-IN"/>
          </a:p>
        </p:txBody>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6" name="Text 4"/>
          <p:cNvSpPr/>
          <p:nvPr/>
        </p:nvSpPr>
        <p:spPr>
          <a:xfrm>
            <a:off x="5982890" y="1370856"/>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8" name="Text 6"/>
          <p:cNvSpPr/>
          <p:nvPr/>
        </p:nvSpPr>
        <p:spPr>
          <a:xfrm>
            <a:off x="1007918" y="1256852"/>
            <a:ext cx="4201580" cy="887909"/>
          </a:xfrm>
          <a:prstGeom prst="rect">
            <a:avLst/>
          </a:prstGeom>
          <a:noFill/>
          <a:ln/>
        </p:spPr>
        <p:txBody>
          <a:bodyPr wrap="square" lIns="0" tIns="0" rIns="0" bIns="0" rtlCol="0" anchor="t">
            <a:normAutofit/>
          </a:bodyPr>
          <a:lstStyle/>
          <a:p>
            <a:pPr marL="0" indent="0" algn="r">
              <a:lnSpc>
                <a:spcPct val="123000"/>
              </a:lnSpc>
              <a:buNone/>
            </a:pPr>
            <a:r>
              <a:rPr lang="en-US" sz="2000" b="1" dirty="0">
                <a:solidFill>
                  <a:srgbClr val="000000"/>
                </a:solidFill>
                <a:latin typeface="Fira Sans" pitchFamily="34" charset="0"/>
                <a:ea typeface="Fira Sans" pitchFamily="34" charset="-122"/>
                <a:cs typeface="Fira Sans" pitchFamily="34" charset="-120"/>
              </a:rPr>
              <a:t>Ice-Breaker Game: "My Name, My Place, My People's Pain"</a:t>
            </a:r>
            <a:endParaRPr lang="en-US" sz="2000" b="1" dirty="0"/>
          </a:p>
        </p:txBody>
      </p:sp>
      <p:sp>
        <p:nvSpPr>
          <p:cNvPr id="9" name="Shape 7"/>
          <p:cNvSpPr/>
          <p:nvPr/>
        </p:nvSpPr>
        <p:spPr>
          <a:xfrm>
            <a:off x="6269228" y="2477591"/>
            <a:ext cx="513246" cy="19050"/>
          </a:xfrm>
          <a:prstGeom prst="roundRect">
            <a:avLst>
              <a:gd name="adj" fmla="val 377198"/>
            </a:avLst>
          </a:prstGeom>
          <a:solidFill>
            <a:srgbClr val="E5CCB2"/>
          </a:solidFill>
          <a:ln/>
        </p:spPr>
        <p:txBody>
          <a:bodyPr/>
          <a:lstStyle/>
          <a:p>
            <a:endParaRPr lang="en-IN"/>
          </a:p>
        </p:txBody>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11" name="Text 9"/>
          <p:cNvSpPr/>
          <p:nvPr/>
        </p:nvSpPr>
        <p:spPr>
          <a:xfrm>
            <a:off x="5982890" y="2345978"/>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3" name="Text 11"/>
          <p:cNvSpPr/>
          <p:nvPr/>
        </p:nvSpPr>
        <p:spPr>
          <a:xfrm>
            <a:off x="6951189" y="2296734"/>
            <a:ext cx="4435463" cy="679847"/>
          </a:xfrm>
          <a:prstGeom prst="rect">
            <a:avLst/>
          </a:prstGeom>
          <a:noFill/>
          <a:ln/>
        </p:spPr>
        <p:txBody>
          <a:bodyPr wrap="none" lIns="0" tIns="0" rIns="0" bIns="0" rtlCol="0" anchor="t"/>
          <a:lstStyle/>
          <a:p>
            <a:pPr marL="0" indent="0" algn="l">
              <a:lnSpc>
                <a:spcPct val="123000"/>
              </a:lnSpc>
              <a:buNone/>
            </a:pPr>
            <a:r>
              <a:rPr lang="en-US" b="1" dirty="0">
                <a:solidFill>
                  <a:srgbClr val="000000"/>
                </a:solidFill>
                <a:latin typeface="Fira Sans" pitchFamily="34" charset="0"/>
                <a:ea typeface="Fira Sans" pitchFamily="34" charset="-122"/>
                <a:cs typeface="Fira Sans" pitchFamily="34" charset="-120"/>
              </a:rPr>
              <a:t>Theology begins with life — core input</a:t>
            </a:r>
            <a:endParaRPr lang="en-US" b="1" dirty="0"/>
          </a:p>
        </p:txBody>
      </p:sp>
      <p:sp>
        <p:nvSpPr>
          <p:cNvPr id="14" name="Shape 12"/>
          <p:cNvSpPr/>
          <p:nvPr/>
        </p:nvSpPr>
        <p:spPr>
          <a:xfrm>
            <a:off x="5409221" y="3336727"/>
            <a:ext cx="513246" cy="19050"/>
          </a:xfrm>
          <a:prstGeom prst="roundRect">
            <a:avLst>
              <a:gd name="adj" fmla="val 377198"/>
            </a:avLst>
          </a:prstGeom>
          <a:solidFill>
            <a:srgbClr val="E5CCB2"/>
          </a:solidFill>
          <a:ln/>
        </p:spPr>
        <p:txBody>
          <a:bodyPr/>
          <a:lstStyle/>
          <a:p>
            <a:endParaRPr lang="en-IN"/>
          </a:p>
        </p:txBody>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16" name="Text 14"/>
          <p:cNvSpPr/>
          <p:nvPr/>
        </p:nvSpPr>
        <p:spPr>
          <a:xfrm>
            <a:off x="5982890" y="3205113"/>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8" name="Text 16"/>
          <p:cNvSpPr/>
          <p:nvPr/>
        </p:nvSpPr>
        <p:spPr>
          <a:xfrm>
            <a:off x="774035" y="3175893"/>
            <a:ext cx="4435463" cy="253107"/>
          </a:xfrm>
          <a:prstGeom prst="rect">
            <a:avLst/>
          </a:prstGeom>
          <a:noFill/>
          <a:ln/>
        </p:spPr>
        <p:txBody>
          <a:bodyPr wrap="none" lIns="0" tIns="0" rIns="0" bIns="0" rtlCol="0" anchor="t"/>
          <a:lstStyle/>
          <a:p>
            <a:pPr marL="0" indent="0" algn="r">
              <a:lnSpc>
                <a:spcPct val="123000"/>
              </a:lnSpc>
              <a:buNone/>
            </a:pPr>
            <a:r>
              <a:rPr lang="en-US" b="1" dirty="0">
                <a:solidFill>
                  <a:srgbClr val="000000"/>
                </a:solidFill>
                <a:latin typeface="Fira Sans" pitchFamily="34" charset="0"/>
                <a:ea typeface="Fira Sans" pitchFamily="34" charset="-122"/>
                <a:cs typeface="Fira Sans" pitchFamily="34" charset="-120"/>
              </a:rPr>
              <a:t>The Elephant Story — group discussion</a:t>
            </a:r>
            <a:endParaRPr lang="en-US" b="1" dirty="0"/>
          </a:p>
        </p:txBody>
      </p:sp>
      <p:sp>
        <p:nvSpPr>
          <p:cNvPr id="19" name="Shape 17"/>
          <p:cNvSpPr/>
          <p:nvPr/>
        </p:nvSpPr>
        <p:spPr>
          <a:xfrm>
            <a:off x="6269228" y="4195862"/>
            <a:ext cx="513246" cy="19050"/>
          </a:xfrm>
          <a:prstGeom prst="roundRect">
            <a:avLst>
              <a:gd name="adj" fmla="val 377198"/>
            </a:avLst>
          </a:prstGeom>
          <a:solidFill>
            <a:srgbClr val="E5CCB2"/>
          </a:solidFill>
          <a:ln/>
        </p:spPr>
        <p:txBody>
          <a:bodyPr/>
          <a:lstStyle/>
          <a:p>
            <a:endParaRPr lang="en-IN"/>
          </a:p>
        </p:txBody>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21" name="Text 19"/>
          <p:cNvSpPr/>
          <p:nvPr/>
        </p:nvSpPr>
        <p:spPr>
          <a:xfrm>
            <a:off x="5982890" y="4064248"/>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3" name="Text 21"/>
          <p:cNvSpPr/>
          <p:nvPr/>
        </p:nvSpPr>
        <p:spPr>
          <a:xfrm>
            <a:off x="6951190" y="4015311"/>
            <a:ext cx="4435463" cy="253107"/>
          </a:xfrm>
          <a:prstGeom prst="rect">
            <a:avLst/>
          </a:prstGeom>
          <a:noFill/>
          <a:ln/>
        </p:spPr>
        <p:txBody>
          <a:bodyPr wrap="none" lIns="0" tIns="0" rIns="0" bIns="0" rtlCol="0" anchor="t"/>
          <a:lstStyle/>
          <a:p>
            <a:pPr marL="0" indent="0" algn="l">
              <a:lnSpc>
                <a:spcPct val="123000"/>
              </a:lnSpc>
              <a:buNone/>
            </a:pPr>
            <a:r>
              <a:rPr lang="en-US" b="1" dirty="0">
                <a:solidFill>
                  <a:srgbClr val="000000"/>
                </a:solidFill>
                <a:latin typeface="Fira Sans" pitchFamily="34" charset="0"/>
                <a:ea typeface="Fira Sans" pitchFamily="34" charset="-122"/>
                <a:cs typeface="Fira Sans" pitchFamily="34" charset="-120"/>
              </a:rPr>
              <a:t>Questions + open sharing</a:t>
            </a:r>
            <a:endParaRPr lang="en-US" b="1" dirty="0"/>
          </a:p>
        </p:txBody>
      </p:sp>
      <p:sp>
        <p:nvSpPr>
          <p:cNvPr id="24" name="Shape 22"/>
          <p:cNvSpPr/>
          <p:nvPr/>
        </p:nvSpPr>
        <p:spPr>
          <a:xfrm>
            <a:off x="5409221" y="5054997"/>
            <a:ext cx="513246" cy="19050"/>
          </a:xfrm>
          <a:prstGeom prst="roundRect">
            <a:avLst>
              <a:gd name="adj" fmla="val 377198"/>
            </a:avLst>
          </a:prstGeom>
          <a:solidFill>
            <a:srgbClr val="E5CCB2"/>
          </a:solidFill>
          <a:ln/>
        </p:spPr>
        <p:txBody>
          <a:bodyPr/>
          <a:lstStyle/>
          <a:p>
            <a:endParaRPr lang="en-IN"/>
          </a:p>
        </p:txBody>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txBody>
          <a:bodyPr/>
          <a:lstStyle/>
          <a:p>
            <a:endParaRPr lang="en-IN"/>
          </a:p>
        </p:txBody>
      </p:sp>
      <p:sp>
        <p:nvSpPr>
          <p:cNvPr id="26" name="Text 24"/>
          <p:cNvSpPr/>
          <p:nvPr/>
        </p:nvSpPr>
        <p:spPr>
          <a:xfrm>
            <a:off x="5982890" y="4923383"/>
            <a:ext cx="225816" cy="282277"/>
          </a:xfrm>
          <a:prstGeom prst="rect">
            <a:avLst/>
          </a:prstGeom>
          <a:noFill/>
          <a:ln/>
        </p:spPr>
        <p:txBody>
          <a:bodyPr wrap="none" lIns="0" tIns="0" rIns="0" bIns="0" rtlCol="0" anchor="ctr"/>
          <a:lstStyle/>
          <a:p>
            <a:pPr marL="0" indent="0" algn="ctr">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392807"/>
            <a:ext cx="9531508" cy="55979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The Ice-Breaker Game (10 minutes)</a:t>
            </a:r>
            <a:endParaRPr lang="en-US" sz="3450" dirty="0"/>
          </a:p>
        </p:txBody>
      </p:sp>
      <p:sp>
        <p:nvSpPr>
          <p:cNvPr id="3" name="Text 1"/>
          <p:cNvSpPr/>
          <p:nvPr/>
        </p:nvSpPr>
        <p:spPr>
          <a:xfrm>
            <a:off x="887340" y="1150540"/>
            <a:ext cx="9366909" cy="442714"/>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GAME: "My Name, My Place, My People's Pain"</a:t>
            </a:r>
            <a:endParaRPr lang="en-US" sz="2750" dirty="0"/>
          </a:p>
        </p:txBody>
      </p:sp>
      <p:sp>
        <p:nvSpPr>
          <p:cNvPr id="4" name="Text 2"/>
          <p:cNvSpPr/>
          <p:nvPr/>
        </p:nvSpPr>
        <p:spPr>
          <a:xfrm>
            <a:off x="887340" y="1842337"/>
            <a:ext cx="11191198" cy="559791"/>
          </a:xfrm>
          <a:prstGeom prst="rect">
            <a:avLst/>
          </a:prstGeom>
          <a:noFill/>
          <a:ln/>
        </p:spPr>
        <p:txBody>
          <a:bodyPr wrap="none" lIns="0" tIns="0" rIns="0" bIns="0" rtlCol="0" anchor="t"/>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Stand and give exactly three pieces of information:</a:t>
            </a:r>
            <a:endParaRPr lang="en-US" sz="2400" b="1" dirty="0"/>
          </a:p>
        </p:txBody>
      </p:sp>
      <p:sp>
        <p:nvSpPr>
          <p:cNvPr id="5" name="Text 3"/>
          <p:cNvSpPr/>
          <p:nvPr/>
        </p:nvSpPr>
        <p:spPr>
          <a:xfrm>
            <a:off x="887340" y="2692300"/>
            <a:ext cx="11191198" cy="1561045"/>
          </a:xfrm>
          <a:prstGeom prst="rect">
            <a:avLst/>
          </a:prstGeom>
          <a:noFill/>
          <a:ln/>
        </p:spPr>
        <p:txBody>
          <a:bodyPr wrap="square" lIns="0" tIns="0" rIns="0" bIns="0" rtlCol="0" anchor="t">
            <a:normAutofit/>
          </a:bodyPr>
          <a:lstStyle/>
          <a:p>
            <a:pPr marL="314960" indent="-314960" algn="l">
              <a:lnSpc>
                <a:spcPct val="133000"/>
              </a:lnSpc>
              <a:buSzPct val="100000"/>
              <a:buFont typeface="+mj-lt"/>
              <a:buAutoNum type="arabicPeriod"/>
            </a:pPr>
            <a:r>
              <a:rPr lang="en-US" sz="2400" b="1" dirty="0">
                <a:solidFill>
                  <a:srgbClr val="000000"/>
                </a:solidFill>
                <a:latin typeface="Fira Sans" pitchFamily="34" charset="0"/>
                <a:ea typeface="Fira Sans" pitchFamily="34" charset="-122"/>
                <a:cs typeface="Fira Sans" pitchFamily="34" charset="-120"/>
              </a:rPr>
              <a:t>Your Name</a:t>
            </a:r>
            <a:endParaRPr lang="en-US" sz="2400" b="1" dirty="0"/>
          </a:p>
          <a:p>
            <a:pPr marL="314960" indent="-314960" algn="l">
              <a:lnSpc>
                <a:spcPct val="133000"/>
              </a:lnSpc>
              <a:buSzPct val="100000"/>
              <a:buFont typeface="+mj-lt"/>
              <a:buAutoNum type="arabicPeriod" startAt="2"/>
            </a:pPr>
            <a:r>
              <a:rPr lang="en-US" sz="2400" b="1" dirty="0">
                <a:solidFill>
                  <a:srgbClr val="000000"/>
                </a:solidFill>
                <a:latin typeface="Fira Sans" pitchFamily="34" charset="0"/>
                <a:ea typeface="Fira Sans" pitchFamily="34" charset="-122"/>
                <a:cs typeface="Fira Sans" pitchFamily="34" charset="-120"/>
              </a:rPr>
              <a:t>Your home district diocese congregation and state</a:t>
            </a:r>
            <a:endParaRPr lang="en-US" sz="2400" b="1" dirty="0"/>
          </a:p>
          <a:p>
            <a:pPr marL="314960" indent="-314960" algn="l">
              <a:lnSpc>
                <a:spcPct val="133000"/>
              </a:lnSpc>
              <a:buSzPct val="100000"/>
              <a:buFont typeface="+mj-lt"/>
              <a:buAutoNum type="arabicPeriod" startAt="3"/>
            </a:pPr>
            <a:r>
              <a:rPr lang="en-US" sz="2400" b="1" dirty="0">
                <a:solidFill>
                  <a:srgbClr val="000000"/>
                </a:solidFill>
                <a:latin typeface="Fira Sans" pitchFamily="34" charset="0"/>
                <a:ea typeface="Fira Sans" pitchFamily="34" charset="-122"/>
                <a:cs typeface="Fira Sans" pitchFamily="34" charset="-120"/>
              </a:rPr>
              <a:t>One thing your village, family, or community struggles with — in ONE sentence</a:t>
            </a:r>
            <a:endParaRPr lang="en-US" sz="2400" b="1" dirty="0"/>
          </a:p>
        </p:txBody>
      </p:sp>
      <p:sp>
        <p:nvSpPr>
          <p:cNvPr id="6" name="Text 4"/>
          <p:cNvSpPr/>
          <p:nvPr/>
        </p:nvSpPr>
        <p:spPr>
          <a:xfrm>
            <a:off x="429491" y="4455873"/>
            <a:ext cx="11526982" cy="2249727"/>
          </a:xfrm>
          <a:prstGeom prst="rect">
            <a:avLst/>
          </a:prstGeom>
          <a:noFill/>
          <a:ln/>
        </p:spPr>
        <p:txBody>
          <a:bodyPr wrap="square" lIns="0" tIns="0" rIns="0" bIns="0" rtlCol="0" anchor="t">
            <a:normAutofit/>
          </a:bodyPr>
          <a:lstStyle/>
          <a:p>
            <a:pPr marL="0" indent="0" algn="ctr">
              <a:lnSpc>
                <a:spcPct val="133000"/>
              </a:lnSpc>
              <a:buNone/>
            </a:pPr>
            <a:r>
              <a:rPr lang="en-US" b="1" dirty="0">
                <a:solidFill>
                  <a:srgbClr val="000000"/>
                </a:solidFill>
                <a:latin typeface="Fira Sans" pitchFamily="34" charset="0"/>
                <a:ea typeface="Fira Sans" pitchFamily="34" charset="-122"/>
                <a:cs typeface="Fira Sans" pitchFamily="34" charset="-120"/>
              </a:rPr>
              <a:t>Write </a:t>
            </a:r>
          </a:p>
          <a:p>
            <a:pPr marL="0" indent="0" algn="ctr">
              <a:lnSpc>
                <a:spcPct val="133000"/>
              </a:lnSpc>
              <a:buNone/>
            </a:pPr>
            <a:r>
              <a:rPr lang="en-US" b="1" i="1" dirty="0">
                <a:solidFill>
                  <a:srgbClr val="000000"/>
                </a:solidFill>
                <a:latin typeface="Fira Sans" pitchFamily="34" charset="0"/>
                <a:ea typeface="Fira Sans" pitchFamily="34" charset="-122"/>
                <a:cs typeface="Fira Sans" pitchFamily="34" charset="-120"/>
              </a:rPr>
              <a:t>Look at this board. </a:t>
            </a:r>
          </a:p>
          <a:p>
            <a:pPr marL="0" indent="0" algn="ctr">
              <a:lnSpc>
                <a:spcPct val="133000"/>
              </a:lnSpc>
              <a:buNone/>
            </a:pPr>
            <a:r>
              <a:rPr lang="en-US" b="1" i="1" dirty="0">
                <a:solidFill>
                  <a:srgbClr val="000000"/>
                </a:solidFill>
                <a:latin typeface="Fira Sans" pitchFamily="34" charset="0"/>
                <a:ea typeface="Fira Sans" pitchFamily="34" charset="-122"/>
                <a:cs typeface="Fira Sans" pitchFamily="34" charset="-120"/>
              </a:rPr>
              <a:t># a sociology list. </a:t>
            </a:r>
          </a:p>
          <a:p>
            <a:pPr marL="0" indent="0" algn="ctr">
              <a:lnSpc>
                <a:spcPct val="133000"/>
              </a:lnSpc>
              <a:buNone/>
            </a:pPr>
            <a:r>
              <a:rPr lang="en-US" b="1" i="1" dirty="0">
                <a:solidFill>
                  <a:srgbClr val="000000"/>
                </a:solidFill>
                <a:latin typeface="Fira Sans" pitchFamily="34" charset="0"/>
                <a:ea typeface="Fira Sans" pitchFamily="34" charset="-122"/>
                <a:cs typeface="Fira Sans" pitchFamily="34" charset="-120"/>
              </a:rPr>
              <a:t> first page of our theology. </a:t>
            </a:r>
          </a:p>
          <a:p>
            <a:pPr marL="0" indent="0" algn="ctr">
              <a:lnSpc>
                <a:spcPct val="133000"/>
              </a:lnSpc>
              <a:buNone/>
            </a:pPr>
            <a:r>
              <a:rPr lang="en-US" b="1" i="1" dirty="0">
                <a:solidFill>
                  <a:srgbClr val="000000"/>
                </a:solidFill>
                <a:latin typeface="Fira Sans" pitchFamily="34" charset="0"/>
                <a:ea typeface="Fira Sans" pitchFamily="34" charset="-122"/>
                <a:cs typeface="Fira Sans" pitchFamily="34" charset="-120"/>
              </a:rPr>
              <a:t>Everything we study for the next four years is, in some way, the Church's attempt to bring the Good News into conversation with what is written here.</a:t>
            </a:r>
            <a:endParaRPr lang="en-US" b="1" dirty="0"/>
          </a:p>
        </p:txBody>
      </p:sp>
      <p:sp>
        <p:nvSpPr>
          <p:cNvPr id="7" name="Rectangle 6">
            <a:extLst>
              <a:ext uri="{FF2B5EF4-FFF2-40B4-BE49-F238E27FC236}">
                <a16:creationId xmlns:a16="http://schemas.microsoft.com/office/drawing/2014/main" id="{6E38DD12-13F4-1F2F-825C-D529B30DB351}"/>
              </a:ext>
            </a:extLst>
          </p:cNvPr>
          <p:cNvSpPr/>
          <p:nvPr/>
        </p:nvSpPr>
        <p:spPr>
          <a:xfrm>
            <a:off x="0" y="4455873"/>
            <a:ext cx="12192000" cy="2402127"/>
          </a:xfrm>
          <a:prstGeom prst="rect">
            <a:avLst/>
          </a:prstGeom>
          <a:solidFill>
            <a:srgbClr val="996600"/>
          </a:solid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60037"/>
            <a:ext cx="10581613" cy="1106884"/>
          </a:xfrm>
          <a:prstGeom prst="rect">
            <a:avLst/>
          </a:prstGeom>
          <a:noFill/>
          <a:ln/>
        </p:spPr>
        <p:txBody>
          <a:bodyPr wrap="square" lIns="0" tIns="0" rIns="0" bIns="0" rtlCol="0" anchor="t">
            <a:normAutofit/>
          </a:bodyPr>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Theology Begins with Life</a:t>
            </a:r>
            <a:endParaRPr lang="en-US" sz="3450" dirty="0"/>
          </a:p>
        </p:txBody>
      </p:sp>
      <p:sp>
        <p:nvSpPr>
          <p:cNvPr id="3" name="Text 1"/>
          <p:cNvSpPr/>
          <p:nvPr/>
        </p:nvSpPr>
        <p:spPr>
          <a:xfrm>
            <a:off x="831270" y="845127"/>
            <a:ext cx="11137577" cy="4613564"/>
          </a:xfrm>
          <a:prstGeom prst="rect">
            <a:avLst/>
          </a:prstGeom>
          <a:noFill/>
          <a:ln/>
        </p:spPr>
        <p:txBody>
          <a:bodyPr wrap="square" lIns="0" tIns="0" rIns="0" bIns="0" rtlCol="0" anchor="t">
            <a:noAutofit/>
          </a:bodyPr>
          <a:lstStyle/>
          <a:p>
            <a:pPr marL="0" indent="0" algn="just">
              <a:lnSpc>
                <a:spcPct val="133000"/>
              </a:lnSpc>
              <a:spcAft>
                <a:spcPts val="1750"/>
              </a:spcAft>
              <a:buNone/>
            </a:pPr>
            <a:r>
              <a:rPr lang="en-US" sz="2400" b="1" dirty="0">
                <a:solidFill>
                  <a:srgbClr val="000000"/>
                </a:solidFill>
                <a:latin typeface="Fira Sans" pitchFamily="34" charset="0"/>
                <a:ea typeface="Fira Sans" pitchFamily="34" charset="-122"/>
                <a:cs typeface="Fira Sans" pitchFamily="34" charset="-120"/>
              </a:rPr>
              <a:t>Karl Barth </a:t>
            </a:r>
            <a:r>
              <a:rPr lang="en-US" sz="2400" dirty="0">
                <a:solidFill>
                  <a:srgbClr val="000000"/>
                </a:solidFill>
                <a:latin typeface="Fira Sans" pitchFamily="34" charset="0"/>
                <a:ea typeface="Fira Sans" pitchFamily="34" charset="-122"/>
                <a:cs typeface="Fira Sans" pitchFamily="34" charset="-120"/>
              </a:rPr>
              <a:t>famously said the theologian must hold the Bible in one hand and the newspaper in the other. </a:t>
            </a:r>
          </a:p>
          <a:p>
            <a:pPr marL="0" indent="0" algn="just">
              <a:lnSpc>
                <a:spcPct val="133000"/>
              </a:lnSpc>
              <a:spcAft>
                <a:spcPts val="1750"/>
              </a:spcAft>
              <a:buNone/>
            </a:pPr>
            <a:r>
              <a:rPr lang="en-US" sz="2400" dirty="0">
                <a:solidFill>
                  <a:srgbClr val="000000"/>
                </a:solidFill>
                <a:latin typeface="Fira Sans" pitchFamily="34" charset="0"/>
                <a:ea typeface="Fira Sans" pitchFamily="34" charset="-122"/>
                <a:cs typeface="Fira Sans" pitchFamily="34" charset="-120"/>
              </a:rPr>
              <a:t>In India, that newspaper carries stories of caste discrimination, tribal displacement, communal riots, and the quiet suffering of the poor. These are not distractions from theology. They are its </a:t>
            </a:r>
            <a:r>
              <a:rPr lang="en-US" sz="2400" dirty="0">
                <a:solidFill>
                  <a:srgbClr val="000000"/>
                </a:solidFill>
                <a:highlight>
                  <a:srgbClr val="FFFF00"/>
                </a:highlight>
                <a:latin typeface="Fira Sans" pitchFamily="34" charset="0"/>
                <a:ea typeface="Fira Sans" pitchFamily="34" charset="-122"/>
                <a:cs typeface="Fira Sans" pitchFamily="34" charset="-120"/>
              </a:rPr>
              <a:t>raw material.</a:t>
            </a:r>
            <a:endParaRPr lang="en-US" sz="2400" dirty="0">
              <a:highlight>
                <a:srgbClr val="FFFF00"/>
              </a:highlight>
            </a:endParaRPr>
          </a:p>
          <a:p>
            <a:pPr marL="0" indent="0" algn="just">
              <a:lnSpc>
                <a:spcPct val="133000"/>
              </a:lnSpc>
              <a:buNone/>
            </a:pPr>
            <a:r>
              <a:rPr lang="en-US" sz="2400" dirty="0">
                <a:solidFill>
                  <a:srgbClr val="000000"/>
                </a:solidFill>
                <a:highlight>
                  <a:srgbClr val="FFFF00"/>
                </a:highlight>
                <a:latin typeface="Fira Sans" pitchFamily="34" charset="0"/>
                <a:ea typeface="Fira Sans" pitchFamily="34" charset="-122"/>
                <a:cs typeface="Fira Sans" pitchFamily="34" charset="-120"/>
              </a:rPr>
              <a:t>FABC</a:t>
            </a:r>
            <a:r>
              <a:rPr lang="en-US" sz="2400" dirty="0">
                <a:solidFill>
                  <a:srgbClr val="000000"/>
                </a:solidFill>
                <a:latin typeface="Fira Sans" pitchFamily="34" charset="0"/>
                <a:ea typeface="Fira Sans" pitchFamily="34" charset="-122"/>
                <a:cs typeface="Fira Sans" pitchFamily="34" charset="-120"/>
              </a:rPr>
              <a:t> Paper 167 states that local context is a </a:t>
            </a:r>
            <a:r>
              <a:rPr lang="en-US" sz="2400" i="1" dirty="0">
                <a:solidFill>
                  <a:srgbClr val="000000"/>
                </a:solidFill>
                <a:highlight>
                  <a:srgbClr val="FFFF00"/>
                </a:highlight>
                <a:latin typeface="Fira Sans" pitchFamily="34" charset="0"/>
                <a:ea typeface="Fira Sans" pitchFamily="34" charset="-122"/>
                <a:cs typeface="Fira Sans" pitchFamily="34" charset="-120"/>
              </a:rPr>
              <a:t>locus theologicus</a:t>
            </a:r>
            <a:r>
              <a:rPr lang="en-US" sz="2400" dirty="0">
                <a:solidFill>
                  <a:srgbClr val="000000"/>
                </a:solidFill>
                <a:highlight>
                  <a:srgbClr val="FFFF00"/>
                </a:highlight>
                <a:latin typeface="Fira Sans" pitchFamily="34" charset="0"/>
                <a:ea typeface="Fira Sans" pitchFamily="34" charset="-122"/>
                <a:cs typeface="Fira Sans" pitchFamily="34" charset="-120"/>
              </a:rPr>
              <a:t> </a:t>
            </a:r>
            <a:r>
              <a:rPr lang="en-US" sz="2400" dirty="0">
                <a:solidFill>
                  <a:srgbClr val="000000"/>
                </a:solidFill>
                <a:latin typeface="Fira Sans" pitchFamily="34" charset="0"/>
                <a:ea typeface="Fira Sans" pitchFamily="34" charset="-122"/>
                <a:cs typeface="Fira Sans" pitchFamily="34" charset="-120"/>
              </a:rPr>
              <a:t>— a theological source — alongside Scripture and Tradition &amp;…………Experience. </a:t>
            </a:r>
          </a:p>
          <a:p>
            <a:pPr marL="0" indent="0" algn="just">
              <a:lnSpc>
                <a:spcPct val="133000"/>
              </a:lnSpc>
              <a:buNone/>
            </a:pPr>
            <a:endParaRPr lang="en-US" sz="2400" dirty="0">
              <a:solidFill>
                <a:srgbClr val="000000"/>
              </a:solidFill>
              <a:latin typeface="Fira Sans" pitchFamily="34" charset="0"/>
              <a:ea typeface="Fira Sans" pitchFamily="34" charset="-122"/>
              <a:cs typeface="Fira Sans" pitchFamily="34" charset="-120"/>
            </a:endParaRPr>
          </a:p>
          <a:p>
            <a:pPr marL="0" indent="0" algn="just">
              <a:lnSpc>
                <a:spcPct val="133000"/>
              </a:lnSpc>
              <a:buNone/>
            </a:pPr>
            <a:r>
              <a:rPr lang="en-US" sz="2400" b="1" dirty="0">
                <a:solidFill>
                  <a:srgbClr val="000000"/>
                </a:solidFill>
                <a:latin typeface="Fira Sans" pitchFamily="34" charset="0"/>
                <a:ea typeface="Fira Sans" pitchFamily="34" charset="-122"/>
                <a:cs typeface="Fira Sans" pitchFamily="34" charset="-120"/>
              </a:rPr>
              <a:t>This is a bold claim: </a:t>
            </a:r>
            <a:r>
              <a:rPr lang="en-US" sz="2400" dirty="0">
                <a:solidFill>
                  <a:srgbClr val="000000"/>
                </a:solidFill>
                <a:latin typeface="Fira Sans" pitchFamily="34" charset="0"/>
                <a:ea typeface="Fira Sans" pitchFamily="34" charset="-122"/>
                <a:cs typeface="Fira Sans" pitchFamily="34" charset="-120"/>
              </a:rPr>
              <a:t>when you listen to your grandmother's story of being refused water from a well because of her caste, you are not hearing mere sociology. You are standing on holy ground.</a:t>
            </a:r>
            <a:endParaRPr lang="en-US" sz="2400" dirty="0"/>
          </a:p>
        </p:txBody>
      </p:sp>
      <p:pic>
        <p:nvPicPr>
          <p:cNvPr id="5" name="Graphic 4" descr="Newspaper with solid fill">
            <a:extLst>
              <a:ext uri="{FF2B5EF4-FFF2-40B4-BE49-F238E27FC236}">
                <a16:creationId xmlns:a16="http://schemas.microsoft.com/office/drawing/2014/main" id="{39F4835E-8F30-7572-9111-D5B78E6E30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275" y="1952011"/>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110836"/>
            <a:ext cx="12191999" cy="1307063"/>
          </a:xfrm>
          <a:prstGeom prst="rect">
            <a:avLst/>
          </a:prstGeom>
          <a:noFill/>
          <a:ln/>
        </p:spPr>
        <p:txBody>
          <a:bodyPr wrap="square" lIns="0" tIns="0" rIns="0" bIns="0" rtlCol="0" anchor="t">
            <a:normAutofit/>
          </a:bodyPr>
          <a:lstStyle/>
          <a:p>
            <a:pPr marL="0" indent="0" algn="ctr">
              <a:lnSpc>
                <a:spcPct val="104000"/>
              </a:lnSpc>
              <a:buNone/>
            </a:pPr>
            <a:r>
              <a:rPr lang="en-US" sz="3600" b="1" dirty="0"/>
              <a:t>The Parable of the Blind Men and The Elephant</a:t>
            </a:r>
          </a:p>
          <a:p>
            <a:pPr marL="0" indent="0" algn="ctr">
              <a:lnSpc>
                <a:spcPct val="104000"/>
              </a:lnSpc>
              <a:buNone/>
            </a:pPr>
            <a:r>
              <a:rPr lang="en-US" sz="3600" b="1" dirty="0"/>
              <a:t>&amp; Chinese Wisper</a:t>
            </a:r>
          </a:p>
        </p:txBody>
      </p:sp>
      <p:sp>
        <p:nvSpPr>
          <p:cNvPr id="3" name="Text 1"/>
          <p:cNvSpPr/>
          <p:nvPr/>
        </p:nvSpPr>
        <p:spPr>
          <a:xfrm>
            <a:off x="623455" y="1417899"/>
            <a:ext cx="10581613" cy="3329520"/>
          </a:xfrm>
          <a:prstGeom prst="rect">
            <a:avLst/>
          </a:prstGeom>
          <a:noFill/>
          <a:ln/>
        </p:spPr>
        <p:txBody>
          <a:bodyPr wrap="square" lIns="0" tIns="0" rIns="0" bIns="0" rtlCol="0" anchor="t">
            <a:noAutofit/>
          </a:bodyPr>
          <a:lstStyle/>
          <a:p>
            <a:pPr marL="0" indent="0" algn="just">
              <a:lnSpc>
                <a:spcPct val="133000"/>
              </a:lnSpc>
              <a:spcAft>
                <a:spcPts val="1750"/>
              </a:spcAft>
              <a:buNone/>
            </a:pPr>
            <a:r>
              <a:rPr lang="en-US" sz="2000" dirty="0">
                <a:solidFill>
                  <a:srgbClr val="000000"/>
                </a:solidFill>
                <a:latin typeface="Fira Sans" pitchFamily="34" charset="0"/>
                <a:ea typeface="Fira Sans" pitchFamily="34" charset="-122"/>
                <a:cs typeface="Fira Sans" pitchFamily="34" charset="-120"/>
              </a:rPr>
              <a:t>You all know this story. Six blind men touch different parts of an elephant. One says "it is a wall" (the side). Another says "it is a snake" (the trunk). Each is partly right, each partly wrong.</a:t>
            </a:r>
            <a:endParaRPr lang="en-US" sz="2000" dirty="0"/>
          </a:p>
          <a:p>
            <a:pPr marL="0" indent="0" algn="just">
              <a:lnSpc>
                <a:spcPct val="133000"/>
              </a:lnSpc>
              <a:buNone/>
            </a:pPr>
            <a:r>
              <a:rPr lang="en-US" sz="2000" dirty="0">
                <a:solidFill>
                  <a:srgbClr val="000000"/>
                </a:solidFill>
                <a:latin typeface="Fira Sans" pitchFamily="34" charset="0"/>
                <a:ea typeface="Fira Sans" pitchFamily="34" charset="-122"/>
                <a:cs typeface="Fira Sans" pitchFamily="34" charset="-120"/>
              </a:rPr>
              <a:t>The point is not relativism. The elephant is real. </a:t>
            </a:r>
          </a:p>
          <a:p>
            <a:pPr marL="0" indent="0" algn="just">
              <a:lnSpc>
                <a:spcPct val="133000"/>
              </a:lnSpc>
              <a:buNone/>
            </a:pPr>
            <a:endParaRPr lang="en-US" sz="2000" dirty="0">
              <a:solidFill>
                <a:srgbClr val="000000"/>
              </a:solidFill>
              <a:latin typeface="Fira Sans" pitchFamily="34" charset="0"/>
              <a:ea typeface="Fira Sans" pitchFamily="34" charset="-122"/>
              <a:cs typeface="Fira Sans" pitchFamily="34" charset="-120"/>
            </a:endParaRPr>
          </a:p>
          <a:p>
            <a:pPr marL="0" indent="0" algn="just">
              <a:lnSpc>
                <a:spcPct val="133000"/>
              </a:lnSpc>
              <a:buNone/>
            </a:pPr>
            <a:r>
              <a:rPr lang="en-US" sz="2000" dirty="0">
                <a:solidFill>
                  <a:srgbClr val="000000"/>
                </a:solidFill>
                <a:latin typeface="Fira Sans" pitchFamily="34" charset="0"/>
                <a:ea typeface="Fira Sans" pitchFamily="34" charset="-122"/>
                <a:cs typeface="Fira Sans" pitchFamily="34" charset="-120"/>
              </a:rPr>
              <a:t>The point is that no single perspective exhausts the truth. In this room, we have students from different tribes, castes, languages, and traditions of Christianity. Each of you brings a partial but real experience of God. Theology is what happens when we place those partial experiences in conversation with the full Tradition of the Church.</a:t>
            </a:r>
            <a:endParaRPr lang="en-US" sz="2000" dirty="0"/>
          </a:p>
        </p:txBody>
      </p:sp>
      <p:sp>
        <p:nvSpPr>
          <p:cNvPr id="4" name="Shape 2"/>
          <p:cNvSpPr/>
          <p:nvPr/>
        </p:nvSpPr>
        <p:spPr>
          <a:xfrm>
            <a:off x="805041" y="5431037"/>
            <a:ext cx="10581613" cy="804962"/>
          </a:xfrm>
          <a:prstGeom prst="roundRect">
            <a:avLst>
              <a:gd name="adj" fmla="val 10502"/>
            </a:avLst>
          </a:prstGeom>
          <a:solidFill>
            <a:srgbClr val="FFE6CC"/>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006251" y="5722343"/>
            <a:ext cx="251513" cy="201216"/>
          </a:xfrm>
          <a:prstGeom prst="rect">
            <a:avLst/>
          </a:prstGeom>
        </p:spPr>
      </p:pic>
      <p:sp>
        <p:nvSpPr>
          <p:cNvPr id="6" name="Text 3"/>
          <p:cNvSpPr/>
          <p:nvPr/>
        </p:nvSpPr>
        <p:spPr>
          <a:xfrm>
            <a:off x="1458974" y="5575995"/>
            <a:ext cx="10336053" cy="322064"/>
          </a:xfrm>
          <a:prstGeom prst="rect">
            <a:avLst/>
          </a:prstGeom>
          <a:noFill/>
          <a:ln/>
        </p:spPr>
        <p:txBody>
          <a:bodyPr wrap="none" lIns="0" tIns="0" rIns="0" bIns="0" rtlCol="0" anchor="t"/>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Pause here. Let the silence speak.</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2238276"/>
            <a:ext cx="5037607" cy="55979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Light Moment</a:t>
            </a:r>
            <a:endParaRPr lang="en-US" sz="3450" dirty="0"/>
          </a:p>
        </p:txBody>
      </p:sp>
      <p:sp>
        <p:nvSpPr>
          <p:cNvPr id="3" name="Shape 1"/>
          <p:cNvSpPr/>
          <p:nvPr/>
        </p:nvSpPr>
        <p:spPr>
          <a:xfrm>
            <a:off x="805041" y="3200598"/>
            <a:ext cx="25399" cy="1419027"/>
          </a:xfrm>
          <a:prstGeom prst="roundRect">
            <a:avLst>
              <a:gd name="adj" fmla="val 60001"/>
            </a:avLst>
          </a:prstGeom>
          <a:solidFill>
            <a:srgbClr val="020100"/>
          </a:solidFill>
          <a:ln/>
        </p:spPr>
        <p:txBody>
          <a:bodyPr/>
          <a:lstStyle/>
          <a:p>
            <a:endParaRPr lang="en-IN"/>
          </a:p>
        </p:txBody>
      </p:sp>
      <p:sp>
        <p:nvSpPr>
          <p:cNvPr id="4" name="Text 2"/>
          <p:cNvSpPr/>
          <p:nvPr/>
        </p:nvSpPr>
        <p:spPr>
          <a:xfrm>
            <a:off x="1106956" y="3061855"/>
            <a:ext cx="10279698" cy="3505200"/>
          </a:xfrm>
          <a:prstGeom prst="rect">
            <a:avLst/>
          </a:prstGeom>
          <a:noFill/>
          <a:ln/>
        </p:spPr>
        <p:txBody>
          <a:bodyPr wrap="square" lIns="0" tIns="0" rIns="0" bIns="0" rtlCol="0" anchor="t">
            <a:normAutofit/>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"Has anyone ever been told: 'Stop asking so many questions, just pray'?" (Most hands will go up.) "Good. That means you are already philosophers. And possibly a headache for your parish priest. Welcome to theology — where asking questions is the job.“</a:t>
            </a:r>
            <a:br>
              <a:rPr lang="en-US" sz="2400" b="1" dirty="0">
                <a:solidFill>
                  <a:srgbClr val="000000"/>
                </a:solidFill>
                <a:latin typeface="Fira Sans" pitchFamily="34" charset="0"/>
                <a:ea typeface="Fira Sans" pitchFamily="34" charset="-122"/>
                <a:cs typeface="Fira Sans" pitchFamily="34" charset="-120"/>
              </a:rPr>
            </a:br>
            <a:r>
              <a:rPr lang="en-US" sz="2400" b="1" dirty="0">
                <a:solidFill>
                  <a:srgbClr val="000000"/>
                </a:solidFill>
                <a:latin typeface="Fira Sans" pitchFamily="34" charset="0"/>
                <a:ea typeface="Fira Sans" pitchFamily="34" charset="-122"/>
                <a:cs typeface="Fira Sans" pitchFamily="34" charset="-120"/>
              </a:rPr>
              <a:t>Your Task is to ask Questions….represents Curiosity and Clarifications and not Stupidity</a:t>
            </a:r>
            <a:endParaRPr lang="en-US" sz="2400" b="1" dirty="0"/>
          </a:p>
        </p:txBody>
      </p:sp>
      <p:pic>
        <p:nvPicPr>
          <p:cNvPr id="6" name="Graphic 5" descr="Thought with solid fill">
            <a:extLst>
              <a:ext uri="{FF2B5EF4-FFF2-40B4-BE49-F238E27FC236}">
                <a16:creationId xmlns:a16="http://schemas.microsoft.com/office/drawing/2014/main" id="{E20CC639-2246-3F21-3AA2-48E09BF3AA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6903" y="50898"/>
            <a:ext cx="2747170" cy="2747170"/>
          </a:xfrm>
          <a:prstGeom prst="rect">
            <a:avLst/>
          </a:prstGeom>
        </p:spPr>
      </p:pic>
      <p:pic>
        <p:nvPicPr>
          <p:cNvPr id="8" name="Graphic 7" descr="Question Mark with solid fill">
            <a:extLst>
              <a:ext uri="{FF2B5EF4-FFF2-40B4-BE49-F238E27FC236}">
                <a16:creationId xmlns:a16="http://schemas.microsoft.com/office/drawing/2014/main" id="{E6297108-4738-46D8-2105-80D107E72A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1242" y="50898"/>
            <a:ext cx="2263856" cy="22638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578707"/>
            <a:ext cx="5598873"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Discussion Questions</a:t>
            </a:r>
            <a:endParaRPr lang="en-US" sz="3450" dirty="0"/>
          </a:p>
        </p:txBody>
      </p:sp>
      <p:sp>
        <p:nvSpPr>
          <p:cNvPr id="3" name="Shape 1"/>
          <p:cNvSpPr/>
          <p:nvPr/>
        </p:nvSpPr>
        <p:spPr>
          <a:xfrm>
            <a:off x="805041" y="1260765"/>
            <a:ext cx="3392998" cy="3355884"/>
          </a:xfrm>
          <a:prstGeom prst="roundRect">
            <a:avLst>
              <a:gd name="adj" fmla="val 5956"/>
            </a:avLst>
          </a:prstGeom>
          <a:solidFill>
            <a:srgbClr val="B98D34"/>
          </a:solidFill>
          <a:ln w="25399">
            <a:solidFill>
              <a:srgbClr val="E5CCB2"/>
            </a:solidFill>
            <a:prstDash val="solid"/>
          </a:ln>
        </p:spPr>
        <p:txBody>
          <a:bodyPr/>
          <a:lstStyle/>
          <a:p>
            <a:endParaRPr lang="en-IN"/>
          </a:p>
        </p:txBody>
      </p:sp>
      <p:sp>
        <p:nvSpPr>
          <p:cNvPr id="4" name="Text 2"/>
          <p:cNvSpPr/>
          <p:nvPr/>
        </p:nvSpPr>
        <p:spPr>
          <a:xfrm>
            <a:off x="1031651" y="1551709"/>
            <a:ext cx="2939778" cy="2838324"/>
          </a:xfrm>
          <a:prstGeom prst="rect">
            <a:avLst/>
          </a:prstGeom>
          <a:noFill/>
          <a:ln/>
        </p:spPr>
        <p:txBody>
          <a:bodyPr wrap="square" lIns="0" tIns="0" rIns="0" bIns="0" rtlCol="0" anchor="t">
            <a:normAutofit/>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What is the one struggle from the Class that you most want theology to address? Why?</a:t>
            </a:r>
            <a:endParaRPr lang="en-US" sz="2400" b="1" dirty="0"/>
          </a:p>
        </p:txBody>
      </p:sp>
      <p:sp>
        <p:nvSpPr>
          <p:cNvPr id="5" name="Shape 3"/>
          <p:cNvSpPr/>
          <p:nvPr/>
        </p:nvSpPr>
        <p:spPr>
          <a:xfrm>
            <a:off x="4399249" y="1260765"/>
            <a:ext cx="3393097" cy="3355884"/>
          </a:xfrm>
          <a:prstGeom prst="roundRect">
            <a:avLst>
              <a:gd name="adj" fmla="val 5956"/>
            </a:avLst>
          </a:prstGeom>
          <a:solidFill>
            <a:srgbClr val="B98D34"/>
          </a:solidFill>
          <a:ln w="25399">
            <a:solidFill>
              <a:srgbClr val="E5CCB2"/>
            </a:solidFill>
            <a:prstDash val="solid"/>
          </a:ln>
        </p:spPr>
        <p:txBody>
          <a:bodyPr/>
          <a:lstStyle/>
          <a:p>
            <a:endParaRPr lang="en-IN"/>
          </a:p>
        </p:txBody>
      </p:sp>
      <p:sp>
        <p:nvSpPr>
          <p:cNvPr id="6" name="Text 4"/>
          <p:cNvSpPr/>
          <p:nvPr/>
        </p:nvSpPr>
        <p:spPr>
          <a:xfrm>
            <a:off x="4625859" y="1551709"/>
            <a:ext cx="2939877" cy="2838324"/>
          </a:xfrm>
          <a:prstGeom prst="rect">
            <a:avLst/>
          </a:prstGeom>
          <a:noFill/>
          <a:ln/>
        </p:spPr>
        <p:txBody>
          <a:bodyPr wrap="square" lIns="0" tIns="0" rIns="0" bIns="0" rtlCol="0" anchor="t">
            <a:normAutofit/>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Have you ever asked "Where is God in this?" — about your community? What happened?</a:t>
            </a:r>
            <a:endParaRPr lang="en-US" sz="2400" b="1" dirty="0"/>
          </a:p>
        </p:txBody>
      </p:sp>
      <p:sp>
        <p:nvSpPr>
          <p:cNvPr id="7" name="Shape 5"/>
          <p:cNvSpPr/>
          <p:nvPr/>
        </p:nvSpPr>
        <p:spPr>
          <a:xfrm>
            <a:off x="7993557" y="1260765"/>
            <a:ext cx="3393097" cy="3355884"/>
          </a:xfrm>
          <a:prstGeom prst="roundRect">
            <a:avLst>
              <a:gd name="adj" fmla="val 5956"/>
            </a:avLst>
          </a:prstGeom>
          <a:solidFill>
            <a:srgbClr val="B98D34"/>
          </a:solidFill>
          <a:ln w="25399">
            <a:solidFill>
              <a:srgbClr val="E5CCB2"/>
            </a:solidFill>
            <a:prstDash val="solid"/>
          </a:ln>
        </p:spPr>
        <p:txBody>
          <a:bodyPr/>
          <a:lstStyle/>
          <a:p>
            <a:endParaRPr lang="en-IN"/>
          </a:p>
        </p:txBody>
      </p:sp>
      <p:sp>
        <p:nvSpPr>
          <p:cNvPr id="8" name="Text 6"/>
          <p:cNvSpPr/>
          <p:nvPr/>
        </p:nvSpPr>
        <p:spPr>
          <a:xfrm>
            <a:off x="8220167" y="1551709"/>
            <a:ext cx="2939877" cy="2838324"/>
          </a:xfrm>
          <a:prstGeom prst="rect">
            <a:avLst/>
          </a:prstGeom>
          <a:noFill/>
          <a:ln/>
        </p:spPr>
        <p:txBody>
          <a:bodyPr wrap="square" lIns="0" tIns="0" rIns="0" bIns="0" rtlCol="0" anchor="t">
            <a:normAutofit/>
          </a:bodyPr>
          <a:lstStyle/>
          <a:p>
            <a:pPr marL="0" indent="0" algn="l">
              <a:lnSpc>
                <a:spcPct val="133000"/>
              </a:lnSpc>
              <a:buNone/>
            </a:pPr>
            <a:r>
              <a:rPr lang="en-US" sz="2400" b="1" dirty="0">
                <a:solidFill>
                  <a:srgbClr val="000000"/>
                </a:solidFill>
                <a:latin typeface="Fira Sans" pitchFamily="34" charset="0"/>
                <a:ea typeface="Fira Sans" pitchFamily="34" charset="-122"/>
                <a:cs typeface="Fira Sans" pitchFamily="34" charset="-120"/>
              </a:rPr>
              <a:t>What did you expect theology to be before you arrived? Is that changing?</a:t>
            </a:r>
            <a:endParaRPr lang="en-US" sz="24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p:nvPr/>
        </p:nvSpPr>
        <p:spPr>
          <a:xfrm>
            <a:off x="805041" y="2241451"/>
            <a:ext cx="5037607" cy="553442"/>
          </a:xfrm>
          <a:prstGeom prst="rect">
            <a:avLst/>
          </a:prstGeom>
          <a:noFill/>
          <a:ln/>
        </p:spPr>
        <p:txBody>
          <a:bodyPr wrap="none" lIns="0" tIns="0" rIns="0" bIns="0" rtlCol="0" anchor="t"/>
          <a:lstStyle/>
          <a:p>
            <a:pPr marL="0" indent="0" algn="l">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Prayer</a:t>
            </a:r>
            <a:endParaRPr lang="en-US" sz="3450" dirty="0"/>
          </a:p>
        </p:txBody>
      </p:sp>
      <p:sp>
        <p:nvSpPr>
          <p:cNvPr id="3" name="Shape 1"/>
          <p:cNvSpPr/>
          <p:nvPr/>
        </p:nvSpPr>
        <p:spPr>
          <a:xfrm>
            <a:off x="805041" y="3197423"/>
            <a:ext cx="25399" cy="1419027"/>
          </a:xfrm>
          <a:prstGeom prst="roundRect">
            <a:avLst>
              <a:gd name="adj" fmla="val 60001"/>
            </a:avLst>
          </a:prstGeom>
          <a:solidFill>
            <a:srgbClr val="020100"/>
          </a:solidFill>
          <a:ln/>
        </p:spPr>
        <p:txBody>
          <a:bodyPr/>
          <a:lstStyle/>
          <a:p>
            <a:endParaRPr lang="en-IN"/>
          </a:p>
        </p:txBody>
      </p:sp>
      <p:sp>
        <p:nvSpPr>
          <p:cNvPr id="4" name="Text 2"/>
          <p:cNvSpPr/>
          <p:nvPr/>
        </p:nvSpPr>
        <p:spPr>
          <a:xfrm>
            <a:off x="1106956" y="3423841"/>
            <a:ext cx="10724826" cy="966192"/>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dirty="0">
                <a:solidFill>
                  <a:srgbClr val="000000"/>
                </a:solidFill>
                <a:latin typeface="Fira Sans" pitchFamily="34" charset="0"/>
                <a:ea typeface="Fira Sans" pitchFamily="34" charset="-122"/>
                <a:cs typeface="Fira Sans" pitchFamily="34" charset="-120"/>
              </a:rPr>
              <a:t>"Lord, we bring into this room the faces of our villages, our families, our communities. We bring their joys and their wounds. Teach us to think clearly, to feel deeply, and to speak truthfully. May our theology always smell of the people it serves. Amen."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776</Words>
  <Application>Microsoft Office PowerPoint</Application>
  <PresentationFormat>Widescreen</PresentationFormat>
  <Paragraphs>72</Paragraphs>
  <Slides>12</Slides>
  <Notes>9</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Libre Baskerville Bold</vt:lpstr>
      <vt:lpstr>Fira Sans</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William Anthony</cp:lastModifiedBy>
  <cp:revision>38</cp:revision>
  <dcterms:created xsi:type="dcterms:W3CDTF">2026-07-01T15:31:01Z</dcterms:created>
  <dcterms:modified xsi:type="dcterms:W3CDTF">2026-07-03T02:55:19Z</dcterms:modified>
</cp:coreProperties>
</file>