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84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cros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7772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0" y="254203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Barrackpore, West Bengal  •  A Pontifical Institute of Theology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PROGRAMME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First-Year Theologians  •  Bachelor of Theology (BTh)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  •  Two-Day Intensive  •  Eight Sessions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Prof. William Anthony, MSFS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32764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Philosophy and Theology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rout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1325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— Foundation: Who Are We and What Is Theology?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8368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22768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Ice-Breaking &amp; Community Formation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83464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8368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3145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&amp; the Regency Period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70332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8368" y="3776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40142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Theology? Definition, History, Significance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457200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58368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48828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Theologian? Identity, Work, Vocation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45352" y="132588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28232" y="1325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 — Context &amp; Practice: India as Locus Theologicus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45352" y="196596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0080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2768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Context — Interactive Exploration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45352" y="283464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0080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3145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Theology from the Margins — Dalit, Tribal, Adivasi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45352" y="370332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3776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40142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Theologize and Study — Method &amp; Discipline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45352" y="4572000"/>
            <a:ext cx="5440680" cy="749808"/>
          </a:xfrm>
          <a:prstGeom prst="roundRect">
            <a:avLst>
              <a:gd name="adj" fmla="val 7317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400800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0" y="48828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Theology in Pastoral Life + Commitment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user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  •   SESSION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Welcome, Ice-Breaking &amp; Community Formation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diversity in the room. Establish that theology begins with life, not books. Build trust for honest conversation.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25112" y="16184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ICE-BREAKER (10 min)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25112" y="189280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Name, My Place, My People's Pain.” Each student names his district and one community struggle. The board becomes our first page of theology.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18120" y="1508760"/>
            <a:ext cx="3867912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82712" y="161848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82712" y="1892808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anyone been told: stop asking questions, just pray? Good — you're already philosophers.”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3063240"/>
            <a:ext cx="7132320" cy="1417320"/>
          </a:xfrm>
          <a:prstGeom prst="roundRect">
            <a:avLst>
              <a:gd name="adj" fmla="val 5161"/>
            </a:avLst>
          </a:prstGeom>
          <a:solidFill>
            <a:srgbClr val="EF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77240" y="322783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theologian must hold the Bible in one hand and the newspaper in the other.”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Karl Barth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18120" y="3063240"/>
            <a:ext cx="3867912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982712" y="31729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ELEPHANT PARABLE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82712" y="3447288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blind men, one elephant. Each partly right. No single perspective exhausts the truth — and theology happens when partial experiences meet the full Tradition.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466344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67512" y="477316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7512" y="5047488"/>
            <a:ext cx="10853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struggle from the board do you most want theology to address?</a:t>
            </a:r>
            <a:endParaRPr lang="en-US" sz="2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Have you asked “Where is God in this?” about your community?</a:t>
            </a:r>
            <a:endParaRPr lang="en-US" sz="2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did you expect theology to be — and is that changing?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boo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  •   SESSION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Philosophy &amp; the Regency Period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PHILOSOPHY?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5111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philosophia = love of wisdom. Sanskrit darshana = seeing clearly. Aquinas: “cognitio rerum per causas ultimas” — knowledge through ultimate causes.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Anselm: “Fides quaerens intellectum” — faith seeking understanding. Faith comes first; reason deepens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508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9944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TRADITION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9944" y="1892808"/>
            <a:ext cx="5111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Nyaya, Advaita Vedanta, Buddhist pramana, Mimamsa — all attempts to “see” reality clearly.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Martyr: the Logos spermatikos — seeds of the Word scattered through all cultures. Indian darshana is part of God's plan, not outside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45643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67512" y="356616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AS THEOLOGICAL LAB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" y="3840480"/>
            <a:ext cx="5111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was not a gap year — it was your first theological laboratory. The frustrations and questions that arose there are theological data, not distractions.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45352" y="345643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9944" y="356616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RAMANUJA EXAMPLE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9944" y="3840480"/>
            <a:ext cx="5111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12th-century philosopher who used rigorous argument to defend vishishtadvaita (qualified non-dualism) — exactly what Anselm did: thinking clearly about what he already believed.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502920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(10 min): Name one regency moment when you asked “Where is God in this?”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theological question did it leave you with? Report back to the class.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gra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  •   SESSION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Theology? Definition, History, Significance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OF DEFINITION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5111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Classical (Anselm): faith seeking understanding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Scholastic (Aquinas): a true science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Vatican II: renewed contact with the mystery of Christ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Contextual (Gutierrez): critical reflection on praxis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Indian (Soares-Prabhu): reading the signs of the times with the poor as key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508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9944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MOVEMENTS OF HISTORY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9944" y="1892808"/>
            <a:ext cx="5111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Patristic (100–700): Fathers defend &amp; develop doctrine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Scholastic (700–1400): Aquinas, systematic reason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Reformation era (1400–1900): polemical, defensive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Vatican II &amp; beyond (1962–today): contextual, Asian, Dalit, liberation theologies emerge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9776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F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7240" y="4142232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need to foster an encounter with the Lord, so that his Word can become our word.”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700016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Pope Francis, Evangelii Gaudium, §133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516636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7512" y="527608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INDIA TODAY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" y="5550408"/>
            <a:ext cx="10853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majoritarianism, caste discrimination, ecological crisis, youth migration. Without theology, faith becomes sentiment and the Church loses its prophetic voice.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pray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  •   SESSION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 Theologian? Identity, Work, Vocation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DIMENSIONS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5111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Baptised Believer — first a Christian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Intellectual — rigorous, critical, systematic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Ecclesial — accountable to the Church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Pastoral — oriented to service &amp; mission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Prophetic — speaks truth to power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508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9944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TASKS (ITC, 1989)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9944" y="1892808"/>
            <a:ext cx="5111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— testing authenticity of faith claims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— making faith intelligible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unifying the disciplines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— proclaiming to the world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822192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F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7240" y="3986784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theologian is called to make his own the mind of the Church (sensus fidei).”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5445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Pope Benedict XVI, Verbum Domini, §35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50292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7512" y="513892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THEOLOGIANS TO KNOW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" y="5413248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Félix Wilfred (Asian Dreams and Christian Hope) • George Soares-Prabhu SJ (Beatitudes &amp; the materially poor) • Samuel Rayan SJ (the Spirit at work in every struggle for justice)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glob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2801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TWO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4937760" y="3520440"/>
            <a:ext cx="22860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and Practice: India as Locus Theologicus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glob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   •   SESSION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Context — An Interactive Exploration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SESSION WORKS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10853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Socratic. The facilitator asks; students answer; the board fills; the class together arrives at the Indian context. Do not lecture for the first 25 minutes.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AF4E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" y="26243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D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SEE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" y="2898648"/>
            <a:ext cx="3282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challenge facing your home community? Who are the most vulnerable people you met in regency? What angers you most about India today?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16552" y="26243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JUDGE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16552" y="2898648"/>
            <a:ext cx="3282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God at work in what was named? Where is the Gospel being violated? What would Jesus say to India's leaders today?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1000" y="2514600"/>
            <a:ext cx="3685032" cy="1828800"/>
          </a:xfrm>
          <a:prstGeom prst="roundRect">
            <a:avLst>
              <a:gd name="adj" fmla="val 4000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165592" y="262432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— ACT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65592" y="2898648"/>
            <a:ext cx="3355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one year after ordination to address one issue on this board, which one — and why? What would you need to know theologically?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572000"/>
            <a:ext cx="11183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Caste: 270 million Dalits, 104 million Adivasis — theologically marginalised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majoritarianism, religious pluralism, ecological crisis, youth migration, gender inequality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FABC Paper 167: local context is a locus theologicus — a place where God speaks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hand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   •   SESSION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Theology from the Margins — Dalit, Tribal, Adivasi Voices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1183112" cy="1005840"/>
          </a:xfrm>
          <a:prstGeom prst="roundRect">
            <a:avLst>
              <a:gd name="adj" fmla="val 7273"/>
            </a:avLst>
          </a:prstGeom>
          <a:solidFill>
            <a:srgbClr val="EF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7240" y="1673352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Jesus speaks with the Samaritan woman at the well, at noon — wrong ethnicity, wrong record, wrong gender for first-century theological conversation. He sits down and talks. (John 4:1–15)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85416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" y="28072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DALIT THEOLOGY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" y="3081528"/>
            <a:ext cx="5111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from the standpoint of 270 million stigmatised as “untouchable.” “Dalit” = broken/crushed. God stands with the broken.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Devasahayam: theology not just FOR Dalits but FROM Dalits. The Beatitudes are literal, not merely spiritual.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45352" y="2697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9944" y="28072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/ ADIVASI THEOLOGY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9944" y="3081528"/>
            <a:ext cx="5111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million original inhabitants — Santhal, Munda, Oraon, Gond, Naga. Face land displacement, cultural erasure.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Offers: relational personhood, ecological spirituality, the Spirit alive in community ritual.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709160"/>
            <a:ext cx="11183112" cy="1280160"/>
          </a:xfrm>
          <a:prstGeom prst="roundRect">
            <a:avLst>
              <a:gd name="adj" fmla="val 5714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7512" y="481888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PREFERENTIAL OPTION FOR THE POOR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" y="5093208"/>
            <a:ext cx="10853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option or love of preference for the poor is a special form of the primacy in the exercise of Christian charity.” — John Paul II, Sollicitudo Rei Socialis, §42. Closing activity: The Living Library (voluntary, never forced).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balanc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   •   SESSION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Theologize and Study — Method and Discipline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AF4E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D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analysis. What is actually happening? Who suffers? Who benefits?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25112" y="16184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25112" y="1892808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Theological reflection. Bring reality into dialogue with Scripture, Tradition, Magisterium.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1508760"/>
            <a:ext cx="3867912" cy="1691640"/>
          </a:xfrm>
          <a:prstGeom prst="roundRect">
            <a:avLst>
              <a:gd name="adj" fmla="val 4324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82712" y="161848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82712" y="1892808"/>
            <a:ext cx="3538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response. Concrete, specific, realistic action — who, what, by when.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33756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7512" y="344728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CASTE AT THE ALTAR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" y="3721608"/>
            <a:ext cx="10853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SEE: Dalit Catholics seated separately, Communion distributed apart  →  JUDGE: Gal 3:28 — “neither slave nor free”; caste at the Eucharist is a liturgical heresy  →  ACT: parish renewal, catechesis on baptismal equality, written diocesan policy.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709160"/>
            <a:ext cx="1118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study habits: read primary sources, build a bibliography habit, write to learn, pray before reading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Theological Journal today — one question per class, one connection to pastoral life, one disagreement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dov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   •   SESSION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Theology in Pastoral Life + Commitment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— FUNERAL OF A SUICIDE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892808"/>
            <a:ext cx="5111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1184 leaves room for pastoral judgment. Apply human dignity, mercy, and mental-health understanding.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5087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9944" y="161848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— INTERFAITH WEDDING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9944" y="1892808"/>
            <a:ext cx="5111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Canons 1086, 1124–25 on disparity of cult. Amoris Laetitia's call to accompaniment and discernment.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2004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E8C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67512" y="331012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— THE PROTEST MARCH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" y="3584448"/>
            <a:ext cx="5111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Laudato Si' §93 on the universal destination of goods. Discern prophetic witness vs. partisanship.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5352" y="32004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5F6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9944" y="331012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— “IS MY HINDU FRIEND GOING TO HELL?”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9944" y="3584448"/>
            <a:ext cx="5111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Gentium §16, Nostra Aetate §2, Rahner's “anonymous Christian.” Answer honestly, without a lecture.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892040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DF3E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7512" y="500176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CEREMONY — “I AM A THEOLOGIAN”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" y="5276088"/>
            <a:ext cx="10853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signs a card: think carefully, listen to the poor, serve the Church, and add one personal commitment. Cards rest on the altar at the Closing Mass and are returned at year's end.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  •  BTh Orientation 2026–27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seedl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0058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“Go, then. You are now theologians —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because you have passed an exam, but because you have begun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take God, the Church, and the suffering world seriously at the same time.”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37760" y="4114800"/>
            <a:ext cx="22860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 Lord be with you.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Star Regional Seminary, Barrackpore  •  2026–2027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1756</Words>
  <Application>Microsoft Office PowerPoint</Application>
  <PresentationFormat>Widescreen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BTh Orientation Programme — Morning Star Regional Seminary</dc:title>
  <dc:subject>PptxGenJS Presentation</dc:subject>
  <dc:creator>Rev. Prof. William Anthony, MSFS</dc:creator>
  <cp:lastModifiedBy>William Anthony</cp:lastModifiedBy>
  <cp:revision>2</cp:revision>
  <dcterms:created xsi:type="dcterms:W3CDTF">2026-06-20T00:18:44Z</dcterms:created>
  <dcterms:modified xsi:type="dcterms:W3CDTF">2026-07-01T11:05:27Z</dcterms:modified>
</cp:coreProperties>
</file>