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Fira Sans Thin"/>
      <p:regular r:id="rId201314"/>
    </p:embeddedFont>
    <p:embeddedFont>
      <p:font typeface="Fira Sans ExtraLight"/>
      <p:regular r:id="rId201315"/>
    </p:embeddedFont>
    <p:embeddedFont>
      <p:font typeface="Fira Sans Light"/>
      <p:regular r:id="rId201316"/>
    </p:embeddedFont>
    <p:embeddedFont>
      <p:font typeface="Fira Sans"/>
      <p:regular r:id="rId201317"/>
    </p:embeddedFont>
    <p:embeddedFont>
      <p:font typeface="Fira Sans Medium"/>
      <p:regular r:id="rId201318"/>
    </p:embeddedFont>
    <p:embeddedFont>
      <p:font typeface="Fira Sans SemiBold"/>
      <p:regular r:id="rId201319"/>
    </p:embeddedFont>
    <p:embeddedFont>
      <p:font typeface="Fira Sans Bold"/>
      <p:regular r:id="rId201320"/>
    </p:embeddedFont>
    <p:embeddedFont>
      <p:font typeface="Fira Sans ExtraBold"/>
      <p:regular r:id="rId201321"/>
    </p:embeddedFont>
    <p:embeddedFont>
      <p:font typeface="Fira Sans Black"/>
      <p:regular r:id="rId201322"/>
    </p:embeddedFont>
    <p:embeddedFont>
      <p:font typeface="Libre Baskerville"/>
      <p:regular r:id="rId201323"/>
    </p:embeddedFont>
    <p:embeddedFont>
      <p:font typeface="Libre Baskerville Bold"/>
      <p:regular r:id="rId2013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916F29"/>
          </a:solidFill>
          <a:ln/>
        </p:spPr>
      </p:sp>
      <p:sp>
        <p:nvSpPr>
          <p:cNvPr id="3" name="Shape 1"/>
          <p:cNvSpPr/>
          <p:nvPr/>
        </p:nvSpPr>
        <p:spPr>
          <a:xfrm>
            <a:off x="0" y="0"/>
            <a:ext cx="12191695" cy="6858000"/>
          </a:xfrm>
          <a:prstGeom prst="rect">
            <a:avLst/>
          </a:prstGeom>
          <a:solidFill>
            <a:srgbClr val="B98D34"/>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1.png"/><Relationship Id="rId8" Type="http://schemas.openxmlformats.org/officeDocument/2006/relationships/image" Target="../media/image-9-2.sv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05041" y="1510605"/>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SESSION 7: How to Theologize and Study — Method and Discipline</a:t>
            </a:r>
            <a:endParaRPr lang="en-US" sz="3450" dirty="0"/>
          </a:p>
        </p:txBody>
      </p:sp>
      <p:sp>
        <p:nvSpPr>
          <p:cNvPr id="3" name="Text 1"/>
          <p:cNvSpPr/>
          <p:nvPr/>
        </p:nvSpPr>
        <p:spPr>
          <a:xfrm>
            <a:off x="805041" y="3020020"/>
            <a:ext cx="11191198" cy="322064"/>
          </a:xfrm>
          <a:prstGeom prst="rect">
            <a:avLst/>
          </a:prstGeom>
          <a:noFill/>
          <a:ln/>
        </p:spPr>
        <p:txBody>
          <a:bodyPr wrap="none" lIns="0" tIns="0" rIns="0" bIns="0" rtlCol="0" anchor="t"/>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Duration 45 minutes</a:t>
            </a:r>
            <a:endParaRPr lang="en-US" sz="1550" dirty="0"/>
          </a:p>
        </p:txBody>
      </p:sp>
      <p:sp>
        <p:nvSpPr>
          <p:cNvPr id="4" name="Shape 2"/>
          <p:cNvSpPr/>
          <p:nvPr/>
        </p:nvSpPr>
        <p:spPr>
          <a:xfrm>
            <a:off x="805041" y="3568502"/>
            <a:ext cx="3392998" cy="1778893"/>
          </a:xfrm>
          <a:prstGeom prst="roundRect">
            <a:avLst>
              <a:gd name="adj" fmla="val 4752"/>
            </a:avLst>
          </a:prstGeom>
          <a:solidFill>
            <a:srgbClr val="FFE6CC"/>
          </a:solidFill>
          <a:ln w="6350">
            <a:solidFill>
              <a:srgbClr val="E5CCB2"/>
            </a:solidFill>
            <a:prstDash val="solid"/>
          </a:ln>
        </p:spPr>
      </p:sp>
      <p:sp>
        <p:nvSpPr>
          <p:cNvPr id="5" name="Text 3"/>
          <p:cNvSpPr/>
          <p:nvPr/>
        </p:nvSpPr>
        <p:spPr>
          <a:xfrm>
            <a:off x="1012601" y="3776067"/>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Objective 1</a:t>
            </a:r>
            <a:endParaRPr lang="en-US" sz="1700" dirty="0"/>
          </a:p>
        </p:txBody>
      </p:sp>
      <p:sp>
        <p:nvSpPr>
          <p:cNvPr id="6" name="Text 4"/>
          <p:cNvSpPr/>
          <p:nvPr/>
        </p:nvSpPr>
        <p:spPr>
          <a:xfrm>
            <a:off x="1012601" y="4173637"/>
            <a:ext cx="2977877"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Introduce the See–Judge–Act method as the basic theological tool</a:t>
            </a:r>
            <a:endParaRPr lang="en-US" sz="1550" dirty="0"/>
          </a:p>
        </p:txBody>
      </p:sp>
      <p:sp>
        <p:nvSpPr>
          <p:cNvPr id="7" name="Shape 5"/>
          <p:cNvSpPr/>
          <p:nvPr/>
        </p:nvSpPr>
        <p:spPr>
          <a:xfrm>
            <a:off x="4399249" y="3568502"/>
            <a:ext cx="3393097" cy="1778893"/>
          </a:xfrm>
          <a:prstGeom prst="roundRect">
            <a:avLst>
              <a:gd name="adj" fmla="val 4752"/>
            </a:avLst>
          </a:prstGeom>
          <a:solidFill>
            <a:srgbClr val="FFE6CC"/>
          </a:solidFill>
          <a:ln w="6350">
            <a:solidFill>
              <a:srgbClr val="E5CCB2"/>
            </a:solidFill>
            <a:prstDash val="solid"/>
          </a:ln>
        </p:spPr>
      </p:sp>
      <p:sp>
        <p:nvSpPr>
          <p:cNvPr id="8" name="Text 6"/>
          <p:cNvSpPr/>
          <p:nvPr/>
        </p:nvSpPr>
        <p:spPr>
          <a:xfrm>
            <a:off x="4606810" y="3776067"/>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Objective 2</a:t>
            </a:r>
            <a:endParaRPr lang="en-US" sz="1700" dirty="0"/>
          </a:p>
        </p:txBody>
      </p:sp>
      <p:sp>
        <p:nvSpPr>
          <p:cNvPr id="9" name="Text 7"/>
          <p:cNvSpPr/>
          <p:nvPr/>
        </p:nvSpPr>
        <p:spPr>
          <a:xfrm>
            <a:off x="4606810" y="4173637"/>
            <a:ext cx="2977976"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Teach practical study skills for theology at pontifical level</a:t>
            </a:r>
            <a:endParaRPr lang="en-US" sz="1550" dirty="0"/>
          </a:p>
        </p:txBody>
      </p:sp>
      <p:sp>
        <p:nvSpPr>
          <p:cNvPr id="10" name="Shape 8"/>
          <p:cNvSpPr/>
          <p:nvPr/>
        </p:nvSpPr>
        <p:spPr>
          <a:xfrm>
            <a:off x="7993557" y="3568502"/>
            <a:ext cx="3393097" cy="1778893"/>
          </a:xfrm>
          <a:prstGeom prst="roundRect">
            <a:avLst>
              <a:gd name="adj" fmla="val 4752"/>
            </a:avLst>
          </a:prstGeom>
          <a:solidFill>
            <a:srgbClr val="FFE6CC"/>
          </a:solidFill>
          <a:ln w="6350">
            <a:solidFill>
              <a:srgbClr val="E5CCB2"/>
            </a:solidFill>
            <a:prstDash val="solid"/>
          </a:ln>
        </p:spPr>
      </p:sp>
      <p:sp>
        <p:nvSpPr>
          <p:cNvPr id="11" name="Text 9"/>
          <p:cNvSpPr/>
          <p:nvPr/>
        </p:nvSpPr>
        <p:spPr>
          <a:xfrm>
            <a:off x="8201117" y="3776067"/>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Objective 3</a:t>
            </a:r>
            <a:endParaRPr lang="en-US" sz="1700" dirty="0"/>
          </a:p>
        </p:txBody>
      </p:sp>
      <p:sp>
        <p:nvSpPr>
          <p:cNvPr id="12" name="Text 10"/>
          <p:cNvSpPr/>
          <p:nvPr/>
        </p:nvSpPr>
        <p:spPr>
          <a:xfrm>
            <a:off x="8201117" y="4173637"/>
            <a:ext cx="2977976"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Establish the theological journal as a lifelong practice</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05041" y="558304"/>
            <a:ext cx="4913686" cy="470495"/>
          </a:xfrm>
          <a:prstGeom prst="rect">
            <a:avLst/>
          </a:prstGeom>
          <a:noFill/>
          <a:ln/>
        </p:spPr>
        <p:txBody>
          <a:bodyPr wrap="none" lIns="0" tIns="0" rIns="0" bIns="0" rtlCol="0" anchor="t"/>
          <a:lstStyle/>
          <a:p>
            <a:pPr algn="l" indent="0" marL="0">
              <a:lnSpc>
                <a:spcPct val="104000"/>
              </a:lnSpc>
              <a:buNone/>
            </a:pPr>
            <a:r>
              <a:rPr lang="en-US" sz="2950" b="1" dirty="0">
                <a:solidFill>
                  <a:srgbClr val="000000"/>
                </a:solidFill>
                <a:latin typeface="Libre Baskerville Bold" pitchFamily="34" charset="0"/>
                <a:ea typeface="Libre Baskerville Bold" pitchFamily="34" charset="-122"/>
                <a:cs typeface="Libre Baskerville Bold" pitchFamily="34" charset="-120"/>
              </a:rPr>
              <a:t>TIME BREAKDOWN</a:t>
            </a:r>
            <a:endParaRPr lang="en-US" sz="2950" dirty="0"/>
          </a:p>
        </p:txBody>
      </p:sp>
      <p:sp>
        <p:nvSpPr>
          <p:cNvPr id="3" name="Shape 1"/>
          <p:cNvSpPr/>
          <p:nvPr/>
        </p:nvSpPr>
        <p:spPr>
          <a:xfrm>
            <a:off x="6086323" y="1319609"/>
            <a:ext cx="19050" cy="4979988"/>
          </a:xfrm>
          <a:prstGeom prst="roundRect">
            <a:avLst>
              <a:gd name="adj" fmla="val 377198"/>
            </a:avLst>
          </a:prstGeom>
          <a:solidFill>
            <a:srgbClr val="E5CCB2"/>
          </a:solidFill>
          <a:ln/>
        </p:spPr>
      </p:sp>
      <p:sp>
        <p:nvSpPr>
          <p:cNvPr id="4" name="Shape 2"/>
          <p:cNvSpPr/>
          <p:nvPr/>
        </p:nvSpPr>
        <p:spPr>
          <a:xfrm>
            <a:off x="5409221" y="1502470"/>
            <a:ext cx="513246" cy="19050"/>
          </a:xfrm>
          <a:prstGeom prst="roundRect">
            <a:avLst>
              <a:gd name="adj" fmla="val 377198"/>
            </a:avLst>
          </a:prstGeom>
          <a:solidFill>
            <a:srgbClr val="E5CCB2"/>
          </a:solidFill>
          <a:ln/>
        </p:spPr>
      </p:sp>
      <p:sp>
        <p:nvSpPr>
          <p:cNvPr id="5" name="Shape 3"/>
          <p:cNvSpPr/>
          <p:nvPr/>
        </p:nvSpPr>
        <p:spPr>
          <a:xfrm>
            <a:off x="5903418" y="1319609"/>
            <a:ext cx="384860" cy="384870"/>
          </a:xfrm>
          <a:prstGeom prst="roundRect">
            <a:avLst>
              <a:gd name="adj" fmla="val 18671"/>
            </a:avLst>
          </a:prstGeom>
          <a:solidFill>
            <a:srgbClr val="FFE6CC"/>
          </a:solidFill>
          <a:ln w="6350">
            <a:solidFill>
              <a:srgbClr val="E5CCB2"/>
            </a:solidFill>
            <a:prstDash val="solid"/>
          </a:ln>
        </p:spPr>
      </p:sp>
      <p:sp>
        <p:nvSpPr>
          <p:cNvPr id="6" name="Text 4"/>
          <p:cNvSpPr/>
          <p:nvPr/>
        </p:nvSpPr>
        <p:spPr>
          <a:xfrm>
            <a:off x="5982890" y="1370856"/>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1</a:t>
            </a:r>
            <a:endParaRPr lang="en-US" sz="1750" dirty="0"/>
          </a:p>
        </p:txBody>
      </p:sp>
      <p:sp>
        <p:nvSpPr>
          <p:cNvPr id="7" name="Text 5"/>
          <p:cNvSpPr/>
          <p:nvPr/>
        </p:nvSpPr>
        <p:spPr>
          <a:xfrm>
            <a:off x="3358570" y="1378347"/>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0:00 – 0:07</a:t>
            </a:r>
            <a:endParaRPr lang="en-US" sz="1450" dirty="0"/>
          </a:p>
        </p:txBody>
      </p:sp>
      <p:sp>
        <p:nvSpPr>
          <p:cNvPr id="8" name="Text 6"/>
          <p:cNvSpPr/>
          <p:nvPr/>
        </p:nvSpPr>
        <p:spPr>
          <a:xfrm>
            <a:off x="805041" y="1700808"/>
            <a:ext cx="4435463"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a:t>
            </a:r>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 Game: "The Blind Recipe" — doing without method</a:t>
            </a:r>
            <a:endParaRPr lang="en-US" sz="1300" dirty="0"/>
          </a:p>
        </p:txBody>
      </p:sp>
      <p:sp>
        <p:nvSpPr>
          <p:cNvPr id="9" name="Shape 7"/>
          <p:cNvSpPr/>
          <p:nvPr/>
        </p:nvSpPr>
        <p:spPr>
          <a:xfrm>
            <a:off x="6269228" y="2477591"/>
            <a:ext cx="513246" cy="19050"/>
          </a:xfrm>
          <a:prstGeom prst="roundRect">
            <a:avLst>
              <a:gd name="adj" fmla="val 377198"/>
            </a:avLst>
          </a:prstGeom>
          <a:solidFill>
            <a:srgbClr val="E5CCB2"/>
          </a:solidFill>
          <a:ln/>
        </p:spPr>
      </p:sp>
      <p:sp>
        <p:nvSpPr>
          <p:cNvPr id="10" name="Shape 8"/>
          <p:cNvSpPr/>
          <p:nvPr/>
        </p:nvSpPr>
        <p:spPr>
          <a:xfrm>
            <a:off x="5903418" y="2294731"/>
            <a:ext cx="384860" cy="384870"/>
          </a:xfrm>
          <a:prstGeom prst="roundRect">
            <a:avLst>
              <a:gd name="adj" fmla="val 18671"/>
            </a:avLst>
          </a:prstGeom>
          <a:solidFill>
            <a:srgbClr val="FFE6CC"/>
          </a:solidFill>
          <a:ln w="6350">
            <a:solidFill>
              <a:srgbClr val="E5CCB2"/>
            </a:solidFill>
            <a:prstDash val="solid"/>
          </a:ln>
        </p:spPr>
      </p:sp>
      <p:sp>
        <p:nvSpPr>
          <p:cNvPr id="11" name="Text 9"/>
          <p:cNvSpPr/>
          <p:nvPr/>
        </p:nvSpPr>
        <p:spPr>
          <a:xfrm>
            <a:off x="5982890" y="2345978"/>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2</a:t>
            </a:r>
            <a:endParaRPr lang="en-US" sz="1750" dirty="0"/>
          </a:p>
        </p:txBody>
      </p:sp>
      <p:sp>
        <p:nvSpPr>
          <p:cNvPr id="12" name="Text 10"/>
          <p:cNvSpPr/>
          <p:nvPr/>
        </p:nvSpPr>
        <p:spPr>
          <a:xfrm>
            <a:off x="6951191" y="2353469"/>
            <a:ext cx="1881934"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0:07 – 0:22</a:t>
            </a:r>
            <a:endParaRPr lang="en-US" sz="1450" dirty="0"/>
          </a:p>
        </p:txBody>
      </p:sp>
      <p:sp>
        <p:nvSpPr>
          <p:cNvPr id="13" name="Text 11"/>
          <p:cNvSpPr/>
          <p:nvPr/>
        </p:nvSpPr>
        <p:spPr>
          <a:xfrm>
            <a:off x="6951191" y="2675930"/>
            <a:ext cx="4435463" cy="253107"/>
          </a:xfrm>
          <a:prstGeom prst="rect">
            <a:avLst/>
          </a:prstGeom>
          <a:noFill/>
          <a:ln/>
        </p:spPr>
        <p:txBody>
          <a:bodyPr wrap="none" lIns="0" tIns="0" rIns="0" bIns="0" rtlCol="0" anchor="t"/>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The See–Judge–Act method — with worked example</a:t>
            </a:r>
            <a:endParaRPr lang="en-US" sz="1300" dirty="0"/>
          </a:p>
        </p:txBody>
      </p:sp>
      <p:sp>
        <p:nvSpPr>
          <p:cNvPr id="14" name="Shape 12"/>
          <p:cNvSpPr/>
          <p:nvPr/>
        </p:nvSpPr>
        <p:spPr>
          <a:xfrm>
            <a:off x="5409221" y="3336727"/>
            <a:ext cx="513246" cy="19050"/>
          </a:xfrm>
          <a:prstGeom prst="roundRect">
            <a:avLst>
              <a:gd name="adj" fmla="val 377198"/>
            </a:avLst>
          </a:prstGeom>
          <a:solidFill>
            <a:srgbClr val="E5CCB2"/>
          </a:solidFill>
          <a:ln/>
        </p:spPr>
      </p:sp>
      <p:sp>
        <p:nvSpPr>
          <p:cNvPr id="15" name="Shape 13"/>
          <p:cNvSpPr/>
          <p:nvPr/>
        </p:nvSpPr>
        <p:spPr>
          <a:xfrm>
            <a:off x="5903418" y="3153866"/>
            <a:ext cx="384860" cy="384870"/>
          </a:xfrm>
          <a:prstGeom prst="roundRect">
            <a:avLst>
              <a:gd name="adj" fmla="val 18671"/>
            </a:avLst>
          </a:prstGeom>
          <a:solidFill>
            <a:srgbClr val="FFE6CC"/>
          </a:solidFill>
          <a:ln w="6350">
            <a:solidFill>
              <a:srgbClr val="E5CCB2"/>
            </a:solidFill>
            <a:prstDash val="solid"/>
          </a:ln>
        </p:spPr>
      </p:sp>
      <p:sp>
        <p:nvSpPr>
          <p:cNvPr id="16" name="Text 14"/>
          <p:cNvSpPr/>
          <p:nvPr/>
        </p:nvSpPr>
        <p:spPr>
          <a:xfrm>
            <a:off x="5982890" y="3205113"/>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3</a:t>
            </a:r>
            <a:endParaRPr lang="en-US" sz="1750" dirty="0"/>
          </a:p>
        </p:txBody>
      </p:sp>
      <p:sp>
        <p:nvSpPr>
          <p:cNvPr id="17" name="Text 15"/>
          <p:cNvSpPr/>
          <p:nvPr/>
        </p:nvSpPr>
        <p:spPr>
          <a:xfrm>
            <a:off x="3358570" y="3212604"/>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0:22 – 0:35</a:t>
            </a:r>
            <a:endParaRPr lang="en-US" sz="1450" dirty="0"/>
          </a:p>
        </p:txBody>
      </p:sp>
      <p:sp>
        <p:nvSpPr>
          <p:cNvPr id="18" name="Text 16"/>
          <p:cNvSpPr/>
          <p:nvPr/>
        </p:nvSpPr>
        <p:spPr>
          <a:xfrm>
            <a:off x="805041" y="3535065"/>
            <a:ext cx="4435463"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How to study theology — practical skills</a:t>
            </a:r>
            <a:endParaRPr lang="en-US" sz="1300" dirty="0"/>
          </a:p>
        </p:txBody>
      </p:sp>
      <p:sp>
        <p:nvSpPr>
          <p:cNvPr id="19" name="Shape 17"/>
          <p:cNvSpPr/>
          <p:nvPr/>
        </p:nvSpPr>
        <p:spPr>
          <a:xfrm>
            <a:off x="6269228" y="4195862"/>
            <a:ext cx="513246" cy="19050"/>
          </a:xfrm>
          <a:prstGeom prst="roundRect">
            <a:avLst>
              <a:gd name="adj" fmla="val 377198"/>
            </a:avLst>
          </a:prstGeom>
          <a:solidFill>
            <a:srgbClr val="E5CCB2"/>
          </a:solidFill>
          <a:ln/>
        </p:spPr>
      </p:sp>
      <p:sp>
        <p:nvSpPr>
          <p:cNvPr id="20" name="Shape 18"/>
          <p:cNvSpPr/>
          <p:nvPr/>
        </p:nvSpPr>
        <p:spPr>
          <a:xfrm>
            <a:off x="5903418" y="4013002"/>
            <a:ext cx="384860" cy="384870"/>
          </a:xfrm>
          <a:prstGeom prst="roundRect">
            <a:avLst>
              <a:gd name="adj" fmla="val 18671"/>
            </a:avLst>
          </a:prstGeom>
          <a:solidFill>
            <a:srgbClr val="FFE6CC"/>
          </a:solidFill>
          <a:ln w="6350">
            <a:solidFill>
              <a:srgbClr val="E5CCB2"/>
            </a:solidFill>
            <a:prstDash val="solid"/>
          </a:ln>
        </p:spPr>
      </p:sp>
      <p:sp>
        <p:nvSpPr>
          <p:cNvPr id="21" name="Text 19"/>
          <p:cNvSpPr/>
          <p:nvPr/>
        </p:nvSpPr>
        <p:spPr>
          <a:xfrm>
            <a:off x="5982890" y="4064248"/>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4</a:t>
            </a:r>
            <a:endParaRPr lang="en-US" sz="1750" dirty="0"/>
          </a:p>
        </p:txBody>
      </p:sp>
      <p:sp>
        <p:nvSpPr>
          <p:cNvPr id="22" name="Text 20"/>
          <p:cNvSpPr/>
          <p:nvPr/>
        </p:nvSpPr>
        <p:spPr>
          <a:xfrm>
            <a:off x="6951191" y="4071739"/>
            <a:ext cx="1881934"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0:35 – 0:43</a:t>
            </a:r>
            <a:endParaRPr lang="en-US" sz="1450" dirty="0"/>
          </a:p>
        </p:txBody>
      </p:sp>
      <p:sp>
        <p:nvSpPr>
          <p:cNvPr id="23" name="Text 21"/>
          <p:cNvSpPr/>
          <p:nvPr/>
        </p:nvSpPr>
        <p:spPr>
          <a:xfrm>
            <a:off x="6951191" y="4394200"/>
            <a:ext cx="4435463" cy="253107"/>
          </a:xfrm>
          <a:prstGeom prst="rect">
            <a:avLst/>
          </a:prstGeom>
          <a:noFill/>
          <a:ln/>
        </p:spPr>
        <p:txBody>
          <a:bodyPr wrap="none" lIns="0" tIns="0" rIns="0" bIns="0" rtlCol="0" anchor="t"/>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The theological journal — introduction and first entry</a:t>
            </a:r>
            <a:endParaRPr lang="en-US" sz="1300" dirty="0"/>
          </a:p>
        </p:txBody>
      </p:sp>
      <p:sp>
        <p:nvSpPr>
          <p:cNvPr id="24" name="Shape 22"/>
          <p:cNvSpPr/>
          <p:nvPr/>
        </p:nvSpPr>
        <p:spPr>
          <a:xfrm>
            <a:off x="5409221" y="5054997"/>
            <a:ext cx="513246" cy="19050"/>
          </a:xfrm>
          <a:prstGeom prst="roundRect">
            <a:avLst>
              <a:gd name="adj" fmla="val 377198"/>
            </a:avLst>
          </a:prstGeom>
          <a:solidFill>
            <a:srgbClr val="E5CCB2"/>
          </a:solidFill>
          <a:ln/>
        </p:spPr>
      </p:sp>
      <p:sp>
        <p:nvSpPr>
          <p:cNvPr id="25" name="Shape 23"/>
          <p:cNvSpPr/>
          <p:nvPr/>
        </p:nvSpPr>
        <p:spPr>
          <a:xfrm>
            <a:off x="5903418" y="4872137"/>
            <a:ext cx="384860" cy="384870"/>
          </a:xfrm>
          <a:prstGeom prst="roundRect">
            <a:avLst>
              <a:gd name="adj" fmla="val 18671"/>
            </a:avLst>
          </a:prstGeom>
          <a:solidFill>
            <a:srgbClr val="FFE6CC"/>
          </a:solidFill>
          <a:ln w="6350">
            <a:solidFill>
              <a:srgbClr val="E5CCB2"/>
            </a:solidFill>
            <a:prstDash val="solid"/>
          </a:ln>
        </p:spPr>
      </p:sp>
      <p:sp>
        <p:nvSpPr>
          <p:cNvPr id="26" name="Text 24"/>
          <p:cNvSpPr/>
          <p:nvPr/>
        </p:nvSpPr>
        <p:spPr>
          <a:xfrm>
            <a:off x="5982890" y="4923383"/>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5</a:t>
            </a:r>
            <a:endParaRPr lang="en-US" sz="1750" dirty="0"/>
          </a:p>
        </p:txBody>
      </p:sp>
      <p:sp>
        <p:nvSpPr>
          <p:cNvPr id="27" name="Text 25"/>
          <p:cNvSpPr/>
          <p:nvPr/>
        </p:nvSpPr>
        <p:spPr>
          <a:xfrm>
            <a:off x="3358570" y="4930874"/>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0:43 – 0:45</a:t>
            </a:r>
            <a:endParaRPr lang="en-US" sz="1450" dirty="0"/>
          </a:p>
        </p:txBody>
      </p:sp>
      <p:sp>
        <p:nvSpPr>
          <p:cNvPr id="28" name="Text 26"/>
          <p:cNvSpPr/>
          <p:nvPr/>
        </p:nvSpPr>
        <p:spPr>
          <a:xfrm>
            <a:off x="805041" y="5253335"/>
            <a:ext cx="4435463"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Closing Prayer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05041" y="1528763"/>
            <a:ext cx="9169270"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GAME: The Blind Recipe (7 minutes)</a:t>
            </a:r>
            <a:endParaRPr lang="en-US" sz="3450" dirty="0"/>
          </a:p>
        </p:txBody>
      </p:sp>
      <p:sp>
        <p:nvSpPr>
          <p:cNvPr id="3" name="Text 1"/>
          <p:cNvSpPr/>
          <p:nvPr/>
        </p:nvSpPr>
        <p:spPr>
          <a:xfrm>
            <a:off x="805041" y="2484735"/>
            <a:ext cx="10581613" cy="1514673"/>
          </a:xfrm>
          <a:prstGeom prst="rect">
            <a:avLst/>
          </a:prstGeom>
          <a:noFill/>
          <a:ln/>
        </p:spPr>
        <p:txBody>
          <a:bodyPr wrap="square" lIns="0" tIns="0" rIns="0" bIns="0" rtlCol="0" anchor="t"/>
          <a:lstStyle/>
          <a:p>
            <a:pPr algn="l" indent="0" marL="0">
              <a:lnSpc>
                <a:spcPct val="133000"/>
              </a:lnSpc>
              <a:spcAft>
                <a:spcPts val="1750"/>
              </a:spcAft>
              <a:buNone/>
            </a:pPr>
            <a:r>
              <a:rPr lang="en-US" sz="1550" dirty="0">
                <a:solidFill>
                  <a:srgbClr val="000000"/>
                </a:solidFill>
                <a:latin typeface="Fira Sans" pitchFamily="34" charset="0"/>
                <a:ea typeface="Fira Sans" pitchFamily="34" charset="-122"/>
                <a:cs typeface="Fira Sans" pitchFamily="34" charset="-120"/>
              </a:rPr>
              <a:t>Ask a volunteer: "Explain to me how to make dal without using the words 'dal,' 'water,' 'fire,' or 'cook.'"</a:t>
            </a:r>
            <a:endParaRPr lang="en-US" sz="1550" dirty="0"/>
          </a:p>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Let the class laugh. Then say: "Doing theology without method is like cooking without knowing the sequence. You might accidentally produce something edible. You might also produce something nobody can eat. Method is not about limiting creativity — it is about making sure the creativity serves the meal."</a:t>
            </a:r>
            <a:endParaRPr lang="en-US" sz="1550" dirty="0"/>
          </a:p>
        </p:txBody>
      </p:sp>
      <p:sp>
        <p:nvSpPr>
          <p:cNvPr id="4" name="Shape 2"/>
          <p:cNvSpPr/>
          <p:nvPr/>
        </p:nvSpPr>
        <p:spPr>
          <a:xfrm>
            <a:off x="805041" y="4225826"/>
            <a:ext cx="25399" cy="1103313"/>
          </a:xfrm>
          <a:prstGeom prst="roundRect">
            <a:avLst>
              <a:gd name="adj" fmla="val 60001"/>
            </a:avLst>
          </a:prstGeom>
          <a:solidFill>
            <a:srgbClr val="020100"/>
          </a:solidFill>
          <a:ln/>
        </p:spPr>
      </p:sp>
      <p:sp>
        <p:nvSpPr>
          <p:cNvPr id="5" name="Text 3"/>
          <p:cNvSpPr/>
          <p:nvPr/>
        </p:nvSpPr>
        <p:spPr>
          <a:xfrm>
            <a:off x="1106956" y="4452243"/>
            <a:ext cx="10279698" cy="65047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Add: "Some theological papers I have read were exactly like that dal — edible in parts but nobody could tell what had been added in what order."</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05041" y="1114425"/>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CORE CONTENT: The See–Judge–Act Method</a:t>
            </a:r>
            <a:endParaRPr lang="en-US" sz="3450" dirty="0"/>
          </a:p>
        </p:txBody>
      </p:sp>
      <p:sp>
        <p:nvSpPr>
          <p:cNvPr id="3" name="Text 1"/>
          <p:cNvSpPr/>
          <p:nvPr/>
        </p:nvSpPr>
        <p:spPr>
          <a:xfrm>
            <a:off x="805041" y="2623840"/>
            <a:ext cx="10581613" cy="966192"/>
          </a:xfrm>
          <a:prstGeom prst="rect">
            <a:avLst/>
          </a:prstGeom>
          <a:noFill/>
          <a:ln/>
        </p:spPr>
        <p:txBody>
          <a:bodyPr wrap="square" lIns="0" tIns="0" rIns="0" bIns="0" rtlCol="0" anchor="t">
            <a:normAutofit/>
          </a:bodyPr>
          <a:lstStyle/>
          <a:p>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Origin:</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Developed by Cardjin for the Young Christian Workers movement in Belgium (1920s). Adopted by CELAM at Medellin (1968), by FABC, and endorsed by Vatican II. It is now the standard method for contextual theology worldwide.</a:t>
            </a:r>
            <a:endParaRPr lang="en-US" sz="1550" dirty="0"/>
          </a:p>
        </p:txBody>
      </p:sp>
      <p:pic>
        <p:nvPicPr>
          <p:cNvPr id="4" name="Image 0" descr="preencoded.png">    </p:cNvPr>
          <p:cNvPicPr>
            <a:picLocks noChangeAspect="1"/>
          </p:cNvPicPr>
          <p:nvPr/>
        </p:nvPicPr>
        <p:blipFill>
          <a:blip r:embed="rId1"/>
          <a:stretch>
            <a:fillRect/>
          </a:stretch>
        </p:blipFill>
        <p:spPr>
          <a:xfrm>
            <a:off x="805041" y="3816449"/>
            <a:ext cx="3527138" cy="805061"/>
          </a:xfrm>
          <a:prstGeom prst="rect">
            <a:avLst/>
          </a:prstGeom>
        </p:spPr>
      </p:pic>
      <p:sp>
        <p:nvSpPr>
          <p:cNvPr id="5" name="Text 2"/>
          <p:cNvSpPr/>
          <p:nvPr/>
        </p:nvSpPr>
        <p:spPr>
          <a:xfrm>
            <a:off x="1006251" y="4822726"/>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SEE</a:t>
            </a:r>
            <a:endParaRPr lang="en-US" sz="1700" dirty="0"/>
          </a:p>
        </p:txBody>
      </p:sp>
      <p:sp>
        <p:nvSpPr>
          <p:cNvPr id="6" name="Text 3"/>
          <p:cNvSpPr/>
          <p:nvPr/>
        </p:nvSpPr>
        <p:spPr>
          <a:xfrm>
            <a:off x="1006251" y="5220295"/>
            <a:ext cx="3124717" cy="322064"/>
          </a:xfrm>
          <a:prstGeom prst="rect">
            <a:avLst/>
          </a:prstGeom>
          <a:noFill/>
          <a:ln/>
        </p:spPr>
        <p:txBody>
          <a:bodyPr wrap="none" lIns="0" tIns="0" rIns="0" bIns="0" rtlCol="0" anchor="t"/>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Social Analysis</a:t>
            </a:r>
            <a:endParaRPr lang="en-US" sz="1550" dirty="0"/>
          </a:p>
        </p:txBody>
      </p:sp>
      <p:pic>
        <p:nvPicPr>
          <p:cNvPr id="7" name="Image 1" descr="preencoded.png">    </p:cNvPr>
          <p:cNvPicPr>
            <a:picLocks noChangeAspect="1"/>
          </p:cNvPicPr>
          <p:nvPr/>
        </p:nvPicPr>
        <p:blipFill>
          <a:blip r:embed="rId2"/>
          <a:stretch>
            <a:fillRect/>
          </a:stretch>
        </p:blipFill>
        <p:spPr>
          <a:xfrm>
            <a:off x="4332179" y="3816449"/>
            <a:ext cx="3527238" cy="805061"/>
          </a:xfrm>
          <a:prstGeom prst="rect">
            <a:avLst/>
          </a:prstGeom>
        </p:spPr>
      </p:pic>
      <p:sp>
        <p:nvSpPr>
          <p:cNvPr id="8" name="Text 4"/>
          <p:cNvSpPr/>
          <p:nvPr/>
        </p:nvSpPr>
        <p:spPr>
          <a:xfrm>
            <a:off x="4533390" y="4822726"/>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JUDGE</a:t>
            </a:r>
            <a:endParaRPr lang="en-US" sz="1700" dirty="0"/>
          </a:p>
        </p:txBody>
      </p:sp>
      <p:sp>
        <p:nvSpPr>
          <p:cNvPr id="9" name="Text 5"/>
          <p:cNvSpPr/>
          <p:nvPr/>
        </p:nvSpPr>
        <p:spPr>
          <a:xfrm>
            <a:off x="4533390" y="5220295"/>
            <a:ext cx="3124816" cy="322064"/>
          </a:xfrm>
          <a:prstGeom prst="rect">
            <a:avLst/>
          </a:prstGeom>
          <a:noFill/>
          <a:ln/>
        </p:spPr>
        <p:txBody>
          <a:bodyPr wrap="none" lIns="0" tIns="0" rIns="0" bIns="0" rtlCol="0" anchor="t"/>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Theological Reflection</a:t>
            </a:r>
            <a:endParaRPr lang="en-US" sz="1550" dirty="0"/>
          </a:p>
        </p:txBody>
      </p:sp>
      <p:pic>
        <p:nvPicPr>
          <p:cNvPr id="10" name="Image 2" descr="preencoded.png">    </p:cNvPr>
          <p:cNvPicPr>
            <a:picLocks noChangeAspect="1"/>
          </p:cNvPicPr>
          <p:nvPr/>
        </p:nvPicPr>
        <p:blipFill>
          <a:blip r:embed="rId3"/>
          <a:stretch>
            <a:fillRect/>
          </a:stretch>
        </p:blipFill>
        <p:spPr>
          <a:xfrm>
            <a:off x="7859417" y="3816449"/>
            <a:ext cx="3527238" cy="805061"/>
          </a:xfrm>
          <a:prstGeom prst="rect">
            <a:avLst/>
          </a:prstGeom>
        </p:spPr>
      </p:pic>
      <p:sp>
        <p:nvSpPr>
          <p:cNvPr id="11" name="Text 6"/>
          <p:cNvSpPr/>
          <p:nvPr/>
        </p:nvSpPr>
        <p:spPr>
          <a:xfrm>
            <a:off x="8060627" y="4822726"/>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ACT</a:t>
            </a:r>
            <a:endParaRPr lang="en-US" sz="1700" dirty="0"/>
          </a:p>
        </p:txBody>
      </p:sp>
      <p:sp>
        <p:nvSpPr>
          <p:cNvPr id="12" name="Text 7"/>
          <p:cNvSpPr/>
          <p:nvPr/>
        </p:nvSpPr>
        <p:spPr>
          <a:xfrm>
            <a:off x="8060627" y="5220295"/>
            <a:ext cx="3124816" cy="322064"/>
          </a:xfrm>
          <a:prstGeom prst="rect">
            <a:avLst/>
          </a:prstGeom>
          <a:noFill/>
          <a:ln/>
        </p:spPr>
        <p:txBody>
          <a:bodyPr wrap="none" lIns="0" tIns="0" rIns="0" bIns="0" rtlCol="0" anchor="t"/>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Pastoral Response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5041" y="915293"/>
            <a:ext cx="7297555"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THE THREE MOVEMENTS</a:t>
            </a:r>
            <a:endParaRPr lang="en-US" sz="3450" dirty="0"/>
          </a:p>
        </p:txBody>
      </p:sp>
      <p:sp>
        <p:nvSpPr>
          <p:cNvPr id="3" name="Shape 1"/>
          <p:cNvSpPr/>
          <p:nvPr/>
        </p:nvSpPr>
        <p:spPr>
          <a:xfrm>
            <a:off x="805041" y="1871266"/>
            <a:ext cx="3392998" cy="4071441"/>
          </a:xfrm>
          <a:prstGeom prst="roundRect">
            <a:avLst>
              <a:gd name="adj" fmla="val 2491"/>
            </a:avLst>
          </a:prstGeom>
          <a:solidFill>
            <a:srgbClr val="B98D34"/>
          </a:solidFill>
          <a:ln w="25399">
            <a:solidFill>
              <a:srgbClr val="E5CCB2"/>
            </a:solidFill>
            <a:prstDash val="solid"/>
          </a:ln>
        </p:spPr>
      </p:sp>
      <p:sp>
        <p:nvSpPr>
          <p:cNvPr id="4" name="Text 2"/>
          <p:cNvSpPr/>
          <p:nvPr/>
        </p:nvSpPr>
        <p:spPr>
          <a:xfrm>
            <a:off x="1031651" y="2097881"/>
            <a:ext cx="2576150"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SEE — Social Analysis</a:t>
            </a:r>
            <a:endParaRPr lang="en-US" sz="1700" dirty="0"/>
          </a:p>
        </p:txBody>
      </p:sp>
      <p:sp>
        <p:nvSpPr>
          <p:cNvPr id="5" name="Text 3"/>
          <p:cNvSpPr/>
          <p:nvPr/>
        </p:nvSpPr>
        <p:spPr>
          <a:xfrm>
            <a:off x="1031651" y="2495451"/>
            <a:ext cx="2939778" cy="3220641"/>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Observe the reality carefully. What is actually happening? Who is suffering? Who benefits? Use sociology, economics, history, and local knowledge. This is not mere journalism — it is disciplined attention to the signs of the times. Ask: "What does the data say? What stories do people tell?"</a:t>
            </a:r>
            <a:endParaRPr lang="en-US" sz="1550" dirty="0"/>
          </a:p>
        </p:txBody>
      </p:sp>
      <p:sp>
        <p:nvSpPr>
          <p:cNvPr id="6" name="Shape 4"/>
          <p:cNvSpPr/>
          <p:nvPr/>
        </p:nvSpPr>
        <p:spPr>
          <a:xfrm>
            <a:off x="4399249" y="1871266"/>
            <a:ext cx="3393097" cy="4071441"/>
          </a:xfrm>
          <a:prstGeom prst="roundRect">
            <a:avLst>
              <a:gd name="adj" fmla="val 2491"/>
            </a:avLst>
          </a:prstGeom>
          <a:solidFill>
            <a:srgbClr val="B98D34"/>
          </a:solidFill>
          <a:ln w="25399">
            <a:solidFill>
              <a:srgbClr val="E5CCB2"/>
            </a:solidFill>
            <a:prstDash val="solid"/>
          </a:ln>
        </p:spPr>
      </p:sp>
      <p:sp>
        <p:nvSpPr>
          <p:cNvPr id="7" name="Text 5"/>
          <p:cNvSpPr/>
          <p:nvPr/>
        </p:nvSpPr>
        <p:spPr>
          <a:xfrm>
            <a:off x="4625859" y="2097881"/>
            <a:ext cx="2939877" cy="553641"/>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JUDGE — Theological Reflection</a:t>
            </a:r>
            <a:endParaRPr lang="en-US" sz="1700" dirty="0"/>
          </a:p>
        </p:txBody>
      </p:sp>
      <p:sp>
        <p:nvSpPr>
          <p:cNvPr id="8" name="Text 6"/>
          <p:cNvSpPr/>
          <p:nvPr/>
        </p:nvSpPr>
        <p:spPr>
          <a:xfrm>
            <a:off x="4625859" y="2772271"/>
            <a:ext cx="2939877" cy="257651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Bring the social reality into dialogue with the Word of God, the Tradition of the Church, and the teaching of the Magisterium. Ask: "What does Scripture say? What has the Church taught? What does faith illuminate here?"</a:t>
            </a:r>
            <a:endParaRPr lang="en-US" sz="1550" dirty="0"/>
          </a:p>
        </p:txBody>
      </p:sp>
      <p:sp>
        <p:nvSpPr>
          <p:cNvPr id="9" name="Shape 7"/>
          <p:cNvSpPr/>
          <p:nvPr/>
        </p:nvSpPr>
        <p:spPr>
          <a:xfrm>
            <a:off x="7993557" y="1871266"/>
            <a:ext cx="3393097" cy="4071441"/>
          </a:xfrm>
          <a:prstGeom prst="roundRect">
            <a:avLst>
              <a:gd name="adj" fmla="val 2491"/>
            </a:avLst>
          </a:prstGeom>
          <a:solidFill>
            <a:srgbClr val="B98D34"/>
          </a:solidFill>
          <a:ln w="25399">
            <a:solidFill>
              <a:srgbClr val="E5CCB2"/>
            </a:solidFill>
            <a:prstDash val="solid"/>
          </a:ln>
        </p:spPr>
      </p:sp>
      <p:sp>
        <p:nvSpPr>
          <p:cNvPr id="10" name="Text 8"/>
          <p:cNvSpPr/>
          <p:nvPr/>
        </p:nvSpPr>
        <p:spPr>
          <a:xfrm>
            <a:off x="8220167" y="2097881"/>
            <a:ext cx="2939877" cy="553641"/>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ACT — Pastoral Response</a:t>
            </a:r>
            <a:endParaRPr lang="en-US" sz="1700" dirty="0"/>
          </a:p>
        </p:txBody>
      </p:sp>
      <p:sp>
        <p:nvSpPr>
          <p:cNvPr id="11" name="Text 9"/>
          <p:cNvSpPr/>
          <p:nvPr/>
        </p:nvSpPr>
        <p:spPr>
          <a:xfrm>
            <a:off x="8220167" y="2772271"/>
            <a:ext cx="2939877" cy="161032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Move from analysis and reflection to concrete, specific, realistic action. Ask: "What must we do? Who must do it? By when? With what resources?"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05041" y="716955"/>
            <a:ext cx="10581613" cy="1051719"/>
          </a:xfrm>
          <a:prstGeom prst="rect">
            <a:avLst/>
          </a:prstGeom>
          <a:noFill/>
          <a:ln/>
        </p:spPr>
        <p:txBody>
          <a:bodyPr wrap="square" lIns="0" tIns="0" rIns="0" bIns="0" rtlCol="0" anchor="t">
            <a:normAutofit/>
          </a:bodyPr>
          <a:lstStyle/>
          <a:p>
            <a:pPr algn="l" indent="0" marL="0">
              <a:lnSpc>
                <a:spcPct val="104000"/>
              </a:lnSpc>
              <a:buNone/>
            </a:pPr>
            <a:r>
              <a:rPr lang="en-US" sz="3300" b="1" dirty="0">
                <a:solidFill>
                  <a:srgbClr val="000000"/>
                </a:solidFill>
                <a:latin typeface="Libre Baskerville Bold" pitchFamily="34" charset="0"/>
                <a:ea typeface="Libre Baskerville Bold" pitchFamily="34" charset="-122"/>
                <a:cs typeface="Libre Baskerville Bold" pitchFamily="34" charset="-120"/>
              </a:rPr>
              <a:t>WORKED EXAMPLE: Caste Discrimination in a Parish</a:t>
            </a:r>
            <a:endParaRPr lang="en-US" sz="3300" dirty="0"/>
          </a:p>
        </p:txBody>
      </p:sp>
      <p:sp>
        <p:nvSpPr>
          <p:cNvPr id="3" name="Shape 1"/>
          <p:cNvSpPr/>
          <p:nvPr/>
        </p:nvSpPr>
        <p:spPr>
          <a:xfrm>
            <a:off x="667329" y="2041128"/>
            <a:ext cx="5332974" cy="4099818"/>
          </a:xfrm>
          <a:prstGeom prst="roundRect">
            <a:avLst>
              <a:gd name="adj" fmla="val 3358"/>
            </a:avLst>
          </a:prstGeom>
          <a:solidFill>
            <a:srgbClr val="493F36"/>
          </a:solidFill>
          <a:ln/>
        </p:spPr>
      </p:sp>
      <p:sp>
        <p:nvSpPr>
          <p:cNvPr id="4" name="Text 2"/>
          <p:cNvSpPr/>
          <p:nvPr/>
        </p:nvSpPr>
        <p:spPr>
          <a:xfrm>
            <a:off x="858518" y="2222698"/>
            <a:ext cx="2712870" cy="262930"/>
          </a:xfrm>
          <a:prstGeom prst="rect">
            <a:avLst/>
          </a:prstGeom>
          <a:noFill/>
          <a:ln/>
        </p:spPr>
        <p:txBody>
          <a:bodyPr wrap="none" lIns="0" tIns="0" rIns="0" bIns="0" rtlCol="0" anchor="t"/>
          <a:lstStyle/>
          <a:p>
            <a:pPr algn="l" indent="0" marL="0">
              <a:lnSpc>
                <a:spcPct val="104000"/>
              </a:lnSpc>
              <a:buNone/>
            </a:pPr>
            <a:r>
              <a:rPr lang="en-US" sz="1650" b="1" dirty="0">
                <a:solidFill>
                  <a:srgbClr val="FFFFFF"/>
                </a:solidFill>
                <a:latin typeface="Libre Baskerville Bold" pitchFamily="34" charset="0"/>
                <a:ea typeface="Libre Baskerville Bold" pitchFamily="34" charset="-122"/>
                <a:cs typeface="Libre Baskerville Bold" pitchFamily="34" charset="-120"/>
              </a:rPr>
              <a:t>SEE</a:t>
            </a:r>
            <a:endParaRPr lang="en-US" sz="1650" dirty="0"/>
          </a:p>
        </p:txBody>
      </p:sp>
      <p:sp>
        <p:nvSpPr>
          <p:cNvPr id="5" name="Text 3"/>
          <p:cNvSpPr/>
          <p:nvPr/>
        </p:nvSpPr>
        <p:spPr>
          <a:xfrm>
            <a:off x="858518" y="2667198"/>
            <a:ext cx="4950594" cy="1193006"/>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FFFFFF"/>
                </a:solidFill>
                <a:latin typeface="Fira Sans" pitchFamily="34" charset="0"/>
                <a:ea typeface="Fira Sans" pitchFamily="34" charset="-122"/>
                <a:cs typeface="Fira Sans" pitchFamily="34" charset="-120"/>
              </a:rPr>
              <a:t>In a parish in southern India, Dalit Catholics sit in separate rows from caste Catholics. Communion is distributed separately. Church committees are dominated by one caste group.</a:t>
            </a:r>
            <a:endParaRPr lang="en-US" sz="1500" dirty="0"/>
          </a:p>
        </p:txBody>
      </p:sp>
      <p:sp>
        <p:nvSpPr>
          <p:cNvPr id="6" name="Text 4"/>
          <p:cNvSpPr/>
          <p:nvPr/>
        </p:nvSpPr>
        <p:spPr>
          <a:xfrm>
            <a:off x="6335455" y="2222698"/>
            <a:ext cx="2712870" cy="262930"/>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JUDGE</a:t>
            </a:r>
            <a:endParaRPr lang="en-US" sz="1650" dirty="0"/>
          </a:p>
        </p:txBody>
      </p:sp>
      <p:sp>
        <p:nvSpPr>
          <p:cNvPr id="7" name="Text 5"/>
          <p:cNvSpPr/>
          <p:nvPr/>
        </p:nvSpPr>
        <p:spPr>
          <a:xfrm>
            <a:off x="6335455" y="2667198"/>
            <a:ext cx="5057549" cy="1491258"/>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Galatians 3:28: "There is neither Jew nor Greek, neither slave nor free, neither male nor female — for you are all one in Christ Jesus." The Eucharist is the meal of the new community, not the old hierarchies. Caste at the altar is a liturgical heresy.</a:t>
            </a:r>
            <a:endParaRPr lang="en-US" sz="1500" dirty="0"/>
          </a:p>
        </p:txBody>
      </p:sp>
      <p:sp>
        <p:nvSpPr>
          <p:cNvPr id="8" name="Text 6"/>
          <p:cNvSpPr/>
          <p:nvPr/>
        </p:nvSpPr>
        <p:spPr>
          <a:xfrm>
            <a:off x="6335455" y="4340027"/>
            <a:ext cx="2712870" cy="262930"/>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ACT</a:t>
            </a:r>
            <a:endParaRPr lang="en-US" sz="1650" dirty="0"/>
          </a:p>
        </p:txBody>
      </p:sp>
      <p:sp>
        <p:nvSpPr>
          <p:cNvPr id="9" name="Text 7"/>
          <p:cNvSpPr/>
          <p:nvPr/>
        </p:nvSpPr>
        <p:spPr>
          <a:xfrm>
            <a:off x="6335455" y="4784527"/>
            <a:ext cx="5057549" cy="1193006"/>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Parish renewal programme with explicit catechesis on baptismal equality; formation sessions for parish council; a written diocesan policy against caste discrimination at liturgy.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05041" y="591245"/>
            <a:ext cx="10581613" cy="885428"/>
          </a:xfrm>
          <a:prstGeom prst="rect">
            <a:avLst/>
          </a:prstGeom>
          <a:noFill/>
          <a:ln/>
        </p:spPr>
        <p:txBody>
          <a:bodyPr wrap="square" lIns="0" tIns="0" rIns="0" bIns="0" rtlCol="0" anchor="t">
            <a:normAutofit/>
          </a:bodyPr>
          <a:lstStyle/>
          <a:p>
            <a:pPr algn="l" indent="0" marL="0">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CORE CONTENT: How to Study Theology — Practical Skills</a:t>
            </a:r>
            <a:endParaRPr lang="en-US" sz="2750" dirty="0"/>
          </a:p>
        </p:txBody>
      </p:sp>
      <p:sp>
        <p:nvSpPr>
          <p:cNvPr id="3" name="Text 1"/>
          <p:cNvSpPr/>
          <p:nvPr/>
        </p:nvSpPr>
        <p:spPr>
          <a:xfrm>
            <a:off x="805041" y="1528167"/>
            <a:ext cx="9852870" cy="354211"/>
          </a:xfrm>
          <a:prstGeom prst="rect">
            <a:avLst/>
          </a:prstGeom>
          <a:noFill/>
          <a:ln/>
        </p:spPr>
        <p:txBody>
          <a:bodyPr wrap="none" lIns="0" tIns="0" rIns="0" bIns="0" rtlCol="0" anchor="t"/>
          <a:lstStyle/>
          <a:p>
            <a:pPr algn="l" indent="0" marL="0">
              <a:lnSpc>
                <a:spcPct val="104000"/>
              </a:lnSpc>
              <a:buNone/>
            </a:pPr>
            <a:r>
              <a:rPr lang="en-US" sz="2200" b="1" dirty="0">
                <a:solidFill>
                  <a:srgbClr val="000000"/>
                </a:solidFill>
                <a:latin typeface="Libre Baskerville Bold" pitchFamily="34" charset="0"/>
                <a:ea typeface="Libre Baskerville Bold" pitchFamily="34" charset="-122"/>
                <a:cs typeface="Libre Baskerville Bold" pitchFamily="34" charset="-120"/>
              </a:rPr>
              <a:t>TEN HABITS OF AN EFFECTIVE THEOLOGIAN-STUDENT</a:t>
            </a:r>
            <a:endParaRPr lang="en-US" sz="2200" dirty="0"/>
          </a:p>
        </p:txBody>
      </p:sp>
      <p:sp>
        <p:nvSpPr>
          <p:cNvPr id="4" name="Shape 2"/>
          <p:cNvSpPr/>
          <p:nvPr/>
        </p:nvSpPr>
        <p:spPr>
          <a:xfrm>
            <a:off x="805041" y="2075557"/>
            <a:ext cx="362239" cy="362248"/>
          </a:xfrm>
          <a:prstGeom prst="roundRect">
            <a:avLst>
              <a:gd name="adj" fmla="val 18670"/>
            </a:avLst>
          </a:prstGeom>
          <a:solidFill>
            <a:srgbClr val="FFE6CC"/>
          </a:solidFill>
          <a:ln w="6350">
            <a:solidFill>
              <a:srgbClr val="E5CCB2"/>
            </a:solidFill>
            <a:prstDash val="solid"/>
          </a:ln>
        </p:spPr>
      </p:sp>
      <p:sp>
        <p:nvSpPr>
          <p:cNvPr id="5" name="Text 3"/>
          <p:cNvSpPr/>
          <p:nvPr/>
        </p:nvSpPr>
        <p:spPr>
          <a:xfrm>
            <a:off x="879850" y="2123827"/>
            <a:ext cx="212521" cy="265609"/>
          </a:xfrm>
          <a:prstGeom prst="rect">
            <a:avLst/>
          </a:prstGeom>
          <a:noFill/>
          <a:ln/>
        </p:spPr>
        <p:txBody>
          <a:bodyPr wrap="none" lIns="0" tIns="0" rIns="0" bIns="0" rtlCol="0" anchor="ctr"/>
          <a:lstStyle/>
          <a:p>
            <a:pPr algn="ctr" indent="0" marL="0">
              <a:lnSpc>
                <a:spcPct val="100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1</a:t>
            </a:r>
            <a:endParaRPr lang="en-US" sz="1650" dirty="0"/>
          </a:p>
        </p:txBody>
      </p:sp>
      <p:sp>
        <p:nvSpPr>
          <p:cNvPr id="6" name="Text 4"/>
          <p:cNvSpPr/>
          <p:nvPr/>
        </p:nvSpPr>
        <p:spPr>
          <a:xfrm>
            <a:off x="1296062" y="2130822"/>
            <a:ext cx="2423754" cy="221357"/>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Libre Baskerville Bold" pitchFamily="34" charset="0"/>
                <a:ea typeface="Libre Baskerville Bold" pitchFamily="34" charset="-122"/>
                <a:cs typeface="Libre Baskerville Bold" pitchFamily="34" charset="-120"/>
              </a:rPr>
              <a:t>Read the primary sources.</a:t>
            </a:r>
            <a:endParaRPr lang="en-US" sz="1350" dirty="0"/>
          </a:p>
        </p:txBody>
      </p:sp>
      <p:sp>
        <p:nvSpPr>
          <p:cNvPr id="7" name="Text 5"/>
          <p:cNvSpPr/>
          <p:nvPr/>
        </p:nvSpPr>
        <p:spPr>
          <a:xfrm>
            <a:off x="1296062" y="2429470"/>
            <a:ext cx="10090592" cy="463748"/>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000000"/>
                </a:solidFill>
                <a:latin typeface="Fira Sans" pitchFamily="34" charset="0"/>
                <a:ea typeface="Fira Sans" pitchFamily="34" charset="-122"/>
                <a:cs typeface="Fira Sans" pitchFamily="34" charset="-120"/>
              </a:rPr>
              <a:t>Do not rely solely on secondary commentaries. Read Aquinas, read Augustine, read the Council documents, read FABC papers. The primary source is always richer than any summary.</a:t>
            </a:r>
            <a:endParaRPr lang="en-US" sz="1250" dirty="0"/>
          </a:p>
        </p:txBody>
      </p:sp>
      <p:sp>
        <p:nvSpPr>
          <p:cNvPr id="8" name="Shape 6"/>
          <p:cNvSpPr/>
          <p:nvPr/>
        </p:nvSpPr>
        <p:spPr>
          <a:xfrm>
            <a:off x="805041" y="3150791"/>
            <a:ext cx="362239" cy="362248"/>
          </a:xfrm>
          <a:prstGeom prst="roundRect">
            <a:avLst>
              <a:gd name="adj" fmla="val 18670"/>
            </a:avLst>
          </a:prstGeom>
          <a:solidFill>
            <a:srgbClr val="FFE6CC"/>
          </a:solidFill>
          <a:ln w="6350">
            <a:solidFill>
              <a:srgbClr val="E5CCB2"/>
            </a:solidFill>
            <a:prstDash val="solid"/>
          </a:ln>
        </p:spPr>
      </p:sp>
      <p:sp>
        <p:nvSpPr>
          <p:cNvPr id="9" name="Text 7"/>
          <p:cNvSpPr/>
          <p:nvPr/>
        </p:nvSpPr>
        <p:spPr>
          <a:xfrm>
            <a:off x="879850" y="3199061"/>
            <a:ext cx="212521" cy="265609"/>
          </a:xfrm>
          <a:prstGeom prst="rect">
            <a:avLst/>
          </a:prstGeom>
          <a:noFill/>
          <a:ln/>
        </p:spPr>
        <p:txBody>
          <a:bodyPr wrap="none" lIns="0" tIns="0" rIns="0" bIns="0" rtlCol="0" anchor="ctr"/>
          <a:lstStyle/>
          <a:p>
            <a:pPr algn="ctr" indent="0" marL="0">
              <a:lnSpc>
                <a:spcPct val="100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2</a:t>
            </a:r>
            <a:endParaRPr lang="en-US" sz="1650" dirty="0"/>
          </a:p>
        </p:txBody>
      </p:sp>
      <p:sp>
        <p:nvSpPr>
          <p:cNvPr id="10" name="Text 8"/>
          <p:cNvSpPr/>
          <p:nvPr/>
        </p:nvSpPr>
        <p:spPr>
          <a:xfrm>
            <a:off x="1296062" y="3206055"/>
            <a:ext cx="2480704" cy="221357"/>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Libre Baskerville Bold" pitchFamily="34" charset="0"/>
                <a:ea typeface="Libre Baskerville Bold" pitchFamily="34" charset="-122"/>
                <a:cs typeface="Libre Baskerville Bold" pitchFamily="34" charset="-120"/>
              </a:rPr>
              <a:t>Build a bibliography habit.</a:t>
            </a:r>
            <a:endParaRPr lang="en-US" sz="1350" dirty="0"/>
          </a:p>
        </p:txBody>
      </p:sp>
      <p:sp>
        <p:nvSpPr>
          <p:cNvPr id="11" name="Text 9"/>
          <p:cNvSpPr/>
          <p:nvPr/>
        </p:nvSpPr>
        <p:spPr>
          <a:xfrm>
            <a:off x="1296062" y="3504704"/>
            <a:ext cx="10090592" cy="231874"/>
          </a:xfrm>
          <a:prstGeom prst="rect">
            <a:avLst/>
          </a:prstGeom>
          <a:noFill/>
          <a:ln/>
        </p:spPr>
        <p:txBody>
          <a:bodyPr wrap="none" lIns="0" tIns="0" rIns="0" bIns="0" rtlCol="0" anchor="t"/>
          <a:lstStyle/>
          <a:p>
            <a:pPr algn="l" indent="0" marL="0">
              <a:lnSpc>
                <a:spcPct val="120000"/>
              </a:lnSpc>
              <a:buNone/>
            </a:pPr>
            <a:r>
              <a:rPr lang="en-US" sz="1250" dirty="0">
                <a:solidFill>
                  <a:srgbClr val="000000"/>
                </a:solidFill>
                <a:latin typeface="Fira Sans" pitchFamily="34" charset="0"/>
                <a:ea typeface="Fira Sans" pitchFamily="34" charset="-122"/>
                <a:cs typeface="Fira Sans" pitchFamily="34" charset="-120"/>
              </a:rPr>
              <a:t>Every time you read a book, note the full Turabian citation. Your future self will thank you at 11 PM the night before a paper is due.</a:t>
            </a:r>
            <a:endParaRPr lang="en-US" sz="1250" dirty="0"/>
          </a:p>
        </p:txBody>
      </p:sp>
      <p:sp>
        <p:nvSpPr>
          <p:cNvPr id="12" name="Shape 10"/>
          <p:cNvSpPr/>
          <p:nvPr/>
        </p:nvSpPr>
        <p:spPr>
          <a:xfrm>
            <a:off x="805041" y="3994150"/>
            <a:ext cx="362239" cy="362248"/>
          </a:xfrm>
          <a:prstGeom prst="roundRect">
            <a:avLst>
              <a:gd name="adj" fmla="val 18670"/>
            </a:avLst>
          </a:prstGeom>
          <a:solidFill>
            <a:srgbClr val="FFE6CC"/>
          </a:solidFill>
          <a:ln w="6350">
            <a:solidFill>
              <a:srgbClr val="E5CCB2"/>
            </a:solidFill>
            <a:prstDash val="solid"/>
          </a:ln>
        </p:spPr>
      </p:sp>
      <p:sp>
        <p:nvSpPr>
          <p:cNvPr id="13" name="Text 11"/>
          <p:cNvSpPr/>
          <p:nvPr/>
        </p:nvSpPr>
        <p:spPr>
          <a:xfrm>
            <a:off x="879850" y="4042420"/>
            <a:ext cx="212521" cy="265609"/>
          </a:xfrm>
          <a:prstGeom prst="rect">
            <a:avLst/>
          </a:prstGeom>
          <a:noFill/>
          <a:ln/>
        </p:spPr>
        <p:txBody>
          <a:bodyPr wrap="none" lIns="0" tIns="0" rIns="0" bIns="0" rtlCol="0" anchor="ctr"/>
          <a:lstStyle/>
          <a:p>
            <a:pPr algn="ctr" indent="0" marL="0">
              <a:lnSpc>
                <a:spcPct val="100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3</a:t>
            </a:r>
            <a:endParaRPr lang="en-US" sz="1650" dirty="0"/>
          </a:p>
        </p:txBody>
      </p:sp>
      <p:sp>
        <p:nvSpPr>
          <p:cNvPr id="14" name="Text 12"/>
          <p:cNvSpPr/>
          <p:nvPr/>
        </p:nvSpPr>
        <p:spPr>
          <a:xfrm>
            <a:off x="1296062" y="4049415"/>
            <a:ext cx="2757716" cy="221357"/>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Libre Baskerville Bold" pitchFamily="34" charset="0"/>
                <a:ea typeface="Libre Baskerville Bold" pitchFamily="34" charset="-122"/>
                <a:cs typeface="Libre Baskerville Bold" pitchFamily="34" charset="-120"/>
              </a:rPr>
              <a:t>Ask one question per reading.</a:t>
            </a:r>
            <a:endParaRPr lang="en-US" sz="1350" dirty="0"/>
          </a:p>
        </p:txBody>
      </p:sp>
      <p:sp>
        <p:nvSpPr>
          <p:cNvPr id="15" name="Text 13"/>
          <p:cNvSpPr/>
          <p:nvPr/>
        </p:nvSpPr>
        <p:spPr>
          <a:xfrm>
            <a:off x="1296062" y="4348063"/>
            <a:ext cx="10090592" cy="231874"/>
          </a:xfrm>
          <a:prstGeom prst="rect">
            <a:avLst/>
          </a:prstGeom>
          <a:noFill/>
          <a:ln/>
        </p:spPr>
        <p:txBody>
          <a:bodyPr wrap="none" lIns="0" tIns="0" rIns="0" bIns="0" rtlCol="0" anchor="t"/>
          <a:lstStyle/>
          <a:p>
            <a:pPr algn="l" indent="0" marL="0">
              <a:lnSpc>
                <a:spcPct val="120000"/>
              </a:lnSpc>
              <a:buNone/>
            </a:pPr>
            <a:r>
              <a:rPr lang="en-US" sz="1250" dirty="0">
                <a:solidFill>
                  <a:srgbClr val="000000"/>
                </a:solidFill>
                <a:latin typeface="Fira Sans" pitchFamily="34" charset="0"/>
                <a:ea typeface="Fira Sans" pitchFamily="34" charset="-122"/>
                <a:cs typeface="Fira Sans" pitchFamily="34" charset="-120"/>
              </a:rPr>
              <a:t>Do not try to master everything. Ask: "What is the one question this text is trying to answer?" Write it in the margin.</a:t>
            </a:r>
            <a:endParaRPr lang="en-US" sz="1250" dirty="0"/>
          </a:p>
        </p:txBody>
      </p:sp>
      <p:sp>
        <p:nvSpPr>
          <p:cNvPr id="16" name="Shape 14"/>
          <p:cNvSpPr/>
          <p:nvPr/>
        </p:nvSpPr>
        <p:spPr>
          <a:xfrm>
            <a:off x="805041" y="4837509"/>
            <a:ext cx="362239" cy="362248"/>
          </a:xfrm>
          <a:prstGeom prst="roundRect">
            <a:avLst>
              <a:gd name="adj" fmla="val 18670"/>
            </a:avLst>
          </a:prstGeom>
          <a:solidFill>
            <a:srgbClr val="FFE6CC"/>
          </a:solidFill>
          <a:ln w="6350">
            <a:solidFill>
              <a:srgbClr val="E5CCB2"/>
            </a:solidFill>
            <a:prstDash val="solid"/>
          </a:ln>
        </p:spPr>
      </p:sp>
      <p:sp>
        <p:nvSpPr>
          <p:cNvPr id="17" name="Text 15"/>
          <p:cNvSpPr/>
          <p:nvPr/>
        </p:nvSpPr>
        <p:spPr>
          <a:xfrm>
            <a:off x="879850" y="4885779"/>
            <a:ext cx="212521" cy="265609"/>
          </a:xfrm>
          <a:prstGeom prst="rect">
            <a:avLst/>
          </a:prstGeom>
          <a:noFill/>
          <a:ln/>
        </p:spPr>
        <p:txBody>
          <a:bodyPr wrap="none" lIns="0" tIns="0" rIns="0" bIns="0" rtlCol="0" anchor="ctr"/>
          <a:lstStyle/>
          <a:p>
            <a:pPr algn="ctr" indent="0" marL="0">
              <a:lnSpc>
                <a:spcPct val="100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4</a:t>
            </a:r>
            <a:endParaRPr lang="en-US" sz="1650" dirty="0"/>
          </a:p>
        </p:txBody>
      </p:sp>
      <p:sp>
        <p:nvSpPr>
          <p:cNvPr id="18" name="Text 16"/>
          <p:cNvSpPr/>
          <p:nvPr/>
        </p:nvSpPr>
        <p:spPr>
          <a:xfrm>
            <a:off x="1296062" y="4892774"/>
            <a:ext cx="1771209" cy="221357"/>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Libre Baskerville Bold" pitchFamily="34" charset="0"/>
                <a:ea typeface="Libre Baskerville Bold" pitchFamily="34" charset="-122"/>
                <a:cs typeface="Libre Baskerville Bold" pitchFamily="34" charset="-120"/>
              </a:rPr>
              <a:t>Write to learn.</a:t>
            </a:r>
            <a:endParaRPr lang="en-US" sz="1350" dirty="0"/>
          </a:p>
        </p:txBody>
      </p:sp>
      <p:sp>
        <p:nvSpPr>
          <p:cNvPr id="19" name="Text 17"/>
          <p:cNvSpPr/>
          <p:nvPr/>
        </p:nvSpPr>
        <p:spPr>
          <a:xfrm>
            <a:off x="1296062" y="5191423"/>
            <a:ext cx="10090592" cy="231874"/>
          </a:xfrm>
          <a:prstGeom prst="rect">
            <a:avLst/>
          </a:prstGeom>
          <a:noFill/>
          <a:ln/>
        </p:spPr>
        <p:txBody>
          <a:bodyPr wrap="none" lIns="0" tIns="0" rIns="0" bIns="0" rtlCol="0" anchor="t"/>
          <a:lstStyle/>
          <a:p>
            <a:pPr algn="l" indent="0" marL="0">
              <a:lnSpc>
                <a:spcPct val="120000"/>
              </a:lnSpc>
              <a:buNone/>
            </a:pPr>
            <a:r>
              <a:rPr lang="en-US" sz="1250" dirty="0">
                <a:solidFill>
                  <a:srgbClr val="000000"/>
                </a:solidFill>
                <a:latin typeface="Fira Sans" pitchFamily="34" charset="0"/>
                <a:ea typeface="Fira Sans" pitchFamily="34" charset="-122"/>
                <a:cs typeface="Fira Sans" pitchFamily="34" charset="-120"/>
              </a:rPr>
              <a:t>Theologians think by writing. Keep a notebook. Even if you never show anyone, writing forces clarity.</a:t>
            </a:r>
            <a:endParaRPr lang="en-US" sz="1250" dirty="0"/>
          </a:p>
        </p:txBody>
      </p:sp>
      <p:sp>
        <p:nvSpPr>
          <p:cNvPr id="20" name="Shape 18"/>
          <p:cNvSpPr/>
          <p:nvPr/>
        </p:nvSpPr>
        <p:spPr>
          <a:xfrm>
            <a:off x="805041" y="5680869"/>
            <a:ext cx="362239" cy="362248"/>
          </a:xfrm>
          <a:prstGeom prst="roundRect">
            <a:avLst>
              <a:gd name="adj" fmla="val 18670"/>
            </a:avLst>
          </a:prstGeom>
          <a:solidFill>
            <a:srgbClr val="FFE6CC"/>
          </a:solidFill>
          <a:ln w="6350">
            <a:solidFill>
              <a:srgbClr val="E5CCB2"/>
            </a:solidFill>
            <a:prstDash val="solid"/>
          </a:ln>
        </p:spPr>
      </p:sp>
      <p:sp>
        <p:nvSpPr>
          <p:cNvPr id="21" name="Text 19"/>
          <p:cNvSpPr/>
          <p:nvPr/>
        </p:nvSpPr>
        <p:spPr>
          <a:xfrm>
            <a:off x="879850" y="5729139"/>
            <a:ext cx="212521" cy="265609"/>
          </a:xfrm>
          <a:prstGeom prst="rect">
            <a:avLst/>
          </a:prstGeom>
          <a:noFill/>
          <a:ln/>
        </p:spPr>
        <p:txBody>
          <a:bodyPr wrap="none" lIns="0" tIns="0" rIns="0" bIns="0" rtlCol="0" anchor="ctr"/>
          <a:lstStyle/>
          <a:p>
            <a:pPr algn="ctr" indent="0" marL="0">
              <a:lnSpc>
                <a:spcPct val="100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5</a:t>
            </a:r>
            <a:endParaRPr lang="en-US" sz="1650" dirty="0"/>
          </a:p>
        </p:txBody>
      </p:sp>
      <p:sp>
        <p:nvSpPr>
          <p:cNvPr id="22" name="Text 20"/>
          <p:cNvSpPr/>
          <p:nvPr/>
        </p:nvSpPr>
        <p:spPr>
          <a:xfrm>
            <a:off x="1296062" y="5736134"/>
            <a:ext cx="2004367" cy="221357"/>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Libre Baskerville Bold" pitchFamily="34" charset="0"/>
                <a:ea typeface="Libre Baskerville Bold" pitchFamily="34" charset="-122"/>
                <a:cs typeface="Libre Baskerville Bold" pitchFamily="34" charset="-120"/>
              </a:rPr>
              <a:t>Disagree respectfully.</a:t>
            </a:r>
            <a:endParaRPr lang="en-US" sz="1350" dirty="0"/>
          </a:p>
        </p:txBody>
      </p:sp>
      <p:sp>
        <p:nvSpPr>
          <p:cNvPr id="23" name="Text 21"/>
          <p:cNvSpPr/>
          <p:nvPr/>
        </p:nvSpPr>
        <p:spPr>
          <a:xfrm>
            <a:off x="1296062" y="6034782"/>
            <a:ext cx="10090592" cy="231874"/>
          </a:xfrm>
          <a:prstGeom prst="rect">
            <a:avLst/>
          </a:prstGeom>
          <a:noFill/>
          <a:ln/>
        </p:spPr>
        <p:txBody>
          <a:bodyPr wrap="none" lIns="0" tIns="0" rIns="0" bIns="0" rtlCol="0" anchor="t"/>
          <a:lstStyle/>
          <a:p>
            <a:pPr algn="l" indent="0" marL="0">
              <a:lnSpc>
                <a:spcPct val="120000"/>
              </a:lnSpc>
              <a:buNone/>
            </a:pPr>
            <a:r>
              <a:rPr lang="en-US" sz="1250" dirty="0">
                <a:solidFill>
                  <a:srgbClr val="000000"/>
                </a:solidFill>
                <a:latin typeface="Fira Sans" pitchFamily="34" charset="0"/>
                <a:ea typeface="Fira Sans" pitchFamily="34" charset="-122"/>
                <a:cs typeface="Fira Sans" pitchFamily="34" charset="-120"/>
              </a:rPr>
              <a:t>If you disagree with a theologian, say so — but engage with his strongest argument, not a caricature.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05041" y="566241"/>
            <a:ext cx="5181470" cy="398463"/>
          </a:xfrm>
          <a:prstGeom prst="rect">
            <a:avLst/>
          </a:prstGeom>
          <a:noFill/>
          <a:ln/>
        </p:spPr>
        <p:txBody>
          <a:bodyPr wrap="none" lIns="0" tIns="0" rIns="0" bIns="0" rtlCol="0" anchor="t"/>
          <a:lstStyle/>
          <a:p>
            <a:pPr algn="l" indent="0" marL="0">
              <a:lnSpc>
                <a:spcPct val="104000"/>
              </a:lnSpc>
              <a:buNone/>
            </a:pPr>
            <a:r>
              <a:rPr lang="en-US" sz="2500" b="1" dirty="0">
                <a:solidFill>
                  <a:srgbClr val="000000"/>
                </a:solidFill>
                <a:latin typeface="Libre Baskerville Bold" pitchFamily="34" charset="0"/>
                <a:ea typeface="Libre Baskerville Bold" pitchFamily="34" charset="-122"/>
                <a:cs typeface="Libre Baskerville Bold" pitchFamily="34" charset="-120"/>
              </a:rPr>
              <a:t>TEN HABITS — continued</a:t>
            </a:r>
            <a:endParaRPr lang="en-US" sz="2500" dirty="0"/>
          </a:p>
        </p:txBody>
      </p:sp>
      <p:sp>
        <p:nvSpPr>
          <p:cNvPr id="3" name="Shape 1"/>
          <p:cNvSpPr/>
          <p:nvPr/>
        </p:nvSpPr>
        <p:spPr>
          <a:xfrm>
            <a:off x="805041" y="1290737"/>
            <a:ext cx="407580" cy="407591"/>
          </a:xfrm>
          <a:prstGeom prst="roundRect">
            <a:avLst>
              <a:gd name="adj" fmla="val 18667"/>
            </a:avLst>
          </a:prstGeom>
          <a:solidFill>
            <a:srgbClr val="FFE6CC"/>
          </a:solidFill>
          <a:ln w="6350">
            <a:solidFill>
              <a:srgbClr val="E5CCB2"/>
            </a:solidFill>
            <a:prstDash val="solid"/>
          </a:ln>
        </p:spPr>
      </p:sp>
      <p:sp>
        <p:nvSpPr>
          <p:cNvPr id="4" name="Text 2"/>
          <p:cNvSpPr/>
          <p:nvPr/>
        </p:nvSpPr>
        <p:spPr>
          <a:xfrm>
            <a:off x="889275" y="1345109"/>
            <a:ext cx="239111" cy="298847"/>
          </a:xfrm>
          <a:prstGeom prst="rect">
            <a:avLst/>
          </a:prstGeom>
          <a:noFill/>
          <a:ln/>
        </p:spPr>
        <p:txBody>
          <a:bodyPr wrap="none" lIns="0" tIns="0" rIns="0" bIns="0" rtlCol="0" anchor="ctr"/>
          <a:lstStyle/>
          <a:p>
            <a:pPr algn="ctr" indent="0" marL="0">
              <a:lnSpc>
                <a:spcPct val="100000"/>
              </a:lnSpc>
              <a:buNone/>
            </a:pPr>
            <a:r>
              <a:rPr lang="en-US" sz="1850" b="1" dirty="0">
                <a:solidFill>
                  <a:srgbClr val="000000"/>
                </a:solidFill>
                <a:latin typeface="Libre Baskerville Bold" pitchFamily="34" charset="0"/>
                <a:ea typeface="Libre Baskerville Bold" pitchFamily="34" charset="-122"/>
                <a:cs typeface="Libre Baskerville Bold" pitchFamily="34" charset="-120"/>
              </a:rPr>
              <a:t>1</a:t>
            </a:r>
            <a:endParaRPr lang="en-US" sz="1850" dirty="0"/>
          </a:p>
        </p:txBody>
      </p:sp>
      <p:sp>
        <p:nvSpPr>
          <p:cNvPr id="5" name="Text 3"/>
          <p:cNvSpPr/>
          <p:nvPr/>
        </p:nvSpPr>
        <p:spPr>
          <a:xfrm>
            <a:off x="1375634" y="1352947"/>
            <a:ext cx="2226215" cy="249039"/>
          </a:xfrm>
          <a:prstGeom prst="rect">
            <a:avLst/>
          </a:prstGeom>
          <a:noFill/>
          <a:ln/>
        </p:spPr>
        <p:txBody>
          <a:bodyPr wrap="none" lIns="0" tIns="0" rIns="0" bIns="0" rtlCol="0" anchor="t"/>
          <a:lstStyle/>
          <a:p>
            <a:pPr algn="l" indent="0" marL="0">
              <a:lnSpc>
                <a:spcPct val="104000"/>
              </a:lnSpc>
              <a:buNone/>
            </a:pPr>
            <a:r>
              <a:rPr lang="en-US" sz="1550" b="1" dirty="0">
                <a:solidFill>
                  <a:srgbClr val="000000"/>
                </a:solidFill>
                <a:latin typeface="Libre Baskerville Bold" pitchFamily="34" charset="0"/>
                <a:ea typeface="Libre Baskerville Bold" pitchFamily="34" charset="-122"/>
                <a:cs typeface="Libre Baskerville Bold" pitchFamily="34" charset="-120"/>
              </a:rPr>
              <a:t>Pray before you read.</a:t>
            </a:r>
            <a:endParaRPr lang="en-US" sz="1550" dirty="0"/>
          </a:p>
        </p:txBody>
      </p:sp>
      <p:sp>
        <p:nvSpPr>
          <p:cNvPr id="6" name="Text 4"/>
          <p:cNvSpPr/>
          <p:nvPr/>
        </p:nvSpPr>
        <p:spPr>
          <a:xfrm>
            <a:off x="1375634" y="1699716"/>
            <a:ext cx="10011021" cy="550664"/>
          </a:xfrm>
          <a:prstGeom prst="rect">
            <a:avLst/>
          </a:prstGeom>
          <a:noFill/>
          <a:ln/>
        </p:spPr>
        <p:txBody>
          <a:bodyPr wrap="square" lIns="0" tIns="0" rIns="0" bIns="0" rtlCol="0" anchor="t">
            <a:normAutofit/>
          </a:bodyPr>
          <a:lstStyle/>
          <a:p>
            <a:pPr algn="l" indent="0" marL="0">
              <a:lnSpc>
                <a:spcPct val="127000"/>
              </a:lnSpc>
              <a:buNone/>
            </a:pPr>
            <a:r>
              <a:rPr lang="en-US" sz="1400" dirty="0">
                <a:solidFill>
                  <a:srgbClr val="000000"/>
                </a:solidFill>
                <a:latin typeface="Fira Sans" pitchFamily="34" charset="0"/>
                <a:ea typeface="Fira Sans" pitchFamily="34" charset="-122"/>
                <a:cs typeface="Fira Sans" pitchFamily="34" charset="-120"/>
              </a:rPr>
              <a:t>Not as piety-performance — but because theology is about God, and you cannot study God with merely human equipment.</a:t>
            </a:r>
            <a:endParaRPr lang="en-US" sz="1400" dirty="0"/>
          </a:p>
        </p:txBody>
      </p:sp>
      <p:sp>
        <p:nvSpPr>
          <p:cNvPr id="7" name="Shape 5"/>
          <p:cNvSpPr/>
          <p:nvPr/>
        </p:nvSpPr>
        <p:spPr>
          <a:xfrm>
            <a:off x="805041" y="2576413"/>
            <a:ext cx="407580" cy="407591"/>
          </a:xfrm>
          <a:prstGeom prst="roundRect">
            <a:avLst>
              <a:gd name="adj" fmla="val 18667"/>
            </a:avLst>
          </a:prstGeom>
          <a:solidFill>
            <a:srgbClr val="FFE6CC"/>
          </a:solidFill>
          <a:ln w="6350">
            <a:solidFill>
              <a:srgbClr val="E5CCB2"/>
            </a:solidFill>
            <a:prstDash val="solid"/>
          </a:ln>
        </p:spPr>
      </p:sp>
      <p:sp>
        <p:nvSpPr>
          <p:cNvPr id="8" name="Text 6"/>
          <p:cNvSpPr/>
          <p:nvPr/>
        </p:nvSpPr>
        <p:spPr>
          <a:xfrm>
            <a:off x="889275" y="2630785"/>
            <a:ext cx="239111" cy="298847"/>
          </a:xfrm>
          <a:prstGeom prst="rect">
            <a:avLst/>
          </a:prstGeom>
          <a:noFill/>
          <a:ln/>
        </p:spPr>
        <p:txBody>
          <a:bodyPr wrap="none" lIns="0" tIns="0" rIns="0" bIns="0" rtlCol="0" anchor="ctr"/>
          <a:lstStyle/>
          <a:p>
            <a:pPr algn="ctr" indent="0" marL="0">
              <a:lnSpc>
                <a:spcPct val="100000"/>
              </a:lnSpc>
              <a:buNone/>
            </a:pPr>
            <a:r>
              <a:rPr lang="en-US" sz="1850" b="1" dirty="0">
                <a:solidFill>
                  <a:srgbClr val="000000"/>
                </a:solidFill>
                <a:latin typeface="Libre Baskerville Bold" pitchFamily="34" charset="0"/>
                <a:ea typeface="Libre Baskerville Bold" pitchFamily="34" charset="-122"/>
                <a:cs typeface="Libre Baskerville Bold" pitchFamily="34" charset="-120"/>
              </a:rPr>
              <a:t>2</a:t>
            </a:r>
            <a:endParaRPr lang="en-US" sz="1850" dirty="0"/>
          </a:p>
        </p:txBody>
      </p:sp>
      <p:sp>
        <p:nvSpPr>
          <p:cNvPr id="9" name="Text 7"/>
          <p:cNvSpPr/>
          <p:nvPr/>
        </p:nvSpPr>
        <p:spPr>
          <a:xfrm>
            <a:off x="1375634" y="2638623"/>
            <a:ext cx="2566030" cy="249039"/>
          </a:xfrm>
          <a:prstGeom prst="rect">
            <a:avLst/>
          </a:prstGeom>
          <a:noFill/>
          <a:ln/>
        </p:spPr>
        <p:txBody>
          <a:bodyPr wrap="none" lIns="0" tIns="0" rIns="0" bIns="0" rtlCol="0" anchor="t"/>
          <a:lstStyle/>
          <a:p>
            <a:pPr algn="l" indent="0" marL="0">
              <a:lnSpc>
                <a:spcPct val="104000"/>
              </a:lnSpc>
              <a:buNone/>
            </a:pPr>
            <a:r>
              <a:rPr lang="en-US" sz="1550" b="1" dirty="0">
                <a:solidFill>
                  <a:srgbClr val="000000"/>
                </a:solidFill>
                <a:latin typeface="Libre Baskerville Bold" pitchFamily="34" charset="0"/>
                <a:ea typeface="Libre Baskerville Bold" pitchFamily="34" charset="-122"/>
                <a:cs typeface="Libre Baskerville Bold" pitchFamily="34" charset="-120"/>
              </a:rPr>
              <a:t>Connect theology to life.</a:t>
            </a:r>
            <a:endParaRPr lang="en-US" sz="1550" dirty="0"/>
          </a:p>
        </p:txBody>
      </p:sp>
      <p:sp>
        <p:nvSpPr>
          <p:cNvPr id="10" name="Text 8"/>
          <p:cNvSpPr/>
          <p:nvPr/>
        </p:nvSpPr>
        <p:spPr>
          <a:xfrm>
            <a:off x="1375634" y="2985393"/>
            <a:ext cx="10011021" cy="275332"/>
          </a:xfrm>
          <a:prstGeom prst="rect">
            <a:avLst/>
          </a:prstGeom>
          <a:noFill/>
          <a:ln/>
        </p:spPr>
        <p:txBody>
          <a:bodyPr wrap="none" lIns="0" tIns="0" rIns="0" bIns="0" rtlCol="0" anchor="t"/>
          <a:lstStyle/>
          <a:p>
            <a:pPr algn="l" indent="0" marL="0">
              <a:lnSpc>
                <a:spcPct val="127000"/>
              </a:lnSpc>
              <a:buNone/>
            </a:pPr>
            <a:r>
              <a:rPr lang="en-US" sz="1400" dirty="0">
                <a:solidFill>
                  <a:srgbClr val="000000"/>
                </a:solidFill>
                <a:latin typeface="Fira Sans" pitchFamily="34" charset="0"/>
                <a:ea typeface="Fira Sans" pitchFamily="34" charset="-122"/>
                <a:cs typeface="Fira Sans" pitchFamily="34" charset="-120"/>
              </a:rPr>
              <a:t>After every class, ask: "Where did I see this in my regency? Where will I meet this after ordination?"</a:t>
            </a:r>
            <a:endParaRPr lang="en-US" sz="1400" dirty="0"/>
          </a:p>
        </p:txBody>
      </p:sp>
      <p:sp>
        <p:nvSpPr>
          <p:cNvPr id="11" name="Shape 9"/>
          <p:cNvSpPr/>
          <p:nvPr/>
        </p:nvSpPr>
        <p:spPr>
          <a:xfrm>
            <a:off x="805041" y="3586758"/>
            <a:ext cx="407580" cy="407591"/>
          </a:xfrm>
          <a:prstGeom prst="roundRect">
            <a:avLst>
              <a:gd name="adj" fmla="val 18667"/>
            </a:avLst>
          </a:prstGeom>
          <a:solidFill>
            <a:srgbClr val="FFE6CC"/>
          </a:solidFill>
          <a:ln w="6350">
            <a:solidFill>
              <a:srgbClr val="E5CCB2"/>
            </a:solidFill>
            <a:prstDash val="solid"/>
          </a:ln>
        </p:spPr>
      </p:sp>
      <p:sp>
        <p:nvSpPr>
          <p:cNvPr id="12" name="Text 10"/>
          <p:cNvSpPr/>
          <p:nvPr/>
        </p:nvSpPr>
        <p:spPr>
          <a:xfrm>
            <a:off x="889275" y="3641130"/>
            <a:ext cx="239111" cy="298847"/>
          </a:xfrm>
          <a:prstGeom prst="rect">
            <a:avLst/>
          </a:prstGeom>
          <a:noFill/>
          <a:ln/>
        </p:spPr>
        <p:txBody>
          <a:bodyPr wrap="none" lIns="0" tIns="0" rIns="0" bIns="0" rtlCol="0" anchor="ctr"/>
          <a:lstStyle/>
          <a:p>
            <a:pPr algn="ctr" indent="0" marL="0">
              <a:lnSpc>
                <a:spcPct val="100000"/>
              </a:lnSpc>
              <a:buNone/>
            </a:pPr>
            <a:r>
              <a:rPr lang="en-US" sz="1850" b="1" dirty="0">
                <a:solidFill>
                  <a:srgbClr val="000000"/>
                </a:solidFill>
                <a:latin typeface="Libre Baskerville Bold" pitchFamily="34" charset="0"/>
                <a:ea typeface="Libre Baskerville Bold" pitchFamily="34" charset="-122"/>
                <a:cs typeface="Libre Baskerville Bold" pitchFamily="34" charset="-120"/>
              </a:rPr>
              <a:t>3</a:t>
            </a:r>
            <a:endParaRPr lang="en-US" sz="1850" dirty="0"/>
          </a:p>
        </p:txBody>
      </p:sp>
      <p:sp>
        <p:nvSpPr>
          <p:cNvPr id="13" name="Text 11"/>
          <p:cNvSpPr/>
          <p:nvPr/>
        </p:nvSpPr>
        <p:spPr>
          <a:xfrm>
            <a:off x="1375634" y="3648968"/>
            <a:ext cx="3620798" cy="249039"/>
          </a:xfrm>
          <a:prstGeom prst="rect">
            <a:avLst/>
          </a:prstGeom>
          <a:noFill/>
          <a:ln/>
        </p:spPr>
        <p:txBody>
          <a:bodyPr wrap="none" lIns="0" tIns="0" rIns="0" bIns="0" rtlCol="0" anchor="t"/>
          <a:lstStyle/>
          <a:p>
            <a:pPr algn="l" indent="0" marL="0">
              <a:lnSpc>
                <a:spcPct val="104000"/>
              </a:lnSpc>
              <a:buNone/>
            </a:pPr>
            <a:r>
              <a:rPr lang="en-US" sz="1550" b="1" dirty="0">
                <a:solidFill>
                  <a:srgbClr val="000000"/>
                </a:solidFill>
                <a:latin typeface="Libre Baskerville Bold" pitchFamily="34" charset="0"/>
                <a:ea typeface="Libre Baskerville Bold" pitchFamily="34" charset="-122"/>
                <a:cs typeface="Libre Baskerville Bold" pitchFamily="34" charset="-120"/>
              </a:rPr>
              <a:t>Learn one Indian language deeply.</a:t>
            </a:r>
            <a:endParaRPr lang="en-US" sz="1550" dirty="0"/>
          </a:p>
        </p:txBody>
      </p:sp>
      <p:sp>
        <p:nvSpPr>
          <p:cNvPr id="14" name="Text 12"/>
          <p:cNvSpPr/>
          <p:nvPr/>
        </p:nvSpPr>
        <p:spPr>
          <a:xfrm>
            <a:off x="1375634" y="3995737"/>
            <a:ext cx="10011021" cy="275332"/>
          </a:xfrm>
          <a:prstGeom prst="rect">
            <a:avLst/>
          </a:prstGeom>
          <a:noFill/>
          <a:ln/>
        </p:spPr>
        <p:txBody>
          <a:bodyPr wrap="none" lIns="0" tIns="0" rIns="0" bIns="0" rtlCol="0" anchor="t"/>
          <a:lstStyle/>
          <a:p>
            <a:pPr algn="l" indent="0" marL="0">
              <a:lnSpc>
                <a:spcPct val="127000"/>
              </a:lnSpc>
              <a:buNone/>
            </a:pPr>
            <a:r>
              <a:rPr lang="en-US" sz="1400" dirty="0">
                <a:solidFill>
                  <a:srgbClr val="000000"/>
                </a:solidFill>
                <a:latin typeface="Fira Sans" pitchFamily="34" charset="0"/>
                <a:ea typeface="Fira Sans" pitchFamily="34" charset="-122"/>
                <a:cs typeface="Fira Sans" pitchFamily="34" charset="-120"/>
              </a:rPr>
              <a:t>To theologize from India, you must be rooted in India. Language is the root.</a:t>
            </a:r>
            <a:endParaRPr lang="en-US" sz="1400" dirty="0"/>
          </a:p>
        </p:txBody>
      </p:sp>
      <p:sp>
        <p:nvSpPr>
          <p:cNvPr id="15" name="Shape 13"/>
          <p:cNvSpPr/>
          <p:nvPr/>
        </p:nvSpPr>
        <p:spPr>
          <a:xfrm>
            <a:off x="805041" y="4597102"/>
            <a:ext cx="407580" cy="407591"/>
          </a:xfrm>
          <a:prstGeom prst="roundRect">
            <a:avLst>
              <a:gd name="adj" fmla="val 18667"/>
            </a:avLst>
          </a:prstGeom>
          <a:solidFill>
            <a:srgbClr val="FFE6CC"/>
          </a:solidFill>
          <a:ln w="6350">
            <a:solidFill>
              <a:srgbClr val="E5CCB2"/>
            </a:solidFill>
            <a:prstDash val="solid"/>
          </a:ln>
        </p:spPr>
      </p:sp>
      <p:sp>
        <p:nvSpPr>
          <p:cNvPr id="16" name="Text 14"/>
          <p:cNvSpPr/>
          <p:nvPr/>
        </p:nvSpPr>
        <p:spPr>
          <a:xfrm>
            <a:off x="889275" y="4651474"/>
            <a:ext cx="239111" cy="298847"/>
          </a:xfrm>
          <a:prstGeom prst="rect">
            <a:avLst/>
          </a:prstGeom>
          <a:noFill/>
          <a:ln/>
        </p:spPr>
        <p:txBody>
          <a:bodyPr wrap="none" lIns="0" tIns="0" rIns="0" bIns="0" rtlCol="0" anchor="ctr"/>
          <a:lstStyle/>
          <a:p>
            <a:pPr algn="ctr" indent="0" marL="0">
              <a:lnSpc>
                <a:spcPct val="100000"/>
              </a:lnSpc>
              <a:buNone/>
            </a:pPr>
            <a:r>
              <a:rPr lang="en-US" sz="1850" b="1" dirty="0">
                <a:solidFill>
                  <a:srgbClr val="000000"/>
                </a:solidFill>
                <a:latin typeface="Libre Baskerville Bold" pitchFamily="34" charset="0"/>
                <a:ea typeface="Libre Baskerville Bold" pitchFamily="34" charset="-122"/>
                <a:cs typeface="Libre Baskerville Bold" pitchFamily="34" charset="-120"/>
              </a:rPr>
              <a:t>4</a:t>
            </a:r>
            <a:endParaRPr lang="en-US" sz="1850" dirty="0"/>
          </a:p>
        </p:txBody>
      </p:sp>
      <p:sp>
        <p:nvSpPr>
          <p:cNvPr id="17" name="Text 15"/>
          <p:cNvSpPr/>
          <p:nvPr/>
        </p:nvSpPr>
        <p:spPr>
          <a:xfrm>
            <a:off x="1375634" y="4659313"/>
            <a:ext cx="2614845" cy="249039"/>
          </a:xfrm>
          <a:prstGeom prst="rect">
            <a:avLst/>
          </a:prstGeom>
          <a:noFill/>
          <a:ln/>
        </p:spPr>
        <p:txBody>
          <a:bodyPr wrap="none" lIns="0" tIns="0" rIns="0" bIns="0" rtlCol="0" anchor="t"/>
          <a:lstStyle/>
          <a:p>
            <a:pPr algn="l" indent="0" marL="0">
              <a:lnSpc>
                <a:spcPct val="104000"/>
              </a:lnSpc>
              <a:buNone/>
            </a:pPr>
            <a:r>
              <a:rPr lang="en-US" sz="1550" b="1" dirty="0">
                <a:solidFill>
                  <a:srgbClr val="000000"/>
                </a:solidFill>
                <a:latin typeface="Libre Baskerville Bold" pitchFamily="34" charset="0"/>
                <a:ea typeface="Libre Baskerville Bold" pitchFamily="34" charset="-122"/>
                <a:cs typeface="Libre Baskerville Bold" pitchFamily="34" charset="-120"/>
              </a:rPr>
              <a:t>Read Indian newspapers.</a:t>
            </a:r>
            <a:endParaRPr lang="en-US" sz="1550" dirty="0"/>
          </a:p>
        </p:txBody>
      </p:sp>
      <p:sp>
        <p:nvSpPr>
          <p:cNvPr id="18" name="Text 16"/>
          <p:cNvSpPr/>
          <p:nvPr/>
        </p:nvSpPr>
        <p:spPr>
          <a:xfrm>
            <a:off x="1375634" y="5006082"/>
            <a:ext cx="10011021" cy="275332"/>
          </a:xfrm>
          <a:prstGeom prst="rect">
            <a:avLst/>
          </a:prstGeom>
          <a:noFill/>
          <a:ln/>
        </p:spPr>
        <p:txBody>
          <a:bodyPr wrap="none" lIns="0" tIns="0" rIns="0" bIns="0" rtlCol="0" anchor="t"/>
          <a:lstStyle/>
          <a:p>
            <a:pPr algn="l" indent="0" marL="0">
              <a:lnSpc>
                <a:spcPct val="127000"/>
              </a:lnSpc>
              <a:buNone/>
            </a:pPr>
            <a:r>
              <a:rPr lang="en-US" sz="1400" dirty="0">
                <a:solidFill>
                  <a:srgbClr val="000000"/>
                </a:solidFill>
                <a:latin typeface="Fira Sans" pitchFamily="34" charset="0"/>
                <a:ea typeface="Fira Sans" pitchFamily="34" charset="-122"/>
                <a:cs typeface="Fira Sans" pitchFamily="34" charset="-120"/>
              </a:rPr>
              <a:t>The Economic Times, The Hindu, Frontline. The news is a first draft of the signs of the times.</a:t>
            </a:r>
            <a:endParaRPr lang="en-US" sz="1400" dirty="0"/>
          </a:p>
        </p:txBody>
      </p:sp>
      <p:sp>
        <p:nvSpPr>
          <p:cNvPr id="19" name="Shape 17"/>
          <p:cNvSpPr/>
          <p:nvPr/>
        </p:nvSpPr>
        <p:spPr>
          <a:xfrm>
            <a:off x="805041" y="5607447"/>
            <a:ext cx="407580" cy="407591"/>
          </a:xfrm>
          <a:prstGeom prst="roundRect">
            <a:avLst>
              <a:gd name="adj" fmla="val 18667"/>
            </a:avLst>
          </a:prstGeom>
          <a:solidFill>
            <a:srgbClr val="FFE6CC"/>
          </a:solidFill>
          <a:ln w="6350">
            <a:solidFill>
              <a:srgbClr val="E5CCB2"/>
            </a:solidFill>
            <a:prstDash val="solid"/>
          </a:ln>
        </p:spPr>
      </p:sp>
      <p:sp>
        <p:nvSpPr>
          <p:cNvPr id="20" name="Text 18"/>
          <p:cNvSpPr/>
          <p:nvPr/>
        </p:nvSpPr>
        <p:spPr>
          <a:xfrm>
            <a:off x="889275" y="5661819"/>
            <a:ext cx="239111" cy="298847"/>
          </a:xfrm>
          <a:prstGeom prst="rect">
            <a:avLst/>
          </a:prstGeom>
          <a:noFill/>
          <a:ln/>
        </p:spPr>
        <p:txBody>
          <a:bodyPr wrap="none" lIns="0" tIns="0" rIns="0" bIns="0" rtlCol="0" anchor="ctr"/>
          <a:lstStyle/>
          <a:p>
            <a:pPr algn="ctr" indent="0" marL="0">
              <a:lnSpc>
                <a:spcPct val="100000"/>
              </a:lnSpc>
              <a:buNone/>
            </a:pPr>
            <a:r>
              <a:rPr lang="en-US" sz="1850" b="1" dirty="0">
                <a:solidFill>
                  <a:srgbClr val="000000"/>
                </a:solidFill>
                <a:latin typeface="Libre Baskerville Bold" pitchFamily="34" charset="0"/>
                <a:ea typeface="Libre Baskerville Bold" pitchFamily="34" charset="-122"/>
                <a:cs typeface="Libre Baskerville Bold" pitchFamily="34" charset="-120"/>
              </a:rPr>
              <a:t>5</a:t>
            </a:r>
            <a:endParaRPr lang="en-US" sz="1850" dirty="0"/>
          </a:p>
        </p:txBody>
      </p:sp>
      <p:sp>
        <p:nvSpPr>
          <p:cNvPr id="21" name="Text 19"/>
          <p:cNvSpPr/>
          <p:nvPr/>
        </p:nvSpPr>
        <p:spPr>
          <a:xfrm>
            <a:off x="1375634" y="5669657"/>
            <a:ext cx="2533190" cy="249039"/>
          </a:xfrm>
          <a:prstGeom prst="rect">
            <a:avLst/>
          </a:prstGeom>
          <a:noFill/>
          <a:ln/>
        </p:spPr>
        <p:txBody>
          <a:bodyPr wrap="none" lIns="0" tIns="0" rIns="0" bIns="0" rtlCol="0" anchor="t"/>
          <a:lstStyle/>
          <a:p>
            <a:pPr algn="l" indent="0" marL="0">
              <a:lnSpc>
                <a:spcPct val="104000"/>
              </a:lnSpc>
              <a:buNone/>
            </a:pPr>
            <a:r>
              <a:rPr lang="en-US" sz="1550" b="1" dirty="0">
                <a:solidFill>
                  <a:srgbClr val="000000"/>
                </a:solidFill>
                <a:latin typeface="Libre Baskerville Bold" pitchFamily="34" charset="0"/>
                <a:ea typeface="Libre Baskerville Bold" pitchFamily="34" charset="-122"/>
                <a:cs typeface="Libre Baskerville Bold" pitchFamily="34" charset="-120"/>
              </a:rPr>
              <a:t>Find a spiritual director.</a:t>
            </a:r>
            <a:endParaRPr lang="en-US" sz="1550" dirty="0"/>
          </a:p>
        </p:txBody>
      </p:sp>
      <p:sp>
        <p:nvSpPr>
          <p:cNvPr id="22" name="Text 20"/>
          <p:cNvSpPr/>
          <p:nvPr/>
        </p:nvSpPr>
        <p:spPr>
          <a:xfrm>
            <a:off x="1375634" y="6016427"/>
            <a:ext cx="10011021" cy="275332"/>
          </a:xfrm>
          <a:prstGeom prst="rect">
            <a:avLst/>
          </a:prstGeom>
          <a:noFill/>
          <a:ln/>
        </p:spPr>
        <p:txBody>
          <a:bodyPr wrap="none" lIns="0" tIns="0" rIns="0" bIns="0" rtlCol="0" anchor="t"/>
          <a:lstStyle/>
          <a:p>
            <a:pPr algn="l" indent="0" marL="0">
              <a:lnSpc>
                <a:spcPct val="127000"/>
              </a:lnSpc>
              <a:buNone/>
            </a:pPr>
            <a:r>
              <a:rPr lang="en-US" sz="1400" dirty="0">
                <a:solidFill>
                  <a:srgbClr val="000000"/>
                </a:solidFill>
                <a:latin typeface="Fira Sans" pitchFamily="34" charset="0"/>
                <a:ea typeface="Fira Sans" pitchFamily="34" charset="-122"/>
                <a:cs typeface="Fira Sans" pitchFamily="34" charset="-120"/>
              </a:rPr>
              <a:t>Theology without prayer produces clever arguments and empty souls. The spiritual director keeps you honest.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05041" y="1317724"/>
            <a:ext cx="8301127"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THE THEOLOGICAL JOURNAL</a:t>
            </a:r>
            <a:endParaRPr lang="en-US" sz="3450" dirty="0"/>
          </a:p>
        </p:txBody>
      </p:sp>
      <p:sp>
        <p:nvSpPr>
          <p:cNvPr id="3" name="Text 1"/>
          <p:cNvSpPr/>
          <p:nvPr/>
        </p:nvSpPr>
        <p:spPr>
          <a:xfrm>
            <a:off x="805041" y="2273697"/>
            <a:ext cx="10581613"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Beginning today and continuing throughout your BTh studies, keep a theological journal. This is not a diary. It is a notebook where you:</a:t>
            </a:r>
            <a:endParaRPr lang="en-US" sz="15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5041" y="3144242"/>
            <a:ext cx="5190201" cy="1097359"/>
          </a:xfrm>
          <a:prstGeom prst="rect">
            <a:avLst/>
          </a:prstGeom>
        </p:spPr>
      </p:pic>
      <p:sp>
        <p:nvSpPr>
          <p:cNvPr id="5" name="Text 2"/>
          <p:cNvSpPr/>
          <p:nvPr/>
        </p:nvSpPr>
        <p:spPr>
          <a:xfrm>
            <a:off x="1133248" y="3370858"/>
            <a:ext cx="4635384" cy="322064"/>
          </a:xfrm>
          <a:prstGeom prst="rect">
            <a:avLst/>
          </a:prstGeom>
          <a:noFill/>
          <a:ln/>
        </p:spPr>
        <p:txBody>
          <a:bodyPr wrap="none" lIns="0" tIns="0" rIns="0" bIns="0" rtlCol="0" anchor="t"/>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Record one theological question from each class</a:t>
            </a:r>
            <a:endParaRPr lang="en-US" sz="15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6453" y="3144242"/>
            <a:ext cx="5190201" cy="1097359"/>
          </a:xfrm>
          <a:prstGeom prst="rect">
            <a:avLst/>
          </a:prstGeom>
        </p:spPr>
      </p:pic>
      <p:sp>
        <p:nvSpPr>
          <p:cNvPr id="7" name="Text 3"/>
          <p:cNvSpPr/>
          <p:nvPr/>
        </p:nvSpPr>
        <p:spPr>
          <a:xfrm>
            <a:off x="6524660" y="3370858"/>
            <a:ext cx="4635384"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Write one connection between each week's theology and your pastoral experience</a:t>
            </a:r>
            <a:endParaRPr lang="en-US" sz="155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5041" y="4442817"/>
            <a:ext cx="5190201" cy="1097359"/>
          </a:xfrm>
          <a:prstGeom prst="rect">
            <a:avLst/>
          </a:prstGeom>
        </p:spPr>
      </p:pic>
      <p:sp>
        <p:nvSpPr>
          <p:cNvPr id="9" name="Text 4"/>
          <p:cNvSpPr/>
          <p:nvPr/>
        </p:nvSpPr>
        <p:spPr>
          <a:xfrm>
            <a:off x="1133248" y="4669433"/>
            <a:ext cx="4635384"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Note one thing you disagreed with in each class — and why</a:t>
            </a:r>
            <a:endParaRPr lang="en-US" sz="1550" dirty="0"/>
          </a:p>
        </p:txBody>
      </p:sp>
      <p:pic>
        <p:nvPicPr>
          <p:cNvPr id="1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6453" y="4442817"/>
            <a:ext cx="5190201" cy="1097359"/>
          </a:xfrm>
          <a:prstGeom prst="rect">
            <a:avLst/>
          </a:prstGeom>
        </p:spPr>
      </p:pic>
      <p:sp>
        <p:nvSpPr>
          <p:cNvPr id="11" name="Text 5"/>
          <p:cNvSpPr/>
          <p:nvPr/>
        </p:nvSpPr>
        <p:spPr>
          <a:xfrm>
            <a:off x="6524660" y="4669433"/>
            <a:ext cx="4635384" cy="322064"/>
          </a:xfrm>
          <a:prstGeom prst="rect">
            <a:avLst/>
          </a:prstGeom>
          <a:noFill/>
          <a:ln/>
        </p:spPr>
        <p:txBody>
          <a:bodyPr wrap="none" lIns="0" tIns="0" rIns="0" bIns="0" rtlCol="0" anchor="t"/>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Keep a running list of books you want to read</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05041" y="1851521"/>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First Journal Entry — Do this now (3 minutes)</a:t>
            </a:r>
            <a:endParaRPr lang="en-US" sz="3450" dirty="0"/>
          </a:p>
        </p:txBody>
      </p:sp>
      <p:sp>
        <p:nvSpPr>
          <p:cNvPr id="3" name="Text 1"/>
          <p:cNvSpPr/>
          <p:nvPr/>
        </p:nvSpPr>
        <p:spPr>
          <a:xfrm>
            <a:off x="805041" y="3360936"/>
            <a:ext cx="11191198" cy="322064"/>
          </a:xfrm>
          <a:prstGeom prst="rect">
            <a:avLst/>
          </a:prstGeom>
          <a:noFill/>
          <a:ln/>
        </p:spPr>
        <p:txBody>
          <a:bodyPr wrap="none" lIns="0" tIns="0" rIns="0" bIns="0" rtlCol="0" anchor="t"/>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Finish this sentence:</a:t>
            </a:r>
            <a:endParaRPr lang="en-US" sz="1550" dirty="0"/>
          </a:p>
        </p:txBody>
      </p:sp>
      <p:sp>
        <p:nvSpPr>
          <p:cNvPr id="4" name="Shape 2"/>
          <p:cNvSpPr/>
          <p:nvPr/>
        </p:nvSpPr>
        <p:spPr>
          <a:xfrm>
            <a:off x="805041" y="3909417"/>
            <a:ext cx="25399" cy="1096963"/>
          </a:xfrm>
          <a:prstGeom prst="roundRect">
            <a:avLst>
              <a:gd name="adj" fmla="val 60001"/>
            </a:avLst>
          </a:prstGeom>
          <a:solidFill>
            <a:srgbClr val="020100"/>
          </a:solidFill>
          <a:ln/>
        </p:spPr>
      </p:sp>
      <p:sp>
        <p:nvSpPr>
          <p:cNvPr id="5" name="Text 3"/>
          <p:cNvSpPr/>
          <p:nvPr/>
        </p:nvSpPr>
        <p:spPr>
          <a:xfrm>
            <a:off x="1106956" y="4135834"/>
            <a:ext cx="10279698"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"I came to this seminary to study theology because... And after two days of orientation, the question I most want to answer is..."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05041" y="2402483"/>
            <a:ext cx="5158452"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CLOSING PRAYER</a:t>
            </a:r>
            <a:endParaRPr lang="en-US" sz="3450" dirty="0"/>
          </a:p>
        </p:txBody>
      </p:sp>
      <p:sp>
        <p:nvSpPr>
          <p:cNvPr id="3" name="Shape 1"/>
          <p:cNvSpPr/>
          <p:nvPr/>
        </p:nvSpPr>
        <p:spPr>
          <a:xfrm>
            <a:off x="805041" y="3358455"/>
            <a:ext cx="25399" cy="1096963"/>
          </a:xfrm>
          <a:prstGeom prst="roundRect">
            <a:avLst>
              <a:gd name="adj" fmla="val 60001"/>
            </a:avLst>
          </a:prstGeom>
          <a:solidFill>
            <a:srgbClr val="020100"/>
          </a:solidFill>
          <a:ln/>
        </p:spPr>
      </p:sp>
      <p:sp>
        <p:nvSpPr>
          <p:cNvPr id="4" name="Text 2"/>
          <p:cNvSpPr/>
          <p:nvPr/>
        </p:nvSpPr>
        <p:spPr>
          <a:xfrm>
            <a:off x="1106956" y="3584873"/>
            <a:ext cx="10279698"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"Lord of wisdom, teach us the discipline of careful thought. Protect us from lazy theology, from cheap answers, and from the arrogance of those who think they already know everything. Keep us always learning. Amen."</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2026-07-01T17:21:48Z</dcterms:created>
  <dcterms:modified xsi:type="dcterms:W3CDTF">2026-07-01T17:21:48Z</dcterms:modified>
</cp:coreProperties>
</file>