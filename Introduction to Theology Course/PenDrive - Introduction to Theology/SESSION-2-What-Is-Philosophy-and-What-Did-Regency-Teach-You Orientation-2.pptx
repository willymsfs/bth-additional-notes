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5" r:id="rId3"/>
    <p:sldId id="257" r:id="rId4"/>
    <p:sldId id="258" r:id="rId5"/>
    <p:sldId id="259" r:id="rId6"/>
    <p:sldId id="260" r:id="rId7"/>
    <p:sldId id="261" r:id="rId8"/>
    <p:sldId id="262" r:id="rId9"/>
    <p:sldId id="263" r:id="rId10"/>
    <p:sldId id="264" r:id="rId11"/>
  </p:sldIdLst>
  <p:sldSz cx="12192000" cy="6858000"/>
  <p:notesSz cx="6858000" cy="12192000"/>
  <p:embeddedFontLst>
    <p:embeddedFont>
      <p:font typeface="Fira Sans" panose="020B0503050000020004" pitchFamily="34" charset="0"/>
      <p:regular r:id="rId13"/>
      <p:bold r:id="rId14"/>
      <p:italic r:id="rId15"/>
      <p:boldItalic r:id="rId16"/>
    </p:embeddedFont>
    <p:embeddedFont>
      <p:font typeface="Libre Baskerville Bold"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733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txBody>
          <a:bodyPr/>
          <a:lstStyle/>
          <a:p>
            <a:endParaRPr lang="en-IN"/>
          </a:p>
        </p:txBody>
      </p:sp>
      <p:sp>
        <p:nvSpPr>
          <p:cNvPr id="3" name="Shape 1"/>
          <p:cNvSpPr/>
          <p:nvPr/>
        </p:nvSpPr>
        <p:spPr>
          <a:xfrm>
            <a:off x="0" y="0"/>
            <a:ext cx="12191695" cy="6858000"/>
          </a:xfrm>
          <a:prstGeom prst="rect">
            <a:avLst/>
          </a:prstGeom>
          <a:solidFill>
            <a:srgbClr val="B98D34"/>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193" y="407670"/>
            <a:ext cx="10581613" cy="1106884"/>
          </a:xfrm>
          <a:prstGeom prst="rect">
            <a:avLst/>
          </a:prstGeom>
          <a:noFill/>
          <a:ln/>
        </p:spPr>
        <p:txBody>
          <a:bodyPr wrap="square" lIns="0" tIns="0" rIns="0" bIns="0" rtlCol="0" anchor="t">
            <a:normAutofit/>
          </a:bodyPr>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2: What Is Philosophy and What Did Regency Teach You?</a:t>
            </a:r>
            <a:endParaRPr lang="en-US" sz="3450" dirty="0"/>
          </a:p>
        </p:txBody>
      </p:sp>
      <p:sp>
        <p:nvSpPr>
          <p:cNvPr id="7" name="Text 5"/>
          <p:cNvSpPr/>
          <p:nvPr/>
        </p:nvSpPr>
        <p:spPr>
          <a:xfrm>
            <a:off x="4615041" y="1976942"/>
            <a:ext cx="2214011" cy="276820"/>
          </a:xfrm>
          <a:prstGeom prst="rect">
            <a:avLst/>
          </a:prstGeom>
          <a:noFill/>
          <a:ln/>
        </p:spPr>
        <p:txBody>
          <a:bodyPr wrap="none" lIns="0" tIns="0" rIns="0" bIns="0" rtlCol="0" anchor="t"/>
          <a:lstStyle/>
          <a:p>
            <a:pPr marL="0" indent="0" algn="l">
              <a:lnSpc>
                <a:spcPct val="104000"/>
              </a:lnSpc>
              <a:buNone/>
            </a:pPr>
            <a:r>
              <a:rPr lang="en-US" sz="2800" b="1" dirty="0">
                <a:solidFill>
                  <a:srgbClr val="000000"/>
                </a:solidFill>
                <a:latin typeface="Libre Baskerville Bold" pitchFamily="34" charset="0"/>
                <a:ea typeface="Libre Baskerville Bold" pitchFamily="34" charset="-122"/>
                <a:cs typeface="Libre Baskerville Bold" pitchFamily="34" charset="-120"/>
              </a:rPr>
              <a:t>Objectives</a:t>
            </a:r>
            <a:endParaRPr lang="en-US" sz="2800" dirty="0"/>
          </a:p>
        </p:txBody>
      </p:sp>
      <p:sp>
        <p:nvSpPr>
          <p:cNvPr id="10" name="Text 8"/>
          <p:cNvSpPr/>
          <p:nvPr/>
        </p:nvSpPr>
        <p:spPr>
          <a:xfrm>
            <a:off x="304800" y="2784872"/>
            <a:ext cx="11582399" cy="644128"/>
          </a:xfrm>
          <a:prstGeom prst="rect">
            <a:avLst/>
          </a:prstGeom>
          <a:noFill/>
          <a:ln/>
        </p:spPr>
        <p:txBody>
          <a:bodyPr wrap="square" lIns="0" tIns="0" rIns="0" bIns="0" rtlCol="0" anchor="t">
            <a:noAutofit/>
          </a:bodyPr>
          <a:lstStyle/>
          <a:p>
            <a:pPr marL="0" indent="0" algn="l">
              <a:lnSpc>
                <a:spcPct val="133000"/>
              </a:lnSpc>
              <a:buNone/>
            </a:pPr>
            <a:r>
              <a:rPr lang="en-US" sz="2600" dirty="0">
                <a:solidFill>
                  <a:srgbClr val="000000"/>
                </a:solidFill>
                <a:latin typeface="Fira Sans" pitchFamily="34" charset="0"/>
                <a:ea typeface="Fira Sans" pitchFamily="34" charset="-122"/>
                <a:cs typeface="Fira Sans" pitchFamily="34" charset="-120"/>
              </a:rPr>
              <a:t>Explain philosophy as darshana — disciplined seeing, not useless abstraction</a:t>
            </a:r>
            <a:endParaRPr lang="en-US" sz="2600" dirty="0"/>
          </a:p>
        </p:txBody>
      </p:sp>
      <p:sp>
        <p:nvSpPr>
          <p:cNvPr id="13" name="Text 11"/>
          <p:cNvSpPr/>
          <p:nvPr/>
        </p:nvSpPr>
        <p:spPr>
          <a:xfrm>
            <a:off x="304800" y="3832770"/>
            <a:ext cx="11582399" cy="644127"/>
          </a:xfrm>
          <a:prstGeom prst="rect">
            <a:avLst/>
          </a:prstGeom>
          <a:noFill/>
          <a:ln/>
        </p:spPr>
        <p:txBody>
          <a:bodyPr wrap="none" lIns="0" tIns="0" rIns="0" bIns="0" rtlCol="0" anchor="t"/>
          <a:lstStyle/>
          <a:p>
            <a:pPr marL="0" indent="0" algn="l">
              <a:lnSpc>
                <a:spcPct val="133000"/>
              </a:lnSpc>
              <a:buNone/>
            </a:pPr>
            <a:r>
              <a:rPr lang="en-US" sz="2600" dirty="0">
                <a:solidFill>
                  <a:srgbClr val="000000"/>
                </a:solidFill>
                <a:latin typeface="Fira Sans" pitchFamily="34" charset="0"/>
                <a:ea typeface="Fira Sans" pitchFamily="34" charset="-122"/>
                <a:cs typeface="Fira Sans" pitchFamily="34" charset="-120"/>
              </a:rPr>
              <a:t>Connect philosophy to India's own intellectual traditions</a:t>
            </a:r>
            <a:endParaRPr lang="en-US" sz="2600" dirty="0"/>
          </a:p>
        </p:txBody>
      </p:sp>
      <p:sp>
        <p:nvSpPr>
          <p:cNvPr id="16" name="Text 14"/>
          <p:cNvSpPr/>
          <p:nvPr/>
        </p:nvSpPr>
        <p:spPr>
          <a:xfrm>
            <a:off x="304800" y="4579740"/>
            <a:ext cx="11582399" cy="644128"/>
          </a:xfrm>
          <a:prstGeom prst="rect">
            <a:avLst/>
          </a:prstGeom>
          <a:noFill/>
          <a:ln/>
        </p:spPr>
        <p:txBody>
          <a:bodyPr wrap="square" lIns="0" tIns="0" rIns="0" bIns="0" rtlCol="0" anchor="t">
            <a:noAutofit/>
          </a:bodyPr>
          <a:lstStyle/>
          <a:p>
            <a:pPr marL="0" indent="0" algn="l">
              <a:lnSpc>
                <a:spcPct val="133000"/>
              </a:lnSpc>
              <a:buNone/>
            </a:pPr>
            <a:r>
              <a:rPr lang="en-US" sz="2600" dirty="0">
                <a:solidFill>
                  <a:srgbClr val="000000"/>
                </a:solidFill>
                <a:latin typeface="Fira Sans" pitchFamily="34" charset="0"/>
                <a:ea typeface="Fira Sans" pitchFamily="34" charset="-122"/>
                <a:cs typeface="Fira Sans" pitchFamily="34" charset="-120"/>
              </a:rPr>
              <a:t>Theologize the regency experience — name what students already know</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70959F-A75C-659A-082A-6F1BF327B0E9}"/>
              </a:ext>
            </a:extLst>
          </p:cNvPr>
          <p:cNvSpPr txBox="1"/>
          <p:nvPr/>
        </p:nvSpPr>
        <p:spPr>
          <a:xfrm>
            <a:off x="389744" y="835623"/>
            <a:ext cx="11647358" cy="4031873"/>
          </a:xfrm>
          <a:prstGeom prst="rect">
            <a:avLst/>
          </a:prstGeom>
          <a:noFill/>
        </p:spPr>
        <p:txBody>
          <a:bodyPr wrap="square">
            <a:spAutoFit/>
          </a:bodyPr>
          <a:lstStyle/>
          <a:p>
            <a:pPr marL="342900" indent="-342900">
              <a:buFont typeface="+mj-lt"/>
              <a:buAutoNum type="arabicPeriod"/>
            </a:pPr>
            <a:r>
              <a:rPr lang="en-IN" sz="3200" b="1" dirty="0">
                <a:latin typeface="Times New Roman" panose="02020603050405020304" pitchFamily="18" charset="0"/>
                <a:cs typeface="Times New Roman" panose="02020603050405020304" pitchFamily="18" charset="0"/>
              </a:rPr>
              <a:t>Find someone who speaks three or more languages.</a:t>
            </a:r>
            <a:r>
              <a:rPr lang="en-IN" sz="3200" dirty="0">
                <a:latin typeface="Times New Roman" panose="02020603050405020304" pitchFamily="18" charset="0"/>
                <a:cs typeface="Times New Roman" panose="02020603050405020304" pitchFamily="18" charset="0"/>
              </a:rPr>
              <a:t> </a:t>
            </a:r>
          </a:p>
          <a:p>
            <a:pPr marL="342900" indent="-342900">
              <a:buFont typeface="+mj-lt"/>
              <a:buAutoNum type="arabicPeriod"/>
            </a:pPr>
            <a:r>
              <a:rPr lang="en-IN" sz="3200" b="1" dirty="0">
                <a:latin typeface="Times New Roman" panose="02020603050405020304" pitchFamily="18" charset="0"/>
                <a:cs typeface="Times New Roman" panose="02020603050405020304" pitchFamily="18" charset="0"/>
              </a:rPr>
              <a:t>Find someone who has worked in a village mission or parish.</a:t>
            </a:r>
            <a:r>
              <a:rPr lang="en-IN" sz="3200" dirty="0">
                <a:latin typeface="Times New Roman" panose="02020603050405020304" pitchFamily="18" charset="0"/>
                <a:cs typeface="Times New Roman" panose="02020603050405020304" pitchFamily="18" charset="0"/>
              </a:rPr>
              <a:t> </a:t>
            </a:r>
          </a:p>
          <a:p>
            <a:pPr marL="342900" indent="-342900">
              <a:buFont typeface="+mj-lt"/>
              <a:buAutoNum type="arabicPeriod"/>
            </a:pPr>
            <a:r>
              <a:rPr lang="en-IN" sz="3200" b="1" dirty="0">
                <a:latin typeface="Times New Roman" panose="02020603050405020304" pitchFamily="18" charset="0"/>
                <a:cs typeface="Times New Roman" panose="02020603050405020304" pitchFamily="18" charset="0"/>
              </a:rPr>
              <a:t>Find someone who can sing a hymn or prayer in a language other than their mother tongue.</a:t>
            </a:r>
            <a:r>
              <a:rPr lang="en-IN" sz="3200" dirty="0">
                <a:latin typeface="Times New Roman" panose="02020603050405020304" pitchFamily="18" charset="0"/>
                <a:cs typeface="Times New Roman" panose="02020603050405020304" pitchFamily="18" charset="0"/>
              </a:rPr>
              <a:t> </a:t>
            </a:r>
          </a:p>
          <a:p>
            <a:pPr marL="342900" indent="-342900">
              <a:buFont typeface="+mj-lt"/>
              <a:buAutoNum type="arabicPeriod"/>
            </a:pPr>
            <a:r>
              <a:rPr lang="en-IN" sz="3200" b="1" dirty="0">
                <a:latin typeface="Times New Roman" panose="02020603050405020304" pitchFamily="18" charset="0"/>
                <a:cs typeface="Times New Roman" panose="02020603050405020304" pitchFamily="18" charset="0"/>
              </a:rPr>
              <a:t>Find someone who has lived in a community in a different state from where they were born.</a:t>
            </a:r>
            <a:r>
              <a:rPr lang="en-IN" sz="3200" dirty="0">
                <a:latin typeface="Times New Roman" panose="02020603050405020304" pitchFamily="18" charset="0"/>
                <a:cs typeface="Times New Roman" panose="02020603050405020304" pitchFamily="18" charset="0"/>
              </a:rPr>
              <a:t> </a:t>
            </a:r>
          </a:p>
          <a:p>
            <a:pPr marL="342900" indent="-342900">
              <a:buFont typeface="+mj-lt"/>
              <a:buAutoNum type="arabicPeriod"/>
            </a:pPr>
            <a:r>
              <a:rPr lang="en-IN" sz="3200" b="1" dirty="0">
                <a:latin typeface="Times New Roman" panose="02020603050405020304" pitchFamily="18" charset="0"/>
                <a:cs typeface="Times New Roman" panose="02020603050405020304" pitchFamily="18" charset="0"/>
              </a:rPr>
              <a:t>Find someone who has inspired another person to consider a religious vocation.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8023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558304"/>
            <a:ext cx="4913686" cy="470495"/>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txBody>
          <a:bodyPr/>
          <a:lstStyle/>
          <a:p>
            <a:endParaRPr lang="en-IN"/>
          </a:p>
        </p:txBody>
      </p:sp>
      <p:sp>
        <p:nvSpPr>
          <p:cNvPr id="4" name="Shape 2"/>
          <p:cNvSpPr/>
          <p:nvPr/>
        </p:nvSpPr>
        <p:spPr>
          <a:xfrm>
            <a:off x="5409221" y="1502470"/>
            <a:ext cx="513246" cy="19050"/>
          </a:xfrm>
          <a:prstGeom prst="roundRect">
            <a:avLst>
              <a:gd name="adj" fmla="val 377198"/>
            </a:avLst>
          </a:prstGeom>
          <a:solidFill>
            <a:srgbClr val="E5CCB2"/>
          </a:solidFill>
          <a:ln/>
        </p:spPr>
        <p:txBody>
          <a:bodyPr/>
          <a:lstStyle/>
          <a:p>
            <a:endParaRPr lang="en-IN"/>
          </a:p>
        </p:txBody>
      </p:sp>
      <p:sp>
        <p:nvSpPr>
          <p:cNvPr id="5" name="Shape 3"/>
          <p:cNvSpPr/>
          <p:nvPr/>
        </p:nvSpPr>
        <p:spPr>
          <a:xfrm>
            <a:off x="5903418" y="1319609"/>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6" name="Text 4"/>
          <p:cNvSpPr/>
          <p:nvPr/>
        </p:nvSpPr>
        <p:spPr>
          <a:xfrm>
            <a:off x="5982890" y="1370856"/>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8" name="Text 6"/>
          <p:cNvSpPr/>
          <p:nvPr/>
        </p:nvSpPr>
        <p:spPr>
          <a:xfrm>
            <a:off x="805041" y="1249363"/>
            <a:ext cx="4435463" cy="253107"/>
          </a:xfrm>
          <a:prstGeom prst="rect">
            <a:avLst/>
          </a:prstGeom>
          <a:noFill/>
          <a:ln/>
        </p:spPr>
        <p:txBody>
          <a:bodyPr wrap="none" lIns="0" tIns="0" rIns="0" bIns="0" rtlCol="0" anchor="t"/>
          <a:lstStyle/>
          <a:p>
            <a:pPr marL="0" indent="0" algn="r">
              <a:lnSpc>
                <a:spcPct val="123000"/>
              </a:lnSpc>
              <a:buNone/>
            </a:pPr>
            <a:r>
              <a:rPr lang="en-US" sz="2400" b="1" dirty="0">
                <a:solidFill>
                  <a:srgbClr val="000000"/>
                </a:solidFill>
                <a:latin typeface="Fira Sans" pitchFamily="34" charset="0"/>
                <a:ea typeface="Fira Sans" pitchFamily="34" charset="-122"/>
                <a:cs typeface="Fira Sans" pitchFamily="34" charset="-120"/>
              </a:rPr>
              <a:t>Ice-Breaker: "The Two Questions"</a:t>
            </a:r>
            <a:endParaRPr lang="en-US" sz="2400" b="1" dirty="0"/>
          </a:p>
        </p:txBody>
      </p:sp>
      <p:sp>
        <p:nvSpPr>
          <p:cNvPr id="9" name="Shape 7"/>
          <p:cNvSpPr/>
          <p:nvPr/>
        </p:nvSpPr>
        <p:spPr>
          <a:xfrm>
            <a:off x="6269228" y="2477591"/>
            <a:ext cx="513246" cy="19050"/>
          </a:xfrm>
          <a:prstGeom prst="roundRect">
            <a:avLst>
              <a:gd name="adj" fmla="val 377198"/>
            </a:avLst>
          </a:prstGeom>
          <a:solidFill>
            <a:srgbClr val="E5CCB2"/>
          </a:solidFill>
          <a:ln/>
        </p:spPr>
        <p:txBody>
          <a:bodyPr/>
          <a:lstStyle/>
          <a:p>
            <a:endParaRPr lang="en-IN"/>
          </a:p>
        </p:txBody>
      </p:sp>
      <p:sp>
        <p:nvSpPr>
          <p:cNvPr id="10" name="Shape 8"/>
          <p:cNvSpPr/>
          <p:nvPr/>
        </p:nvSpPr>
        <p:spPr>
          <a:xfrm>
            <a:off x="5903418" y="2294731"/>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11" name="Text 9"/>
          <p:cNvSpPr/>
          <p:nvPr/>
        </p:nvSpPr>
        <p:spPr>
          <a:xfrm>
            <a:off x="5982890" y="2345978"/>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3" name="Text 11"/>
          <p:cNvSpPr/>
          <p:nvPr/>
        </p:nvSpPr>
        <p:spPr>
          <a:xfrm>
            <a:off x="6951190" y="2092871"/>
            <a:ext cx="4916960" cy="506214"/>
          </a:xfrm>
          <a:prstGeom prst="rect">
            <a:avLst/>
          </a:prstGeom>
          <a:noFill/>
          <a:ln/>
        </p:spPr>
        <p:txBody>
          <a:bodyPr wrap="square" lIns="0" tIns="0" rIns="0" bIns="0" rtlCol="0" anchor="t">
            <a:noAutofit/>
          </a:bodyPr>
          <a:lstStyle/>
          <a:p>
            <a:pPr marL="0" indent="0" algn="l">
              <a:lnSpc>
                <a:spcPct val="123000"/>
              </a:lnSpc>
              <a:buNone/>
            </a:pPr>
            <a:r>
              <a:rPr lang="en-US" sz="2400" b="1" dirty="0">
                <a:solidFill>
                  <a:srgbClr val="000000"/>
                </a:solidFill>
                <a:latin typeface="Fira Sans" pitchFamily="34" charset="0"/>
                <a:ea typeface="Fira Sans" pitchFamily="34" charset="-122"/>
                <a:cs typeface="Fira Sans" pitchFamily="34" charset="-120"/>
              </a:rPr>
              <a:t>What is Philosophy? — Core input with darshana illustration</a:t>
            </a:r>
            <a:endParaRPr lang="en-US" sz="2400" b="1" dirty="0"/>
          </a:p>
        </p:txBody>
      </p:sp>
      <p:sp>
        <p:nvSpPr>
          <p:cNvPr id="14" name="Shape 12"/>
          <p:cNvSpPr/>
          <p:nvPr/>
        </p:nvSpPr>
        <p:spPr>
          <a:xfrm>
            <a:off x="5409221" y="3336727"/>
            <a:ext cx="513246" cy="19050"/>
          </a:xfrm>
          <a:prstGeom prst="roundRect">
            <a:avLst>
              <a:gd name="adj" fmla="val 377198"/>
            </a:avLst>
          </a:prstGeom>
          <a:solidFill>
            <a:srgbClr val="E5CCB2"/>
          </a:solidFill>
          <a:ln/>
        </p:spPr>
        <p:txBody>
          <a:bodyPr/>
          <a:lstStyle/>
          <a:p>
            <a:endParaRPr lang="en-IN"/>
          </a:p>
        </p:txBody>
      </p:sp>
      <p:sp>
        <p:nvSpPr>
          <p:cNvPr id="15" name="Shape 13"/>
          <p:cNvSpPr/>
          <p:nvPr/>
        </p:nvSpPr>
        <p:spPr>
          <a:xfrm>
            <a:off x="5903418" y="3153866"/>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16" name="Text 14"/>
          <p:cNvSpPr/>
          <p:nvPr/>
        </p:nvSpPr>
        <p:spPr>
          <a:xfrm>
            <a:off x="5982890" y="3205113"/>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8" name="Text 16"/>
          <p:cNvSpPr/>
          <p:nvPr/>
        </p:nvSpPr>
        <p:spPr>
          <a:xfrm>
            <a:off x="-2363932" y="2951019"/>
            <a:ext cx="7604436" cy="837154"/>
          </a:xfrm>
          <a:prstGeom prst="rect">
            <a:avLst/>
          </a:prstGeom>
          <a:noFill/>
          <a:ln/>
        </p:spPr>
        <p:txBody>
          <a:bodyPr wrap="none" lIns="0" tIns="0" rIns="0" bIns="0" rtlCol="0" anchor="t"/>
          <a:lstStyle/>
          <a:p>
            <a:pPr marL="0" indent="0" algn="r">
              <a:lnSpc>
                <a:spcPct val="123000"/>
              </a:lnSpc>
              <a:buNone/>
            </a:pPr>
            <a:r>
              <a:rPr lang="en-US" sz="2400" b="1" dirty="0">
                <a:solidFill>
                  <a:srgbClr val="000000"/>
                </a:solidFill>
                <a:latin typeface="Fira Sans" pitchFamily="34" charset="0"/>
                <a:ea typeface="Fira Sans" pitchFamily="34" charset="-122"/>
                <a:cs typeface="Fira Sans" pitchFamily="34" charset="-120"/>
              </a:rPr>
              <a:t>The Regency Period — </a:t>
            </a:r>
          </a:p>
          <a:p>
            <a:pPr marL="0" indent="0" algn="r">
              <a:lnSpc>
                <a:spcPct val="123000"/>
              </a:lnSpc>
              <a:buNone/>
            </a:pPr>
            <a:r>
              <a:rPr lang="en-US" sz="2400" b="1" dirty="0">
                <a:solidFill>
                  <a:srgbClr val="000000"/>
                </a:solidFill>
                <a:latin typeface="Fira Sans" pitchFamily="34" charset="0"/>
                <a:ea typeface="Fira Sans" pitchFamily="34" charset="-122"/>
                <a:cs typeface="Fira Sans" pitchFamily="34" charset="-120"/>
              </a:rPr>
              <a:t>what it taught you theologically</a:t>
            </a:r>
            <a:endParaRPr lang="en-US" sz="2400" b="1" dirty="0"/>
          </a:p>
        </p:txBody>
      </p:sp>
      <p:sp>
        <p:nvSpPr>
          <p:cNvPr id="19" name="Shape 17"/>
          <p:cNvSpPr/>
          <p:nvPr/>
        </p:nvSpPr>
        <p:spPr>
          <a:xfrm>
            <a:off x="6269228" y="4195862"/>
            <a:ext cx="513246" cy="19050"/>
          </a:xfrm>
          <a:prstGeom prst="roundRect">
            <a:avLst>
              <a:gd name="adj" fmla="val 377198"/>
            </a:avLst>
          </a:prstGeom>
          <a:solidFill>
            <a:srgbClr val="E5CCB2"/>
          </a:solidFill>
          <a:ln/>
        </p:spPr>
        <p:txBody>
          <a:bodyPr/>
          <a:lstStyle/>
          <a:p>
            <a:endParaRPr lang="en-IN"/>
          </a:p>
        </p:txBody>
      </p:sp>
      <p:sp>
        <p:nvSpPr>
          <p:cNvPr id="20" name="Shape 18"/>
          <p:cNvSpPr/>
          <p:nvPr/>
        </p:nvSpPr>
        <p:spPr>
          <a:xfrm>
            <a:off x="5903418" y="4013002"/>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21" name="Text 19"/>
          <p:cNvSpPr/>
          <p:nvPr/>
        </p:nvSpPr>
        <p:spPr>
          <a:xfrm>
            <a:off x="5982890" y="4064248"/>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23" name="Text 21"/>
          <p:cNvSpPr/>
          <p:nvPr/>
        </p:nvSpPr>
        <p:spPr>
          <a:xfrm>
            <a:off x="6951190" y="3952279"/>
            <a:ext cx="4435463" cy="253107"/>
          </a:xfrm>
          <a:prstGeom prst="rect">
            <a:avLst/>
          </a:prstGeom>
          <a:noFill/>
          <a:ln/>
        </p:spPr>
        <p:txBody>
          <a:bodyPr wrap="none" lIns="0" tIns="0" rIns="0" bIns="0" rtlCol="0" anchor="t"/>
          <a:lstStyle/>
          <a:p>
            <a:pPr marL="0" indent="0" algn="l">
              <a:lnSpc>
                <a:spcPct val="123000"/>
              </a:lnSpc>
              <a:buNone/>
            </a:pPr>
            <a:r>
              <a:rPr lang="en-US" sz="2400" b="1" dirty="0">
                <a:solidFill>
                  <a:srgbClr val="000000"/>
                </a:solidFill>
                <a:latin typeface="Fira Sans" pitchFamily="34" charset="0"/>
                <a:ea typeface="Fira Sans" pitchFamily="34" charset="-122"/>
                <a:cs typeface="Fira Sans" pitchFamily="34" charset="-120"/>
              </a:rPr>
              <a:t>Discussion questions + sharing</a:t>
            </a:r>
            <a:endParaRPr lang="en-US" sz="2400" b="1" dirty="0"/>
          </a:p>
        </p:txBody>
      </p:sp>
      <p:sp>
        <p:nvSpPr>
          <p:cNvPr id="24" name="Shape 22"/>
          <p:cNvSpPr/>
          <p:nvPr/>
        </p:nvSpPr>
        <p:spPr>
          <a:xfrm>
            <a:off x="5409221" y="5054997"/>
            <a:ext cx="513246" cy="19050"/>
          </a:xfrm>
          <a:prstGeom prst="roundRect">
            <a:avLst>
              <a:gd name="adj" fmla="val 377198"/>
            </a:avLst>
          </a:prstGeom>
          <a:solidFill>
            <a:srgbClr val="E5CCB2"/>
          </a:solidFill>
          <a:ln/>
        </p:spPr>
        <p:txBody>
          <a:bodyPr/>
          <a:lstStyle/>
          <a:p>
            <a:endParaRPr lang="en-IN"/>
          </a:p>
        </p:txBody>
      </p:sp>
      <p:sp>
        <p:nvSpPr>
          <p:cNvPr id="25" name="Shape 23"/>
          <p:cNvSpPr/>
          <p:nvPr/>
        </p:nvSpPr>
        <p:spPr>
          <a:xfrm>
            <a:off x="5903418" y="4872137"/>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26" name="Text 24"/>
          <p:cNvSpPr/>
          <p:nvPr/>
        </p:nvSpPr>
        <p:spPr>
          <a:xfrm>
            <a:off x="5982890" y="4923383"/>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5</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801489"/>
            <a:ext cx="8527440" cy="525859"/>
          </a:xfrm>
          <a:prstGeom prst="rect">
            <a:avLst/>
          </a:prstGeom>
          <a:noFill/>
          <a:ln/>
        </p:spPr>
        <p:txBody>
          <a:bodyPr wrap="none" lIns="0" tIns="0" rIns="0" bIns="0" rtlCol="0" anchor="t"/>
          <a:lstStyle/>
          <a:p>
            <a:pPr marL="0" indent="0" algn="l">
              <a:lnSpc>
                <a:spcPct val="104000"/>
              </a:lnSpc>
              <a:buNone/>
            </a:pPr>
            <a:r>
              <a:rPr lang="en-US" sz="3300" b="1" dirty="0">
                <a:solidFill>
                  <a:srgbClr val="000000"/>
                </a:solidFill>
                <a:latin typeface="Libre Baskerville Bold" pitchFamily="34" charset="0"/>
                <a:ea typeface="Libre Baskerville Bold" pitchFamily="34" charset="-122"/>
                <a:cs typeface="Libre Baskerville Bold" pitchFamily="34" charset="-120"/>
              </a:rPr>
              <a:t>ICE-BREAKER: The Two Questions</a:t>
            </a:r>
            <a:endParaRPr lang="en-US" sz="3300" dirty="0"/>
          </a:p>
        </p:txBody>
      </p:sp>
      <p:sp>
        <p:nvSpPr>
          <p:cNvPr id="3" name="Text 1"/>
          <p:cNvSpPr/>
          <p:nvPr/>
        </p:nvSpPr>
        <p:spPr>
          <a:xfrm>
            <a:off x="805041" y="1690588"/>
            <a:ext cx="10581613" cy="800795"/>
          </a:xfrm>
          <a:prstGeom prst="rect">
            <a:avLst/>
          </a:prstGeom>
          <a:noFill/>
          <a:ln/>
        </p:spPr>
        <p:txBody>
          <a:bodyPr wrap="square" lIns="0" tIns="0" rIns="0" bIns="0" rtlCol="0" anchor="t"/>
          <a:lstStyle/>
          <a:p>
            <a:pPr marL="0" indent="0" algn="l">
              <a:lnSpc>
                <a:spcPct val="130000"/>
              </a:lnSpc>
              <a:spcAft>
                <a:spcPts val="1600"/>
              </a:spcAft>
              <a:buNone/>
            </a:pPr>
            <a:r>
              <a:rPr lang="en-US" sz="1500" i="1" dirty="0">
                <a:solidFill>
                  <a:srgbClr val="000000"/>
                </a:solidFill>
                <a:latin typeface="Fira Sans" pitchFamily="34" charset="0"/>
                <a:ea typeface="Fira Sans" pitchFamily="34" charset="-122"/>
                <a:cs typeface="Fira Sans" pitchFamily="34" charset="-120"/>
              </a:rPr>
              <a:t>8 minutes</a:t>
            </a:r>
            <a:endParaRPr lang="en-US" sz="1500" dirty="0"/>
          </a:p>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Hold up a glass of water. Ask the class two questions:</a:t>
            </a:r>
            <a:endParaRPr lang="en-US" sz="1500" dirty="0"/>
          </a:p>
        </p:txBody>
      </p:sp>
      <p:sp>
        <p:nvSpPr>
          <p:cNvPr id="4" name="Shape 2"/>
          <p:cNvSpPr/>
          <p:nvPr/>
        </p:nvSpPr>
        <p:spPr>
          <a:xfrm>
            <a:off x="667329" y="2695674"/>
            <a:ext cx="5332974" cy="1350665"/>
          </a:xfrm>
          <a:prstGeom prst="roundRect">
            <a:avLst>
              <a:gd name="adj" fmla="val 10193"/>
            </a:avLst>
          </a:prstGeom>
          <a:solidFill>
            <a:srgbClr val="493F36"/>
          </a:solidFill>
          <a:ln/>
        </p:spPr>
        <p:txBody>
          <a:bodyPr/>
          <a:lstStyle/>
          <a:p>
            <a:endParaRPr lang="en-IN"/>
          </a:p>
        </p:txBody>
      </p:sp>
      <p:sp>
        <p:nvSpPr>
          <p:cNvPr id="5" name="Text 3"/>
          <p:cNvSpPr/>
          <p:nvPr/>
        </p:nvSpPr>
        <p:spPr>
          <a:xfrm>
            <a:off x="858518" y="2877245"/>
            <a:ext cx="4088901" cy="262930"/>
          </a:xfrm>
          <a:prstGeom prst="rect">
            <a:avLst/>
          </a:prstGeom>
          <a:noFill/>
          <a:ln/>
        </p:spPr>
        <p:txBody>
          <a:bodyPr wrap="none" lIns="0" tIns="0" rIns="0" bIns="0" rtlCol="0" anchor="t"/>
          <a:lstStyle/>
          <a:p>
            <a:pPr marL="0" indent="0" algn="l">
              <a:lnSpc>
                <a:spcPct val="104000"/>
              </a:lnSpc>
              <a:buNone/>
            </a:pPr>
            <a:r>
              <a:rPr lang="en-US" sz="1650" b="1" dirty="0">
                <a:solidFill>
                  <a:srgbClr val="FFFFFF"/>
                </a:solidFill>
                <a:latin typeface="Libre Baskerville Bold" pitchFamily="34" charset="0"/>
                <a:ea typeface="Libre Baskerville Bold" pitchFamily="34" charset="-122"/>
                <a:cs typeface="Libre Baskerville Bold" pitchFamily="34" charset="-120"/>
              </a:rPr>
              <a:t>Question 1: "Is this water clean?"</a:t>
            </a:r>
            <a:endParaRPr lang="en-US" sz="1650" dirty="0"/>
          </a:p>
        </p:txBody>
      </p:sp>
      <p:sp>
        <p:nvSpPr>
          <p:cNvPr id="6" name="Text 4"/>
          <p:cNvSpPr/>
          <p:nvPr/>
        </p:nvSpPr>
        <p:spPr>
          <a:xfrm>
            <a:off x="858518" y="3321745"/>
            <a:ext cx="5560179" cy="298252"/>
          </a:xfrm>
          <a:prstGeom prst="rect">
            <a:avLst/>
          </a:prstGeom>
          <a:noFill/>
          <a:ln/>
        </p:spPr>
        <p:txBody>
          <a:bodyPr wrap="none" lIns="0" tIns="0" rIns="0" bIns="0" rtlCol="0" anchor="t"/>
          <a:lstStyle/>
          <a:p>
            <a:pPr marL="0" indent="0" algn="l">
              <a:lnSpc>
                <a:spcPct val="130000"/>
              </a:lnSpc>
              <a:buNone/>
            </a:pPr>
            <a:r>
              <a:rPr lang="en-US" sz="1500" dirty="0">
                <a:solidFill>
                  <a:srgbClr val="FFFFFF"/>
                </a:solidFill>
                <a:latin typeface="Fira Sans" pitchFamily="34" charset="0"/>
                <a:ea typeface="Fira Sans" pitchFamily="34" charset="-122"/>
                <a:cs typeface="Fira Sans" pitchFamily="34" charset="-120"/>
              </a:rPr>
              <a:t>Empirical — science answers it.</a:t>
            </a:r>
            <a:endParaRPr lang="en-US" sz="1500" dirty="0"/>
          </a:p>
        </p:txBody>
      </p:sp>
      <p:sp>
        <p:nvSpPr>
          <p:cNvPr id="7" name="Text 5"/>
          <p:cNvSpPr/>
          <p:nvPr/>
        </p:nvSpPr>
        <p:spPr>
          <a:xfrm>
            <a:off x="6335455" y="2877245"/>
            <a:ext cx="5057549" cy="525859"/>
          </a:xfrm>
          <a:prstGeom prst="rect">
            <a:avLst/>
          </a:prstGeom>
          <a:noFill/>
          <a:ln/>
        </p:spPr>
        <p:txBody>
          <a:bodyPr wrap="square" lIns="0" tIns="0" rIns="0" bIns="0" rtlCol="0" anchor="t">
            <a:normAutofit/>
          </a:bodyPr>
          <a:lstStyle/>
          <a:p>
            <a:pPr marL="0" indent="0" algn="l">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Question 2: "Why do we pour water on someone's head when they are baptised?"</a:t>
            </a:r>
            <a:endParaRPr lang="en-US" sz="1650" dirty="0"/>
          </a:p>
        </p:txBody>
      </p:sp>
      <p:sp>
        <p:nvSpPr>
          <p:cNvPr id="8" name="Text 6"/>
          <p:cNvSpPr/>
          <p:nvPr/>
        </p:nvSpPr>
        <p:spPr>
          <a:xfrm>
            <a:off x="6335455" y="3584674"/>
            <a:ext cx="5667134" cy="298252"/>
          </a:xfrm>
          <a:prstGeom prst="rect">
            <a:avLst/>
          </a:prstGeom>
          <a:noFill/>
          <a:ln/>
        </p:spPr>
        <p:txBody>
          <a:bodyPr wrap="none" lIns="0" tIns="0" rIns="0" bIns="0" rtlCol="0" anchor="t"/>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Philosophical-theological — meaning, ritual, God.</a:t>
            </a:r>
            <a:endParaRPr lang="en-US" sz="1500" dirty="0"/>
          </a:p>
        </p:txBody>
      </p:sp>
      <p:sp>
        <p:nvSpPr>
          <p:cNvPr id="9" name="Shape 7"/>
          <p:cNvSpPr/>
          <p:nvPr/>
        </p:nvSpPr>
        <p:spPr>
          <a:xfrm>
            <a:off x="805041" y="4250630"/>
            <a:ext cx="25399" cy="1004987"/>
          </a:xfrm>
          <a:prstGeom prst="roundRect">
            <a:avLst>
              <a:gd name="adj" fmla="val 60001"/>
            </a:avLst>
          </a:prstGeom>
          <a:solidFill>
            <a:srgbClr val="020100"/>
          </a:solidFill>
          <a:ln/>
        </p:spPr>
        <p:txBody>
          <a:bodyPr/>
          <a:lstStyle/>
          <a:p>
            <a:endParaRPr lang="en-IN"/>
          </a:p>
        </p:txBody>
      </p:sp>
      <p:sp>
        <p:nvSpPr>
          <p:cNvPr id="10" name="Text 8"/>
          <p:cNvSpPr/>
          <p:nvPr/>
        </p:nvSpPr>
        <p:spPr>
          <a:xfrm>
            <a:off x="1091776" y="4454922"/>
            <a:ext cx="10294878" cy="596503"/>
          </a:xfrm>
          <a:prstGeom prst="rect">
            <a:avLst/>
          </a:prstGeom>
          <a:noFill/>
          <a:ln/>
        </p:spPr>
        <p:txBody>
          <a:bodyPr wrap="square" lIns="0" tIns="0" rIns="0" bIns="0" rtlCol="0" anchor="t">
            <a:normAutofit/>
          </a:bodyPr>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"Philosophy is what happens when you move from 'What is the case?' to 'Why does it matter?' and 'What does it mean?'"</a:t>
            </a:r>
            <a:endParaRPr lang="en-US" sz="1500" dirty="0"/>
          </a:p>
        </p:txBody>
      </p:sp>
      <p:sp>
        <p:nvSpPr>
          <p:cNvPr id="11" name="Text 9"/>
          <p:cNvSpPr/>
          <p:nvPr/>
        </p:nvSpPr>
        <p:spPr>
          <a:xfrm>
            <a:off x="805041" y="5460008"/>
            <a:ext cx="10581613" cy="596503"/>
          </a:xfrm>
          <a:prstGeom prst="rect">
            <a:avLst/>
          </a:prstGeom>
          <a:noFill/>
          <a:ln/>
        </p:spPr>
        <p:txBody>
          <a:bodyPr wrap="square" lIns="0" tIns="0" rIns="0" bIns="0" rtlCol="0" anchor="t">
            <a:normAutofit/>
          </a:bodyPr>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 Add: "A cow also knows water is wet. Only human beings ask why it matters. That's what makes you not a cow — and that's what philosophy 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894953"/>
            <a:ext cx="11189313" cy="498177"/>
          </a:xfrm>
          <a:prstGeom prst="rect">
            <a:avLst/>
          </a:prstGeom>
          <a:noFill/>
          <a:ln/>
        </p:spPr>
        <p:txBody>
          <a:bodyPr wrap="none" lIns="0" tIns="0" rIns="0" bIns="0" rtlCol="0" anchor="t"/>
          <a:lstStyle/>
          <a:p>
            <a:pPr marL="0" indent="0" algn="l">
              <a:lnSpc>
                <a:spcPct val="104000"/>
              </a:lnSpc>
              <a:buNone/>
            </a:pPr>
            <a:r>
              <a:rPr lang="en-US" sz="3100" b="1" dirty="0">
                <a:solidFill>
                  <a:srgbClr val="000000"/>
                </a:solidFill>
                <a:latin typeface="Libre Baskerville Bold" pitchFamily="34" charset="0"/>
                <a:ea typeface="Libre Baskerville Bold" pitchFamily="34" charset="-122"/>
                <a:cs typeface="Libre Baskerville Bold" pitchFamily="34" charset="-120"/>
              </a:rPr>
              <a:t>CORE CONTENT: PART A — What Is Philosophy?</a:t>
            </a:r>
            <a:endParaRPr lang="en-US" sz="3100" dirty="0"/>
          </a:p>
        </p:txBody>
      </p:sp>
      <p:sp>
        <p:nvSpPr>
          <p:cNvPr id="3" name="Shape 1"/>
          <p:cNvSpPr/>
          <p:nvPr/>
        </p:nvSpPr>
        <p:spPr>
          <a:xfrm>
            <a:off x="674571" y="1637605"/>
            <a:ext cx="5330791" cy="4325441"/>
          </a:xfrm>
          <a:prstGeom prst="roundRect">
            <a:avLst>
              <a:gd name="adj" fmla="val 3015"/>
            </a:avLst>
          </a:prstGeom>
          <a:solidFill>
            <a:srgbClr val="493F36"/>
          </a:solidFill>
          <a:ln/>
        </p:spPr>
        <p:txBody>
          <a:bodyPr/>
          <a:lstStyle/>
          <a:p>
            <a:endParaRPr lang="en-IN">
              <a:latin typeface="Times New Roman" panose="02020603050405020304" pitchFamily="18" charset="0"/>
              <a:cs typeface="Times New Roman" panose="02020603050405020304" pitchFamily="18" charset="0"/>
            </a:endParaRPr>
          </a:p>
        </p:txBody>
      </p:sp>
      <p:sp>
        <p:nvSpPr>
          <p:cNvPr id="4" name="Text 2"/>
          <p:cNvSpPr/>
          <p:nvPr/>
        </p:nvSpPr>
        <p:spPr>
          <a:xfrm>
            <a:off x="855641" y="1800622"/>
            <a:ext cx="2602145" cy="249039"/>
          </a:xfrm>
          <a:prstGeom prst="rect">
            <a:avLst/>
          </a:prstGeom>
          <a:noFill/>
          <a:ln/>
        </p:spPr>
        <p:txBody>
          <a:bodyPr wrap="none" lIns="0" tIns="0" rIns="0" bIns="0" rtlCol="0" anchor="t"/>
          <a:lstStyle/>
          <a:p>
            <a:pPr marL="0" indent="0" algn="l">
              <a:lnSpc>
                <a:spcPct val="104000"/>
              </a:lnSpc>
              <a:buNone/>
            </a:pPr>
            <a:r>
              <a:rPr lang="en-US" sz="2000" b="1" dirty="0">
                <a:solidFill>
                  <a:srgbClr val="FFFFFF"/>
                </a:solidFill>
                <a:latin typeface="Times New Roman" panose="02020603050405020304" pitchFamily="18" charset="0"/>
                <a:ea typeface="Libre Baskerville Bold" pitchFamily="34" charset="-122"/>
                <a:cs typeface="Times New Roman" panose="02020603050405020304" pitchFamily="18" charset="0"/>
              </a:rPr>
              <a:t>Etymology</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55641" y="2212677"/>
            <a:ext cx="4968651" cy="3412268"/>
          </a:xfrm>
          <a:prstGeom prst="rect">
            <a:avLst/>
          </a:prstGeom>
          <a:noFill/>
          <a:ln/>
        </p:spPr>
        <p:txBody>
          <a:bodyPr wrap="square" lIns="0" tIns="0" rIns="0" bIns="0" rtlCol="0" anchor="t">
            <a:normAutofit lnSpcReduction="10000"/>
          </a:bodyPr>
          <a:lstStyle/>
          <a:p>
            <a:pPr marL="0" indent="0" algn="l">
              <a:lnSpc>
                <a:spcPct val="127000"/>
              </a:lnSpc>
              <a:buNone/>
            </a:pP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The Greek word </a:t>
            </a:r>
            <a:r>
              <a:rPr lang="en-US" sz="2400" b="1" dirty="0">
                <a:solidFill>
                  <a:srgbClr val="FFFFFF"/>
                </a:solidFill>
                <a:latin typeface="Times New Roman" panose="02020603050405020304" pitchFamily="18" charset="0"/>
                <a:ea typeface="Fira Sans Bold" pitchFamily="34" charset="-122"/>
                <a:cs typeface="Times New Roman" panose="02020603050405020304" pitchFamily="18" charset="0"/>
              </a:rPr>
              <a:t>philosophia</a:t>
            </a: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 means love (</a:t>
            </a:r>
            <a:r>
              <a:rPr lang="en-US" sz="2400" i="1" dirty="0">
                <a:solidFill>
                  <a:srgbClr val="FFFFFF"/>
                </a:solidFill>
                <a:latin typeface="Times New Roman" panose="02020603050405020304" pitchFamily="18" charset="0"/>
                <a:ea typeface="Fira Sans" pitchFamily="34" charset="-122"/>
                <a:cs typeface="Times New Roman" panose="02020603050405020304" pitchFamily="18" charset="0"/>
              </a:rPr>
              <a:t>philos</a:t>
            </a: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 of wisdom (</a:t>
            </a:r>
            <a:r>
              <a:rPr lang="en-US" sz="2400" i="1" dirty="0">
                <a:solidFill>
                  <a:srgbClr val="FFFFFF"/>
                </a:solidFill>
                <a:latin typeface="Times New Roman" panose="02020603050405020304" pitchFamily="18" charset="0"/>
                <a:ea typeface="Fira Sans" pitchFamily="34" charset="-122"/>
                <a:cs typeface="Times New Roman" panose="02020603050405020304" pitchFamily="18" charset="0"/>
              </a:rPr>
              <a:t>sophia</a:t>
            </a: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lgn="l">
              <a:lnSpc>
                <a:spcPct val="127000"/>
              </a:lnSpc>
              <a:buNone/>
            </a:pP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The Sanskrit word </a:t>
            </a:r>
            <a:r>
              <a:rPr lang="hi-IN" altLang="en-US" sz="2400" b="1" dirty="0">
                <a:solidFill>
                  <a:srgbClr val="FFFFFF"/>
                </a:solidFill>
                <a:latin typeface="Times New Roman" panose="02020603050405020304" pitchFamily="18" charset="0"/>
                <a:ea typeface="Fira Sans Bold" pitchFamily="34" charset="-122"/>
                <a:cs typeface="Fira Sans Bold" pitchFamily="34" charset="-120"/>
              </a:rPr>
              <a:t>darshana (दर्शन)</a:t>
            </a: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 means seeing, vision, direct perception of reality.</a:t>
            </a:r>
            <a:endParaRPr lang="en-US" sz="2400" dirty="0">
              <a:latin typeface="Times New Roman" panose="02020603050405020304" pitchFamily="18" charset="0"/>
              <a:cs typeface="Times New Roman" panose="02020603050405020304" pitchFamily="18" charset="0"/>
            </a:endParaRPr>
          </a:p>
          <a:p>
            <a:pPr marL="0" indent="0" algn="l">
              <a:lnSpc>
                <a:spcPct val="127000"/>
              </a:lnSpc>
              <a:buNone/>
            </a:pPr>
            <a:r>
              <a:rPr lang="en-US" sz="2400" dirty="0">
                <a:solidFill>
                  <a:srgbClr val="FFFFFF"/>
                </a:solidFill>
                <a:latin typeface="Times New Roman" panose="02020603050405020304" pitchFamily="18" charset="0"/>
                <a:ea typeface="Fira Sans" pitchFamily="34" charset="-122"/>
                <a:cs typeface="Times New Roman" panose="02020603050405020304" pitchFamily="18" charset="0"/>
              </a:rPr>
              <a:t>Both words point to the same thing: disciplined, honest, careful thinking about what is real and what matters.</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6323152" y="1800622"/>
            <a:ext cx="2683998" cy="249039"/>
          </a:xfrm>
          <a:prstGeom prst="rect">
            <a:avLst/>
          </a:prstGeom>
          <a:noFill/>
          <a:ln/>
        </p:spPr>
        <p:txBody>
          <a:bodyPr wrap="none" lIns="0" tIns="0" rIns="0" bIns="0" rtlCol="0" anchor="t"/>
          <a:lstStyle/>
          <a:p>
            <a:pPr marL="0" indent="0" algn="l">
              <a:lnSpc>
                <a:spcPct val="104000"/>
              </a:lnSpc>
              <a:buNone/>
            </a:pPr>
            <a:r>
              <a:rPr lang="en-US" sz="2000" b="1" dirty="0">
                <a:solidFill>
                  <a:srgbClr val="000000"/>
                </a:solidFill>
                <a:latin typeface="Times New Roman" panose="02020603050405020304" pitchFamily="18" charset="0"/>
                <a:ea typeface="Libre Baskerville Bold" pitchFamily="34" charset="-122"/>
                <a:cs typeface="Times New Roman" panose="02020603050405020304" pitchFamily="18" charset="0"/>
              </a:rPr>
              <a:t>St. Thomas Aquinas</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6323152" y="2212677"/>
            <a:ext cx="5508630" cy="1625032"/>
          </a:xfrm>
          <a:prstGeom prst="rect">
            <a:avLst/>
          </a:prstGeom>
          <a:noFill/>
          <a:ln/>
        </p:spPr>
        <p:txBody>
          <a:bodyPr wrap="square" lIns="0" tIns="0" rIns="0" bIns="0" rtlCol="0" anchor="t">
            <a:normAutofit fontScale="92500"/>
          </a:bodyPr>
          <a:lstStyle/>
          <a:p>
            <a:pPr marL="0" indent="0" algn="l">
              <a:lnSpc>
                <a:spcPct val="127000"/>
              </a:lnSpc>
              <a:buNone/>
            </a:pPr>
            <a:r>
              <a:rPr lang="en-US" sz="2000" b="1" dirty="0">
                <a:solidFill>
                  <a:srgbClr val="000000"/>
                </a:solidFill>
                <a:latin typeface="Times New Roman" panose="02020603050405020304" pitchFamily="18" charset="0"/>
                <a:ea typeface="Fira Sans" pitchFamily="34" charset="-122"/>
                <a:cs typeface="Times New Roman" panose="02020603050405020304" pitchFamily="18" charset="0"/>
              </a:rPr>
              <a:t>St. Thomas Aquinas defined philosophy as </a:t>
            </a:r>
            <a:r>
              <a:rPr lang="en-US" sz="2000" b="1" i="1" dirty="0">
                <a:solidFill>
                  <a:srgbClr val="000000"/>
                </a:solidFill>
                <a:latin typeface="Times New Roman" panose="02020603050405020304" pitchFamily="18" charset="0"/>
                <a:ea typeface="Fira Sans" pitchFamily="34" charset="-122"/>
                <a:cs typeface="Times New Roman" panose="02020603050405020304" pitchFamily="18" charset="0"/>
              </a:rPr>
              <a:t>cognitio rerum per causas ultimas</a:t>
            </a:r>
            <a:r>
              <a:rPr lang="en-US" sz="2000" b="1" dirty="0">
                <a:solidFill>
                  <a:srgbClr val="000000"/>
                </a:solidFill>
                <a:latin typeface="Times New Roman" panose="02020603050405020304" pitchFamily="18" charset="0"/>
                <a:ea typeface="Fira Sans" pitchFamily="34" charset="-122"/>
                <a:cs typeface="Times New Roman" panose="02020603050405020304" pitchFamily="18" charset="0"/>
              </a:rPr>
              <a:t> — "knowledge of things through their ultimate causes." Not just what things are, but why they exist and what they point to.</a:t>
            </a:r>
            <a:endParaRPr lang="en-US" sz="2000" b="1" dirty="0">
              <a:latin typeface="Times New Roman" panose="02020603050405020304" pitchFamily="18" charset="0"/>
              <a:cs typeface="Times New Roman" panose="02020603050405020304" pitchFamily="18" charset="0"/>
            </a:endParaRPr>
          </a:p>
        </p:txBody>
      </p:sp>
      <p:sp>
        <p:nvSpPr>
          <p:cNvPr id="8" name="Text 6"/>
          <p:cNvSpPr/>
          <p:nvPr/>
        </p:nvSpPr>
        <p:spPr>
          <a:xfrm>
            <a:off x="6323152" y="3934570"/>
            <a:ext cx="4538549" cy="249039"/>
          </a:xfrm>
          <a:prstGeom prst="rect">
            <a:avLst/>
          </a:prstGeom>
          <a:noFill/>
          <a:ln/>
        </p:spPr>
        <p:txBody>
          <a:bodyPr wrap="none" lIns="0" tIns="0" rIns="0" bIns="0" rtlCol="0" anchor="t"/>
          <a:lstStyle/>
          <a:p>
            <a:pPr marL="0" indent="0" algn="l">
              <a:lnSpc>
                <a:spcPct val="104000"/>
              </a:lnSpc>
              <a:buNone/>
            </a:pPr>
            <a:r>
              <a:rPr lang="en-US" sz="2000" b="1" dirty="0">
                <a:solidFill>
                  <a:srgbClr val="000000"/>
                </a:solidFill>
                <a:latin typeface="Times New Roman" panose="02020603050405020304" pitchFamily="18" charset="0"/>
                <a:ea typeface="Libre Baskerville Bold" pitchFamily="34" charset="-122"/>
                <a:cs typeface="Times New Roman" panose="02020603050405020304" pitchFamily="18" charset="0"/>
              </a:rPr>
              <a:t>St. Anselm of Canterbury (1033–1109)</a:t>
            </a:r>
            <a:endParaRPr lang="en-US" sz="2000" b="1" dirty="0">
              <a:latin typeface="Times New Roman" panose="02020603050405020304" pitchFamily="18" charset="0"/>
              <a:cs typeface="Times New Roman" panose="02020603050405020304" pitchFamily="18" charset="0"/>
            </a:endParaRPr>
          </a:p>
        </p:txBody>
      </p:sp>
      <p:sp>
        <p:nvSpPr>
          <p:cNvPr id="9" name="Text 7"/>
          <p:cNvSpPr/>
          <p:nvPr/>
        </p:nvSpPr>
        <p:spPr>
          <a:xfrm>
            <a:off x="6323152" y="4280470"/>
            <a:ext cx="5671202" cy="2577530"/>
          </a:xfrm>
          <a:prstGeom prst="rect">
            <a:avLst/>
          </a:prstGeom>
          <a:noFill/>
          <a:ln/>
        </p:spPr>
        <p:txBody>
          <a:bodyPr wrap="square" lIns="0" tIns="0" rIns="0" bIns="0" rtlCol="0" anchor="t">
            <a:normAutofit/>
          </a:bodyPr>
          <a:lstStyle/>
          <a:p>
            <a:pPr marL="0" indent="0" algn="l">
              <a:lnSpc>
                <a:spcPct val="127000"/>
              </a:lnSpc>
              <a:buNone/>
            </a:pPr>
            <a:r>
              <a:rPr lang="en-US" b="1" dirty="0">
                <a:solidFill>
                  <a:srgbClr val="000000"/>
                </a:solidFill>
                <a:latin typeface="Times New Roman" panose="02020603050405020304" pitchFamily="18" charset="0"/>
                <a:ea typeface="Fira Sans" pitchFamily="34" charset="-122"/>
                <a:cs typeface="Times New Roman" panose="02020603050405020304" pitchFamily="18" charset="0"/>
              </a:rPr>
              <a:t>St. Anselm of Canterbury (1033–1109) gave theology its most famous definition: </a:t>
            </a:r>
            <a:r>
              <a:rPr lang="en-US" b="1" i="1" dirty="0">
                <a:solidFill>
                  <a:srgbClr val="000000"/>
                </a:solidFill>
                <a:latin typeface="Times New Roman" panose="02020603050405020304" pitchFamily="18" charset="0"/>
                <a:ea typeface="Fira Sans" pitchFamily="34" charset="-122"/>
                <a:cs typeface="Times New Roman" panose="02020603050405020304" pitchFamily="18" charset="0"/>
              </a:rPr>
              <a:t>fides quaerens intellectum</a:t>
            </a:r>
            <a:r>
              <a:rPr lang="en-US" b="1" dirty="0">
                <a:solidFill>
                  <a:srgbClr val="000000"/>
                </a:solidFill>
                <a:latin typeface="Times New Roman" panose="02020603050405020304" pitchFamily="18" charset="0"/>
                <a:ea typeface="Fira Sans" pitchFamily="34" charset="-122"/>
                <a:cs typeface="Times New Roman" panose="02020603050405020304" pitchFamily="18" charset="0"/>
              </a:rPr>
              <a:t> — "faith seeking understanding." Faith comes first. You do not reason your way to God and then decide to believe. You already believe — and then you use reason to understand more deeply. Philosophy is the tool that reason uses in that movement.</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365549" y="350101"/>
            <a:ext cx="10581613" cy="1106884"/>
          </a:xfrm>
          <a:prstGeom prst="rect">
            <a:avLst/>
          </a:prstGeom>
          <a:noFill/>
          <a:ln/>
        </p:spPr>
        <p:txBody>
          <a:bodyPr wrap="square" lIns="0" tIns="0" rIns="0" bIns="0" rtlCol="0" anchor="t">
            <a:normAutofit/>
          </a:bodyPr>
          <a:lstStyle/>
          <a:p>
            <a:pPr marL="0" indent="0" algn="l">
              <a:lnSpc>
                <a:spcPct val="104000"/>
              </a:lnSpc>
              <a:buNone/>
            </a:pPr>
            <a:r>
              <a:rPr lang="en-US" sz="3450" b="1" dirty="0">
                <a:solidFill>
                  <a:srgbClr val="000000"/>
                </a:solidFill>
                <a:latin typeface="Times New Roman" panose="02020603050405020304" pitchFamily="18" charset="0"/>
                <a:ea typeface="Libre Baskerville Bold" pitchFamily="34" charset="-122"/>
                <a:cs typeface="Times New Roman" panose="02020603050405020304" pitchFamily="18" charset="0"/>
              </a:rPr>
              <a:t>THE INDIAN PHILOSOPHICAL TRADITION</a:t>
            </a:r>
            <a:endParaRPr lang="en-US" sz="3450" dirty="0">
              <a:latin typeface="Times New Roman" panose="02020603050405020304" pitchFamily="18" charset="0"/>
              <a:cs typeface="Times New Roman" panose="02020603050405020304" pitchFamily="18" charset="0"/>
            </a:endParaRPr>
          </a:p>
        </p:txBody>
      </p:sp>
      <p:sp>
        <p:nvSpPr>
          <p:cNvPr id="3" name="Text 1"/>
          <p:cNvSpPr/>
          <p:nvPr/>
        </p:nvSpPr>
        <p:spPr>
          <a:xfrm>
            <a:off x="244534" y="1124263"/>
            <a:ext cx="11702628" cy="5576340"/>
          </a:xfrm>
          <a:prstGeom prst="rect">
            <a:avLst/>
          </a:prstGeom>
          <a:noFill/>
          <a:ln/>
        </p:spPr>
        <p:txBody>
          <a:bodyPr wrap="square" lIns="0" tIns="0" rIns="0" bIns="0" rtlCol="0" anchor="t">
            <a:normAutofit/>
          </a:bodyPr>
          <a:lstStyle/>
          <a:p>
            <a:pPr marL="0" indent="0" algn="l">
              <a:lnSpc>
                <a:spcPct val="133000"/>
              </a:lnSpc>
              <a:spcAft>
                <a:spcPts val="1750"/>
              </a:spcAft>
              <a:buNone/>
            </a:pPr>
            <a:r>
              <a:rPr lang="en-US" sz="2400" dirty="0">
                <a:solidFill>
                  <a:srgbClr val="000000"/>
                </a:solidFill>
                <a:latin typeface="Times New Roman" panose="02020603050405020304" pitchFamily="18" charset="0"/>
                <a:ea typeface="Fira Sans" pitchFamily="34" charset="-122"/>
                <a:cs typeface="Times New Roman" panose="02020603050405020304" pitchFamily="18" charset="0"/>
              </a:rPr>
              <a:t>When Indian students call philosophy “Western and irrelevant,” they are reacting to a real problem — most seminary curricula present Plato and Aristotle while ignoring Nagarjuna, Shankara, and Ramanuja. This is a curriculum failure, not a failure of philosophy itself.</a:t>
            </a:r>
            <a:endParaRPr lang="en-US" sz="2400" dirty="0">
              <a:latin typeface="Times New Roman" panose="02020603050405020304" pitchFamily="18" charset="0"/>
              <a:cs typeface="Times New Roman" panose="02020603050405020304" pitchFamily="18" charset="0"/>
            </a:endParaRPr>
          </a:p>
          <a:p>
            <a:pPr>
              <a:lnSpc>
                <a:spcPct val="133000"/>
              </a:lnSpc>
            </a:pPr>
            <a:r>
              <a:rPr lang="en-US" sz="2400" b="1" dirty="0">
                <a:solidFill>
                  <a:srgbClr val="000000"/>
                </a:solidFill>
                <a:latin typeface="Times New Roman" panose="02020603050405020304" pitchFamily="18" charset="0"/>
                <a:ea typeface="Fira Sans" pitchFamily="34" charset="-122"/>
                <a:cs typeface="Times New Roman" panose="02020603050405020304" pitchFamily="18" charset="0"/>
              </a:rPr>
              <a:t>Justin Martyr (2nd century) </a:t>
            </a:r>
            <a:r>
              <a:rPr lang="en-US" sz="2400" dirty="0">
                <a:solidFill>
                  <a:srgbClr val="000000"/>
                </a:solidFill>
                <a:latin typeface="Times New Roman" panose="02020603050405020304" pitchFamily="18" charset="0"/>
                <a:ea typeface="Fira Sans" pitchFamily="34" charset="-122"/>
                <a:cs typeface="Times New Roman" panose="02020603050405020304" pitchFamily="18" charset="0"/>
              </a:rPr>
              <a:t>called the seeds of reason scattered through all human cultures the </a:t>
            </a:r>
            <a:r>
              <a:rPr lang="en-US" sz="2400" i="1" dirty="0">
                <a:solidFill>
                  <a:srgbClr val="000000"/>
                </a:solidFill>
                <a:latin typeface="Times New Roman" panose="02020603050405020304" pitchFamily="18" charset="0"/>
                <a:ea typeface="Fira Sans" pitchFamily="34" charset="-122"/>
                <a:cs typeface="Times New Roman" panose="02020603050405020304" pitchFamily="18" charset="0"/>
              </a:rPr>
              <a:t>Logos </a:t>
            </a:r>
            <a:r>
              <a:rPr lang="en-US" sz="2400" i="1" dirty="0" err="1">
                <a:solidFill>
                  <a:srgbClr val="000000"/>
                </a:solidFill>
                <a:latin typeface="Times New Roman" panose="02020603050405020304" pitchFamily="18" charset="0"/>
                <a:ea typeface="Fira Sans" pitchFamily="34" charset="-122"/>
                <a:cs typeface="Times New Roman" panose="02020603050405020304" pitchFamily="18" charset="0"/>
              </a:rPr>
              <a:t>spermatikos</a:t>
            </a:r>
            <a:r>
              <a:rPr lang="en-US" sz="2400" dirty="0">
                <a:solidFill>
                  <a:srgbClr val="000000"/>
                </a:solidFill>
                <a:latin typeface="Times New Roman" panose="02020603050405020304" pitchFamily="18" charset="0"/>
                <a:ea typeface="Fira Sans" pitchFamily="34" charset="-122"/>
                <a:cs typeface="Times New Roman" panose="02020603050405020304" pitchFamily="18" charset="0"/>
              </a:rPr>
              <a:t> — (</a:t>
            </a:r>
            <a:r>
              <a:rPr lang="en-IN" sz="2400" dirty="0">
                <a:latin typeface="Times New Roman" panose="02020603050405020304" pitchFamily="18" charset="0"/>
                <a:cs typeface="Times New Roman" panose="02020603050405020304" pitchFamily="18" charset="0"/>
              </a:rPr>
              <a:t>seminal reason</a:t>
            </a:r>
            <a:r>
              <a:rPr lang="en-US" sz="2400" dirty="0">
                <a:solidFill>
                  <a:srgbClr val="000000"/>
                </a:solidFill>
                <a:latin typeface="Times New Roman" panose="02020603050405020304" pitchFamily="18" charset="0"/>
                <a:ea typeface="Fira Sans" pitchFamily="34" charset="-122"/>
                <a:cs typeface="Times New Roman" panose="02020603050405020304" pitchFamily="18" charset="0"/>
              </a:rPr>
              <a:t>) the seeds of the Word. Indian darshana is not outside God’s plan. It is part of it.</a:t>
            </a:r>
            <a:endParaRPr lang="en-US" sz="2400" dirty="0">
              <a:latin typeface="Times New Roman" panose="02020603050405020304" pitchFamily="18" charset="0"/>
              <a:cs typeface="Times New Roman" panose="02020603050405020304" pitchFamily="18" charset="0"/>
            </a:endParaRPr>
          </a:p>
          <a:p>
            <a:pPr marL="0" indent="0" algn="l">
              <a:lnSpc>
                <a:spcPct val="133000"/>
              </a:lnSpc>
              <a:buNone/>
            </a:pPr>
            <a:r>
              <a:rPr lang="en-US" sz="2400" b="1" dirty="0">
                <a:solidFill>
                  <a:srgbClr val="000000"/>
                </a:solidFill>
                <a:latin typeface="Times New Roman" panose="02020603050405020304" pitchFamily="18" charset="0"/>
                <a:ea typeface="Fira Sans" pitchFamily="34" charset="-122"/>
                <a:cs typeface="Times New Roman" panose="02020603050405020304" pitchFamily="18" charset="0"/>
              </a:rPr>
              <a:t>Ramanuja (12th century) </a:t>
            </a:r>
            <a:r>
              <a:rPr lang="en-US" sz="2400" dirty="0">
                <a:solidFill>
                  <a:srgbClr val="000000"/>
                </a:solidFill>
                <a:latin typeface="Times New Roman" panose="02020603050405020304" pitchFamily="18" charset="0"/>
                <a:ea typeface="Fira Sans" pitchFamily="34" charset="-122"/>
                <a:cs typeface="Times New Roman" panose="02020603050405020304" pitchFamily="18" charset="0"/>
              </a:rPr>
              <a:t>used rigorous philosophical argument to defend </a:t>
            </a:r>
            <a:r>
              <a:rPr lang="en-US" sz="2400" i="1" dirty="0">
                <a:solidFill>
                  <a:srgbClr val="000000"/>
                </a:solidFill>
                <a:latin typeface="Times New Roman" panose="02020603050405020304" pitchFamily="18" charset="0"/>
                <a:ea typeface="Fira Sans" pitchFamily="34" charset="-122"/>
                <a:cs typeface="Times New Roman" panose="02020603050405020304" pitchFamily="18" charset="0"/>
              </a:rPr>
              <a:t>vishishtadvaita</a:t>
            </a:r>
            <a:r>
              <a:rPr lang="en-US" sz="2400" dirty="0">
                <a:solidFill>
                  <a:srgbClr val="000000"/>
                </a:solidFill>
                <a:latin typeface="Times New Roman" panose="02020603050405020304" pitchFamily="18" charset="0"/>
                <a:ea typeface="Fira Sans" pitchFamily="34" charset="-122"/>
                <a:cs typeface="Times New Roman" panose="02020603050405020304" pitchFamily="18" charset="0"/>
              </a:rPr>
              <a:t> (qualified non-dualism) — the claim that the individual soul and God are distinct but related. He was doing exactly what Anselm did: using the best philosophical tools available to think clearly about his faith. Christian theology in India has the same task.</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06" y="148234"/>
            <a:ext cx="12191694" cy="1106884"/>
          </a:xfrm>
          <a:prstGeom prst="rect">
            <a:avLst/>
          </a:prstGeom>
          <a:noFill/>
          <a:ln/>
        </p:spPr>
        <p:txBody>
          <a:bodyPr wrap="square" lIns="0" tIns="0" rIns="0" bIns="0" rtlCol="0" anchor="t">
            <a:normAutofit/>
          </a:bodyPr>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CORE CONTENT: PART B — The Regency Period</a:t>
            </a:r>
            <a:endParaRPr lang="en-US" sz="3450" dirty="0"/>
          </a:p>
        </p:txBody>
      </p:sp>
      <p:sp>
        <p:nvSpPr>
          <p:cNvPr id="3" name="Text 1"/>
          <p:cNvSpPr/>
          <p:nvPr/>
        </p:nvSpPr>
        <p:spPr>
          <a:xfrm>
            <a:off x="160464" y="988517"/>
            <a:ext cx="4152002" cy="442714"/>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What is Regency?</a:t>
            </a:r>
            <a:endParaRPr lang="en-US" sz="2750" dirty="0"/>
          </a:p>
        </p:txBody>
      </p:sp>
      <p:sp>
        <p:nvSpPr>
          <p:cNvPr id="4" name="Text 2"/>
          <p:cNvSpPr/>
          <p:nvPr/>
        </p:nvSpPr>
        <p:spPr>
          <a:xfrm>
            <a:off x="160464" y="1492290"/>
            <a:ext cx="11801687" cy="1641493"/>
          </a:xfrm>
          <a:prstGeom prst="rect">
            <a:avLst/>
          </a:prstGeom>
          <a:noFill/>
          <a:ln/>
        </p:spPr>
        <p:txBody>
          <a:bodyPr wrap="square" lIns="0" tIns="0" rIns="0" bIns="0" rtlCol="0" anchor="t">
            <a:normAutofit fontScale="92500" lnSpcReduction="10000"/>
          </a:bodyPr>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The regency period (called variously apostolic internship, pastoral year, or mission insertion) is the time between philosophy studies and theology studies. In this period, the student leaves the seminary and lives and works in a parish, school, tribal village, or social project — usually for one to two years.</a:t>
            </a:r>
            <a:endParaRPr lang="en-US" sz="2400" b="1" dirty="0"/>
          </a:p>
        </p:txBody>
      </p:sp>
      <p:sp>
        <p:nvSpPr>
          <p:cNvPr id="5" name="Shape 3"/>
          <p:cNvSpPr/>
          <p:nvPr/>
        </p:nvSpPr>
        <p:spPr>
          <a:xfrm>
            <a:off x="160464" y="3309897"/>
            <a:ext cx="10581613" cy="25400"/>
          </a:xfrm>
          <a:prstGeom prst="roundRect">
            <a:avLst>
              <a:gd name="adj" fmla="val 59999"/>
            </a:avLst>
          </a:prstGeom>
          <a:solidFill>
            <a:srgbClr val="000000">
              <a:alpha val="50000"/>
            </a:srgbClr>
          </a:solidFill>
          <a:ln/>
        </p:spPr>
        <p:txBody>
          <a:bodyPr/>
          <a:lstStyle/>
          <a:p>
            <a:endParaRPr lang="en-IN"/>
          </a:p>
        </p:txBody>
      </p:sp>
      <p:sp>
        <p:nvSpPr>
          <p:cNvPr id="6" name="Text 4"/>
          <p:cNvSpPr/>
          <p:nvPr/>
        </p:nvSpPr>
        <p:spPr>
          <a:xfrm>
            <a:off x="160464" y="3570663"/>
            <a:ext cx="6114500" cy="442714"/>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Why theology must start here</a:t>
            </a:r>
            <a:endParaRPr lang="en-US" sz="2750" dirty="0"/>
          </a:p>
        </p:txBody>
      </p:sp>
      <p:sp>
        <p:nvSpPr>
          <p:cNvPr id="7" name="Text 5"/>
          <p:cNvSpPr/>
          <p:nvPr/>
        </p:nvSpPr>
        <p:spPr>
          <a:xfrm>
            <a:off x="310366" y="4201075"/>
            <a:ext cx="11531864" cy="966192"/>
          </a:xfrm>
          <a:prstGeom prst="rect">
            <a:avLst/>
          </a:prstGeom>
          <a:noFill/>
          <a:ln/>
        </p:spPr>
        <p:txBody>
          <a:bodyPr wrap="square" lIns="0" tIns="0" rIns="0" bIns="0" rtlCol="0" anchor="t">
            <a:noAutofit/>
          </a:bodyPr>
          <a:lstStyle/>
          <a:p>
            <a:pPr marL="0" indent="0" algn="l">
              <a:lnSpc>
                <a:spcPct val="133000"/>
              </a:lnSpc>
              <a:buNone/>
            </a:pPr>
            <a:r>
              <a:rPr lang="en-US" sz="2600" b="1" dirty="0">
                <a:solidFill>
                  <a:srgbClr val="000000"/>
                </a:solidFill>
                <a:latin typeface="Fira Sans" pitchFamily="34" charset="0"/>
                <a:ea typeface="Fira Sans" pitchFamily="34" charset="-122"/>
                <a:cs typeface="Fira Sans" pitchFamily="34" charset="-120"/>
              </a:rPr>
              <a:t>The FABC pastoral cycle begins not with a textbook but with lived experience. Your regency was not a gap year. It was your first theological laboratory. The frustrations you felt, the questions that arose, the moments when your faith was challenged — these are theological data.</a:t>
            </a:r>
            <a:endParaRPr lang="en-US" sz="26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668338"/>
            <a:ext cx="10581613" cy="1051719"/>
          </a:xfrm>
          <a:prstGeom prst="rect">
            <a:avLst/>
          </a:prstGeom>
          <a:noFill/>
          <a:ln/>
        </p:spPr>
        <p:txBody>
          <a:bodyPr wrap="square" lIns="0" tIns="0" rIns="0" bIns="0" rtlCol="0" anchor="t">
            <a:normAutofit/>
          </a:bodyPr>
          <a:lstStyle/>
          <a:p>
            <a:pPr marL="0" indent="0" algn="l">
              <a:lnSpc>
                <a:spcPct val="104000"/>
              </a:lnSpc>
              <a:buNone/>
            </a:pPr>
            <a:r>
              <a:rPr lang="en-US" sz="3300" b="1" dirty="0">
                <a:solidFill>
                  <a:srgbClr val="000000"/>
                </a:solidFill>
                <a:latin typeface="Libre Baskerville Bold" pitchFamily="34" charset="0"/>
                <a:ea typeface="Libre Baskerville Bold" pitchFamily="34" charset="-122"/>
                <a:cs typeface="Libre Baskerville Bold" pitchFamily="34" charset="-120"/>
              </a:rPr>
              <a:t>SMALL GROUP ACTIVITY: Theologizing Regency</a:t>
            </a:r>
            <a:endParaRPr lang="en-US" sz="3300" dirty="0"/>
          </a:p>
        </p:txBody>
      </p:sp>
      <p:sp>
        <p:nvSpPr>
          <p:cNvPr id="3" name="Text 1"/>
          <p:cNvSpPr/>
          <p:nvPr/>
        </p:nvSpPr>
        <p:spPr>
          <a:xfrm>
            <a:off x="805041" y="2083296"/>
            <a:ext cx="10581613" cy="800795"/>
          </a:xfrm>
          <a:prstGeom prst="rect">
            <a:avLst/>
          </a:prstGeom>
          <a:noFill/>
          <a:ln/>
        </p:spPr>
        <p:txBody>
          <a:bodyPr wrap="square" lIns="0" tIns="0" rIns="0" bIns="0" rtlCol="0" anchor="t"/>
          <a:lstStyle/>
          <a:p>
            <a:pPr marL="0" indent="0" algn="l">
              <a:lnSpc>
                <a:spcPct val="130000"/>
              </a:lnSpc>
              <a:spcAft>
                <a:spcPts val="1600"/>
              </a:spcAft>
              <a:buNone/>
            </a:pPr>
            <a:r>
              <a:rPr lang="en-US" sz="1500" i="1" dirty="0">
                <a:solidFill>
                  <a:srgbClr val="000000"/>
                </a:solidFill>
                <a:latin typeface="Fira Sans" pitchFamily="34" charset="0"/>
                <a:ea typeface="Fira Sans" pitchFamily="34" charset="-122"/>
                <a:cs typeface="Fira Sans" pitchFamily="34" charset="-120"/>
              </a:rPr>
              <a:t>10 minutes</a:t>
            </a:r>
            <a:endParaRPr lang="en-US" sz="1500" dirty="0"/>
          </a:p>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In groups of three, each person answers:</a:t>
            </a:r>
            <a:endParaRPr lang="en-US" sz="15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5041" y="3088382"/>
            <a:ext cx="3406094" cy="1891903"/>
          </a:xfrm>
          <a:prstGeom prst="rect">
            <a:avLst/>
          </a:prstGeom>
        </p:spPr>
      </p:pic>
      <p:sp>
        <p:nvSpPr>
          <p:cNvPr id="5" name="Text 2"/>
          <p:cNvSpPr/>
          <p:nvPr/>
        </p:nvSpPr>
        <p:spPr>
          <a:xfrm>
            <a:off x="2364721" y="3218160"/>
            <a:ext cx="286735" cy="358477"/>
          </a:xfrm>
          <a:prstGeom prst="rect">
            <a:avLst/>
          </a:prstGeom>
          <a:noFill/>
          <a:ln/>
        </p:spPr>
        <p:txBody>
          <a:bodyPr wrap="none" lIns="0" tIns="0" rIns="0" bIns="0" rtlCol="0" anchor="ctr"/>
          <a:lstStyle/>
          <a:p>
            <a:pPr marL="0" indent="0" algn="ctr">
              <a:lnSpc>
                <a:spcPct val="100000"/>
              </a:lnSpc>
              <a:buNone/>
            </a:pPr>
            <a:r>
              <a:rPr lang="en-US" sz="2250" b="1" dirty="0">
                <a:solidFill>
                  <a:srgbClr val="000000"/>
                </a:solidFill>
                <a:latin typeface="Libre Baskerville Bold" pitchFamily="34" charset="0"/>
                <a:ea typeface="Libre Baskerville Bold" pitchFamily="34" charset="-122"/>
                <a:cs typeface="Libre Baskerville Bold" pitchFamily="34" charset="-120"/>
              </a:rPr>
              <a:t>1</a:t>
            </a:r>
            <a:endParaRPr lang="en-US" sz="2250" dirty="0"/>
          </a:p>
        </p:txBody>
      </p:sp>
      <p:sp>
        <p:nvSpPr>
          <p:cNvPr id="6" name="Text 3"/>
          <p:cNvSpPr/>
          <p:nvPr/>
        </p:nvSpPr>
        <p:spPr>
          <a:xfrm>
            <a:off x="1021630" y="3868936"/>
            <a:ext cx="2972916" cy="894755"/>
          </a:xfrm>
          <a:prstGeom prst="rect">
            <a:avLst/>
          </a:prstGeom>
          <a:noFill/>
          <a:ln/>
        </p:spPr>
        <p:txBody>
          <a:bodyPr wrap="square" lIns="0" tIns="0" rIns="0" bIns="0" rtlCol="0" anchor="t">
            <a:normAutofit/>
          </a:bodyPr>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Name one moment from your regency when you asked "Where is God in this?"</a:t>
            </a:r>
            <a:endParaRPr lang="en-US" sz="15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92701" y="3088382"/>
            <a:ext cx="3406194" cy="1891903"/>
          </a:xfrm>
          <a:prstGeom prst="rect">
            <a:avLst/>
          </a:prstGeom>
        </p:spPr>
      </p:pic>
      <p:sp>
        <p:nvSpPr>
          <p:cNvPr id="8" name="Text 4"/>
          <p:cNvSpPr/>
          <p:nvPr/>
        </p:nvSpPr>
        <p:spPr>
          <a:xfrm>
            <a:off x="5952381" y="3218160"/>
            <a:ext cx="286735" cy="358477"/>
          </a:xfrm>
          <a:prstGeom prst="rect">
            <a:avLst/>
          </a:prstGeom>
          <a:noFill/>
          <a:ln/>
        </p:spPr>
        <p:txBody>
          <a:bodyPr wrap="none" lIns="0" tIns="0" rIns="0" bIns="0" rtlCol="0" anchor="ctr"/>
          <a:lstStyle/>
          <a:p>
            <a:pPr marL="0" indent="0" algn="ctr">
              <a:lnSpc>
                <a:spcPct val="100000"/>
              </a:lnSpc>
              <a:buNone/>
            </a:pPr>
            <a:r>
              <a:rPr lang="en-US" sz="2250" b="1" dirty="0">
                <a:solidFill>
                  <a:srgbClr val="000000"/>
                </a:solidFill>
                <a:latin typeface="Libre Baskerville Bold" pitchFamily="34" charset="0"/>
                <a:ea typeface="Libre Baskerville Bold" pitchFamily="34" charset="-122"/>
                <a:cs typeface="Libre Baskerville Bold" pitchFamily="34" charset="-120"/>
              </a:rPr>
              <a:t>2</a:t>
            </a:r>
            <a:endParaRPr lang="en-US" sz="2250" dirty="0"/>
          </a:p>
        </p:txBody>
      </p:sp>
      <p:sp>
        <p:nvSpPr>
          <p:cNvPr id="9" name="Text 5"/>
          <p:cNvSpPr/>
          <p:nvPr/>
        </p:nvSpPr>
        <p:spPr>
          <a:xfrm>
            <a:off x="4609290" y="3868936"/>
            <a:ext cx="2973015" cy="596503"/>
          </a:xfrm>
          <a:prstGeom prst="rect">
            <a:avLst/>
          </a:prstGeom>
          <a:noFill/>
          <a:ln/>
        </p:spPr>
        <p:txBody>
          <a:bodyPr wrap="square" lIns="0" tIns="0" rIns="0" bIns="0" rtlCol="0" anchor="t">
            <a:normAutofit/>
          </a:bodyPr>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What theological question did that moment leave you with?</a:t>
            </a:r>
            <a:endParaRPr lang="en-US" sz="15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80461" y="3088382"/>
            <a:ext cx="3406194" cy="1891903"/>
          </a:xfrm>
          <a:prstGeom prst="rect">
            <a:avLst/>
          </a:prstGeom>
        </p:spPr>
      </p:pic>
      <p:sp>
        <p:nvSpPr>
          <p:cNvPr id="11" name="Text 6"/>
          <p:cNvSpPr/>
          <p:nvPr/>
        </p:nvSpPr>
        <p:spPr>
          <a:xfrm>
            <a:off x="9540140" y="3218160"/>
            <a:ext cx="286735" cy="358477"/>
          </a:xfrm>
          <a:prstGeom prst="rect">
            <a:avLst/>
          </a:prstGeom>
          <a:noFill/>
          <a:ln/>
        </p:spPr>
        <p:txBody>
          <a:bodyPr wrap="none" lIns="0" tIns="0" rIns="0" bIns="0" rtlCol="0" anchor="ctr"/>
          <a:lstStyle/>
          <a:p>
            <a:pPr marL="0" indent="0" algn="ctr">
              <a:lnSpc>
                <a:spcPct val="100000"/>
              </a:lnSpc>
              <a:buNone/>
            </a:pPr>
            <a:r>
              <a:rPr lang="en-US" sz="2250" b="1" dirty="0">
                <a:solidFill>
                  <a:srgbClr val="000000"/>
                </a:solidFill>
                <a:latin typeface="Libre Baskerville Bold" pitchFamily="34" charset="0"/>
                <a:ea typeface="Libre Baskerville Bold" pitchFamily="34" charset="-122"/>
                <a:cs typeface="Libre Baskerville Bold" pitchFamily="34" charset="-120"/>
              </a:rPr>
              <a:t>3</a:t>
            </a:r>
            <a:endParaRPr lang="en-US" sz="2250" dirty="0"/>
          </a:p>
        </p:txBody>
      </p:sp>
      <p:sp>
        <p:nvSpPr>
          <p:cNvPr id="12" name="Text 7"/>
          <p:cNvSpPr/>
          <p:nvPr/>
        </p:nvSpPr>
        <p:spPr>
          <a:xfrm>
            <a:off x="8197050" y="3868936"/>
            <a:ext cx="2973015" cy="596503"/>
          </a:xfrm>
          <a:prstGeom prst="rect">
            <a:avLst/>
          </a:prstGeom>
          <a:noFill/>
          <a:ln/>
        </p:spPr>
        <p:txBody>
          <a:bodyPr wrap="square" lIns="0" tIns="0" rIns="0" bIns="0" rtlCol="0" anchor="t">
            <a:normAutofit/>
          </a:bodyPr>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Report back: the facilitator lists the questions on the board.</a:t>
            </a:r>
            <a:endParaRPr lang="en-US" sz="1500" dirty="0"/>
          </a:p>
        </p:txBody>
      </p:sp>
      <p:sp>
        <p:nvSpPr>
          <p:cNvPr id="13" name="Shape 8"/>
          <p:cNvSpPr/>
          <p:nvPr/>
        </p:nvSpPr>
        <p:spPr>
          <a:xfrm>
            <a:off x="805041" y="5184577"/>
            <a:ext cx="25399" cy="1004987"/>
          </a:xfrm>
          <a:prstGeom prst="roundRect">
            <a:avLst>
              <a:gd name="adj" fmla="val 60001"/>
            </a:avLst>
          </a:prstGeom>
          <a:solidFill>
            <a:srgbClr val="020100"/>
          </a:solidFill>
          <a:ln/>
        </p:spPr>
        <p:txBody>
          <a:bodyPr/>
          <a:lstStyle/>
          <a:p>
            <a:endParaRPr lang="en-IN"/>
          </a:p>
        </p:txBody>
      </p:sp>
      <p:sp>
        <p:nvSpPr>
          <p:cNvPr id="14" name="Text 9"/>
          <p:cNvSpPr/>
          <p:nvPr/>
        </p:nvSpPr>
        <p:spPr>
          <a:xfrm>
            <a:off x="1091776" y="5388868"/>
            <a:ext cx="10294878" cy="596503"/>
          </a:xfrm>
          <a:prstGeom prst="rect">
            <a:avLst/>
          </a:prstGeom>
          <a:noFill/>
          <a:ln/>
        </p:spPr>
        <p:txBody>
          <a:bodyPr wrap="square" lIns="0" tIns="0" rIns="0" bIns="0" rtlCol="0" anchor="t">
            <a:normAutofit/>
          </a:bodyPr>
          <a:lstStyle/>
          <a:p>
            <a:pPr marL="0" indent="0" algn="l">
              <a:lnSpc>
                <a:spcPct val="130000"/>
              </a:lnSpc>
              <a:buNone/>
            </a:pPr>
            <a:r>
              <a:rPr lang="en-US" sz="1500" dirty="0">
                <a:solidFill>
                  <a:srgbClr val="000000"/>
                </a:solidFill>
                <a:latin typeface="Fira Sans" pitchFamily="34" charset="0"/>
                <a:ea typeface="Fira Sans" pitchFamily="34" charset="-122"/>
                <a:cs typeface="Fira Sans" pitchFamily="34" charset="-120"/>
              </a:rPr>
              <a:t>"These questions on the board — these are the questions your BTh programme must answer. Write them in your notebook. They are your personal theological agenda for the next four years."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2080220"/>
            <a:ext cx="7073525" cy="55344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DISCUSSION QUESTIONS</a:t>
            </a:r>
            <a:endParaRPr lang="en-US" sz="3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5041" y="3036193"/>
            <a:ext cx="3392998" cy="1741488"/>
          </a:xfrm>
          <a:prstGeom prst="rect">
            <a:avLst/>
          </a:prstGeom>
        </p:spPr>
      </p:pic>
      <p:sp>
        <p:nvSpPr>
          <p:cNvPr id="4" name="Text 1"/>
          <p:cNvSpPr/>
          <p:nvPr/>
        </p:nvSpPr>
        <p:spPr>
          <a:xfrm>
            <a:off x="1133248" y="3262809"/>
            <a:ext cx="2838181" cy="1288256"/>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000000"/>
                </a:solidFill>
                <a:latin typeface="Fira Sans" pitchFamily="34" charset="0"/>
                <a:ea typeface="Fira Sans" pitchFamily="34" charset="-122"/>
                <a:cs typeface="Fira Sans" pitchFamily="34" charset="-120"/>
              </a:rPr>
              <a:t>What Indian philosophical tradition did you encounter growing up? How did it shape your sense of God?</a:t>
            </a:r>
            <a:endParaRPr lang="en-US" sz="15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99249" y="3036193"/>
            <a:ext cx="3393097" cy="1741488"/>
          </a:xfrm>
          <a:prstGeom prst="rect">
            <a:avLst/>
          </a:prstGeom>
        </p:spPr>
      </p:pic>
      <p:sp>
        <p:nvSpPr>
          <p:cNvPr id="6" name="Text 2"/>
          <p:cNvSpPr/>
          <p:nvPr/>
        </p:nvSpPr>
        <p:spPr>
          <a:xfrm>
            <a:off x="4727457" y="3262809"/>
            <a:ext cx="2838280" cy="1288256"/>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000000"/>
                </a:solidFill>
                <a:latin typeface="Fira Sans" pitchFamily="34" charset="0"/>
                <a:ea typeface="Fira Sans" pitchFamily="34" charset="-122"/>
                <a:cs typeface="Fira Sans" pitchFamily="34" charset="-120"/>
              </a:rPr>
              <a:t>Why is philosophy often seen as useless in Indian Catholic culture? Is that assessment fair?</a:t>
            </a:r>
            <a:endParaRPr lang="en-US" sz="15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3557" y="3036193"/>
            <a:ext cx="3393097" cy="1741488"/>
          </a:xfrm>
          <a:prstGeom prst="rect">
            <a:avLst/>
          </a:prstGeom>
        </p:spPr>
      </p:pic>
      <p:sp>
        <p:nvSpPr>
          <p:cNvPr id="8" name="Text 3"/>
          <p:cNvSpPr/>
          <p:nvPr/>
        </p:nvSpPr>
        <p:spPr>
          <a:xfrm>
            <a:off x="8321764" y="3262809"/>
            <a:ext cx="2838280" cy="1288256"/>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000000"/>
                </a:solidFill>
                <a:latin typeface="Fira Sans" pitchFamily="34" charset="0"/>
                <a:ea typeface="Fira Sans" pitchFamily="34" charset="-122"/>
                <a:cs typeface="Fira Sans" pitchFamily="34" charset="-120"/>
              </a:rPr>
              <a:t>Name one experience from your regency that you now recognise as a "theological question in disguise."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nvSpPr>
        <p:spPr>
          <a:xfrm>
            <a:off x="805041" y="2241451"/>
            <a:ext cx="5158452" cy="55344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CLOSING PRAYER</a:t>
            </a:r>
            <a:endParaRPr lang="en-US" sz="3450" dirty="0"/>
          </a:p>
        </p:txBody>
      </p:sp>
      <p:sp>
        <p:nvSpPr>
          <p:cNvPr id="3" name="Shape 1"/>
          <p:cNvSpPr/>
          <p:nvPr/>
        </p:nvSpPr>
        <p:spPr>
          <a:xfrm>
            <a:off x="805041" y="3197423"/>
            <a:ext cx="25399" cy="1419027"/>
          </a:xfrm>
          <a:prstGeom prst="roundRect">
            <a:avLst>
              <a:gd name="adj" fmla="val 60001"/>
            </a:avLst>
          </a:prstGeom>
          <a:solidFill>
            <a:srgbClr val="020100"/>
          </a:solidFill>
          <a:ln/>
        </p:spPr>
        <p:txBody>
          <a:bodyPr/>
          <a:lstStyle/>
          <a:p>
            <a:endParaRPr lang="en-IN"/>
          </a:p>
        </p:txBody>
      </p:sp>
      <p:sp>
        <p:nvSpPr>
          <p:cNvPr id="4" name="Text 2"/>
          <p:cNvSpPr/>
          <p:nvPr/>
        </p:nvSpPr>
        <p:spPr>
          <a:xfrm>
            <a:off x="1106956" y="3423841"/>
            <a:ext cx="10279698" cy="966192"/>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000000"/>
                </a:solidFill>
                <a:latin typeface="Fira Sans" pitchFamily="34" charset="0"/>
                <a:ea typeface="Fira Sans" pitchFamily="34" charset="-122"/>
                <a:cs typeface="Fira Sans" pitchFamily="34" charset="-120"/>
              </a:rPr>
              <a:t>"God of all wisdom, you have placed in every human culture the seeds of your Word. Open our minds to see clearly — in our own traditions and in others. Give us the courage to ask hard questions and the humility to live with incomplete answers. Amen."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947</Words>
  <Application>Microsoft Office PowerPoint</Application>
  <PresentationFormat>Widescreen</PresentationFormat>
  <Paragraphs>73</Paragraphs>
  <Slides>10</Slides>
  <Notes>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Libre Baskerville Bold</vt:lpstr>
      <vt:lpstr>Fira Sans</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William Anthony</cp:lastModifiedBy>
  <cp:revision>10</cp:revision>
  <dcterms:created xsi:type="dcterms:W3CDTF">2026-07-01T15:35:15Z</dcterms:created>
  <dcterms:modified xsi:type="dcterms:W3CDTF">2026-07-03T05:38:06Z</dcterms:modified>
</cp:coreProperties>
</file>