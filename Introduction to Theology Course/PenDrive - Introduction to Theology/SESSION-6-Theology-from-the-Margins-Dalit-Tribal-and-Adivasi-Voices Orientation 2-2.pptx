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ira Sans Thin"/>
      <p:regular r:id="rId201314"/>
    </p:embeddedFont>
    <p:embeddedFont>
      <p:font typeface="Fira Sans ExtraLight"/>
      <p:regular r:id="rId201315"/>
    </p:embeddedFont>
    <p:embeddedFont>
      <p:font typeface="Fira Sans Light"/>
      <p:regular r:id="rId201316"/>
    </p:embeddedFont>
    <p:embeddedFont>
      <p:font typeface="Fira Sans"/>
      <p:regular r:id="rId201317"/>
    </p:embeddedFont>
    <p:embeddedFont>
      <p:font typeface="Fira Sans Medium"/>
      <p:regular r:id="rId201318"/>
    </p:embeddedFont>
    <p:embeddedFont>
      <p:font typeface="Fira Sans SemiBold"/>
      <p:regular r:id="rId201319"/>
    </p:embeddedFont>
    <p:embeddedFont>
      <p:font typeface="Fira Sans Bold"/>
      <p:regular r:id="rId201320"/>
    </p:embeddedFont>
    <p:embeddedFont>
      <p:font typeface="Fira Sans ExtraBold"/>
      <p:regular r:id="rId201321"/>
    </p:embeddedFont>
    <p:embeddedFont>
      <p:font typeface="Fira Sans Black"/>
      <p:regular r:id="rId201322"/>
    </p:embeddedFont>
    <p:embeddedFont>
      <p:font typeface="Libre Baskerville"/>
      <p:regular r:id="rId201323"/>
    </p:embeddedFont>
    <p:embeddedFont>
      <p:font typeface="Libre Baskerville Bold"/>
      <p:regular r:id="rId2013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16F29"/>
          </a:solidFill>
          <a:ln/>
        </p:spPr>
      </p:sp>
      <p:sp>
        <p:nvSpPr>
          <p:cNvPr id="3" name="Shape 1"/>
          <p:cNvSpPr/>
          <p:nvPr/>
        </p:nvSpPr>
        <p:spPr>
          <a:xfrm>
            <a:off x="0" y="0"/>
            <a:ext cx="12191695" cy="6858000"/>
          </a:xfrm>
          <a:prstGeom prst="rect">
            <a:avLst/>
          </a:prstGeom>
          <a:solidFill>
            <a:srgbClr val="B98D34"/>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5041" y="1313061"/>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SESSION 6: Theology from the Margins — Dalit, Tribal, and Adivasi Voices</a:t>
            </a:r>
            <a:endParaRPr lang="en-US" sz="3450" dirty="0"/>
          </a:p>
        </p:txBody>
      </p:sp>
      <p:sp>
        <p:nvSpPr>
          <p:cNvPr id="3" name="Shape 1"/>
          <p:cNvSpPr/>
          <p:nvPr/>
        </p:nvSpPr>
        <p:spPr>
          <a:xfrm>
            <a:off x="660185" y="2721868"/>
            <a:ext cx="5335057" cy="2822972"/>
          </a:xfrm>
          <a:prstGeom prst="roundRect">
            <a:avLst>
              <a:gd name="adj" fmla="val 5134"/>
            </a:avLst>
          </a:prstGeom>
          <a:solidFill>
            <a:srgbClr val="493F36"/>
          </a:solidFill>
          <a:ln/>
        </p:spPr>
      </p:sp>
      <p:sp>
        <p:nvSpPr>
          <p:cNvPr id="4" name="Text 2"/>
          <p:cNvSpPr/>
          <p:nvPr/>
        </p:nvSpPr>
        <p:spPr>
          <a:xfrm>
            <a:off x="861396" y="2923084"/>
            <a:ext cx="2823596" cy="276820"/>
          </a:xfrm>
          <a:prstGeom prst="rect">
            <a:avLst/>
          </a:prstGeom>
          <a:noFill/>
          <a:ln/>
        </p:spPr>
        <p:txBody>
          <a:bodyPr wrap="none" lIns="0" tIns="0" rIns="0" bIns="0" rtlCol="0" anchor="t"/>
          <a:lstStyle/>
          <a:p>
            <a:pPr algn="l" indent="0" marL="0">
              <a:lnSpc>
                <a:spcPct val="104000"/>
              </a:lnSpc>
              <a:buNone/>
            </a:pPr>
            <a:r>
              <a:rPr lang="en-US" sz="1700" b="1" dirty="0">
                <a:solidFill>
                  <a:srgbClr val="FFFFFF"/>
                </a:solidFill>
                <a:latin typeface="Libre Baskerville Bold" pitchFamily="34" charset="0"/>
                <a:ea typeface="Libre Baskerville Bold" pitchFamily="34" charset="-122"/>
                <a:cs typeface="Libre Baskerville Bold" pitchFamily="34" charset="-120"/>
              </a:rPr>
              <a:t>Duration</a:t>
            </a:r>
            <a:endParaRPr lang="en-US" sz="1700" dirty="0"/>
          </a:p>
        </p:txBody>
      </p:sp>
      <p:sp>
        <p:nvSpPr>
          <p:cNvPr id="5" name="Text 3"/>
          <p:cNvSpPr/>
          <p:nvPr/>
        </p:nvSpPr>
        <p:spPr>
          <a:xfrm>
            <a:off x="861396" y="3401120"/>
            <a:ext cx="5542221" cy="322064"/>
          </a:xfrm>
          <a:prstGeom prst="rect">
            <a:avLst/>
          </a:prstGeom>
          <a:noFill/>
          <a:ln/>
        </p:spPr>
        <p:txBody>
          <a:bodyPr wrap="none" lIns="0" tIns="0" rIns="0" bIns="0" rtlCol="0" anchor="t"/>
          <a:lstStyle/>
          <a:p>
            <a:pPr algn="l" indent="0" marL="0">
              <a:lnSpc>
                <a:spcPct val="133000"/>
              </a:lnSpc>
              <a:buNone/>
            </a:pPr>
            <a:r>
              <a:rPr lang="en-US" sz="1550" dirty="0">
                <a:solidFill>
                  <a:srgbClr val="FFFFFF"/>
                </a:solidFill>
                <a:latin typeface="Fira Sans" pitchFamily="34" charset="0"/>
                <a:ea typeface="Fira Sans" pitchFamily="34" charset="-122"/>
                <a:cs typeface="Fira Sans" pitchFamily="34" charset="-120"/>
              </a:rPr>
              <a:t>45 minutes</a:t>
            </a:r>
            <a:endParaRPr lang="en-US" sz="1550" dirty="0"/>
          </a:p>
        </p:txBody>
      </p:sp>
      <p:sp>
        <p:nvSpPr>
          <p:cNvPr id="6" name="Text 4"/>
          <p:cNvSpPr/>
          <p:nvPr/>
        </p:nvSpPr>
        <p:spPr>
          <a:xfrm>
            <a:off x="6347658" y="2923084"/>
            <a:ext cx="2823596"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Objectives</a:t>
            </a:r>
            <a:endParaRPr lang="en-US" sz="1700" dirty="0"/>
          </a:p>
        </p:txBody>
      </p:sp>
      <p:sp>
        <p:nvSpPr>
          <p:cNvPr id="7" name="Text 5"/>
          <p:cNvSpPr/>
          <p:nvPr/>
        </p:nvSpPr>
        <p:spPr>
          <a:xfrm>
            <a:off x="6347658" y="3401120"/>
            <a:ext cx="5045346" cy="2073275"/>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Introduce Dalit theology, tribal theology, and the theology of the margins</a:t>
            </a:r>
            <a:endParaRPr lang="en-US" sz="1550" dirty="0"/>
          </a:p>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Show that marginalised communities are not objects of theology but its subjects</a:t>
            </a:r>
            <a:endParaRPr lang="en-US" sz="1550" dirty="0"/>
          </a:p>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Connect to the Church's preferential option for the poor</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5041" y="558304"/>
            <a:ext cx="4913686" cy="470495"/>
          </a:xfrm>
          <a:prstGeom prst="rect">
            <a:avLst/>
          </a:prstGeom>
          <a:noFill/>
          <a:ln/>
        </p:spPr>
        <p:txBody>
          <a:bodyPr wrap="none" lIns="0" tIns="0" rIns="0" bIns="0" rtlCol="0" anchor="t"/>
          <a:lstStyle/>
          <a:p>
            <a:pPr algn="l" indent="0" marL="0">
              <a:lnSpc>
                <a:spcPct val="104000"/>
              </a:lnSpc>
              <a:buNone/>
            </a:pPr>
            <a:r>
              <a:rPr lang="en-US" sz="2950" b="1" dirty="0">
                <a:solidFill>
                  <a:srgbClr val="000000"/>
                </a:solidFill>
                <a:latin typeface="Libre Baskerville Bold" pitchFamily="34" charset="0"/>
                <a:ea typeface="Libre Baskerville Bold" pitchFamily="34" charset="-122"/>
                <a:cs typeface="Libre Baskerville Bold" pitchFamily="34" charset="-120"/>
              </a:rPr>
              <a:t>TIME BREAKDOWN</a:t>
            </a:r>
            <a:endParaRPr lang="en-US" sz="2950" dirty="0"/>
          </a:p>
        </p:txBody>
      </p:sp>
      <p:sp>
        <p:nvSpPr>
          <p:cNvPr id="3" name="Shape 1"/>
          <p:cNvSpPr/>
          <p:nvPr/>
        </p:nvSpPr>
        <p:spPr>
          <a:xfrm>
            <a:off x="6086323" y="1319609"/>
            <a:ext cx="19050" cy="4979988"/>
          </a:xfrm>
          <a:prstGeom prst="roundRect">
            <a:avLst>
              <a:gd name="adj" fmla="val 377198"/>
            </a:avLst>
          </a:prstGeom>
          <a:solidFill>
            <a:srgbClr val="E5CCB2"/>
          </a:solidFill>
          <a:ln/>
        </p:spPr>
      </p:sp>
      <p:sp>
        <p:nvSpPr>
          <p:cNvPr id="4" name="Shape 2"/>
          <p:cNvSpPr/>
          <p:nvPr/>
        </p:nvSpPr>
        <p:spPr>
          <a:xfrm>
            <a:off x="5772799" y="1502470"/>
            <a:ext cx="342098" cy="19050"/>
          </a:xfrm>
          <a:prstGeom prst="roundRect">
            <a:avLst>
              <a:gd name="adj" fmla="val 377198"/>
            </a:avLst>
          </a:prstGeom>
          <a:solidFill>
            <a:srgbClr val="E5CCB2"/>
          </a:solidFill>
          <a:ln/>
        </p:spPr>
      </p:sp>
      <p:sp>
        <p:nvSpPr>
          <p:cNvPr id="5" name="Shape 3"/>
          <p:cNvSpPr/>
          <p:nvPr/>
        </p:nvSpPr>
        <p:spPr>
          <a:xfrm>
            <a:off x="6031704" y="1447850"/>
            <a:ext cx="128287" cy="128290"/>
          </a:xfrm>
          <a:prstGeom prst="roundRect">
            <a:avLst>
              <a:gd name="adj" fmla="val 296983"/>
            </a:avLst>
          </a:prstGeom>
          <a:solidFill>
            <a:srgbClr val="020100"/>
          </a:solidFill>
          <a:ln/>
        </p:spPr>
      </p:sp>
      <p:sp>
        <p:nvSpPr>
          <p:cNvPr id="6" name="Text 4"/>
          <p:cNvSpPr/>
          <p:nvPr/>
        </p:nvSpPr>
        <p:spPr>
          <a:xfrm>
            <a:off x="3529619" y="1378347"/>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0:00 – 0:07</a:t>
            </a:r>
            <a:endParaRPr lang="en-US" sz="1450" dirty="0"/>
          </a:p>
        </p:txBody>
      </p:sp>
      <p:sp>
        <p:nvSpPr>
          <p:cNvPr id="7" name="Text 5"/>
          <p:cNvSpPr/>
          <p:nvPr/>
        </p:nvSpPr>
        <p:spPr>
          <a:xfrm>
            <a:off x="805041" y="1700808"/>
            <a:ext cx="4606512"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a:t>
            </a:r>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 Story + Silence: The Well Scene (John 4)</a:t>
            </a:r>
            <a:endParaRPr lang="en-US" sz="1300" dirty="0"/>
          </a:p>
        </p:txBody>
      </p:sp>
      <p:sp>
        <p:nvSpPr>
          <p:cNvPr id="8" name="Shape 6"/>
          <p:cNvSpPr/>
          <p:nvPr/>
        </p:nvSpPr>
        <p:spPr>
          <a:xfrm>
            <a:off x="6076798" y="2477591"/>
            <a:ext cx="342098" cy="19050"/>
          </a:xfrm>
          <a:prstGeom prst="roundRect">
            <a:avLst>
              <a:gd name="adj" fmla="val 377198"/>
            </a:avLst>
          </a:prstGeom>
          <a:solidFill>
            <a:srgbClr val="E5CCB2"/>
          </a:solidFill>
          <a:ln/>
        </p:spPr>
      </p:sp>
      <p:sp>
        <p:nvSpPr>
          <p:cNvPr id="9" name="Shape 7"/>
          <p:cNvSpPr/>
          <p:nvPr/>
        </p:nvSpPr>
        <p:spPr>
          <a:xfrm>
            <a:off x="6031704" y="2422971"/>
            <a:ext cx="128287" cy="128290"/>
          </a:xfrm>
          <a:prstGeom prst="roundRect">
            <a:avLst>
              <a:gd name="adj" fmla="val 296983"/>
            </a:avLst>
          </a:prstGeom>
          <a:solidFill>
            <a:srgbClr val="020100"/>
          </a:solidFill>
          <a:ln/>
        </p:spPr>
      </p:sp>
      <p:sp>
        <p:nvSpPr>
          <p:cNvPr id="10" name="Text 8"/>
          <p:cNvSpPr/>
          <p:nvPr/>
        </p:nvSpPr>
        <p:spPr>
          <a:xfrm>
            <a:off x="6780142" y="235346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0:07 – 0:20</a:t>
            </a:r>
            <a:endParaRPr lang="en-US" sz="1450" dirty="0"/>
          </a:p>
        </p:txBody>
      </p:sp>
      <p:sp>
        <p:nvSpPr>
          <p:cNvPr id="11" name="Text 9"/>
          <p:cNvSpPr/>
          <p:nvPr/>
        </p:nvSpPr>
        <p:spPr>
          <a:xfrm>
            <a:off x="6780142" y="2675930"/>
            <a:ext cx="4606512"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Dalit theology — what is it and why does it matter?</a:t>
            </a:r>
            <a:endParaRPr lang="en-US" sz="1300" dirty="0"/>
          </a:p>
        </p:txBody>
      </p:sp>
      <p:sp>
        <p:nvSpPr>
          <p:cNvPr id="12" name="Shape 10"/>
          <p:cNvSpPr/>
          <p:nvPr/>
        </p:nvSpPr>
        <p:spPr>
          <a:xfrm>
            <a:off x="5772799" y="3336727"/>
            <a:ext cx="342098" cy="19050"/>
          </a:xfrm>
          <a:prstGeom prst="roundRect">
            <a:avLst>
              <a:gd name="adj" fmla="val 377198"/>
            </a:avLst>
          </a:prstGeom>
          <a:solidFill>
            <a:srgbClr val="E5CCB2"/>
          </a:solidFill>
          <a:ln/>
        </p:spPr>
      </p:sp>
      <p:sp>
        <p:nvSpPr>
          <p:cNvPr id="13" name="Shape 11"/>
          <p:cNvSpPr/>
          <p:nvPr/>
        </p:nvSpPr>
        <p:spPr>
          <a:xfrm>
            <a:off x="6031704" y="3282107"/>
            <a:ext cx="128287" cy="128290"/>
          </a:xfrm>
          <a:prstGeom prst="roundRect">
            <a:avLst>
              <a:gd name="adj" fmla="val 296983"/>
            </a:avLst>
          </a:prstGeom>
          <a:solidFill>
            <a:srgbClr val="020100"/>
          </a:solidFill>
          <a:ln/>
        </p:spPr>
      </p:sp>
      <p:sp>
        <p:nvSpPr>
          <p:cNvPr id="14" name="Text 12"/>
          <p:cNvSpPr/>
          <p:nvPr/>
        </p:nvSpPr>
        <p:spPr>
          <a:xfrm>
            <a:off x="3529619" y="321260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0:20 – 0:30</a:t>
            </a:r>
            <a:endParaRPr lang="en-US" sz="1450" dirty="0"/>
          </a:p>
        </p:txBody>
      </p:sp>
      <p:sp>
        <p:nvSpPr>
          <p:cNvPr id="15" name="Text 13"/>
          <p:cNvSpPr/>
          <p:nvPr/>
        </p:nvSpPr>
        <p:spPr>
          <a:xfrm>
            <a:off x="805041" y="3535065"/>
            <a:ext cx="4606512"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Tribal and Adivasi theology</a:t>
            </a:r>
            <a:endParaRPr lang="en-US" sz="1300" dirty="0"/>
          </a:p>
        </p:txBody>
      </p:sp>
      <p:sp>
        <p:nvSpPr>
          <p:cNvPr id="16" name="Shape 14"/>
          <p:cNvSpPr/>
          <p:nvPr/>
        </p:nvSpPr>
        <p:spPr>
          <a:xfrm>
            <a:off x="6076798" y="4195862"/>
            <a:ext cx="342098" cy="19050"/>
          </a:xfrm>
          <a:prstGeom prst="roundRect">
            <a:avLst>
              <a:gd name="adj" fmla="val 377198"/>
            </a:avLst>
          </a:prstGeom>
          <a:solidFill>
            <a:srgbClr val="E5CCB2"/>
          </a:solidFill>
          <a:ln/>
        </p:spPr>
      </p:sp>
      <p:sp>
        <p:nvSpPr>
          <p:cNvPr id="17" name="Shape 15"/>
          <p:cNvSpPr/>
          <p:nvPr/>
        </p:nvSpPr>
        <p:spPr>
          <a:xfrm>
            <a:off x="6031704" y="4141242"/>
            <a:ext cx="128287" cy="128290"/>
          </a:xfrm>
          <a:prstGeom prst="roundRect">
            <a:avLst>
              <a:gd name="adj" fmla="val 296983"/>
            </a:avLst>
          </a:prstGeom>
          <a:solidFill>
            <a:srgbClr val="020100"/>
          </a:solidFill>
          <a:ln/>
        </p:spPr>
      </p:sp>
      <p:sp>
        <p:nvSpPr>
          <p:cNvPr id="18" name="Text 16"/>
          <p:cNvSpPr/>
          <p:nvPr/>
        </p:nvSpPr>
        <p:spPr>
          <a:xfrm>
            <a:off x="6780142" y="407173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0:30 – 0:40</a:t>
            </a:r>
            <a:endParaRPr lang="en-US" sz="1450" dirty="0"/>
          </a:p>
        </p:txBody>
      </p:sp>
      <p:sp>
        <p:nvSpPr>
          <p:cNvPr id="19" name="Text 17"/>
          <p:cNvSpPr/>
          <p:nvPr/>
        </p:nvSpPr>
        <p:spPr>
          <a:xfrm>
            <a:off x="6780142" y="4394200"/>
            <a:ext cx="4606512"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The preferential option for the poor</a:t>
            </a:r>
            <a:endParaRPr lang="en-US" sz="1300" dirty="0"/>
          </a:p>
        </p:txBody>
      </p:sp>
      <p:sp>
        <p:nvSpPr>
          <p:cNvPr id="20" name="Shape 18"/>
          <p:cNvSpPr/>
          <p:nvPr/>
        </p:nvSpPr>
        <p:spPr>
          <a:xfrm>
            <a:off x="5772799" y="5054997"/>
            <a:ext cx="342098" cy="19050"/>
          </a:xfrm>
          <a:prstGeom prst="roundRect">
            <a:avLst>
              <a:gd name="adj" fmla="val 377198"/>
            </a:avLst>
          </a:prstGeom>
          <a:solidFill>
            <a:srgbClr val="E5CCB2"/>
          </a:solidFill>
          <a:ln/>
        </p:spPr>
      </p:sp>
      <p:sp>
        <p:nvSpPr>
          <p:cNvPr id="21" name="Shape 19"/>
          <p:cNvSpPr/>
          <p:nvPr/>
        </p:nvSpPr>
        <p:spPr>
          <a:xfrm>
            <a:off x="6031704" y="5000377"/>
            <a:ext cx="128287" cy="128290"/>
          </a:xfrm>
          <a:prstGeom prst="roundRect">
            <a:avLst>
              <a:gd name="adj" fmla="val 296983"/>
            </a:avLst>
          </a:prstGeom>
          <a:solidFill>
            <a:srgbClr val="020100"/>
          </a:solidFill>
          <a:ln/>
        </p:spPr>
      </p:sp>
      <p:sp>
        <p:nvSpPr>
          <p:cNvPr id="22" name="Text 20"/>
          <p:cNvSpPr/>
          <p:nvPr/>
        </p:nvSpPr>
        <p:spPr>
          <a:xfrm>
            <a:off x="3529619" y="493087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0:40 – 0:45</a:t>
            </a:r>
            <a:endParaRPr lang="en-US" sz="1450" dirty="0"/>
          </a:p>
        </p:txBody>
      </p:sp>
      <p:sp>
        <p:nvSpPr>
          <p:cNvPr id="23" name="Text 21"/>
          <p:cNvSpPr/>
          <p:nvPr/>
        </p:nvSpPr>
        <p:spPr>
          <a:xfrm>
            <a:off x="805041" y="5253335"/>
            <a:ext cx="4606512"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The Living Library Game (closing activity)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5041" y="706041"/>
            <a:ext cx="9613759"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OPENING: The Well Scene (7 minutes)</a:t>
            </a:r>
            <a:endParaRPr lang="en-US" sz="3450" dirty="0"/>
          </a:p>
        </p:txBody>
      </p:sp>
      <p:sp>
        <p:nvSpPr>
          <p:cNvPr id="3" name="Text 1"/>
          <p:cNvSpPr/>
          <p:nvPr/>
        </p:nvSpPr>
        <p:spPr>
          <a:xfrm>
            <a:off x="805041" y="1662013"/>
            <a:ext cx="10581613" cy="1836738"/>
          </a:xfrm>
          <a:prstGeom prst="rect">
            <a:avLst/>
          </a:prstGeom>
          <a:noFill/>
          <a:ln/>
        </p:spPr>
        <p:txBody>
          <a:bodyPr wrap="square" lIns="0" tIns="0" rIns="0" bIns="0" rtlCol="0" anchor="t"/>
          <a:lstStyle/>
          <a:p>
            <a:pPr algn="l" indent="0" marL="0">
              <a:lnSpc>
                <a:spcPct val="133000"/>
              </a:lnSpc>
              <a:spcAft>
                <a:spcPts val="1750"/>
              </a:spcAft>
              <a:buNone/>
            </a:pPr>
            <a:r>
              <a:rPr lang="en-US" sz="1550" b="1" dirty="0">
                <a:solidFill>
                  <a:srgbClr val="000000"/>
                </a:solidFill>
                <a:latin typeface="Fira Sans Bold" pitchFamily="34" charset="0"/>
                <a:ea typeface="Fira Sans Bold" pitchFamily="34" charset="-122"/>
                <a:cs typeface="Fira Sans Bold" pitchFamily="34" charset="-120"/>
              </a:rPr>
              <a:t>Read aloud: John 4:1–15</a:t>
            </a:r>
            <a:endParaRPr lang="en-US" sz="1550" dirty="0"/>
          </a:p>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After reading, ask in silence: "Jesus sits at Jacob's well at noon — the time when no respectable person goes to draw water. The woman who comes is a Samaritan (wrong ethnicity), has had five husbands (wrong moral record), and is a woman (wrong gender for a theological conversation in first-century Palestine). And Jesus begins the longest recorded theological conversation in the Gospels with her."</a:t>
            </a:r>
            <a:endParaRPr lang="en-US" sz="1550" dirty="0"/>
          </a:p>
        </p:txBody>
      </p:sp>
      <p:sp>
        <p:nvSpPr>
          <p:cNvPr id="4" name="Shape 2"/>
          <p:cNvSpPr/>
          <p:nvPr/>
        </p:nvSpPr>
        <p:spPr>
          <a:xfrm>
            <a:off x="805041" y="3725168"/>
            <a:ext cx="25399" cy="1103313"/>
          </a:xfrm>
          <a:prstGeom prst="roundRect">
            <a:avLst>
              <a:gd name="adj" fmla="val 60001"/>
            </a:avLst>
          </a:prstGeom>
          <a:solidFill>
            <a:srgbClr val="020100"/>
          </a:solidFill>
          <a:ln/>
        </p:spPr>
      </p:sp>
      <p:sp>
        <p:nvSpPr>
          <p:cNvPr id="5" name="Text 3"/>
          <p:cNvSpPr/>
          <p:nvPr/>
        </p:nvSpPr>
        <p:spPr>
          <a:xfrm>
            <a:off x="1106956" y="3951585"/>
            <a:ext cx="10279698" cy="65047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a:t>
            </a:r>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"If this happened in some of our parishes today, the parish council would have a committee meeting about it. Jesus did not form a committee. He sat down and talked."</a:t>
            </a:r>
            <a:endParaRPr lang="en-US" sz="1550" dirty="0"/>
          </a:p>
        </p:txBody>
      </p:sp>
      <p:sp>
        <p:nvSpPr>
          <p:cNvPr id="6" name="Shape 4"/>
          <p:cNvSpPr/>
          <p:nvPr/>
        </p:nvSpPr>
        <p:spPr>
          <a:xfrm>
            <a:off x="805041" y="5054898"/>
            <a:ext cx="25399" cy="1096963"/>
          </a:xfrm>
          <a:prstGeom prst="roundRect">
            <a:avLst>
              <a:gd name="adj" fmla="val 60001"/>
            </a:avLst>
          </a:prstGeom>
          <a:solidFill>
            <a:srgbClr val="020100"/>
          </a:solidFill>
          <a:ln/>
        </p:spPr>
      </p:sp>
      <p:sp>
        <p:nvSpPr>
          <p:cNvPr id="7" name="Text 5"/>
          <p:cNvSpPr/>
          <p:nvPr/>
        </p:nvSpPr>
        <p:spPr>
          <a:xfrm>
            <a:off x="1106956" y="5281315"/>
            <a:ext cx="10279698" cy="644128"/>
          </a:xfrm>
          <a:prstGeom prst="rect">
            <a:avLst/>
          </a:prstGeom>
          <a:noFill/>
          <a:ln/>
        </p:spPr>
        <p:txBody>
          <a:bodyPr wrap="square" lIns="0" tIns="0" rIns="0" bIns="0" rtlCol="0" anchor="t">
            <a:normAutofit/>
          </a:bodyPr>
          <a:lstStyle/>
          <a:p>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"This is the model of theology from the margins: the theologian goes to the well at noon, to the people who are not supposed to be there, and listens before speaking."</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5041" y="1645146"/>
            <a:ext cx="8595998"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CORE CONTENT: Dalit Theology</a:t>
            </a:r>
            <a:endParaRPr lang="en-US" sz="3450" dirty="0"/>
          </a:p>
        </p:txBody>
      </p:sp>
      <p:sp>
        <p:nvSpPr>
          <p:cNvPr id="3" name="Text 1"/>
          <p:cNvSpPr/>
          <p:nvPr/>
        </p:nvSpPr>
        <p:spPr>
          <a:xfrm>
            <a:off x="805041" y="2601119"/>
            <a:ext cx="10581613" cy="1288256"/>
          </a:xfrm>
          <a:prstGeom prst="rect">
            <a:avLst/>
          </a:prstGeom>
          <a:noFill/>
          <a:ln/>
        </p:spPr>
        <p:txBody>
          <a:bodyPr wrap="square" lIns="0" tIns="0" rIns="0" bIns="0" rtlCol="0" anchor="t">
            <a:normAutofit/>
          </a:bodyPr>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What is Dalit Theology?</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Dalit theology is theological reflection done from the standpoint of the Dalits — the 270 million people in India who have been stigmatised as "untouchable" by the caste system. The word "Dalit" means "broken" or "crushed." Dalit theology claims that God stands with the broken. It reads the Bible through Dalit eyes and finds that the God of Israel is consistently on the side of the socially excluded.</a:t>
            </a:r>
            <a:endParaRPr lang="en-US" sz="1550" dirty="0"/>
          </a:p>
        </p:txBody>
      </p:sp>
      <p:sp>
        <p:nvSpPr>
          <p:cNvPr id="4" name="Shape 2"/>
          <p:cNvSpPr/>
          <p:nvPr/>
        </p:nvSpPr>
        <p:spPr>
          <a:xfrm>
            <a:off x="805041" y="4115792"/>
            <a:ext cx="25399" cy="1096963"/>
          </a:xfrm>
          <a:prstGeom prst="roundRect">
            <a:avLst>
              <a:gd name="adj" fmla="val 60001"/>
            </a:avLst>
          </a:prstGeom>
          <a:solidFill>
            <a:srgbClr val="020100"/>
          </a:solidFill>
          <a:ln/>
        </p:spPr>
      </p:sp>
      <p:sp>
        <p:nvSpPr>
          <p:cNvPr id="5" name="Text 3"/>
          <p:cNvSpPr/>
          <p:nvPr/>
        </p:nvSpPr>
        <p:spPr>
          <a:xfrm>
            <a:off x="1106956" y="4342209"/>
            <a:ext cx="10279698" cy="644128"/>
          </a:xfrm>
          <a:prstGeom prst="rect">
            <a:avLst/>
          </a:prstGeom>
          <a:noFill/>
          <a:ln/>
        </p:spPr>
        <p:txBody>
          <a:bodyPr wrap="square" lIns="0" tIns="0" rIns="0" bIns="0" rtlCol="0" anchor="t">
            <a:normAutofit/>
          </a:bodyPr>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V. Devasahayam:</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"Dalit theology is not just theology for the Dalits. It is theology from the Dalits — a critical reflection by the broken on a God who breaks the power of those who break others."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5041" y="1597124"/>
            <a:ext cx="7379904"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Key Dalit Theological Claims</a:t>
            </a:r>
            <a:endParaRPr lang="en-US" sz="3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5041" y="2553097"/>
            <a:ext cx="3392998" cy="2707680"/>
          </a:xfrm>
          <a:prstGeom prst="rect">
            <a:avLst/>
          </a:prstGeom>
        </p:spPr>
      </p:pic>
      <p:sp>
        <p:nvSpPr>
          <p:cNvPr id="4" name="Text 1"/>
          <p:cNvSpPr/>
          <p:nvPr/>
        </p:nvSpPr>
        <p:spPr>
          <a:xfrm>
            <a:off x="1133248" y="2779713"/>
            <a:ext cx="2838181" cy="225444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The Beatitudes (Matt 5:3–12) are not spiritualised maxims — they are liberation proclamations addressed to literally poor, literally mourning, literally meek people.</a:t>
            </a:r>
            <a:endParaRPr lang="en-US" sz="15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99249" y="2553097"/>
            <a:ext cx="3393097" cy="2707680"/>
          </a:xfrm>
          <a:prstGeom prst="rect">
            <a:avLst/>
          </a:prstGeom>
        </p:spPr>
      </p:pic>
      <p:sp>
        <p:nvSpPr>
          <p:cNvPr id="6" name="Text 2"/>
          <p:cNvSpPr/>
          <p:nvPr/>
        </p:nvSpPr>
        <p:spPr>
          <a:xfrm>
            <a:off x="4727457" y="2779713"/>
            <a:ext cx="2838280" cy="161032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Caste is not a cultural reality that the Church must simply tolerate. It is a structural sin — it contradicts the equality of the baptised.</a:t>
            </a:r>
            <a:endParaRPr lang="en-US" sz="15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93557" y="2553097"/>
            <a:ext cx="3393097" cy="2707680"/>
          </a:xfrm>
          <a:prstGeom prst="rect">
            <a:avLst/>
          </a:prstGeom>
        </p:spPr>
      </p:pic>
      <p:sp>
        <p:nvSpPr>
          <p:cNvPr id="8" name="Text 3"/>
          <p:cNvSpPr/>
          <p:nvPr/>
        </p:nvSpPr>
        <p:spPr>
          <a:xfrm>
            <a:off x="8321764" y="2779713"/>
            <a:ext cx="2838280" cy="161032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Dalits' experience of suffering is a theological source — a dark locus theologicus where God is present precisely in the brokenness.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5041" y="2030115"/>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CORE CONTENT: Tribal and Adivasi Theology</a:t>
            </a:r>
            <a:endParaRPr lang="en-US" sz="3450" dirty="0"/>
          </a:p>
        </p:txBody>
      </p:sp>
      <p:sp>
        <p:nvSpPr>
          <p:cNvPr id="3" name="Text 1"/>
          <p:cNvSpPr/>
          <p:nvPr/>
        </p:nvSpPr>
        <p:spPr>
          <a:xfrm>
            <a:off x="805041" y="3539530"/>
            <a:ext cx="10581613" cy="1288256"/>
          </a:xfrm>
          <a:prstGeom prst="rect">
            <a:avLst/>
          </a:prstGeom>
          <a:noFill/>
          <a:ln/>
        </p:spPr>
        <p:txBody>
          <a:bodyPr wrap="square" lIns="0" tIns="0" rIns="0" bIns="0" rtlCol="0" anchor="t">
            <a:normAutofit/>
          </a:bodyPr>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Who are the Adivasi?</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The Adivasi ("original inhabitants") are India's 104 million tribal peoples — Santhals, Mundas, Oraons, Gonds, Nagas, and hundreds of other communities. They are disproportionately represented in Indian Catholic communities (many of your seminary classmates may be from these communities). They face: displacement from ancestral lands, forest rights violations, cultural erasure, and anti-conversion pressure.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5041" y="1578471"/>
            <a:ext cx="7389231"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What Tribal Theology Offers</a:t>
            </a:r>
            <a:endParaRPr lang="en-US" sz="3450" dirty="0"/>
          </a:p>
        </p:txBody>
      </p:sp>
      <p:sp>
        <p:nvSpPr>
          <p:cNvPr id="3" name="Shape 1"/>
          <p:cNvSpPr/>
          <p:nvPr/>
        </p:nvSpPr>
        <p:spPr>
          <a:xfrm>
            <a:off x="805041" y="2534444"/>
            <a:ext cx="3392998" cy="2745085"/>
          </a:xfrm>
          <a:prstGeom prst="roundRect">
            <a:avLst>
              <a:gd name="adj" fmla="val 3080"/>
            </a:avLst>
          </a:prstGeom>
          <a:solidFill>
            <a:srgbClr val="FFE6CC"/>
          </a:solidFill>
          <a:ln w="6350">
            <a:solidFill>
              <a:srgbClr val="E5CCB2"/>
            </a:solidFill>
            <a:prstDash val="solid"/>
          </a:ln>
        </p:spPr>
      </p:sp>
      <p:sp>
        <p:nvSpPr>
          <p:cNvPr id="4" name="Text 2"/>
          <p:cNvSpPr/>
          <p:nvPr/>
        </p:nvSpPr>
        <p:spPr>
          <a:xfrm>
            <a:off x="1012601" y="2742009"/>
            <a:ext cx="2977877" cy="553641"/>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Relational Understanding</a:t>
            </a:r>
            <a:endParaRPr lang="en-US" sz="1700" dirty="0"/>
          </a:p>
        </p:txBody>
      </p:sp>
      <p:sp>
        <p:nvSpPr>
          <p:cNvPr id="5" name="Text 3"/>
          <p:cNvSpPr/>
          <p:nvPr/>
        </p:nvSpPr>
        <p:spPr>
          <a:xfrm>
            <a:off x="1012601" y="3416399"/>
            <a:ext cx="2977877" cy="161032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 deeply relational understanding of the human person — the individual is inseparable from community, ancestors, and land.</a:t>
            </a:r>
            <a:endParaRPr lang="en-US" sz="1550" dirty="0"/>
          </a:p>
        </p:txBody>
      </p:sp>
      <p:sp>
        <p:nvSpPr>
          <p:cNvPr id="6" name="Shape 4"/>
          <p:cNvSpPr/>
          <p:nvPr/>
        </p:nvSpPr>
        <p:spPr>
          <a:xfrm>
            <a:off x="4399249" y="2534444"/>
            <a:ext cx="3393097" cy="2745085"/>
          </a:xfrm>
          <a:prstGeom prst="roundRect">
            <a:avLst>
              <a:gd name="adj" fmla="val 3080"/>
            </a:avLst>
          </a:prstGeom>
          <a:solidFill>
            <a:srgbClr val="FFE6CC"/>
          </a:solidFill>
          <a:ln w="6350">
            <a:solidFill>
              <a:srgbClr val="E5CCB2"/>
            </a:solidFill>
            <a:prstDash val="solid"/>
          </a:ln>
        </p:spPr>
      </p:sp>
      <p:sp>
        <p:nvSpPr>
          <p:cNvPr id="7" name="Text 5"/>
          <p:cNvSpPr/>
          <p:nvPr/>
        </p:nvSpPr>
        <p:spPr>
          <a:xfrm>
            <a:off x="4606810" y="2742009"/>
            <a:ext cx="2593216"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Ecological Spirituality</a:t>
            </a:r>
            <a:endParaRPr lang="en-US" sz="1700" dirty="0"/>
          </a:p>
        </p:txBody>
      </p:sp>
      <p:sp>
        <p:nvSpPr>
          <p:cNvPr id="8" name="Text 6"/>
          <p:cNvSpPr/>
          <p:nvPr/>
        </p:nvSpPr>
        <p:spPr>
          <a:xfrm>
            <a:off x="4606810" y="3139579"/>
            <a:ext cx="2977976" cy="1288256"/>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An ecological spirituality that sees creation as sacred — not as a resource to be exploited but as a community to belong to.</a:t>
            </a:r>
            <a:endParaRPr lang="en-US" sz="1550" dirty="0"/>
          </a:p>
        </p:txBody>
      </p:sp>
      <p:sp>
        <p:nvSpPr>
          <p:cNvPr id="9" name="Shape 7"/>
          <p:cNvSpPr/>
          <p:nvPr/>
        </p:nvSpPr>
        <p:spPr>
          <a:xfrm>
            <a:off x="7993557" y="2534444"/>
            <a:ext cx="3393097" cy="2745085"/>
          </a:xfrm>
          <a:prstGeom prst="roundRect">
            <a:avLst>
              <a:gd name="adj" fmla="val 3080"/>
            </a:avLst>
          </a:prstGeom>
          <a:solidFill>
            <a:srgbClr val="FFE6CC"/>
          </a:solidFill>
          <a:ln w="6350">
            <a:solidFill>
              <a:srgbClr val="E5CCB2"/>
            </a:solidFill>
            <a:prstDash val="solid"/>
          </a:ln>
        </p:spPr>
      </p:sp>
      <p:sp>
        <p:nvSpPr>
          <p:cNvPr id="10" name="Text 8"/>
          <p:cNvSpPr/>
          <p:nvPr/>
        </p:nvSpPr>
        <p:spPr>
          <a:xfrm>
            <a:off x="8201117" y="2742009"/>
            <a:ext cx="2849690"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Pneumatology Enriched</a:t>
            </a:r>
            <a:endParaRPr lang="en-US" sz="1700" dirty="0"/>
          </a:p>
        </p:txBody>
      </p:sp>
      <p:sp>
        <p:nvSpPr>
          <p:cNvPr id="11" name="Text 9"/>
          <p:cNvSpPr/>
          <p:nvPr/>
        </p:nvSpPr>
        <p:spPr>
          <a:xfrm>
            <a:off x="8201117" y="3139579"/>
            <a:ext cx="2977976" cy="1932384"/>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 robust sense of the Spirit's presence in community rituals, harvest celebrations, and communal decision-making — which enriches Catholic pneumatology.</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5041" y="1529457"/>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THE PREFERENTIAL OPTION FOR THE POOR</a:t>
            </a:r>
            <a:endParaRPr lang="en-US" sz="3450" dirty="0"/>
          </a:p>
        </p:txBody>
      </p:sp>
      <p:sp>
        <p:nvSpPr>
          <p:cNvPr id="3" name="Shape 1"/>
          <p:cNvSpPr/>
          <p:nvPr/>
        </p:nvSpPr>
        <p:spPr>
          <a:xfrm>
            <a:off x="805041" y="3038872"/>
            <a:ext cx="25399" cy="1096963"/>
          </a:xfrm>
          <a:prstGeom prst="roundRect">
            <a:avLst>
              <a:gd name="adj" fmla="val 60001"/>
            </a:avLst>
          </a:prstGeom>
          <a:solidFill>
            <a:srgbClr val="020100"/>
          </a:solidFill>
          <a:ln/>
        </p:spPr>
      </p:sp>
      <p:sp>
        <p:nvSpPr>
          <p:cNvPr id="4" name="Text 2"/>
          <p:cNvSpPr/>
          <p:nvPr/>
        </p:nvSpPr>
        <p:spPr>
          <a:xfrm>
            <a:off x="1106956" y="3265289"/>
            <a:ext cx="10279698" cy="644128"/>
          </a:xfrm>
          <a:prstGeom prst="rect">
            <a:avLst/>
          </a:prstGeom>
          <a:noFill/>
          <a:ln/>
        </p:spPr>
        <p:txBody>
          <a:bodyPr wrap="square" lIns="0" tIns="0" rIns="0" bIns="0" rtlCol="0" anchor="t">
            <a:normAutofit/>
          </a:bodyPr>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John Paul II,</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a:t>
            </a:r>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Sollicitudo Rei Socialis</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a:t>
            </a:r>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(1987), §42:</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"The option or love of preference for the poor... is an option, or a special form of the primacy in the exercise of Christian charity."</a:t>
            </a:r>
            <a:endParaRPr lang="en-US" sz="1550" dirty="0"/>
          </a:p>
        </p:txBody>
      </p:sp>
      <p:sp>
        <p:nvSpPr>
          <p:cNvPr id="5" name="Text 3"/>
          <p:cNvSpPr/>
          <p:nvPr/>
        </p:nvSpPr>
        <p:spPr>
          <a:xfrm>
            <a:off x="805041" y="4362252"/>
            <a:ext cx="10581613"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This is not an ideological position — it is a Gospel position. The Magnificat (Lk 1:46–55), the Beatitudes, the Last Judgment parable (Matt 25:31–46), and Amos 5:21–24 all point to the same reality: God acts through and for the marginalised. The theologian who ignores this has not simply missed a social point. He has misread God.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05041" y="1013817"/>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THE LIVING LIBRARY GAME (Closing Activity, 5 minutes)</a:t>
            </a:r>
            <a:endParaRPr lang="en-US" sz="3450" dirty="0"/>
          </a:p>
        </p:txBody>
      </p:sp>
      <p:sp>
        <p:nvSpPr>
          <p:cNvPr id="3" name="Text 1"/>
          <p:cNvSpPr/>
          <p:nvPr/>
        </p:nvSpPr>
        <p:spPr>
          <a:xfrm>
            <a:off x="805041" y="2523232"/>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If any students in the room are from Dalit or tribal communities, invite them (only if willing) to be "living books." The rest of the class asks them one question:</a:t>
            </a:r>
            <a:endParaRPr lang="en-US" sz="1550" dirty="0"/>
          </a:p>
        </p:txBody>
      </p:sp>
      <p:sp>
        <p:nvSpPr>
          <p:cNvPr id="4" name="Shape 2"/>
          <p:cNvSpPr/>
          <p:nvPr/>
        </p:nvSpPr>
        <p:spPr>
          <a:xfrm>
            <a:off x="805041" y="3393777"/>
            <a:ext cx="25399" cy="1096963"/>
          </a:xfrm>
          <a:prstGeom prst="roundRect">
            <a:avLst>
              <a:gd name="adj" fmla="val 60001"/>
            </a:avLst>
          </a:prstGeom>
          <a:solidFill>
            <a:srgbClr val="020100"/>
          </a:solidFill>
          <a:ln/>
        </p:spPr>
      </p:sp>
      <p:sp>
        <p:nvSpPr>
          <p:cNvPr id="5" name="Text 3"/>
          <p:cNvSpPr/>
          <p:nvPr/>
        </p:nvSpPr>
        <p:spPr>
          <a:xfrm>
            <a:off x="1106956" y="3620195"/>
            <a:ext cx="10279698" cy="644128"/>
          </a:xfrm>
          <a:prstGeom prst="rect">
            <a:avLst/>
          </a:prstGeom>
          <a:noFill/>
          <a:ln/>
        </p:spPr>
        <p:txBody>
          <a:bodyPr wrap="square" lIns="0" tIns="0" rIns="0" bIns="0" rtlCol="0" anchor="t">
            <a:normAutofit/>
          </a:bodyPr>
          <a:lstStyle/>
          <a:p>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"What is one thing you want your brother-theologians to know about your community — one thing that would make their theology better?"</a:t>
            </a:r>
            <a:endParaRPr lang="en-US" sz="1550" dirty="0"/>
          </a:p>
        </p:txBody>
      </p:sp>
      <p:sp>
        <p:nvSpPr>
          <p:cNvPr id="6" name="Shape 4"/>
          <p:cNvSpPr/>
          <p:nvPr/>
        </p:nvSpPr>
        <p:spPr>
          <a:xfrm>
            <a:off x="805041" y="4717157"/>
            <a:ext cx="10581613" cy="1127026"/>
          </a:xfrm>
          <a:prstGeom prst="roundRect">
            <a:avLst>
              <a:gd name="adj" fmla="val 7501"/>
            </a:avLst>
          </a:prstGeom>
          <a:solidFill>
            <a:srgbClr val="FCF2B5"/>
          </a:solidFill>
          <a:ln/>
        </p:spPr>
      </p:sp>
      <p:pic>
        <p:nvPicPr>
          <p:cNvPr id="7" name="Image 0" descr="preencoded.png">    </p:cNvPr>
          <p:cNvPicPr>
            <a:picLocks noChangeAspect="1"/>
          </p:cNvPicPr>
          <p:nvPr/>
        </p:nvPicPr>
        <p:blipFill>
          <a:blip r:embed="rId1"/>
          <a:stretch>
            <a:fillRect/>
          </a:stretch>
        </p:blipFill>
        <p:spPr>
          <a:xfrm>
            <a:off x="1006251" y="5008463"/>
            <a:ext cx="251513" cy="201216"/>
          </a:xfrm>
          <a:prstGeom prst="rect">
            <a:avLst/>
          </a:prstGeom>
        </p:spPr>
      </p:pic>
      <p:sp>
        <p:nvSpPr>
          <p:cNvPr id="8" name="Text 5"/>
          <p:cNvSpPr/>
          <p:nvPr/>
        </p:nvSpPr>
        <p:spPr>
          <a:xfrm>
            <a:off x="1458975" y="4968677"/>
            <a:ext cx="9726468" cy="644128"/>
          </a:xfrm>
          <a:prstGeom prst="rect">
            <a:avLst/>
          </a:prstGeom>
          <a:noFill/>
          <a:ln/>
        </p:spPr>
        <p:txBody>
          <a:bodyPr wrap="square" lIns="0" tIns="0" rIns="0" bIns="0" rtlCol="0" anchor="t">
            <a:normAutofit/>
          </a:bodyPr>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Facilitator note:</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This activity must be done with extreme sensitivity. Never force anyone to speak. The invitation is generous; the response is voluntary.</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05041" y="2241451"/>
            <a:ext cx="5158452"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CLOSING PRAYER</a:t>
            </a:r>
            <a:endParaRPr lang="en-US" sz="3450" dirty="0"/>
          </a:p>
        </p:txBody>
      </p:sp>
      <p:sp>
        <p:nvSpPr>
          <p:cNvPr id="3" name="Shape 1"/>
          <p:cNvSpPr/>
          <p:nvPr/>
        </p:nvSpPr>
        <p:spPr>
          <a:xfrm>
            <a:off x="805041" y="3197423"/>
            <a:ext cx="25399" cy="1419027"/>
          </a:xfrm>
          <a:prstGeom prst="roundRect">
            <a:avLst>
              <a:gd name="adj" fmla="val 60001"/>
            </a:avLst>
          </a:prstGeom>
          <a:solidFill>
            <a:srgbClr val="020100"/>
          </a:solidFill>
          <a:ln/>
        </p:spPr>
      </p:sp>
      <p:sp>
        <p:nvSpPr>
          <p:cNvPr id="4" name="Text 2"/>
          <p:cNvSpPr/>
          <p:nvPr/>
        </p:nvSpPr>
        <p:spPr>
          <a:xfrm>
            <a:off x="1106956" y="3423841"/>
            <a:ext cx="10279698" cy="966192"/>
          </a:xfrm>
          <a:prstGeom prst="rect">
            <a:avLst/>
          </a:prstGeom>
          <a:noFill/>
          <a:ln/>
        </p:spPr>
        <p:txBody>
          <a:bodyPr wrap="square" lIns="0" tIns="0" rIns="0" bIns="0" rtlCol="0" anchor="t">
            <a:normAutofit/>
          </a:bodyPr>
          <a:lstStyle/>
          <a:p>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"God of the crushed and the broken, we repent of every theology that has blessed the powerful and silenced the poor. Give us the courage to hear your voice from the margins. May our theology smell of the earth and the sweat of those who have been ground down. Amen."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2026-07-01T17:16:54Z</dcterms:created>
  <dcterms:modified xsi:type="dcterms:W3CDTF">2026-07-01T17:16:54Z</dcterms:modified>
</cp:coreProperties>
</file>