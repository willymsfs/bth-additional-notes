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Vatican II was not just "another council" — it was the largest gathering in Church history and the first to include substantial representation from non-Western contexts.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 "prophets of doom" was directed at members of the Curia who had prepared pessimistic, defensive draft documents. This set John XXIII apart from the institutional establishment.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revolt" was not a rebellion against the Pope — John XXIII welcomed it. It was a rebellion against a Curial attempt to control the Council's proceedings.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Lefebvre excommunication remains a painful chapter. Benedict XVI lifted the excommunication of the four bishops in 2009, but the SSPX remains in irregular canonical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debate is not merely academic — every discussion about liturgy, ecumenism, or religious practice in the Church today is shaped by how one interprets Vatican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2"/>
        </a:solidFill>
      </p:bgPr>
    </p:bg>
    <p:spTree>
      <p:nvGrpSpPr>
        <p:cNvPr id="1" name=""/>
        <p:cNvGrpSpPr/>
        <p:nvPr/>
      </p:nvGrpSpPr>
      <p:grpSpPr>
        <a:xfrm>
          <a:off x="0" y="0"/>
          <a:ext cx="0" cy="0"/>
          <a:chOff x="0" y="0"/>
          <a:chExt cx="0" cy="0"/>
        </a:xfrm>
      </p:grpSpPr>
      <p:sp>
        <p:nvSpPr>
          <p:cNvPr id="2" name="Shape 0"/>
          <p:cNvSpPr/>
          <p:nvPr/>
        </p:nvSpPr>
        <p:spPr>
          <a:xfrm>
            <a:off x="0" y="5120640"/>
            <a:ext cx="12188952" cy="1737360"/>
          </a:xfrm>
          <a:prstGeom prst="rect">
            <a:avLst/>
          </a:prstGeom>
          <a:solidFill>
            <a:srgbClr val="121D38"/>
          </a:solidFill>
          <a:ln/>
        </p:spPr>
      </p:sp>
      <p:sp>
        <p:nvSpPr>
          <p:cNvPr id="3" name="Shape 1"/>
          <p:cNvSpPr/>
          <p:nvPr/>
        </p:nvSpPr>
        <p:spPr>
          <a:xfrm>
            <a:off x="5591556" y="685800"/>
            <a:ext cx="1005840" cy="1005840"/>
          </a:xfrm>
          <a:prstGeom prst="ellipse">
            <a:avLst/>
          </a:prstGeom>
          <a:noFill/>
          <a:ln w="28575">
            <a:solidFill>
              <a:srgbClr val="B8912F"/>
            </a:solidFill>
            <a:prstDash val="solid"/>
          </a:ln>
        </p:spPr>
      </p:sp>
      <p:sp>
        <p:nvSpPr>
          <p:cNvPr id="4" name="Text 2"/>
          <p:cNvSpPr/>
          <p:nvPr/>
        </p:nvSpPr>
        <p:spPr>
          <a:xfrm>
            <a:off x="5591556" y="685800"/>
            <a:ext cx="1005840" cy="1005840"/>
          </a:xfrm>
          <a:prstGeom prst="rect">
            <a:avLst/>
          </a:prstGeom>
          <a:noFill/>
          <a:ln/>
        </p:spPr>
        <p:txBody>
          <a:bodyPr wrap="square" lIns="0" tIns="0" rIns="0" bIns="0" rtlCol="0" anchor="ctr"/>
          <a:lstStyle/>
          <a:p>
            <a:pPr algn="ctr" indent="0" marL="0">
              <a:buNone/>
            </a:pPr>
            <a:r>
              <a:rPr lang="en-US" sz="3400" dirty="0">
                <a:solidFill>
                  <a:srgbClr val="B8912F"/>
                </a:solidFill>
                <a:latin typeface="Cambria" pitchFamily="34" charset="0"/>
                <a:ea typeface="Cambria" pitchFamily="34" charset="-122"/>
                <a:cs typeface="Cambria" pitchFamily="34" charset="-120"/>
              </a:rPr>
              <a:t>✠</a:t>
            </a:r>
            <a:endParaRPr lang="en-US" sz="3400" dirty="0"/>
          </a:p>
        </p:txBody>
      </p:sp>
      <p:sp>
        <p:nvSpPr>
          <p:cNvPr id="5" name="Text 3"/>
          <p:cNvSpPr/>
          <p:nvPr/>
        </p:nvSpPr>
        <p:spPr>
          <a:xfrm>
            <a:off x="0" y="1965960"/>
            <a:ext cx="12188952" cy="365760"/>
          </a:xfrm>
          <a:prstGeom prst="rect">
            <a:avLst/>
          </a:prstGeom>
          <a:noFill/>
          <a:ln/>
        </p:spPr>
        <p:txBody>
          <a:bodyPr wrap="square" lIns="0" tIns="0" rIns="0" bIns="0" rtlCol="0" anchor="ctr"/>
          <a:lstStyle/>
          <a:p>
            <a:pPr algn="ctr" indent="0" marL="0">
              <a:buNone/>
            </a:pPr>
            <a:r>
              <a:rPr lang="en-US" sz="1400" b="1" spc="300" kern="0" dirty="0">
                <a:solidFill>
                  <a:srgbClr val="E8DAAE"/>
                </a:solidFill>
                <a:latin typeface="Calibri" pitchFamily="34" charset="0"/>
                <a:ea typeface="Calibri" pitchFamily="34" charset="-122"/>
                <a:cs typeface="Calibri" pitchFamily="34" charset="-120"/>
              </a:rPr>
              <a:t>SECOND VATICAN COUNCIL  ·  1962–1965</a:t>
            </a:r>
            <a:endParaRPr lang="en-US" sz="1400" dirty="0"/>
          </a:p>
        </p:txBody>
      </p:sp>
      <p:sp>
        <p:nvSpPr>
          <p:cNvPr id="6" name="Text 4"/>
          <p:cNvSpPr/>
          <p:nvPr/>
        </p:nvSpPr>
        <p:spPr>
          <a:xfrm>
            <a:off x="914400" y="2423160"/>
            <a:ext cx="10360152" cy="1554480"/>
          </a:xfrm>
          <a:prstGeom prst="rect">
            <a:avLst/>
          </a:prstGeom>
          <a:noFill/>
          <a:ln/>
        </p:spPr>
        <p:txBody>
          <a:bodyPr wrap="square" lIns="0" tIns="0" rIns="0" bIns="0" rtlCol="0" anchor="ctr"/>
          <a:lstStyle/>
          <a:p>
            <a:pPr algn="ctr" indent="0" marL="0">
              <a:lnSpc>
                <a:spcPct val="108000"/>
              </a:lnSpc>
              <a:buNone/>
            </a:pPr>
            <a:r>
              <a:rPr lang="en-US" sz="3800" b="1" dirty="0">
                <a:solidFill>
                  <a:srgbClr val="FFFFFF"/>
                </a:solidFill>
                <a:latin typeface="Cambria" pitchFamily="34" charset="0"/>
                <a:ea typeface="Cambria" pitchFamily="34" charset="-122"/>
                <a:cs typeface="Cambria" pitchFamily="34" charset="-120"/>
              </a:rPr>
              <a:t>Vatican II and the</a:t>
            </a:r>
            <a:endParaRPr lang="en-US" sz="3800" dirty="0"/>
          </a:p>
          <a:p>
            <a:pPr algn="ctr" indent="0" marL="0">
              <a:lnSpc>
                <a:spcPct val="108000"/>
              </a:lnSpc>
              <a:buNone/>
            </a:pPr>
            <a:r>
              <a:rPr lang="en-US" sz="3800" b="1" dirty="0">
                <a:solidFill>
                  <a:srgbClr val="FFFFFF"/>
                </a:solidFill>
                <a:latin typeface="Cambria" pitchFamily="34" charset="0"/>
                <a:ea typeface="Cambria" pitchFamily="34" charset="-122"/>
                <a:cs typeface="Cambria" pitchFamily="34" charset="-120"/>
              </a:rPr>
              <a:t>Evolution of Modern Catholic Thought</a:t>
            </a:r>
            <a:endParaRPr lang="en-US" sz="3800" dirty="0"/>
          </a:p>
        </p:txBody>
      </p:sp>
      <p:sp>
        <p:nvSpPr>
          <p:cNvPr id="7" name="Text 5"/>
          <p:cNvSpPr/>
          <p:nvPr/>
        </p:nvSpPr>
        <p:spPr>
          <a:xfrm>
            <a:off x="1280160" y="4343400"/>
            <a:ext cx="9628632" cy="640080"/>
          </a:xfrm>
          <a:prstGeom prst="rect">
            <a:avLst/>
          </a:prstGeom>
          <a:noFill/>
          <a:ln/>
        </p:spPr>
        <p:txBody>
          <a:bodyPr wrap="square" lIns="0" tIns="0" rIns="0" bIns="0" rtlCol="0" anchor="ctr"/>
          <a:lstStyle/>
          <a:p>
            <a:pPr algn="ctr" indent="0" marL="0">
              <a:lnSpc>
                <a:spcPct val="115000"/>
              </a:lnSpc>
              <a:buNone/>
            </a:pPr>
            <a:r>
              <a:rPr lang="en-US" sz="1400" i="1" dirty="0">
                <a:solidFill>
                  <a:srgbClr val="C9D2E3"/>
                </a:solidFill>
                <a:latin typeface="Calibri" pitchFamily="34" charset="0"/>
                <a:ea typeface="Calibri" pitchFamily="34" charset="-122"/>
                <a:cs typeface="Calibri" pitchFamily="34" charset="-120"/>
              </a:rPr>
              <a:t>A comprehensive study of the Council's origins, sessions, documents,</a:t>
            </a:r>
            <a:endParaRPr lang="en-US" sz="1400" dirty="0"/>
          </a:p>
          <a:p>
            <a:pPr algn="ctr" indent="0" marL="0">
              <a:lnSpc>
                <a:spcPct val="115000"/>
              </a:lnSpc>
              <a:buNone/>
            </a:pPr>
            <a:r>
              <a:rPr lang="en-US" sz="1400" i="1" dirty="0">
                <a:solidFill>
                  <a:srgbClr val="C9D2E3"/>
                </a:solidFill>
                <a:latin typeface="Calibri" pitchFamily="34" charset="0"/>
                <a:ea typeface="Calibri" pitchFamily="34" charset="-122"/>
                <a:cs typeface="Calibri" pitchFamily="34" charset="-120"/>
              </a:rPr>
              <a:t>and ongoing reception in the life of the Church</a:t>
            </a:r>
            <a:endParaRPr lang="en-US" sz="1400" dirty="0"/>
          </a:p>
        </p:txBody>
      </p:sp>
      <p:sp>
        <p:nvSpPr>
          <p:cNvPr id="8" name="Text 6"/>
          <p:cNvSpPr/>
          <p:nvPr/>
        </p:nvSpPr>
        <p:spPr>
          <a:xfrm>
            <a:off x="1371600" y="5486400"/>
            <a:ext cx="9445752" cy="411480"/>
          </a:xfrm>
          <a:prstGeom prst="rect">
            <a:avLst/>
          </a:prstGeom>
          <a:noFill/>
          <a:ln/>
        </p:spPr>
        <p:txBody>
          <a:bodyPr wrap="square" lIns="0" tIns="0" rIns="0" bIns="0" rtlCol="0" anchor="ctr"/>
          <a:lstStyle/>
          <a:p>
            <a:pPr algn="ctr" indent="0" marL="0">
              <a:buNone/>
            </a:pPr>
            <a:r>
              <a:rPr lang="en-US" sz="1700" i="1" dirty="0">
                <a:solidFill>
                  <a:srgbClr val="B8912F"/>
                </a:solidFill>
                <a:latin typeface="Cambria" pitchFamily="34" charset="0"/>
                <a:ea typeface="Cambria" pitchFamily="34" charset="-122"/>
                <a:cs typeface="Cambria" pitchFamily="34" charset="-120"/>
              </a:rPr>
              <a:t>“Mother Church Rejoices”</a:t>
            </a:r>
            <a:endParaRPr lang="en-US" sz="1700" dirty="0"/>
          </a:p>
        </p:txBody>
      </p:sp>
      <p:sp>
        <p:nvSpPr>
          <p:cNvPr id="9" name="Text 7"/>
          <p:cNvSpPr/>
          <p:nvPr/>
        </p:nvSpPr>
        <p:spPr>
          <a:xfrm>
            <a:off x="1371600" y="5897880"/>
            <a:ext cx="9445752" cy="365760"/>
          </a:xfrm>
          <a:prstGeom prst="rect">
            <a:avLst/>
          </a:prstGeom>
          <a:noFill/>
          <a:ln/>
        </p:spPr>
        <p:txBody>
          <a:bodyPr wrap="square" lIns="0" tIns="0" rIns="0" bIns="0" rtlCol="0" anchor="ctr"/>
          <a:lstStyle/>
          <a:p>
            <a:pPr algn="ctr" indent="0" marL="0">
              <a:buNone/>
            </a:pPr>
            <a:r>
              <a:rPr lang="en-US" sz="1150" dirty="0">
                <a:solidFill>
                  <a:srgbClr val="9FADC7"/>
                </a:solidFill>
                <a:latin typeface="Calibri" pitchFamily="34" charset="0"/>
                <a:ea typeface="Calibri" pitchFamily="34" charset="-122"/>
                <a:cs typeface="Calibri" pitchFamily="34" charset="-120"/>
              </a:rPr>
              <a:t>Opening words of Pope John XXIII's address Gaudet Mater Ecclesia, October 11, 1962</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What Was Vatican II?</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48640" y="1508760"/>
            <a:ext cx="11091672" cy="868680"/>
          </a:xfrm>
          <a:prstGeom prst="rect">
            <a:avLst/>
          </a:prstGeom>
          <a:noFill/>
          <a:ln/>
        </p:spPr>
        <p:txBody>
          <a:bodyPr wrap="square" lIns="0" tIns="0" rIns="0" bIns="0" rtlCol="0" anchor="ctr"/>
          <a:lstStyle/>
          <a:p>
            <a:pPr indent="0" marL="0">
              <a:lnSpc>
                <a:spcPct val="125000"/>
              </a:lnSpc>
              <a:buNone/>
            </a:pPr>
            <a:r>
              <a:rPr lang="en-US" sz="1450" dirty="0">
                <a:solidFill>
                  <a:srgbClr val="23324E"/>
                </a:solidFill>
                <a:latin typeface="Calibri" pitchFamily="34" charset="0"/>
                <a:ea typeface="Calibri" pitchFamily="34" charset="-122"/>
                <a:cs typeface="Calibri" pitchFamily="34" charset="-120"/>
              </a:rPr>
              <a:t>The Second Vatican Council was the twenty-first ecumenical council of the Catholic Church: a worldwide gathering of bishops convened to discern the direction of the Church under the guidance of the Holy Spirit, meeting in four autumn sessions between 1962 and 1965.</a:t>
            </a:r>
            <a:endParaRPr lang="en-US" sz="1450" dirty="0"/>
          </a:p>
        </p:txBody>
      </p:sp>
      <p:sp>
        <p:nvSpPr>
          <p:cNvPr id="7" name="Shape 5"/>
          <p:cNvSpPr/>
          <p:nvPr/>
        </p:nvSpPr>
        <p:spPr>
          <a:xfrm>
            <a:off x="548640" y="2606040"/>
            <a:ext cx="2635758" cy="1691640"/>
          </a:xfrm>
          <a:prstGeom prst="roundRect">
            <a:avLst>
              <a:gd name="adj" fmla="val 4324"/>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8" name="Text 6"/>
          <p:cNvSpPr/>
          <p:nvPr/>
        </p:nvSpPr>
        <p:spPr>
          <a:xfrm>
            <a:off x="548640" y="2743200"/>
            <a:ext cx="2635758" cy="685800"/>
          </a:xfrm>
          <a:prstGeom prst="rect">
            <a:avLst/>
          </a:prstGeom>
          <a:noFill/>
          <a:ln/>
        </p:spPr>
        <p:txBody>
          <a:bodyPr wrap="square" lIns="0" tIns="0" rIns="0" bIns="0" rtlCol="0" anchor="ctr"/>
          <a:lstStyle/>
          <a:p>
            <a:pPr algn="ctr" indent="0" marL="0">
              <a:buNone/>
            </a:pPr>
            <a:r>
              <a:rPr lang="en-US" sz="3000" b="1" dirty="0">
                <a:solidFill>
                  <a:srgbClr val="7A1B2E"/>
                </a:solidFill>
                <a:latin typeface="Cambria" pitchFamily="34" charset="0"/>
                <a:ea typeface="Cambria" pitchFamily="34" charset="-122"/>
                <a:cs typeface="Cambria" pitchFamily="34" charset="-120"/>
              </a:rPr>
              <a:t>1962–65</a:t>
            </a:r>
            <a:endParaRPr lang="en-US" sz="3000" dirty="0"/>
          </a:p>
        </p:txBody>
      </p:sp>
      <p:sp>
        <p:nvSpPr>
          <p:cNvPr id="9" name="Text 7"/>
          <p:cNvSpPr/>
          <p:nvPr/>
        </p:nvSpPr>
        <p:spPr>
          <a:xfrm>
            <a:off x="685800" y="3429000"/>
            <a:ext cx="2361438" cy="777240"/>
          </a:xfrm>
          <a:prstGeom prst="rect">
            <a:avLst/>
          </a:prstGeom>
          <a:noFill/>
          <a:ln/>
        </p:spPr>
        <p:txBody>
          <a:bodyPr wrap="square" lIns="0" tIns="0" rIns="0" bIns="0" rtlCol="0" anchor="ctr"/>
          <a:lstStyle/>
          <a:p>
            <a:pPr algn="ctr" indent="0" marL="0">
              <a:lnSpc>
                <a:spcPct val="115000"/>
              </a:lnSpc>
              <a:buNone/>
            </a:pPr>
            <a:r>
              <a:rPr lang="en-US" sz="1050" dirty="0">
                <a:solidFill>
                  <a:srgbClr val="23324E"/>
                </a:solidFill>
                <a:latin typeface="Calibri" pitchFamily="34" charset="0"/>
                <a:ea typeface="Calibri" pitchFamily="34" charset="-122"/>
                <a:cs typeface="Calibri" pitchFamily="34" charset="-120"/>
              </a:rPr>
              <a:t>Four autumn sessions over four years</a:t>
            </a:r>
            <a:endParaRPr lang="en-US" sz="1050" dirty="0"/>
          </a:p>
        </p:txBody>
      </p:sp>
      <p:sp>
        <p:nvSpPr>
          <p:cNvPr id="10" name="Shape 8"/>
          <p:cNvSpPr/>
          <p:nvPr/>
        </p:nvSpPr>
        <p:spPr>
          <a:xfrm>
            <a:off x="3367278" y="2606040"/>
            <a:ext cx="2635758" cy="1691640"/>
          </a:xfrm>
          <a:prstGeom prst="roundRect">
            <a:avLst>
              <a:gd name="adj" fmla="val 4324"/>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1" name="Text 9"/>
          <p:cNvSpPr/>
          <p:nvPr/>
        </p:nvSpPr>
        <p:spPr>
          <a:xfrm>
            <a:off x="3367278" y="2743200"/>
            <a:ext cx="2635758" cy="685800"/>
          </a:xfrm>
          <a:prstGeom prst="rect">
            <a:avLst/>
          </a:prstGeom>
          <a:noFill/>
          <a:ln/>
        </p:spPr>
        <p:txBody>
          <a:bodyPr wrap="square" lIns="0" tIns="0" rIns="0" bIns="0" rtlCol="0" anchor="ctr"/>
          <a:lstStyle/>
          <a:p>
            <a:pPr algn="ctr" indent="0" marL="0">
              <a:buNone/>
            </a:pPr>
            <a:r>
              <a:rPr lang="en-US" sz="3000" b="1" dirty="0">
                <a:solidFill>
                  <a:srgbClr val="7A1B2E"/>
                </a:solidFill>
                <a:latin typeface="Cambria" pitchFamily="34" charset="0"/>
                <a:ea typeface="Cambria" pitchFamily="34" charset="-122"/>
                <a:cs typeface="Cambria" pitchFamily="34" charset="-120"/>
              </a:rPr>
              <a:t>2,908</a:t>
            </a:r>
            <a:endParaRPr lang="en-US" sz="3000" dirty="0"/>
          </a:p>
        </p:txBody>
      </p:sp>
      <p:sp>
        <p:nvSpPr>
          <p:cNvPr id="12" name="Text 10"/>
          <p:cNvSpPr/>
          <p:nvPr/>
        </p:nvSpPr>
        <p:spPr>
          <a:xfrm>
            <a:off x="3504438" y="3429000"/>
            <a:ext cx="2361438" cy="777240"/>
          </a:xfrm>
          <a:prstGeom prst="rect">
            <a:avLst/>
          </a:prstGeom>
          <a:noFill/>
          <a:ln/>
        </p:spPr>
        <p:txBody>
          <a:bodyPr wrap="square" lIns="0" tIns="0" rIns="0" bIns="0" rtlCol="0" anchor="ctr"/>
          <a:lstStyle/>
          <a:p>
            <a:pPr algn="ctr" indent="0" marL="0">
              <a:lnSpc>
                <a:spcPct val="115000"/>
              </a:lnSpc>
              <a:buNone/>
            </a:pPr>
            <a:r>
              <a:rPr lang="en-US" sz="1050" dirty="0">
                <a:solidFill>
                  <a:srgbClr val="23324E"/>
                </a:solidFill>
                <a:latin typeface="Calibri" pitchFamily="34" charset="0"/>
                <a:ea typeface="Calibri" pitchFamily="34" charset="-122"/>
                <a:cs typeface="Calibri" pitchFamily="34" charset="-120"/>
              </a:rPr>
              <a:t>Council Fathers entitled to take part; 2,540 present at the opening</a:t>
            </a:r>
            <a:endParaRPr lang="en-US" sz="1050" dirty="0"/>
          </a:p>
        </p:txBody>
      </p:sp>
      <p:sp>
        <p:nvSpPr>
          <p:cNvPr id="13" name="Shape 11"/>
          <p:cNvSpPr/>
          <p:nvPr/>
        </p:nvSpPr>
        <p:spPr>
          <a:xfrm>
            <a:off x="6185916" y="2606040"/>
            <a:ext cx="2635758" cy="1691640"/>
          </a:xfrm>
          <a:prstGeom prst="roundRect">
            <a:avLst>
              <a:gd name="adj" fmla="val 4324"/>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4" name="Text 12"/>
          <p:cNvSpPr/>
          <p:nvPr/>
        </p:nvSpPr>
        <p:spPr>
          <a:xfrm>
            <a:off x="6185916" y="2743200"/>
            <a:ext cx="2635758" cy="685800"/>
          </a:xfrm>
          <a:prstGeom prst="rect">
            <a:avLst/>
          </a:prstGeom>
          <a:noFill/>
          <a:ln/>
        </p:spPr>
        <p:txBody>
          <a:bodyPr wrap="square" lIns="0" tIns="0" rIns="0" bIns="0" rtlCol="0" anchor="ctr"/>
          <a:lstStyle/>
          <a:p>
            <a:pPr algn="ctr" indent="0" marL="0">
              <a:buNone/>
            </a:pPr>
            <a:r>
              <a:rPr lang="en-US" sz="3000" b="1" dirty="0">
                <a:solidFill>
                  <a:srgbClr val="7A1B2E"/>
                </a:solidFill>
                <a:latin typeface="Cambria" pitchFamily="34" charset="0"/>
                <a:ea typeface="Cambria" pitchFamily="34" charset="-122"/>
                <a:cs typeface="Cambria" pitchFamily="34" charset="-120"/>
              </a:rPr>
              <a:t>16</a:t>
            </a:r>
            <a:endParaRPr lang="en-US" sz="3000" dirty="0"/>
          </a:p>
        </p:txBody>
      </p:sp>
      <p:sp>
        <p:nvSpPr>
          <p:cNvPr id="15" name="Text 13"/>
          <p:cNvSpPr/>
          <p:nvPr/>
        </p:nvSpPr>
        <p:spPr>
          <a:xfrm>
            <a:off x="6323076" y="3429000"/>
            <a:ext cx="2361438" cy="777240"/>
          </a:xfrm>
          <a:prstGeom prst="rect">
            <a:avLst/>
          </a:prstGeom>
          <a:noFill/>
          <a:ln/>
        </p:spPr>
        <p:txBody>
          <a:bodyPr wrap="square" lIns="0" tIns="0" rIns="0" bIns="0" rtlCol="0" anchor="ctr"/>
          <a:lstStyle/>
          <a:p>
            <a:pPr algn="ctr" indent="0" marL="0">
              <a:lnSpc>
                <a:spcPct val="115000"/>
              </a:lnSpc>
              <a:buNone/>
            </a:pPr>
            <a:r>
              <a:rPr lang="en-US" sz="1050" dirty="0">
                <a:solidFill>
                  <a:srgbClr val="23324E"/>
                </a:solidFill>
                <a:latin typeface="Calibri" pitchFamily="34" charset="0"/>
                <a:ea typeface="Calibri" pitchFamily="34" charset="-122"/>
                <a:cs typeface="Calibri" pitchFamily="34" charset="-120"/>
              </a:rPr>
              <a:t>Documents: 4 Constitutions, 9 Decrees, 3 Declarations</a:t>
            </a:r>
            <a:endParaRPr lang="en-US" sz="1050" dirty="0"/>
          </a:p>
        </p:txBody>
      </p:sp>
      <p:sp>
        <p:nvSpPr>
          <p:cNvPr id="16" name="Shape 14"/>
          <p:cNvSpPr/>
          <p:nvPr/>
        </p:nvSpPr>
        <p:spPr>
          <a:xfrm>
            <a:off x="9004554" y="2606040"/>
            <a:ext cx="2635758" cy="1691640"/>
          </a:xfrm>
          <a:prstGeom prst="roundRect">
            <a:avLst>
              <a:gd name="adj" fmla="val 4324"/>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7" name="Text 15"/>
          <p:cNvSpPr/>
          <p:nvPr/>
        </p:nvSpPr>
        <p:spPr>
          <a:xfrm>
            <a:off x="9004554" y="2743200"/>
            <a:ext cx="2635758" cy="685800"/>
          </a:xfrm>
          <a:prstGeom prst="rect">
            <a:avLst/>
          </a:prstGeom>
          <a:noFill/>
          <a:ln/>
        </p:spPr>
        <p:txBody>
          <a:bodyPr wrap="square" lIns="0" tIns="0" rIns="0" bIns="0" rtlCol="0" anchor="ctr"/>
          <a:lstStyle/>
          <a:p>
            <a:pPr algn="ctr" indent="0" marL="0">
              <a:buNone/>
            </a:pPr>
            <a:r>
              <a:rPr lang="en-US" sz="3000" b="1" dirty="0">
                <a:solidFill>
                  <a:srgbClr val="7A1B2E"/>
                </a:solidFill>
                <a:latin typeface="Cambria" pitchFamily="34" charset="0"/>
                <a:ea typeface="Cambria" pitchFamily="34" charset="-122"/>
                <a:cs typeface="Cambria" pitchFamily="34" charset="-120"/>
              </a:rPr>
              <a:t>5</a:t>
            </a:r>
            <a:endParaRPr lang="en-US" sz="3000" dirty="0"/>
          </a:p>
        </p:txBody>
      </p:sp>
      <p:sp>
        <p:nvSpPr>
          <p:cNvPr id="18" name="Text 16"/>
          <p:cNvSpPr/>
          <p:nvPr/>
        </p:nvSpPr>
        <p:spPr>
          <a:xfrm>
            <a:off x="9141714" y="3429000"/>
            <a:ext cx="2361438" cy="777240"/>
          </a:xfrm>
          <a:prstGeom prst="rect">
            <a:avLst/>
          </a:prstGeom>
          <a:noFill/>
          <a:ln/>
        </p:spPr>
        <p:txBody>
          <a:bodyPr wrap="square" lIns="0" tIns="0" rIns="0" bIns="0" rtlCol="0" anchor="ctr"/>
          <a:lstStyle/>
          <a:p>
            <a:pPr algn="ctr" indent="0" marL="0">
              <a:lnSpc>
                <a:spcPct val="115000"/>
              </a:lnSpc>
              <a:buNone/>
            </a:pPr>
            <a:r>
              <a:rPr lang="en-US" sz="1050" dirty="0">
                <a:solidFill>
                  <a:srgbClr val="23324E"/>
                </a:solidFill>
                <a:latin typeface="Calibri" pitchFamily="34" charset="0"/>
                <a:ea typeface="Calibri" pitchFamily="34" charset="-122"/>
                <a:cs typeface="Calibri" pitchFamily="34" charset="-120"/>
              </a:rPr>
              <a:t>Continents represented — the first council with truly worldwide bishops</a:t>
            </a:r>
            <a:endParaRPr lang="en-US" sz="1050" dirty="0"/>
          </a:p>
        </p:txBody>
      </p:sp>
      <p:sp>
        <p:nvSpPr>
          <p:cNvPr id="19" name="Shape 17"/>
          <p:cNvSpPr/>
          <p:nvPr/>
        </p:nvSpPr>
        <p:spPr>
          <a:xfrm>
            <a:off x="548640" y="4572000"/>
            <a:ext cx="11091672" cy="1417320"/>
          </a:xfrm>
          <a:prstGeom prst="roundRect">
            <a:avLst>
              <a:gd name="adj" fmla="val 5161"/>
            </a:avLst>
          </a:prstGeom>
          <a:solidFill>
            <a:srgbClr val="1B2A52"/>
          </a:solidFill>
          <a:ln w="12700">
            <a:solidFill>
              <a:srgbClr val="1B2A52"/>
            </a:solidFill>
            <a:prstDash val="solid"/>
          </a:ln>
          <a:effectLst>
            <a:outerShdw sx="100000" sy="100000" kx="0" ky="0" algn="bl" rotWithShape="0" blurRad="76200" dist="25400" dir="5400000">
              <a:srgbClr val="1B2A52">
                <a:alpha val="18000"/>
              </a:srgbClr>
            </a:outerShdw>
          </a:effectLst>
        </p:spPr>
      </p:sp>
      <p:sp>
        <p:nvSpPr>
          <p:cNvPr id="20" name="Text 18"/>
          <p:cNvSpPr/>
          <p:nvPr/>
        </p:nvSpPr>
        <p:spPr>
          <a:xfrm>
            <a:off x="868680" y="4754880"/>
            <a:ext cx="10451592" cy="1051560"/>
          </a:xfrm>
          <a:prstGeom prst="rect">
            <a:avLst/>
          </a:prstGeom>
          <a:noFill/>
          <a:ln/>
        </p:spPr>
        <p:txBody>
          <a:bodyPr wrap="square" lIns="0" tIns="0" rIns="0" bIns="0"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Opened by Pope John XXIII on October 11, 1962, and concluded by Pope Paul VI on December 8, 1965. By comparison, Vatican I (1869–70) drew roughly 700 bishops, almost all from Europe — Vatican II's bishops came from every continent, the largest and most representative council in Church history.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HISTORICAL CONTEXT</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The World in the Mid-Twentieth Century</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508760"/>
            <a:ext cx="5362956" cy="4480560"/>
          </a:xfrm>
          <a:prstGeom prst="roundRect">
            <a:avLst>
              <a:gd name="adj" fmla="val 1633"/>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7" name="Text 5"/>
          <p:cNvSpPr/>
          <p:nvPr/>
        </p:nvSpPr>
        <p:spPr>
          <a:xfrm>
            <a:off x="822960" y="1737360"/>
            <a:ext cx="4814316" cy="457200"/>
          </a:xfrm>
          <a:prstGeom prst="rect">
            <a:avLst/>
          </a:prstGeom>
          <a:noFill/>
          <a:ln/>
        </p:spPr>
        <p:txBody>
          <a:bodyPr wrap="square" lIns="0" tIns="0" rIns="0" bIns="0" rtlCol="0" anchor="ctr"/>
          <a:lstStyle/>
          <a:p>
            <a:pPr indent="0" marL="0">
              <a:buNone/>
            </a:pPr>
            <a:r>
              <a:rPr lang="en-US" sz="1600" b="1" dirty="0">
                <a:solidFill>
                  <a:srgbClr val="1B2A52"/>
                </a:solidFill>
                <a:latin typeface="Cambria" pitchFamily="34" charset="0"/>
                <a:ea typeface="Cambria" pitchFamily="34" charset="-122"/>
                <a:cs typeface="Cambria" pitchFamily="34" charset="-120"/>
              </a:rPr>
              <a:t>A World Recovering and Redividing</a:t>
            </a:r>
            <a:endParaRPr lang="en-US" sz="1600" dirty="0"/>
          </a:p>
        </p:txBody>
      </p:sp>
      <p:sp>
        <p:nvSpPr>
          <p:cNvPr id="8" name="Text 6"/>
          <p:cNvSpPr/>
          <p:nvPr/>
        </p:nvSpPr>
        <p:spPr>
          <a:xfrm>
            <a:off x="822960" y="2286000"/>
            <a:ext cx="4814316" cy="3566160"/>
          </a:xfrm>
          <a:prstGeom prst="rect">
            <a:avLst/>
          </a:prstGeom>
          <a:noFill/>
          <a:ln/>
        </p:spPr>
        <p:txBody>
          <a:bodyPr wrap="square" lIns="0" tIns="0" rIns="0" bIns="0" rtlCol="0" anchor="ctr"/>
          <a:lstStyle/>
          <a:p>
            <a:pPr marL="177800" indent="-177800">
              <a:lnSpc>
                <a:spcPct val="120000"/>
              </a:lnSpc>
              <a:spcAft>
                <a:spcPts val="1000"/>
              </a:spcAft>
              <a:buSzPct val="100000"/>
              <a:buChar char="▪"/>
            </a:pPr>
            <a:r>
              <a:rPr lang="en-US" sz="1250" dirty="0">
                <a:solidFill>
                  <a:srgbClr val="23324E"/>
                </a:solidFill>
                <a:latin typeface="Calibri" pitchFamily="34" charset="0"/>
                <a:ea typeface="Calibri" pitchFamily="34" charset="-122"/>
                <a:cs typeface="Calibri" pitchFamily="34" charset="-120"/>
              </a:rPr>
              <a:t>Two world wars had devastated Europe and redrawn its political map</a:t>
            </a:r>
            <a:endParaRPr lang="en-US" sz="1250" dirty="0"/>
          </a:p>
          <a:p>
            <a:pPr marL="177800" indent="-177800">
              <a:lnSpc>
                <a:spcPct val="120000"/>
              </a:lnSpc>
              <a:spcAft>
                <a:spcPts val="1000"/>
              </a:spcAft>
              <a:buSzPct val="100000"/>
              <a:buChar char="▪"/>
            </a:pPr>
            <a:r>
              <a:rPr lang="en-US" sz="1250" dirty="0">
                <a:solidFill>
                  <a:srgbClr val="23324E"/>
                </a:solidFill>
                <a:latin typeface="Calibri" pitchFamily="34" charset="0"/>
                <a:ea typeface="Calibri" pitchFamily="34" charset="-122"/>
                <a:cs typeface="Calibri" pitchFamily="34" charset="-120"/>
              </a:rPr>
              <a:t>The Cold War divided East and West under the shadow of nuclear conflict</a:t>
            </a:r>
            <a:endParaRPr lang="en-US" sz="1250" dirty="0"/>
          </a:p>
          <a:p>
            <a:pPr marL="177800" indent="-177800">
              <a:lnSpc>
                <a:spcPct val="120000"/>
              </a:lnSpc>
              <a:spcAft>
                <a:spcPts val="1000"/>
              </a:spcAft>
              <a:buSzPct val="100000"/>
              <a:buChar char="▪"/>
            </a:pPr>
            <a:r>
              <a:rPr lang="en-US" sz="1250" dirty="0">
                <a:solidFill>
                  <a:srgbClr val="23324E"/>
                </a:solidFill>
                <a:latin typeface="Calibri" pitchFamily="34" charset="0"/>
                <a:ea typeface="Calibri" pitchFamily="34" charset="-122"/>
                <a:cs typeface="Calibri" pitchFamily="34" charset="-120"/>
              </a:rPr>
              <a:t>Soviet communism actively suppressed religion across Eastern Europe</a:t>
            </a:r>
            <a:endParaRPr lang="en-US" sz="1250" dirty="0"/>
          </a:p>
          <a:p>
            <a:pPr marL="177800" indent="-177800">
              <a:lnSpc>
                <a:spcPct val="120000"/>
              </a:lnSpc>
              <a:spcAft>
                <a:spcPts val="1000"/>
              </a:spcAft>
              <a:buSzPct val="100000"/>
              <a:buChar char="▪"/>
            </a:pPr>
            <a:r>
              <a:rPr lang="en-US" sz="1250" dirty="0">
                <a:solidFill>
                  <a:srgbClr val="23324E"/>
                </a:solidFill>
                <a:latin typeface="Calibri" pitchFamily="34" charset="0"/>
                <a:ea typeface="Calibri" pitchFamily="34" charset="-122"/>
                <a:cs typeface="Calibri" pitchFamily="34" charset="-120"/>
              </a:rPr>
              <a:t>Colonial empires were dissolving; new nations were emerging across Africa and Asia</a:t>
            </a:r>
            <a:endParaRPr lang="en-US" sz="1250" dirty="0"/>
          </a:p>
          <a:p>
            <a:pPr marL="177800" indent="-177800">
              <a:lnSpc>
                <a:spcPct val="120000"/>
              </a:lnSpc>
              <a:spcAft>
                <a:spcPts val="1000"/>
              </a:spcAft>
              <a:buSzPct val="100000"/>
              <a:buChar char="▪"/>
            </a:pPr>
            <a:r>
              <a:rPr lang="en-US" sz="1250" dirty="0">
                <a:solidFill>
                  <a:srgbClr val="23324E"/>
                </a:solidFill>
                <a:latin typeface="Calibri" pitchFamily="34" charset="0"/>
                <a:ea typeface="Calibri" pitchFamily="34" charset="-122"/>
                <a:cs typeface="Calibri" pitchFamily="34" charset="-120"/>
              </a:rPr>
              <a:t>The Holocaust and the bombing of Hiroshima and Nagasaki had shaken moral certainties</a:t>
            </a:r>
            <a:endParaRPr lang="en-US" sz="1250" dirty="0"/>
          </a:p>
        </p:txBody>
      </p:sp>
      <p:sp>
        <p:nvSpPr>
          <p:cNvPr id="9" name="Shape 7"/>
          <p:cNvSpPr/>
          <p:nvPr/>
        </p:nvSpPr>
        <p:spPr>
          <a:xfrm>
            <a:off x="6277356" y="1508760"/>
            <a:ext cx="5362956" cy="4480560"/>
          </a:xfrm>
          <a:prstGeom prst="roundRect">
            <a:avLst>
              <a:gd name="adj" fmla="val 1633"/>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0" name="Text 8"/>
          <p:cNvSpPr/>
          <p:nvPr/>
        </p:nvSpPr>
        <p:spPr>
          <a:xfrm>
            <a:off x="6551676" y="1737360"/>
            <a:ext cx="4814316" cy="457200"/>
          </a:xfrm>
          <a:prstGeom prst="rect">
            <a:avLst/>
          </a:prstGeom>
          <a:noFill/>
          <a:ln/>
        </p:spPr>
        <p:txBody>
          <a:bodyPr wrap="square" lIns="0" tIns="0" rIns="0" bIns="0" rtlCol="0" anchor="ctr"/>
          <a:lstStyle/>
          <a:p>
            <a:pPr indent="0" marL="0">
              <a:buNone/>
            </a:pPr>
            <a:r>
              <a:rPr lang="en-US" sz="1600" b="1" dirty="0">
                <a:solidFill>
                  <a:srgbClr val="1B2A52"/>
                </a:solidFill>
                <a:latin typeface="Cambria" pitchFamily="34" charset="0"/>
                <a:ea typeface="Cambria" pitchFamily="34" charset="-122"/>
                <a:cs typeface="Cambria" pitchFamily="34" charset="-120"/>
              </a:rPr>
              <a:t>Currents Reaching the Church</a:t>
            </a:r>
            <a:endParaRPr lang="en-US" sz="1600" dirty="0"/>
          </a:p>
        </p:txBody>
      </p:sp>
      <p:sp>
        <p:nvSpPr>
          <p:cNvPr id="11" name="Text 9"/>
          <p:cNvSpPr/>
          <p:nvPr/>
        </p:nvSpPr>
        <p:spPr>
          <a:xfrm>
            <a:off x="6551676" y="2286000"/>
            <a:ext cx="4814316" cy="2011680"/>
          </a:xfrm>
          <a:prstGeom prst="rect">
            <a:avLst/>
          </a:prstGeom>
          <a:noFill/>
          <a:ln/>
        </p:spPr>
        <p:txBody>
          <a:bodyPr wrap="square" lIns="0" tIns="0" rIns="0" bIns="0" rtlCol="0" anchor="ctr"/>
          <a:lstStyle/>
          <a:p>
            <a:pPr marL="177800" indent="-177800">
              <a:lnSpc>
                <a:spcPct val="120000"/>
              </a:lnSpc>
              <a:spcAft>
                <a:spcPts val="1000"/>
              </a:spcAft>
              <a:buSzPct val="100000"/>
              <a:buChar char="▪"/>
            </a:pPr>
            <a:r>
              <a:rPr lang="en-US" sz="1250" dirty="0">
                <a:solidFill>
                  <a:srgbClr val="23324E"/>
                </a:solidFill>
                <a:latin typeface="Calibri" pitchFamily="34" charset="0"/>
                <a:ea typeface="Calibri" pitchFamily="34" charset="-122"/>
                <a:cs typeface="Calibri" pitchFamily="34" charset="-120"/>
              </a:rPr>
              <a:t>The rise of secular humanism and modern liberal thought</a:t>
            </a:r>
            <a:endParaRPr lang="en-US" sz="1250" dirty="0"/>
          </a:p>
          <a:p>
            <a:pPr marL="177800" indent="-177800">
              <a:lnSpc>
                <a:spcPct val="120000"/>
              </a:lnSpc>
              <a:spcAft>
                <a:spcPts val="1000"/>
              </a:spcAft>
              <a:buSzPct val="100000"/>
              <a:buChar char="▪"/>
            </a:pPr>
            <a:r>
              <a:rPr lang="en-US" sz="1250" dirty="0">
                <a:solidFill>
                  <a:srgbClr val="23324E"/>
                </a:solidFill>
                <a:latin typeface="Calibri" pitchFamily="34" charset="0"/>
                <a:ea typeface="Calibri" pitchFamily="34" charset="-122"/>
                <a:cs typeface="Calibri" pitchFamily="34" charset="-120"/>
              </a:rPr>
              <a:t>Growing scientific rationalism challenging traditional worldviews</a:t>
            </a:r>
            <a:endParaRPr lang="en-US" sz="1250" dirty="0"/>
          </a:p>
          <a:p>
            <a:pPr marL="177800" indent="-177800">
              <a:lnSpc>
                <a:spcPct val="120000"/>
              </a:lnSpc>
              <a:spcAft>
                <a:spcPts val="1000"/>
              </a:spcAft>
              <a:buSzPct val="100000"/>
              <a:buChar char="▪"/>
            </a:pPr>
            <a:r>
              <a:rPr lang="en-US" sz="1250" dirty="0">
                <a:solidFill>
                  <a:srgbClr val="23324E"/>
                </a:solidFill>
                <a:latin typeface="Calibri" pitchFamily="34" charset="0"/>
                <a:ea typeface="Calibri" pitchFamily="34" charset="-122"/>
                <a:cs typeface="Calibri" pitchFamily="34" charset="-120"/>
              </a:rPr>
              <a:t>The first stirrings of the 1960s cultural shift</a:t>
            </a:r>
            <a:endParaRPr lang="en-US" sz="1250" dirty="0"/>
          </a:p>
        </p:txBody>
      </p:sp>
      <p:sp>
        <p:nvSpPr>
          <p:cNvPr id="12" name="Shape 10"/>
          <p:cNvSpPr/>
          <p:nvPr/>
        </p:nvSpPr>
        <p:spPr>
          <a:xfrm>
            <a:off x="6414516" y="4526280"/>
            <a:ext cx="5088636" cy="1280160"/>
          </a:xfrm>
          <a:prstGeom prst="roundRect">
            <a:avLst>
              <a:gd name="adj" fmla="val 5714"/>
            </a:avLst>
          </a:prstGeom>
          <a:solidFill>
            <a:srgbClr val="E8DAAE"/>
          </a:solidFill>
          <a:ln w="12700">
            <a:solidFill>
              <a:srgbClr val="B8912F"/>
            </a:solidFill>
            <a:prstDash val="solid"/>
          </a:ln>
          <a:effectLst>
            <a:outerShdw sx="100000" sy="100000" kx="0" ky="0" algn="bl" rotWithShape="0" blurRad="76200" dist="25400" dir="5400000">
              <a:srgbClr val="1B2A52">
                <a:alpha val="18000"/>
              </a:srgbClr>
            </a:outerShdw>
          </a:effectLst>
        </p:spPr>
      </p:sp>
      <p:sp>
        <p:nvSpPr>
          <p:cNvPr id="13" name="Text 11"/>
          <p:cNvSpPr/>
          <p:nvPr/>
        </p:nvSpPr>
        <p:spPr>
          <a:xfrm>
            <a:off x="6643116" y="4663440"/>
            <a:ext cx="4631436" cy="1005840"/>
          </a:xfrm>
          <a:prstGeom prst="rect">
            <a:avLst/>
          </a:prstGeom>
          <a:noFill/>
          <a:ln/>
        </p:spPr>
        <p:txBody>
          <a:bodyPr wrap="square" lIns="0" tIns="0" rIns="0" bIns="0" rtlCol="0" anchor="ctr"/>
          <a:lstStyle/>
          <a:p>
            <a:pPr indent="0" marL="0">
              <a:lnSpc>
                <a:spcPct val="120000"/>
              </a:lnSpc>
              <a:buNone/>
            </a:pPr>
            <a:r>
              <a:rPr lang="en-US" sz="1150" i="1" dirty="0">
                <a:solidFill>
                  <a:srgbClr val="1B2A52"/>
                </a:solidFill>
                <a:latin typeface="Calibri" pitchFamily="34" charset="0"/>
                <a:ea typeface="Calibri" pitchFamily="34" charset="-122"/>
                <a:cs typeface="Calibri" pitchFamily="34" charset="-120"/>
              </a:rPr>
              <a:t>It was against this unsettled backdrop — not in a vacuum — that Pope John XXIII discerned the need for a council to re-present the Gospel to the modern age.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HISTORICAL CONTEXT</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The Church on the Eve of the Council</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600200"/>
            <a:ext cx="5362956" cy="4297680"/>
          </a:xfrm>
          <a:prstGeom prst="roundRect">
            <a:avLst>
              <a:gd name="adj" fmla="val 1702"/>
            </a:avLst>
          </a:prstGeom>
          <a:solidFill>
            <a:srgbClr val="EFF3ED"/>
          </a:solidFill>
          <a:ln w="12700">
            <a:solidFill>
              <a:srgbClr val="CBDFC4"/>
            </a:solidFill>
            <a:prstDash val="solid"/>
          </a:ln>
          <a:effectLst>
            <a:outerShdw sx="100000" sy="100000" kx="0" ky="0" algn="bl" rotWithShape="0" blurRad="76200" dist="25400" dir="5400000">
              <a:srgbClr val="1B2A52">
                <a:alpha val="18000"/>
              </a:srgbClr>
            </a:outerShdw>
          </a:effectLst>
        </p:spPr>
      </p:sp>
      <p:sp>
        <p:nvSpPr>
          <p:cNvPr id="7" name="Shape 5"/>
          <p:cNvSpPr/>
          <p:nvPr/>
        </p:nvSpPr>
        <p:spPr>
          <a:xfrm>
            <a:off x="822960" y="1828800"/>
            <a:ext cx="502920" cy="502920"/>
          </a:xfrm>
          <a:prstGeom prst="ellipse">
            <a:avLst/>
          </a:prstGeom>
          <a:solidFill>
            <a:srgbClr val="3E7A3E"/>
          </a:solidFill>
          <a:ln/>
        </p:spPr>
      </p:sp>
      <p:sp>
        <p:nvSpPr>
          <p:cNvPr id="8" name="Text 6"/>
          <p:cNvSpPr/>
          <p:nvPr/>
        </p:nvSpPr>
        <p:spPr>
          <a:xfrm>
            <a:off x="822960" y="18288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t>
            </a:r>
            <a:endParaRPr lang="en-US" sz="1200" dirty="0"/>
          </a:p>
        </p:txBody>
      </p:sp>
      <p:sp>
        <p:nvSpPr>
          <p:cNvPr id="9" name="Text 7"/>
          <p:cNvSpPr/>
          <p:nvPr/>
        </p:nvSpPr>
        <p:spPr>
          <a:xfrm>
            <a:off x="1463040" y="1847088"/>
            <a:ext cx="4174236" cy="45720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On the Surface: Robust</a:t>
            </a:r>
            <a:endParaRPr lang="en-US" sz="1600" dirty="0"/>
          </a:p>
        </p:txBody>
      </p:sp>
      <p:sp>
        <p:nvSpPr>
          <p:cNvPr id="10" name="Text 8"/>
          <p:cNvSpPr/>
          <p:nvPr/>
        </p:nvSpPr>
        <p:spPr>
          <a:xfrm>
            <a:off x="868680" y="2514600"/>
            <a:ext cx="4722876" cy="3108960"/>
          </a:xfrm>
          <a:prstGeom prst="rect">
            <a:avLst/>
          </a:prstGeom>
          <a:noFill/>
          <a:ln/>
        </p:spPr>
        <p:txBody>
          <a:bodyPr wrap="square" lIns="0" tIns="0" rIns="0" bIns="0" rtlCol="0" anchor="ctr"/>
          <a:lstStyle/>
          <a:p>
            <a:pPr marL="177800" indent="-177800">
              <a:lnSpc>
                <a:spcPct val="125000"/>
              </a:lnSpc>
              <a:spcAft>
                <a:spcPts val="1200"/>
              </a:spcAft>
              <a:buSzPct val="100000"/>
              <a:buChar char="▪"/>
            </a:pPr>
            <a:r>
              <a:rPr lang="en-US" sz="1300" dirty="0">
                <a:solidFill>
                  <a:srgbClr val="23324E"/>
                </a:solidFill>
                <a:latin typeface="Calibri" pitchFamily="34" charset="0"/>
                <a:ea typeface="Calibri" pitchFamily="34" charset="-122"/>
                <a:cs typeface="Calibri" pitchFamily="34" charset="-120"/>
              </a:rPr>
              <a:t>High Mass attendance across most of the Catholic world</a:t>
            </a:r>
            <a:endParaRPr lang="en-US" sz="1300" dirty="0"/>
          </a:p>
          <a:p>
            <a:pPr marL="177800" indent="-177800">
              <a:lnSpc>
                <a:spcPct val="125000"/>
              </a:lnSpc>
              <a:spcAft>
                <a:spcPts val="1200"/>
              </a:spcAft>
              <a:buSzPct val="100000"/>
              <a:buChar char="▪"/>
            </a:pPr>
            <a:r>
              <a:rPr lang="en-US" sz="1300" dirty="0">
                <a:solidFill>
                  <a:srgbClr val="23324E"/>
                </a:solidFill>
                <a:latin typeface="Calibri" pitchFamily="34" charset="0"/>
                <a:ea typeface="Calibri" pitchFamily="34" charset="-122"/>
                <a:cs typeface="Calibri" pitchFamily="34" charset="-120"/>
              </a:rPr>
              <a:t>Booming vocations, especially in the United States</a:t>
            </a:r>
            <a:endParaRPr lang="en-US" sz="1300" dirty="0"/>
          </a:p>
          <a:p>
            <a:pPr marL="177800" indent="-177800">
              <a:lnSpc>
                <a:spcPct val="125000"/>
              </a:lnSpc>
              <a:spcAft>
                <a:spcPts val="1200"/>
              </a:spcAft>
              <a:buSzPct val="100000"/>
              <a:buChar char="▪"/>
            </a:pPr>
            <a:r>
              <a:rPr lang="en-US" sz="1300" dirty="0">
                <a:solidFill>
                  <a:srgbClr val="23324E"/>
                </a:solidFill>
                <a:latin typeface="Calibri" pitchFamily="34" charset="0"/>
                <a:ea typeface="Calibri" pitchFamily="34" charset="-122"/>
                <a:cs typeface="Calibri" pitchFamily="34" charset="-120"/>
              </a:rPr>
              <a:t>Institutional stability and confident structures</a:t>
            </a:r>
            <a:endParaRPr lang="en-US" sz="1300" dirty="0"/>
          </a:p>
        </p:txBody>
      </p:sp>
      <p:sp>
        <p:nvSpPr>
          <p:cNvPr id="11" name="Shape 9"/>
          <p:cNvSpPr/>
          <p:nvPr/>
        </p:nvSpPr>
        <p:spPr>
          <a:xfrm>
            <a:off x="6277356" y="1600200"/>
            <a:ext cx="5362956" cy="4297680"/>
          </a:xfrm>
          <a:prstGeom prst="roundRect">
            <a:avLst>
              <a:gd name="adj" fmla="val 1702"/>
            </a:avLst>
          </a:prstGeom>
          <a:solidFill>
            <a:srgbClr val="F5EAEA"/>
          </a:solidFill>
          <a:ln w="12700">
            <a:solidFill>
              <a:srgbClr val="E0B9BC"/>
            </a:solidFill>
            <a:prstDash val="solid"/>
          </a:ln>
          <a:effectLst>
            <a:outerShdw sx="100000" sy="100000" kx="0" ky="0" algn="bl" rotWithShape="0" blurRad="76200" dist="25400" dir="5400000">
              <a:srgbClr val="1B2A52">
                <a:alpha val="18000"/>
              </a:srgbClr>
            </a:outerShdw>
          </a:effectLst>
        </p:spPr>
      </p:sp>
      <p:sp>
        <p:nvSpPr>
          <p:cNvPr id="12" name="Shape 10"/>
          <p:cNvSpPr/>
          <p:nvPr/>
        </p:nvSpPr>
        <p:spPr>
          <a:xfrm>
            <a:off x="6551676" y="1828800"/>
            <a:ext cx="502920" cy="502920"/>
          </a:xfrm>
          <a:prstGeom prst="ellipse">
            <a:avLst/>
          </a:prstGeom>
          <a:solidFill>
            <a:srgbClr val="7A1B2E"/>
          </a:solidFill>
          <a:ln/>
        </p:spPr>
      </p:sp>
      <p:sp>
        <p:nvSpPr>
          <p:cNvPr id="13" name="Text 11"/>
          <p:cNvSpPr/>
          <p:nvPr/>
        </p:nvSpPr>
        <p:spPr>
          <a:xfrm>
            <a:off x="6551676" y="18288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t>
            </a:r>
            <a:endParaRPr lang="en-US" sz="1200" dirty="0"/>
          </a:p>
        </p:txBody>
      </p:sp>
      <p:sp>
        <p:nvSpPr>
          <p:cNvPr id="14" name="Text 12"/>
          <p:cNvSpPr/>
          <p:nvPr/>
        </p:nvSpPr>
        <p:spPr>
          <a:xfrm>
            <a:off x="7191756" y="1847088"/>
            <a:ext cx="4174236" cy="457200"/>
          </a:xfrm>
          <a:prstGeom prst="rect">
            <a:avLst/>
          </a:prstGeom>
          <a:noFill/>
          <a:ln/>
        </p:spPr>
        <p:txBody>
          <a:bodyPr wrap="square" lIns="0" tIns="0" rIns="0" bIns="0" rtlCol="0" anchor="ctr"/>
          <a:lstStyle/>
          <a:p>
            <a:pPr indent="0" marL="0">
              <a:buNone/>
            </a:pPr>
            <a:r>
              <a:rPr lang="en-US" sz="1600" b="1" dirty="0">
                <a:solidFill>
                  <a:srgbClr val="7A1B2E"/>
                </a:solidFill>
                <a:latin typeface="Cambria" pitchFamily="34" charset="0"/>
                <a:ea typeface="Cambria" pitchFamily="34" charset="-122"/>
                <a:cs typeface="Cambria" pitchFamily="34" charset="-120"/>
              </a:rPr>
              <a:t>Beneath the Surface: Rigid</a:t>
            </a:r>
            <a:endParaRPr lang="en-US" sz="1600" dirty="0"/>
          </a:p>
        </p:txBody>
      </p:sp>
      <p:sp>
        <p:nvSpPr>
          <p:cNvPr id="15" name="Text 13"/>
          <p:cNvSpPr/>
          <p:nvPr/>
        </p:nvSpPr>
        <p:spPr>
          <a:xfrm>
            <a:off x="6597396" y="2514600"/>
            <a:ext cx="4722876" cy="3108960"/>
          </a:xfrm>
          <a:prstGeom prst="rect">
            <a:avLst/>
          </a:prstGeom>
          <a:noFill/>
          <a:ln/>
        </p:spPr>
        <p:txBody>
          <a:bodyPr wrap="square" lIns="0" tIns="0" rIns="0" bIns="0" rtlCol="0" anchor="ctr"/>
          <a:lstStyle/>
          <a:p>
            <a:pPr marL="177800" indent="-177800">
              <a:lnSpc>
                <a:spcPct val="120000"/>
              </a:lnSpc>
              <a:spcAft>
                <a:spcPts val="1000"/>
              </a:spcAft>
              <a:buSzPct val="100000"/>
              <a:buChar char="▪"/>
            </a:pPr>
            <a:r>
              <a:rPr lang="en-US" sz="1300" dirty="0">
                <a:solidFill>
                  <a:srgbClr val="23324E"/>
                </a:solidFill>
                <a:latin typeface="Calibri" pitchFamily="34" charset="0"/>
                <a:ea typeface="Calibri" pitchFamily="34" charset="-122"/>
                <a:cs typeface="Calibri" pitchFamily="34" charset="-120"/>
              </a:rPr>
              <a:t>Juridicism — a preoccupation with rules and laws</a:t>
            </a:r>
            <a:endParaRPr lang="en-US" sz="1300" dirty="0"/>
          </a:p>
          <a:p>
            <a:pPr marL="177800" indent="-177800">
              <a:lnSpc>
                <a:spcPct val="120000"/>
              </a:lnSpc>
              <a:spcAft>
                <a:spcPts val="1000"/>
              </a:spcAft>
              <a:buSzPct val="100000"/>
              <a:buChar char="▪"/>
            </a:pPr>
            <a:r>
              <a:rPr lang="en-US" sz="1300" dirty="0">
                <a:solidFill>
                  <a:srgbClr val="23324E"/>
                </a:solidFill>
                <a:latin typeface="Calibri" pitchFamily="34" charset="0"/>
                <a:ea typeface="Calibri" pitchFamily="34" charset="-122"/>
                <a:cs typeface="Calibri" pitchFamily="34" charset="-120"/>
              </a:rPr>
              <a:t>Clericalism — overemphasis on clerical authority</a:t>
            </a:r>
            <a:endParaRPr lang="en-US" sz="1300" dirty="0"/>
          </a:p>
          <a:p>
            <a:pPr marL="177800" indent="-177800">
              <a:lnSpc>
                <a:spcPct val="120000"/>
              </a:lnSpc>
              <a:spcAft>
                <a:spcPts val="1000"/>
              </a:spcAft>
              <a:buSzPct val="100000"/>
              <a:buChar char="▪"/>
            </a:pPr>
            <a:r>
              <a:rPr lang="en-US" sz="1300" dirty="0">
                <a:solidFill>
                  <a:srgbClr val="23324E"/>
                </a:solidFill>
                <a:latin typeface="Calibri" pitchFamily="34" charset="0"/>
                <a:ea typeface="Calibri" pitchFamily="34" charset="-122"/>
                <a:cs typeface="Calibri" pitchFamily="34" charset="-120"/>
              </a:rPr>
              <a:t>Triumphalism — a fortress mentality toward the modern world</a:t>
            </a:r>
            <a:endParaRPr lang="en-US" sz="1300" dirty="0"/>
          </a:p>
          <a:p>
            <a:pPr marL="177800" indent="-177800">
              <a:lnSpc>
                <a:spcPct val="120000"/>
              </a:lnSpc>
              <a:spcAft>
                <a:spcPts val="1000"/>
              </a:spcAft>
              <a:buSzPct val="100000"/>
              <a:buChar char="▪"/>
            </a:pPr>
            <a:r>
              <a:rPr lang="en-US" sz="1300" dirty="0">
                <a:solidFill>
                  <a:srgbClr val="23324E"/>
                </a:solidFill>
                <a:latin typeface="Calibri" pitchFamily="34" charset="0"/>
                <a:ea typeface="Calibri" pitchFamily="34" charset="-122"/>
                <a:cs typeface="Calibri" pitchFamily="34" charset="-120"/>
              </a:rPr>
              <a:t>A quiet sense the Church was becoming “a thing of the past”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PRELUDE</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Vatican II as Completion of Unfinished Business</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508760"/>
            <a:ext cx="3749040" cy="4480560"/>
          </a:xfrm>
          <a:prstGeom prst="roundRect">
            <a:avLst>
              <a:gd name="adj" fmla="val 1951"/>
            </a:avLst>
          </a:prstGeom>
          <a:solidFill>
            <a:srgbClr val="1B2A52"/>
          </a:solidFill>
          <a:ln w="12700">
            <a:solidFill>
              <a:srgbClr val="1B2A52"/>
            </a:solidFill>
            <a:prstDash val="solid"/>
          </a:ln>
          <a:effectLst>
            <a:outerShdw sx="100000" sy="100000" kx="0" ky="0" algn="bl" rotWithShape="0" blurRad="76200" dist="25400" dir="5400000">
              <a:srgbClr val="1B2A52">
                <a:alpha val="18000"/>
              </a:srgbClr>
            </a:outerShdw>
          </a:effectLst>
        </p:spPr>
      </p:sp>
      <p:sp>
        <p:nvSpPr>
          <p:cNvPr id="7" name="Text 5"/>
          <p:cNvSpPr/>
          <p:nvPr/>
        </p:nvSpPr>
        <p:spPr>
          <a:xfrm>
            <a:off x="822960" y="1691640"/>
            <a:ext cx="3200400" cy="411480"/>
          </a:xfrm>
          <a:prstGeom prst="rect">
            <a:avLst/>
          </a:prstGeom>
          <a:noFill/>
          <a:ln/>
        </p:spPr>
        <p:txBody>
          <a:bodyPr wrap="square" lIns="0" tIns="0" rIns="0" bIns="0" rtlCol="0" anchor="ctr"/>
          <a:lstStyle/>
          <a:p>
            <a:pPr indent="0" marL="0">
              <a:buNone/>
            </a:pPr>
            <a:r>
              <a:rPr lang="en-US" sz="1600" b="1" dirty="0">
                <a:solidFill>
                  <a:srgbClr val="B8912F"/>
                </a:solidFill>
                <a:latin typeface="Cambria" pitchFamily="34" charset="0"/>
                <a:ea typeface="Cambria" pitchFamily="34" charset="-122"/>
                <a:cs typeface="Cambria" pitchFamily="34" charset="-120"/>
              </a:rPr>
              <a:t>Vatican I, 1869–1870</a:t>
            </a:r>
            <a:endParaRPr lang="en-US" sz="1600" dirty="0"/>
          </a:p>
        </p:txBody>
      </p:sp>
      <p:sp>
        <p:nvSpPr>
          <p:cNvPr id="8" name="Text 6"/>
          <p:cNvSpPr/>
          <p:nvPr/>
        </p:nvSpPr>
        <p:spPr>
          <a:xfrm>
            <a:off x="822960" y="2194560"/>
            <a:ext cx="3246120" cy="3657600"/>
          </a:xfrm>
          <a:prstGeom prst="rect">
            <a:avLst/>
          </a:prstGeom>
          <a:noFill/>
          <a:ln/>
        </p:spPr>
        <p:txBody>
          <a:bodyPr wrap="square" lIns="0" tIns="0" rIns="0" bIns="0" rtlCol="0" anchor="ctr"/>
          <a:lstStyle/>
          <a:p>
            <a:pPr marL="177800" indent="-177800">
              <a:lnSpc>
                <a:spcPct val="1200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Convened by Pope Pius IX on December 8, 1869</a:t>
            </a:r>
            <a:endParaRPr lang="en-US" sz="1150" dirty="0"/>
          </a:p>
          <a:p>
            <a:pPr marL="177800" indent="-177800">
              <a:lnSpc>
                <a:spcPct val="1200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Interrupted by the outbreak of the Franco-Prussian War in 1870</a:t>
            </a:r>
            <a:endParaRPr lang="en-US" sz="1150" dirty="0"/>
          </a:p>
          <a:p>
            <a:pPr marL="177800" indent="-177800">
              <a:lnSpc>
                <a:spcPct val="1200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Never formally closed until Vatican II opened in 1962</a:t>
            </a:r>
            <a:endParaRPr lang="en-US" sz="1150" dirty="0"/>
          </a:p>
          <a:p>
            <a:pPr marL="177800" indent="-177800">
              <a:lnSpc>
                <a:spcPct val="1200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Defined papal primacy and infallibility in Pastor Aeternus</a:t>
            </a:r>
            <a:endParaRPr lang="en-US" sz="1150" dirty="0"/>
          </a:p>
          <a:p>
            <a:pPr marL="177800" indent="-177800">
              <a:lnSpc>
                <a:spcPct val="1200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Left the role of bishops, and their relationship to the Pope, undefined — an imbalanced, papacy-centered ecclesiology</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0" y="1508760"/>
          <a:ext cx="7068312" cy="914400"/>
        </p:xfrm>
        <a:graphic>
          <a:graphicData uri="http://schemas.openxmlformats.org/drawingml/2006/table">
            <a:tbl>
              <a:tblPr/>
              <a:tblGrid>
                <a:gridCol w="2968691"/>
                <a:gridCol w="4099621"/>
              </a:tblGrid>
              <a:tr h="566928">
                <a:tc>
                  <a:txBody>
                    <a:bodyPr/>
                    <a:lstStyle/>
                    <a:p>
                      <a:pPr indent="0" marL="0">
                        <a:buNone/>
                      </a:pPr>
                      <a:r>
                        <a:rPr lang="en-US" sz="1080" b="1" dirty="0">
                          <a:solidFill>
                            <a:srgbClr val="FFFFFF"/>
                          </a:solidFill>
                          <a:latin typeface="Calibri" pitchFamily="34" charset="0"/>
                          <a:ea typeface="Calibri" pitchFamily="34" charset="-122"/>
                          <a:cs typeface="Calibri" pitchFamily="34" charset="-120"/>
                        </a:rPr>
                        <a:t>Vatican I</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7A1B2E"/>
                    </a:solidFill>
                  </a:tcPr>
                </a:tc>
                <a:tc>
                  <a:txBody>
                    <a:bodyPr/>
                    <a:lstStyle/>
                    <a:p>
                      <a:pPr indent="0" marL="0">
                        <a:buNone/>
                      </a:pPr>
                      <a:r>
                        <a:rPr lang="en-US" sz="1080" b="1" dirty="0">
                          <a:solidFill>
                            <a:srgbClr val="FFFFFF"/>
                          </a:solidFill>
                          <a:latin typeface="Calibri" pitchFamily="34" charset="0"/>
                          <a:ea typeface="Calibri" pitchFamily="34" charset="-122"/>
                          <a:cs typeface="Calibri" pitchFamily="34" charset="-120"/>
                        </a:rPr>
                        <a:t>Vatican II</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7A1B2E"/>
                    </a:solidFill>
                  </a:tcPr>
                </a:tc>
              </a:tr>
              <a:tr h="566928">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Defined papal primacy</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Added collegiality — bishops govern with the Pope</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FFFFF"/>
                    </a:solidFill>
                  </a:tcPr>
                </a:tc>
              </a:tr>
              <a:tr h="566928">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Pyramidal structure, Pope at the apex</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Communion model — Church as “People of God”</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3F1E8"/>
                    </a:solidFill>
                  </a:tcPr>
                </a:tc>
              </a:tr>
              <a:tr h="566928">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Defensive, reactive posture</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Dialogical, pastoral approach</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FFFFF"/>
                    </a:solidFill>
                  </a:tcPr>
                </a:tc>
              </a:tr>
              <a:tr h="566928">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Issued anathemas (condemnations)</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Preferred the “medicine of mercy”</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3F1E8"/>
                    </a:solidFill>
                  </a:tcPr>
                </a:tc>
              </a:tr>
              <a:tr h="566928">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Revelation as static propositions</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Revelation as dynamic, historical self-disclosure</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FFFFF"/>
                    </a:solidFill>
                  </a:tcPr>
                </a:tc>
              </a:tr>
              <a:tr h="566928">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~700 bishops, nearly all European</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80" dirty="0">
                          <a:solidFill>
                            <a:srgbClr val="23324E"/>
                          </a:solidFill>
                          <a:latin typeface="Calibri" pitchFamily="34" charset="0"/>
                          <a:ea typeface="Calibri" pitchFamily="34" charset="-122"/>
                          <a:cs typeface="Calibri" pitchFamily="34" charset="-120"/>
                        </a:rPr>
                        <a:t>2,900+ bishops from every continent</a:t>
                      </a:r>
                      <a:endParaRPr lang="en-US" sz="1080" dirty="0">
                        <a:latin typeface="Calibri" charset="0"/>
                        <a:ea typeface="Calibri" charset="0"/>
                        <a:cs typeface="Calibri" charset="0"/>
                      </a:endParaRPr>
                    </a:p>
                  </a:txBody>
                  <a:tcPr marL="101600" marR="1016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3F1E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PRELUDE</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Pre-Conciliar Movements</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548640" y="1371600"/>
            <a:ext cx="11091672" cy="320040"/>
          </a:xfrm>
          <a:prstGeom prst="rect">
            <a:avLst/>
          </a:prstGeom>
          <a:noFill/>
          <a:ln/>
        </p:spPr>
        <p:txBody>
          <a:bodyPr wrap="square" lIns="0" tIns="0" rIns="0" bIns="0" rtlCol="0" anchor="ctr"/>
          <a:lstStyle/>
          <a:p>
            <a:pPr indent="0" marL="0">
              <a:buNone/>
            </a:pPr>
            <a:r>
              <a:rPr lang="en-US" sz="1300" i="1" dirty="0">
                <a:solidFill>
                  <a:srgbClr val="5C6B85"/>
                </a:solidFill>
                <a:latin typeface="Calibri" pitchFamily="34" charset="0"/>
                <a:ea typeface="Calibri" pitchFamily="34" charset="-122"/>
                <a:cs typeface="Calibri" pitchFamily="34" charset="-120"/>
              </a:rPr>
              <a:t>The theological ferment that made Vatican II possible</a:t>
            </a:r>
            <a:endParaRPr lang="en-US" sz="1300" dirty="0"/>
          </a:p>
        </p:txBody>
      </p:sp>
      <p:sp>
        <p:nvSpPr>
          <p:cNvPr id="7" name="Shape 5"/>
          <p:cNvSpPr/>
          <p:nvPr/>
        </p:nvSpPr>
        <p:spPr>
          <a:xfrm>
            <a:off x="548640" y="1874520"/>
            <a:ext cx="3514344" cy="3566160"/>
          </a:xfrm>
          <a:prstGeom prst="roundRect">
            <a:avLst>
              <a:gd name="adj" fmla="val 2082"/>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8" name="Shape 6"/>
          <p:cNvSpPr/>
          <p:nvPr/>
        </p:nvSpPr>
        <p:spPr>
          <a:xfrm>
            <a:off x="777240" y="2103120"/>
            <a:ext cx="548640" cy="548640"/>
          </a:xfrm>
          <a:prstGeom prst="ellipse">
            <a:avLst/>
          </a:prstGeom>
          <a:solidFill>
            <a:srgbClr val="7A1B2E"/>
          </a:solidFill>
          <a:ln/>
        </p:spPr>
      </p:sp>
      <p:sp>
        <p:nvSpPr>
          <p:cNvPr id="9" name="Text 7"/>
          <p:cNvSpPr/>
          <p:nvPr/>
        </p:nvSpPr>
        <p:spPr>
          <a:xfrm>
            <a:off x="777240" y="21031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777240" y="2788920"/>
            <a:ext cx="3057144" cy="640080"/>
          </a:xfrm>
          <a:prstGeom prst="rect">
            <a:avLst/>
          </a:prstGeom>
          <a:noFill/>
          <a:ln/>
        </p:spPr>
        <p:txBody>
          <a:bodyPr wrap="square" lIns="0" tIns="0" rIns="0" bIns="0" rtlCol="0" anchor="ctr"/>
          <a:lstStyle/>
          <a:p>
            <a:pPr indent="0" marL="0">
              <a:lnSpc>
                <a:spcPct val="110000"/>
              </a:lnSpc>
              <a:buNone/>
            </a:pPr>
            <a:r>
              <a:rPr lang="en-US" sz="1450" b="1" dirty="0">
                <a:solidFill>
                  <a:srgbClr val="1B2A52"/>
                </a:solidFill>
                <a:latin typeface="Cambria" pitchFamily="34" charset="0"/>
                <a:ea typeface="Cambria" pitchFamily="34" charset="-122"/>
                <a:cs typeface="Cambria" pitchFamily="34" charset="-120"/>
              </a:rPr>
              <a:t>The Liturgical Movement</a:t>
            </a:r>
            <a:endParaRPr lang="en-US" sz="1450" dirty="0"/>
          </a:p>
        </p:txBody>
      </p:sp>
      <p:sp>
        <p:nvSpPr>
          <p:cNvPr id="11" name="Text 9"/>
          <p:cNvSpPr/>
          <p:nvPr/>
        </p:nvSpPr>
        <p:spPr>
          <a:xfrm>
            <a:off x="777240" y="3429000"/>
            <a:ext cx="3057144" cy="1554480"/>
          </a:xfrm>
          <a:prstGeom prst="rect">
            <a:avLst/>
          </a:prstGeom>
          <a:noFill/>
          <a:ln/>
        </p:spPr>
        <p:txBody>
          <a:bodyPr wrap="square" lIns="0" tIns="0" rIns="0" bIns="0" rtlCol="0" anchor="ctr"/>
          <a:lstStyle/>
          <a:p>
            <a:pPr indent="0" marL="0">
              <a:lnSpc>
                <a:spcPct val="125000"/>
              </a:lnSpc>
              <a:buNone/>
            </a:pPr>
            <a:r>
              <a:rPr lang="en-US" sz="1150" dirty="0">
                <a:solidFill>
                  <a:srgbClr val="23324E"/>
                </a:solidFill>
                <a:latin typeface="Calibri" pitchFamily="34" charset="0"/>
                <a:ea typeface="Calibri" pitchFamily="34" charset="-122"/>
                <a:cs typeface="Calibri" pitchFamily="34" charset="-120"/>
              </a:rPr>
              <a:t>Advocated active participation of the laity in worship and emphasized the communal nature of the Mass.</a:t>
            </a:r>
            <a:endParaRPr lang="en-US" sz="1150" dirty="0"/>
          </a:p>
        </p:txBody>
      </p:sp>
      <p:sp>
        <p:nvSpPr>
          <p:cNvPr id="12" name="Text 10"/>
          <p:cNvSpPr/>
          <p:nvPr/>
        </p:nvSpPr>
        <p:spPr>
          <a:xfrm>
            <a:off x="777240" y="5029200"/>
            <a:ext cx="3057144" cy="320040"/>
          </a:xfrm>
          <a:prstGeom prst="rect">
            <a:avLst/>
          </a:prstGeom>
          <a:noFill/>
          <a:ln/>
        </p:spPr>
        <p:txBody>
          <a:bodyPr wrap="square" lIns="0" tIns="0" rIns="0" bIns="0" rtlCol="0" anchor="ctr"/>
          <a:lstStyle/>
          <a:p>
            <a:pPr indent="0" marL="0">
              <a:buNone/>
            </a:pPr>
            <a:r>
              <a:rPr lang="en-US" sz="1000" i="1" dirty="0">
                <a:solidFill>
                  <a:srgbClr val="B8912F"/>
                </a:solidFill>
                <a:latin typeface="Calibri" pitchFamily="34" charset="0"/>
                <a:ea typeface="Calibri" pitchFamily="34" charset="-122"/>
                <a:cs typeface="Calibri" pitchFamily="34" charset="-120"/>
              </a:rPr>
              <a:t>Dom Prosper Guéranger · Virgil Michel · Romano Guardini</a:t>
            </a:r>
            <a:endParaRPr lang="en-US" sz="1000" dirty="0"/>
          </a:p>
        </p:txBody>
      </p:sp>
      <p:sp>
        <p:nvSpPr>
          <p:cNvPr id="13" name="Shape 11"/>
          <p:cNvSpPr/>
          <p:nvPr/>
        </p:nvSpPr>
        <p:spPr>
          <a:xfrm>
            <a:off x="4337304" y="1874520"/>
            <a:ext cx="3514344" cy="3566160"/>
          </a:xfrm>
          <a:prstGeom prst="roundRect">
            <a:avLst>
              <a:gd name="adj" fmla="val 2082"/>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4" name="Shape 12"/>
          <p:cNvSpPr/>
          <p:nvPr/>
        </p:nvSpPr>
        <p:spPr>
          <a:xfrm>
            <a:off x="4565904" y="2103120"/>
            <a:ext cx="548640" cy="548640"/>
          </a:xfrm>
          <a:prstGeom prst="ellipse">
            <a:avLst/>
          </a:prstGeom>
          <a:solidFill>
            <a:srgbClr val="7A1B2E"/>
          </a:solidFill>
          <a:ln/>
        </p:spPr>
      </p:sp>
      <p:sp>
        <p:nvSpPr>
          <p:cNvPr id="15" name="Text 13"/>
          <p:cNvSpPr/>
          <p:nvPr/>
        </p:nvSpPr>
        <p:spPr>
          <a:xfrm>
            <a:off x="4565904" y="21031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4"/>
          <p:cNvSpPr/>
          <p:nvPr/>
        </p:nvSpPr>
        <p:spPr>
          <a:xfrm>
            <a:off x="4565904" y="2788920"/>
            <a:ext cx="3057144" cy="640080"/>
          </a:xfrm>
          <a:prstGeom prst="rect">
            <a:avLst/>
          </a:prstGeom>
          <a:noFill/>
          <a:ln/>
        </p:spPr>
        <p:txBody>
          <a:bodyPr wrap="square" lIns="0" tIns="0" rIns="0" bIns="0" rtlCol="0" anchor="ctr"/>
          <a:lstStyle/>
          <a:p>
            <a:pPr indent="0" marL="0">
              <a:lnSpc>
                <a:spcPct val="110000"/>
              </a:lnSpc>
              <a:buNone/>
            </a:pPr>
            <a:r>
              <a:rPr lang="en-US" sz="1450" b="1" dirty="0">
                <a:solidFill>
                  <a:srgbClr val="1B2A52"/>
                </a:solidFill>
                <a:latin typeface="Cambria" pitchFamily="34" charset="0"/>
                <a:ea typeface="Cambria" pitchFamily="34" charset="-122"/>
                <a:cs typeface="Cambria" pitchFamily="34" charset="-120"/>
              </a:rPr>
              <a:t>The Biblical Movement</a:t>
            </a:r>
            <a:endParaRPr lang="en-US" sz="1450" dirty="0"/>
          </a:p>
        </p:txBody>
      </p:sp>
      <p:sp>
        <p:nvSpPr>
          <p:cNvPr id="17" name="Text 15"/>
          <p:cNvSpPr/>
          <p:nvPr/>
        </p:nvSpPr>
        <p:spPr>
          <a:xfrm>
            <a:off x="4565904" y="3429000"/>
            <a:ext cx="3057144" cy="1554480"/>
          </a:xfrm>
          <a:prstGeom prst="rect">
            <a:avLst/>
          </a:prstGeom>
          <a:noFill/>
          <a:ln/>
        </p:spPr>
        <p:txBody>
          <a:bodyPr wrap="square" lIns="0" tIns="0" rIns="0" bIns="0" rtlCol="0" anchor="ctr"/>
          <a:lstStyle/>
          <a:p>
            <a:pPr indent="0" marL="0">
              <a:lnSpc>
                <a:spcPct val="125000"/>
              </a:lnSpc>
              <a:buNone/>
            </a:pPr>
            <a:r>
              <a:rPr lang="en-US" sz="1150" dirty="0">
                <a:solidFill>
                  <a:srgbClr val="23324E"/>
                </a:solidFill>
                <a:latin typeface="Calibri" pitchFamily="34" charset="0"/>
                <a:ea typeface="Calibri" pitchFamily="34" charset="-122"/>
                <a:cs typeface="Calibri" pitchFamily="34" charset="-120"/>
              </a:rPr>
              <a:t>Pius XII's 1943 encyclical Divino Afflante Spiritu opened Catholic scholarship to modern methods of biblical criticism, restoring Scripture to the center of Catholic life.</a:t>
            </a:r>
            <a:endParaRPr lang="en-US" sz="1150" dirty="0"/>
          </a:p>
        </p:txBody>
      </p:sp>
      <p:sp>
        <p:nvSpPr>
          <p:cNvPr id="18" name="Text 16"/>
          <p:cNvSpPr/>
          <p:nvPr/>
        </p:nvSpPr>
        <p:spPr>
          <a:xfrm>
            <a:off x="4565904" y="5029200"/>
            <a:ext cx="3057144" cy="320040"/>
          </a:xfrm>
          <a:prstGeom prst="rect">
            <a:avLst/>
          </a:prstGeom>
          <a:noFill/>
          <a:ln/>
        </p:spPr>
        <p:txBody>
          <a:bodyPr wrap="square" lIns="0" tIns="0" rIns="0" bIns="0" rtlCol="0" anchor="ctr"/>
          <a:lstStyle/>
          <a:p>
            <a:pPr indent="0" marL="0">
              <a:buNone/>
            </a:pPr>
            <a:r>
              <a:rPr lang="en-US" sz="1000" i="1" dirty="0">
                <a:solidFill>
                  <a:srgbClr val="B8912F"/>
                </a:solidFill>
                <a:latin typeface="Calibri" pitchFamily="34" charset="0"/>
                <a:ea typeface="Calibri" pitchFamily="34" charset="-122"/>
                <a:cs typeface="Calibri" pitchFamily="34" charset="-120"/>
              </a:rPr>
              <a:t>Shaped by Divino Afflante Spiritu</a:t>
            </a:r>
            <a:endParaRPr lang="en-US" sz="1000" dirty="0"/>
          </a:p>
        </p:txBody>
      </p:sp>
      <p:sp>
        <p:nvSpPr>
          <p:cNvPr id="19" name="Shape 17"/>
          <p:cNvSpPr/>
          <p:nvPr/>
        </p:nvSpPr>
        <p:spPr>
          <a:xfrm>
            <a:off x="8125968" y="1874520"/>
            <a:ext cx="3514344" cy="3566160"/>
          </a:xfrm>
          <a:prstGeom prst="roundRect">
            <a:avLst>
              <a:gd name="adj" fmla="val 2082"/>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20" name="Shape 18"/>
          <p:cNvSpPr/>
          <p:nvPr/>
        </p:nvSpPr>
        <p:spPr>
          <a:xfrm>
            <a:off x="8354568" y="2103120"/>
            <a:ext cx="548640" cy="548640"/>
          </a:xfrm>
          <a:prstGeom prst="ellipse">
            <a:avLst/>
          </a:prstGeom>
          <a:solidFill>
            <a:srgbClr val="7A1B2E"/>
          </a:solidFill>
          <a:ln/>
        </p:spPr>
      </p:sp>
      <p:sp>
        <p:nvSpPr>
          <p:cNvPr id="21" name="Text 19"/>
          <p:cNvSpPr/>
          <p:nvPr/>
        </p:nvSpPr>
        <p:spPr>
          <a:xfrm>
            <a:off x="8354568" y="21031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20"/>
          <p:cNvSpPr/>
          <p:nvPr/>
        </p:nvSpPr>
        <p:spPr>
          <a:xfrm>
            <a:off x="8354568" y="2788920"/>
            <a:ext cx="3057144" cy="640080"/>
          </a:xfrm>
          <a:prstGeom prst="rect">
            <a:avLst/>
          </a:prstGeom>
          <a:noFill/>
          <a:ln/>
        </p:spPr>
        <p:txBody>
          <a:bodyPr wrap="square" lIns="0" tIns="0" rIns="0" bIns="0" rtlCol="0" anchor="ctr"/>
          <a:lstStyle/>
          <a:p>
            <a:pPr indent="0" marL="0">
              <a:lnSpc>
                <a:spcPct val="110000"/>
              </a:lnSpc>
              <a:buNone/>
            </a:pPr>
            <a:r>
              <a:rPr lang="en-US" sz="1450" b="1" dirty="0">
                <a:solidFill>
                  <a:srgbClr val="1B2A52"/>
                </a:solidFill>
                <a:latin typeface="Cambria" pitchFamily="34" charset="0"/>
                <a:ea typeface="Cambria" pitchFamily="34" charset="-122"/>
                <a:cs typeface="Cambria" pitchFamily="34" charset="-120"/>
              </a:rPr>
              <a:t>Ressourcement (Nouvelle Théologie)</a:t>
            </a:r>
            <a:endParaRPr lang="en-US" sz="1450" dirty="0"/>
          </a:p>
        </p:txBody>
      </p:sp>
      <p:sp>
        <p:nvSpPr>
          <p:cNvPr id="23" name="Text 21"/>
          <p:cNvSpPr/>
          <p:nvPr/>
        </p:nvSpPr>
        <p:spPr>
          <a:xfrm>
            <a:off x="8354568" y="3429000"/>
            <a:ext cx="3057144" cy="1554480"/>
          </a:xfrm>
          <a:prstGeom prst="rect">
            <a:avLst/>
          </a:prstGeom>
          <a:noFill/>
          <a:ln/>
        </p:spPr>
        <p:txBody>
          <a:bodyPr wrap="square" lIns="0" tIns="0" rIns="0" bIns="0" rtlCol="0" anchor="ctr"/>
          <a:lstStyle/>
          <a:p>
            <a:pPr indent="0" marL="0">
              <a:lnSpc>
                <a:spcPct val="125000"/>
              </a:lnSpc>
              <a:buNone/>
            </a:pPr>
            <a:r>
              <a:rPr lang="en-US" sz="1150" dirty="0">
                <a:solidFill>
                  <a:srgbClr val="23324E"/>
                </a:solidFill>
                <a:latin typeface="Calibri" pitchFamily="34" charset="0"/>
                <a:ea typeface="Calibri" pitchFamily="34" charset="-122"/>
                <a:cs typeface="Calibri" pitchFamily="34" charset="-120"/>
              </a:rPr>
              <a:t>French for “return to the sources.” Recovered the Fathers of the Church and moved beyond the rigid manuals of neo-scholastic theology.</a:t>
            </a:r>
            <a:endParaRPr lang="en-US" sz="1150" dirty="0"/>
          </a:p>
        </p:txBody>
      </p:sp>
      <p:sp>
        <p:nvSpPr>
          <p:cNvPr id="24" name="Text 22"/>
          <p:cNvSpPr/>
          <p:nvPr/>
        </p:nvSpPr>
        <p:spPr>
          <a:xfrm>
            <a:off x="8354568" y="5029200"/>
            <a:ext cx="3057144" cy="320040"/>
          </a:xfrm>
          <a:prstGeom prst="rect">
            <a:avLst/>
          </a:prstGeom>
          <a:noFill/>
          <a:ln/>
        </p:spPr>
        <p:txBody>
          <a:bodyPr wrap="square" lIns="0" tIns="0" rIns="0" bIns="0" rtlCol="0" anchor="ctr"/>
          <a:lstStyle/>
          <a:p>
            <a:pPr indent="0" marL="0">
              <a:buNone/>
            </a:pPr>
            <a:r>
              <a:rPr lang="en-US" sz="1000" i="1" dirty="0">
                <a:solidFill>
                  <a:srgbClr val="B8912F"/>
                </a:solidFill>
                <a:latin typeface="Calibri" pitchFamily="34" charset="0"/>
                <a:ea typeface="Calibri" pitchFamily="34" charset="-122"/>
                <a:cs typeface="Calibri" pitchFamily="34" charset="-120"/>
              </a:rPr>
              <a:t>Henri de Lubac · Yves Congar · Jean Daniélou</a:t>
            </a:r>
            <a:endParaRPr lang="en-US" sz="1000" dirty="0"/>
          </a:p>
        </p:txBody>
      </p:sp>
      <p:sp>
        <p:nvSpPr>
          <p:cNvPr id="25" name="Text 23"/>
          <p:cNvSpPr/>
          <p:nvPr/>
        </p:nvSpPr>
        <p:spPr>
          <a:xfrm>
            <a:off x="548640" y="5623560"/>
            <a:ext cx="11091672" cy="457200"/>
          </a:xfrm>
          <a:prstGeom prst="rect">
            <a:avLst/>
          </a:prstGeom>
          <a:noFill/>
          <a:ln/>
        </p:spPr>
        <p:txBody>
          <a:bodyPr wrap="square" lIns="0" tIns="0" rIns="0" bIns="0" rtlCol="0" anchor="ctr"/>
          <a:lstStyle/>
          <a:p>
            <a:pPr indent="0" marL="0">
              <a:buNone/>
            </a:pPr>
            <a:r>
              <a:rPr lang="en-US" sz="1100" i="1" dirty="0">
                <a:solidFill>
                  <a:srgbClr val="5C6B85"/>
                </a:solidFill>
                <a:latin typeface="Calibri" pitchFamily="34" charset="0"/>
                <a:ea typeface="Calibri" pitchFamily="34" charset="-122"/>
                <a:cs typeface="Calibri" pitchFamily="34" charset="-120"/>
              </a:rPr>
              <a:t>Pius XII himself had considered convening a council but ultimately decided against it. His encyclicals nonetheless prepared the ground Vatican II would build 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JANUARY 25, 1959</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The Surprise Announcement</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508760"/>
            <a:ext cx="4937760" cy="4480560"/>
          </a:xfrm>
          <a:prstGeom prst="roundRect">
            <a:avLst>
              <a:gd name="adj" fmla="val 1633"/>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7" name="Text 5"/>
          <p:cNvSpPr/>
          <p:nvPr/>
        </p:nvSpPr>
        <p:spPr>
          <a:xfrm>
            <a:off x="822960" y="1737360"/>
            <a:ext cx="4389120" cy="365760"/>
          </a:xfrm>
          <a:prstGeom prst="rect">
            <a:avLst/>
          </a:prstGeom>
          <a:noFill/>
          <a:ln/>
        </p:spPr>
        <p:txBody>
          <a:bodyPr wrap="square" lIns="0" tIns="0" rIns="0" bIns="0" rtlCol="0" anchor="ctr"/>
          <a:lstStyle/>
          <a:p>
            <a:pPr indent="0" marL="0">
              <a:buNone/>
            </a:pPr>
            <a:r>
              <a:rPr lang="en-US" sz="1450" b="1" dirty="0">
                <a:solidFill>
                  <a:srgbClr val="1B2A52"/>
                </a:solidFill>
                <a:latin typeface="Cambria" pitchFamily="34" charset="0"/>
                <a:ea typeface="Cambria" pitchFamily="34" charset="-122"/>
                <a:cs typeface="Cambria" pitchFamily="34" charset="-120"/>
              </a:rPr>
              <a:t>Basilica of St. Paul Outside the Walls, Rome</a:t>
            </a:r>
            <a:endParaRPr lang="en-US" sz="1450" dirty="0"/>
          </a:p>
        </p:txBody>
      </p:sp>
      <p:sp>
        <p:nvSpPr>
          <p:cNvPr id="8" name="Text 6"/>
          <p:cNvSpPr/>
          <p:nvPr/>
        </p:nvSpPr>
        <p:spPr>
          <a:xfrm>
            <a:off x="822960" y="2148840"/>
            <a:ext cx="4389120" cy="1097280"/>
          </a:xfrm>
          <a:prstGeom prst="rect">
            <a:avLst/>
          </a:prstGeom>
          <a:noFill/>
          <a:ln/>
        </p:spPr>
        <p:txBody>
          <a:bodyPr wrap="square" lIns="0" tIns="0" rIns="0" bIns="0" rtlCol="0" anchor="ctr"/>
          <a:lstStyle/>
          <a:p>
            <a:pPr indent="0" marL="0">
              <a:lnSpc>
                <a:spcPct val="125000"/>
              </a:lnSpc>
              <a:buNone/>
            </a:pPr>
            <a:r>
              <a:rPr lang="en-US" sz="1200" dirty="0">
                <a:solidFill>
                  <a:srgbClr val="23324E"/>
                </a:solidFill>
                <a:latin typeface="Calibri" pitchFamily="34" charset="0"/>
                <a:ea typeface="Calibri" pitchFamily="34" charset="-122"/>
                <a:cs typeface="Calibri" pitchFamily="34" charset="-120"/>
              </a:rPr>
              <a:t>On the Feast of the Conversion of St. Paul, closing the Week of Prayer for Christian Unity, Pope John XXIII addressed only seventeen cardinals gathered in the chapter room. Barely ninety days after his election, he announced three undertakings at once:</a:t>
            </a:r>
            <a:endParaRPr lang="en-US" sz="1200" dirty="0"/>
          </a:p>
        </p:txBody>
      </p:sp>
      <p:sp>
        <p:nvSpPr>
          <p:cNvPr id="9" name="Shape 7"/>
          <p:cNvSpPr/>
          <p:nvPr/>
        </p:nvSpPr>
        <p:spPr>
          <a:xfrm>
            <a:off x="822960" y="3383280"/>
            <a:ext cx="365760" cy="365760"/>
          </a:xfrm>
          <a:prstGeom prst="ellipse">
            <a:avLst/>
          </a:prstGeom>
          <a:solidFill>
            <a:srgbClr val="B8912F"/>
          </a:solidFill>
          <a:ln/>
        </p:spPr>
      </p:sp>
      <p:sp>
        <p:nvSpPr>
          <p:cNvPr id="10" name="Text 8"/>
          <p:cNvSpPr/>
          <p:nvPr/>
        </p:nvSpPr>
        <p:spPr>
          <a:xfrm>
            <a:off x="822960" y="3383280"/>
            <a:ext cx="365760" cy="365760"/>
          </a:xfrm>
          <a:prstGeom prst="rect">
            <a:avLst/>
          </a:prstGeom>
          <a:noFill/>
          <a:ln/>
        </p:spPr>
        <p:txBody>
          <a:bodyPr wrap="square" lIns="0" tIns="0" rIns="0" bIns="0" rtlCol="0" anchor="ctr"/>
          <a:lstStyle/>
          <a:p>
            <a:pPr algn="ctr" indent="0" marL="0">
              <a:buNone/>
            </a:pPr>
            <a:r>
              <a:rPr lang="en-US" sz="1200" b="1" dirty="0">
                <a:solidFill>
                  <a:srgbClr val="1B2A52"/>
                </a:solidFill>
                <a:latin typeface="Cambria" pitchFamily="34" charset="0"/>
                <a:ea typeface="Cambria" pitchFamily="34" charset="-122"/>
                <a:cs typeface="Cambria" pitchFamily="34" charset="-120"/>
              </a:rPr>
              <a:t>1</a:t>
            </a:r>
            <a:endParaRPr lang="en-US" sz="1200" dirty="0"/>
          </a:p>
        </p:txBody>
      </p:sp>
      <p:sp>
        <p:nvSpPr>
          <p:cNvPr id="11" name="Text 9"/>
          <p:cNvSpPr/>
          <p:nvPr/>
        </p:nvSpPr>
        <p:spPr>
          <a:xfrm>
            <a:off x="1325880" y="3401568"/>
            <a:ext cx="3840480" cy="502920"/>
          </a:xfrm>
          <a:prstGeom prst="rect">
            <a:avLst/>
          </a:prstGeom>
          <a:noFill/>
          <a:ln/>
        </p:spPr>
        <p:txBody>
          <a:bodyPr wrap="square" lIns="0" tIns="0" rIns="0" bIns="0" rtlCol="0" anchor="ctr"/>
          <a:lstStyle/>
          <a:p>
            <a:pPr indent="0" marL="0">
              <a:buNone/>
            </a:pPr>
            <a:r>
              <a:rPr lang="en-US" sz="1250" dirty="0">
                <a:solidFill>
                  <a:srgbClr val="23324E"/>
                </a:solidFill>
                <a:latin typeface="Calibri" pitchFamily="34" charset="0"/>
                <a:ea typeface="Calibri" pitchFamily="34" charset="-122"/>
                <a:cs typeface="Calibri" pitchFamily="34" charset="-120"/>
              </a:rPr>
              <a:t>A diocesan synod for the city of Rome</a:t>
            </a:r>
            <a:endParaRPr lang="en-US" sz="1250" dirty="0"/>
          </a:p>
        </p:txBody>
      </p:sp>
      <p:sp>
        <p:nvSpPr>
          <p:cNvPr id="12" name="Shape 10"/>
          <p:cNvSpPr/>
          <p:nvPr/>
        </p:nvSpPr>
        <p:spPr>
          <a:xfrm>
            <a:off x="822960" y="4041648"/>
            <a:ext cx="365760" cy="365760"/>
          </a:xfrm>
          <a:prstGeom prst="ellipse">
            <a:avLst/>
          </a:prstGeom>
          <a:solidFill>
            <a:srgbClr val="B8912F"/>
          </a:solidFill>
          <a:ln/>
        </p:spPr>
      </p:sp>
      <p:sp>
        <p:nvSpPr>
          <p:cNvPr id="13" name="Text 11"/>
          <p:cNvSpPr/>
          <p:nvPr/>
        </p:nvSpPr>
        <p:spPr>
          <a:xfrm>
            <a:off x="822960" y="4041648"/>
            <a:ext cx="365760" cy="365760"/>
          </a:xfrm>
          <a:prstGeom prst="rect">
            <a:avLst/>
          </a:prstGeom>
          <a:noFill/>
          <a:ln/>
        </p:spPr>
        <p:txBody>
          <a:bodyPr wrap="square" lIns="0" tIns="0" rIns="0" bIns="0" rtlCol="0" anchor="ctr"/>
          <a:lstStyle/>
          <a:p>
            <a:pPr algn="ctr" indent="0" marL="0">
              <a:buNone/>
            </a:pPr>
            <a:r>
              <a:rPr lang="en-US" sz="1200" b="1" dirty="0">
                <a:solidFill>
                  <a:srgbClr val="1B2A52"/>
                </a:solidFill>
                <a:latin typeface="Cambria" pitchFamily="34" charset="0"/>
                <a:ea typeface="Cambria" pitchFamily="34" charset="-122"/>
                <a:cs typeface="Cambria" pitchFamily="34" charset="-120"/>
              </a:rPr>
              <a:t>2</a:t>
            </a:r>
            <a:endParaRPr lang="en-US" sz="1200" dirty="0"/>
          </a:p>
        </p:txBody>
      </p:sp>
      <p:sp>
        <p:nvSpPr>
          <p:cNvPr id="14" name="Text 12"/>
          <p:cNvSpPr/>
          <p:nvPr/>
        </p:nvSpPr>
        <p:spPr>
          <a:xfrm>
            <a:off x="1325880" y="4059936"/>
            <a:ext cx="3840480" cy="502920"/>
          </a:xfrm>
          <a:prstGeom prst="rect">
            <a:avLst/>
          </a:prstGeom>
          <a:noFill/>
          <a:ln/>
        </p:spPr>
        <p:txBody>
          <a:bodyPr wrap="square" lIns="0" tIns="0" rIns="0" bIns="0" rtlCol="0" anchor="ctr"/>
          <a:lstStyle/>
          <a:p>
            <a:pPr indent="0" marL="0">
              <a:buNone/>
            </a:pPr>
            <a:r>
              <a:rPr lang="en-US" sz="1250" dirty="0">
                <a:solidFill>
                  <a:srgbClr val="23324E"/>
                </a:solidFill>
                <a:latin typeface="Calibri" pitchFamily="34" charset="0"/>
                <a:ea typeface="Calibri" pitchFamily="34" charset="-122"/>
                <a:cs typeface="Calibri" pitchFamily="34" charset="-120"/>
              </a:rPr>
              <a:t>An ecumenical council for the universal Church</a:t>
            </a:r>
            <a:endParaRPr lang="en-US" sz="1250" dirty="0"/>
          </a:p>
        </p:txBody>
      </p:sp>
      <p:sp>
        <p:nvSpPr>
          <p:cNvPr id="15" name="Shape 13"/>
          <p:cNvSpPr/>
          <p:nvPr/>
        </p:nvSpPr>
        <p:spPr>
          <a:xfrm>
            <a:off x="822960" y="4700016"/>
            <a:ext cx="365760" cy="365760"/>
          </a:xfrm>
          <a:prstGeom prst="ellipse">
            <a:avLst/>
          </a:prstGeom>
          <a:solidFill>
            <a:srgbClr val="B8912F"/>
          </a:solidFill>
          <a:ln/>
        </p:spPr>
      </p:sp>
      <p:sp>
        <p:nvSpPr>
          <p:cNvPr id="16" name="Text 14"/>
          <p:cNvSpPr/>
          <p:nvPr/>
        </p:nvSpPr>
        <p:spPr>
          <a:xfrm>
            <a:off x="822960" y="4700016"/>
            <a:ext cx="365760" cy="365760"/>
          </a:xfrm>
          <a:prstGeom prst="rect">
            <a:avLst/>
          </a:prstGeom>
          <a:noFill/>
          <a:ln/>
        </p:spPr>
        <p:txBody>
          <a:bodyPr wrap="square" lIns="0" tIns="0" rIns="0" bIns="0" rtlCol="0" anchor="ctr"/>
          <a:lstStyle/>
          <a:p>
            <a:pPr algn="ctr" indent="0" marL="0">
              <a:buNone/>
            </a:pPr>
            <a:r>
              <a:rPr lang="en-US" sz="1200" b="1" dirty="0">
                <a:solidFill>
                  <a:srgbClr val="1B2A52"/>
                </a:solidFill>
                <a:latin typeface="Cambria" pitchFamily="34" charset="0"/>
                <a:ea typeface="Cambria" pitchFamily="34" charset="-122"/>
                <a:cs typeface="Cambria" pitchFamily="34" charset="-120"/>
              </a:rPr>
              <a:t>3</a:t>
            </a:r>
            <a:endParaRPr lang="en-US" sz="1200" dirty="0"/>
          </a:p>
        </p:txBody>
      </p:sp>
      <p:sp>
        <p:nvSpPr>
          <p:cNvPr id="17" name="Text 15"/>
          <p:cNvSpPr/>
          <p:nvPr/>
        </p:nvSpPr>
        <p:spPr>
          <a:xfrm>
            <a:off x="1325880" y="4718304"/>
            <a:ext cx="3840480" cy="502920"/>
          </a:xfrm>
          <a:prstGeom prst="rect">
            <a:avLst/>
          </a:prstGeom>
          <a:noFill/>
          <a:ln/>
        </p:spPr>
        <p:txBody>
          <a:bodyPr wrap="square" lIns="0" tIns="0" rIns="0" bIns="0" rtlCol="0" anchor="ctr"/>
          <a:lstStyle/>
          <a:p>
            <a:pPr indent="0" marL="0">
              <a:buNone/>
            </a:pPr>
            <a:r>
              <a:rPr lang="en-US" sz="1250" dirty="0">
                <a:solidFill>
                  <a:srgbClr val="23324E"/>
                </a:solidFill>
                <a:latin typeface="Calibri" pitchFamily="34" charset="0"/>
                <a:ea typeface="Calibri" pitchFamily="34" charset="-122"/>
                <a:cs typeface="Calibri" pitchFamily="34" charset="-120"/>
              </a:rPr>
              <a:t>A revision of the Code of Canon Law</a:t>
            </a:r>
            <a:endParaRPr lang="en-US" sz="1250" dirty="0"/>
          </a:p>
        </p:txBody>
      </p:sp>
      <p:sp>
        <p:nvSpPr>
          <p:cNvPr id="18" name="Shape 16"/>
          <p:cNvSpPr/>
          <p:nvPr/>
        </p:nvSpPr>
        <p:spPr>
          <a:xfrm>
            <a:off x="5760720" y="1508760"/>
            <a:ext cx="5879592" cy="2057400"/>
          </a:xfrm>
          <a:prstGeom prst="roundRect">
            <a:avLst>
              <a:gd name="adj" fmla="val 3556"/>
            </a:avLst>
          </a:prstGeom>
          <a:solidFill>
            <a:srgbClr val="1B2A52"/>
          </a:solidFill>
          <a:ln w="12700">
            <a:solidFill>
              <a:srgbClr val="1B2A52"/>
            </a:solidFill>
            <a:prstDash val="solid"/>
          </a:ln>
          <a:effectLst>
            <a:outerShdw sx="100000" sy="100000" kx="0" ky="0" algn="bl" rotWithShape="0" blurRad="76200" dist="25400" dir="5400000">
              <a:srgbClr val="1B2A52">
                <a:alpha val="18000"/>
              </a:srgbClr>
            </a:outerShdw>
          </a:effectLst>
        </p:spPr>
      </p:sp>
      <p:sp>
        <p:nvSpPr>
          <p:cNvPr id="19" name="Text 17"/>
          <p:cNvSpPr/>
          <p:nvPr/>
        </p:nvSpPr>
        <p:spPr>
          <a:xfrm>
            <a:off x="6035040" y="1691640"/>
            <a:ext cx="5330952" cy="457200"/>
          </a:xfrm>
          <a:prstGeom prst="rect">
            <a:avLst/>
          </a:prstGeom>
          <a:noFill/>
          <a:ln/>
        </p:spPr>
        <p:txBody>
          <a:bodyPr wrap="square" lIns="0" tIns="0" rIns="0" bIns="0" rtlCol="0" anchor="ctr"/>
          <a:lstStyle/>
          <a:p>
            <a:pPr indent="0" marL="0">
              <a:buNone/>
            </a:pPr>
            <a:r>
              <a:rPr lang="en-US" sz="1800" b="1" i="1" dirty="0">
                <a:solidFill>
                  <a:srgbClr val="B8912F"/>
                </a:solidFill>
                <a:latin typeface="Cambria" pitchFamily="34" charset="0"/>
                <a:ea typeface="Cambria" pitchFamily="34" charset="-122"/>
                <a:cs typeface="Cambria" pitchFamily="34" charset="-120"/>
              </a:rPr>
              <a:t>“Absolute silence.”</a:t>
            </a:r>
            <a:endParaRPr lang="en-US" sz="1800" dirty="0"/>
          </a:p>
        </p:txBody>
      </p:sp>
      <p:sp>
        <p:nvSpPr>
          <p:cNvPr id="20" name="Text 18"/>
          <p:cNvSpPr/>
          <p:nvPr/>
        </p:nvSpPr>
        <p:spPr>
          <a:xfrm>
            <a:off x="6035040" y="2194560"/>
            <a:ext cx="5330952" cy="123444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The cardinals were stunned. Many believed the age of councils had ended with Vatican I's definition of papal infallibility.</a:t>
            </a:r>
            <a:endParaRPr lang="en-US" sz="1200" dirty="0"/>
          </a:p>
        </p:txBody>
      </p:sp>
      <p:sp>
        <p:nvSpPr>
          <p:cNvPr id="21" name="Shape 19"/>
          <p:cNvSpPr/>
          <p:nvPr/>
        </p:nvSpPr>
        <p:spPr>
          <a:xfrm>
            <a:off x="5760720" y="3794760"/>
            <a:ext cx="5879592" cy="2194560"/>
          </a:xfrm>
          <a:prstGeom prst="roundRect">
            <a:avLst>
              <a:gd name="adj" fmla="val 3333"/>
            </a:avLst>
          </a:prstGeom>
          <a:solidFill>
            <a:srgbClr val="E8DAAE"/>
          </a:solidFill>
          <a:ln w="12700">
            <a:solidFill>
              <a:srgbClr val="B8912F"/>
            </a:solidFill>
            <a:prstDash val="solid"/>
          </a:ln>
          <a:effectLst>
            <a:outerShdw sx="100000" sy="100000" kx="0" ky="0" algn="bl" rotWithShape="0" blurRad="76200" dist="25400" dir="5400000">
              <a:srgbClr val="1B2A52">
                <a:alpha val="18000"/>
              </a:srgbClr>
            </a:outerShdw>
          </a:effectLst>
        </p:spPr>
      </p:sp>
      <p:sp>
        <p:nvSpPr>
          <p:cNvPr id="22" name="Text 20"/>
          <p:cNvSpPr/>
          <p:nvPr/>
        </p:nvSpPr>
        <p:spPr>
          <a:xfrm>
            <a:off x="6035040" y="4023360"/>
            <a:ext cx="5330952" cy="1737360"/>
          </a:xfrm>
          <a:prstGeom prst="rect">
            <a:avLst/>
          </a:prstGeom>
          <a:noFill/>
          <a:ln/>
        </p:spPr>
        <p:txBody>
          <a:bodyPr wrap="square" lIns="0" tIns="0" rIns="0" bIns="0" rtlCol="0" anchor="ctr"/>
          <a:lstStyle/>
          <a:p>
            <a:pPr indent="0" marL="0">
              <a:lnSpc>
                <a:spcPct val="130000"/>
              </a:lnSpc>
              <a:buNone/>
            </a:pPr>
            <a:r>
              <a:rPr lang="en-US" sz="1250" i="1" dirty="0">
                <a:solidFill>
                  <a:srgbClr val="1B2A52"/>
                </a:solidFill>
                <a:latin typeface="Calibri" pitchFamily="34" charset="0"/>
                <a:ea typeface="Calibri" pitchFamily="34" charset="-122"/>
                <a:cs typeface="Calibri" pitchFamily="34" charset="-120"/>
              </a:rPr>
              <a:t>John XXIII later described the announcement as an inspiration “of the Holy Spirit,” made for the enlightenment and unity of all Christian people.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OCTOBER 11, 1962</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Gaudet Mater Ecclesia — The Opening Address</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8</a:t>
            </a:r>
            <a:endParaRPr lang="en-US" sz="900" dirty="0"/>
          </a:p>
        </p:txBody>
      </p:sp>
      <p:sp>
        <p:nvSpPr>
          <p:cNvPr id="6" name="Text 4"/>
          <p:cNvSpPr/>
          <p:nvPr/>
        </p:nvSpPr>
        <p:spPr>
          <a:xfrm>
            <a:off x="548640" y="1371600"/>
            <a:ext cx="11091672" cy="320040"/>
          </a:xfrm>
          <a:prstGeom prst="rect">
            <a:avLst/>
          </a:prstGeom>
          <a:noFill/>
          <a:ln/>
        </p:spPr>
        <p:txBody>
          <a:bodyPr wrap="square" lIns="0" tIns="0" rIns="0" bIns="0" rtlCol="0" anchor="ctr"/>
          <a:lstStyle/>
          <a:p>
            <a:pPr indent="0" marL="0">
              <a:buNone/>
            </a:pPr>
            <a:r>
              <a:rPr lang="en-US" sz="1300" i="1" dirty="0">
                <a:solidFill>
                  <a:srgbClr val="5C6B85"/>
                </a:solidFill>
                <a:latin typeface="Calibri" pitchFamily="34" charset="0"/>
                <a:ea typeface="Calibri" pitchFamily="34" charset="-122"/>
                <a:cs typeface="Calibri" pitchFamily="34" charset="-120"/>
              </a:rPr>
              <a:t>Pope John XXIII set a dramatically different tone from previous councils</a:t>
            </a:r>
            <a:endParaRPr lang="en-US" sz="1300" dirty="0"/>
          </a:p>
        </p:txBody>
      </p:sp>
      <p:sp>
        <p:nvSpPr>
          <p:cNvPr id="7" name="Shape 5"/>
          <p:cNvSpPr/>
          <p:nvPr/>
        </p:nvSpPr>
        <p:spPr>
          <a:xfrm>
            <a:off x="548640" y="1874520"/>
            <a:ext cx="5271516" cy="1965960"/>
          </a:xfrm>
          <a:prstGeom prst="roundRect">
            <a:avLst>
              <a:gd name="adj" fmla="val 3721"/>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8" name="Shape 6"/>
          <p:cNvSpPr/>
          <p:nvPr/>
        </p:nvSpPr>
        <p:spPr>
          <a:xfrm>
            <a:off x="777240" y="2103120"/>
            <a:ext cx="457200" cy="457200"/>
          </a:xfrm>
          <a:prstGeom prst="ellipse">
            <a:avLst/>
          </a:prstGeom>
          <a:solidFill>
            <a:srgbClr val="7A1B2E"/>
          </a:solidFill>
          <a:ln/>
        </p:spPr>
      </p:sp>
      <p:sp>
        <p:nvSpPr>
          <p:cNvPr id="9" name="Text 7"/>
          <p:cNvSpPr/>
          <p:nvPr/>
        </p:nvSpPr>
        <p:spPr>
          <a:xfrm>
            <a:off x="777240" y="21031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p:nvPr/>
        </p:nvSpPr>
        <p:spPr>
          <a:xfrm>
            <a:off x="1417320" y="2075688"/>
            <a:ext cx="4174236" cy="502920"/>
          </a:xfrm>
          <a:prstGeom prst="rect">
            <a:avLst/>
          </a:prstGeom>
          <a:noFill/>
          <a:ln/>
        </p:spPr>
        <p:txBody>
          <a:bodyPr wrap="square" lIns="0" tIns="0" rIns="0" bIns="0" rtlCol="0" anchor="ctr"/>
          <a:lstStyle/>
          <a:p>
            <a:pPr indent="0" marL="0">
              <a:buNone/>
            </a:pPr>
            <a:r>
              <a:rPr lang="en-US" sz="1400" b="1" dirty="0">
                <a:solidFill>
                  <a:srgbClr val="1B2A52"/>
                </a:solidFill>
                <a:latin typeface="Cambria" pitchFamily="34" charset="0"/>
                <a:ea typeface="Cambria" pitchFamily="34" charset="-122"/>
                <a:cs typeface="Cambria" pitchFamily="34" charset="-120"/>
              </a:rPr>
              <a:t>Rejecting the “Prophets of Doom”</a:t>
            </a:r>
            <a:endParaRPr lang="en-US" sz="1400" dirty="0"/>
          </a:p>
        </p:txBody>
      </p:sp>
      <p:sp>
        <p:nvSpPr>
          <p:cNvPr id="11" name="Text 9"/>
          <p:cNvSpPr/>
          <p:nvPr/>
        </p:nvSpPr>
        <p:spPr>
          <a:xfrm>
            <a:off x="777240" y="2697480"/>
            <a:ext cx="4814316" cy="960120"/>
          </a:xfrm>
          <a:prstGeom prst="rect">
            <a:avLst/>
          </a:prstGeom>
          <a:noFill/>
          <a:ln/>
        </p:spPr>
        <p:txBody>
          <a:bodyPr wrap="square" lIns="0" tIns="0" rIns="0" bIns="0" rtlCol="0" anchor="ctr"/>
          <a:lstStyle/>
          <a:p>
            <a:pPr indent="0" marL="0">
              <a:lnSpc>
                <a:spcPct val="122000"/>
              </a:lnSpc>
              <a:buNone/>
            </a:pPr>
            <a:r>
              <a:rPr lang="en-US" sz="1150" dirty="0">
                <a:solidFill>
                  <a:srgbClr val="23324E"/>
                </a:solidFill>
                <a:latin typeface="Calibri" pitchFamily="34" charset="0"/>
                <a:ea typeface="Calibri" pitchFamily="34" charset="-122"/>
                <a:cs typeface="Calibri" pitchFamily="34" charset="-120"/>
              </a:rPr>
              <a:t>He voiced confidence that Providence was leading humanity toward a new order, dismissing those who kept “forecasting disaster.”</a:t>
            </a:r>
            <a:endParaRPr lang="en-US" sz="1150" dirty="0"/>
          </a:p>
        </p:txBody>
      </p:sp>
      <p:sp>
        <p:nvSpPr>
          <p:cNvPr id="12" name="Shape 10"/>
          <p:cNvSpPr/>
          <p:nvPr/>
        </p:nvSpPr>
        <p:spPr>
          <a:xfrm>
            <a:off x="6368796" y="1874520"/>
            <a:ext cx="5271516" cy="1965960"/>
          </a:xfrm>
          <a:prstGeom prst="roundRect">
            <a:avLst>
              <a:gd name="adj" fmla="val 3721"/>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3" name="Shape 11"/>
          <p:cNvSpPr/>
          <p:nvPr/>
        </p:nvSpPr>
        <p:spPr>
          <a:xfrm>
            <a:off x="6597396" y="2103120"/>
            <a:ext cx="457200" cy="457200"/>
          </a:xfrm>
          <a:prstGeom prst="ellipse">
            <a:avLst/>
          </a:prstGeom>
          <a:solidFill>
            <a:srgbClr val="7A1B2E"/>
          </a:solidFill>
          <a:ln/>
        </p:spPr>
      </p:sp>
      <p:sp>
        <p:nvSpPr>
          <p:cNvPr id="14" name="Text 12"/>
          <p:cNvSpPr/>
          <p:nvPr/>
        </p:nvSpPr>
        <p:spPr>
          <a:xfrm>
            <a:off x="6597396" y="21031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5" name="Text 13"/>
          <p:cNvSpPr/>
          <p:nvPr/>
        </p:nvSpPr>
        <p:spPr>
          <a:xfrm>
            <a:off x="7237476" y="2075688"/>
            <a:ext cx="4174236" cy="502920"/>
          </a:xfrm>
          <a:prstGeom prst="rect">
            <a:avLst/>
          </a:prstGeom>
          <a:noFill/>
          <a:ln/>
        </p:spPr>
        <p:txBody>
          <a:bodyPr wrap="square" lIns="0" tIns="0" rIns="0" bIns="0" rtlCol="0" anchor="ctr"/>
          <a:lstStyle/>
          <a:p>
            <a:pPr indent="0" marL="0">
              <a:buNone/>
            </a:pPr>
            <a:r>
              <a:rPr lang="en-US" sz="1400" b="1" dirty="0">
                <a:solidFill>
                  <a:srgbClr val="1B2A52"/>
                </a:solidFill>
                <a:latin typeface="Cambria" pitchFamily="34" charset="0"/>
                <a:ea typeface="Cambria" pitchFamily="34" charset="-122"/>
                <a:cs typeface="Cambria" pitchFamily="34" charset="-120"/>
              </a:rPr>
              <a:t>Substance vs. Formulation</a:t>
            </a:r>
            <a:endParaRPr lang="en-US" sz="1400" dirty="0"/>
          </a:p>
        </p:txBody>
      </p:sp>
      <p:sp>
        <p:nvSpPr>
          <p:cNvPr id="16" name="Text 14"/>
          <p:cNvSpPr/>
          <p:nvPr/>
        </p:nvSpPr>
        <p:spPr>
          <a:xfrm>
            <a:off x="6597396" y="2697480"/>
            <a:ext cx="4814316" cy="960120"/>
          </a:xfrm>
          <a:prstGeom prst="rect">
            <a:avLst/>
          </a:prstGeom>
          <a:noFill/>
          <a:ln/>
        </p:spPr>
        <p:txBody>
          <a:bodyPr wrap="square" lIns="0" tIns="0" rIns="0" bIns="0" rtlCol="0" anchor="ctr"/>
          <a:lstStyle/>
          <a:p>
            <a:pPr indent="0" marL="0">
              <a:lnSpc>
                <a:spcPct val="122000"/>
              </a:lnSpc>
              <a:buNone/>
            </a:pPr>
            <a:r>
              <a:rPr lang="en-US" sz="1150" dirty="0">
                <a:solidFill>
                  <a:srgbClr val="23324E"/>
                </a:solidFill>
                <a:latin typeface="Calibri" pitchFamily="34" charset="0"/>
                <a:ea typeface="Calibri" pitchFamily="34" charset="-122"/>
                <a:cs typeface="Calibri" pitchFamily="34" charset="-120"/>
              </a:rPr>
              <a:t>The deposit of faith itself must be guarded intact — but the way it is expressed must speak to the present age.</a:t>
            </a:r>
            <a:endParaRPr lang="en-US" sz="1150" dirty="0"/>
          </a:p>
        </p:txBody>
      </p:sp>
      <p:sp>
        <p:nvSpPr>
          <p:cNvPr id="17" name="Shape 15"/>
          <p:cNvSpPr/>
          <p:nvPr/>
        </p:nvSpPr>
        <p:spPr>
          <a:xfrm>
            <a:off x="548640" y="4114800"/>
            <a:ext cx="5271516" cy="1965960"/>
          </a:xfrm>
          <a:prstGeom prst="roundRect">
            <a:avLst>
              <a:gd name="adj" fmla="val 3721"/>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8" name="Shape 16"/>
          <p:cNvSpPr/>
          <p:nvPr/>
        </p:nvSpPr>
        <p:spPr>
          <a:xfrm>
            <a:off x="777240" y="4343400"/>
            <a:ext cx="457200" cy="457200"/>
          </a:xfrm>
          <a:prstGeom prst="ellipse">
            <a:avLst/>
          </a:prstGeom>
          <a:solidFill>
            <a:srgbClr val="7A1B2E"/>
          </a:solidFill>
          <a:ln/>
        </p:spPr>
      </p:sp>
      <p:sp>
        <p:nvSpPr>
          <p:cNvPr id="19" name="Text 17"/>
          <p:cNvSpPr/>
          <p:nvPr/>
        </p:nvSpPr>
        <p:spPr>
          <a:xfrm>
            <a:off x="777240" y="43434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0" name="Text 18"/>
          <p:cNvSpPr/>
          <p:nvPr/>
        </p:nvSpPr>
        <p:spPr>
          <a:xfrm>
            <a:off x="1417320" y="4315968"/>
            <a:ext cx="4174236" cy="502920"/>
          </a:xfrm>
          <a:prstGeom prst="rect">
            <a:avLst/>
          </a:prstGeom>
          <a:noFill/>
          <a:ln/>
        </p:spPr>
        <p:txBody>
          <a:bodyPr wrap="square" lIns="0" tIns="0" rIns="0" bIns="0" rtlCol="0" anchor="ctr"/>
          <a:lstStyle/>
          <a:p>
            <a:pPr indent="0" marL="0">
              <a:buNone/>
            </a:pPr>
            <a:r>
              <a:rPr lang="en-US" sz="1400" b="1" dirty="0">
                <a:solidFill>
                  <a:srgbClr val="1B2A52"/>
                </a:solidFill>
                <a:latin typeface="Cambria" pitchFamily="34" charset="0"/>
                <a:ea typeface="Cambria" pitchFamily="34" charset="-122"/>
                <a:cs typeface="Cambria" pitchFamily="34" charset="-120"/>
              </a:rPr>
              <a:t>The Medicine of Mercy</a:t>
            </a:r>
            <a:endParaRPr lang="en-US" sz="1400" dirty="0"/>
          </a:p>
        </p:txBody>
      </p:sp>
      <p:sp>
        <p:nvSpPr>
          <p:cNvPr id="21" name="Text 19"/>
          <p:cNvSpPr/>
          <p:nvPr/>
        </p:nvSpPr>
        <p:spPr>
          <a:xfrm>
            <a:off x="777240" y="4937760"/>
            <a:ext cx="4814316" cy="960120"/>
          </a:xfrm>
          <a:prstGeom prst="rect">
            <a:avLst/>
          </a:prstGeom>
          <a:noFill/>
          <a:ln/>
        </p:spPr>
        <p:txBody>
          <a:bodyPr wrap="square" lIns="0" tIns="0" rIns="0" bIns="0" rtlCol="0" anchor="ctr"/>
          <a:lstStyle/>
          <a:p>
            <a:pPr indent="0" marL="0">
              <a:lnSpc>
                <a:spcPct val="122000"/>
              </a:lnSpc>
              <a:buNone/>
            </a:pPr>
            <a:r>
              <a:rPr lang="en-US" sz="1150" dirty="0">
                <a:solidFill>
                  <a:srgbClr val="23324E"/>
                </a:solidFill>
                <a:latin typeface="Calibri" pitchFamily="34" charset="0"/>
                <a:ea typeface="Calibri" pitchFamily="34" charset="-122"/>
                <a:cs typeface="Calibri" pitchFamily="34" charset="-120"/>
              </a:rPr>
              <a:t>He explicitly set aside condemnation, preferring “the medicine of mercy rather than the arms of severity.”</a:t>
            </a:r>
            <a:endParaRPr lang="en-US" sz="1150" dirty="0"/>
          </a:p>
        </p:txBody>
      </p:sp>
      <p:sp>
        <p:nvSpPr>
          <p:cNvPr id="22" name="Shape 20"/>
          <p:cNvSpPr/>
          <p:nvPr/>
        </p:nvSpPr>
        <p:spPr>
          <a:xfrm>
            <a:off x="6368796" y="4114800"/>
            <a:ext cx="5271516" cy="1965960"/>
          </a:xfrm>
          <a:prstGeom prst="roundRect">
            <a:avLst>
              <a:gd name="adj" fmla="val 3721"/>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23" name="Shape 21"/>
          <p:cNvSpPr/>
          <p:nvPr/>
        </p:nvSpPr>
        <p:spPr>
          <a:xfrm>
            <a:off x="6597396" y="4343400"/>
            <a:ext cx="457200" cy="457200"/>
          </a:xfrm>
          <a:prstGeom prst="ellipse">
            <a:avLst/>
          </a:prstGeom>
          <a:solidFill>
            <a:srgbClr val="7A1B2E"/>
          </a:solidFill>
          <a:ln/>
        </p:spPr>
      </p:sp>
      <p:sp>
        <p:nvSpPr>
          <p:cNvPr id="24" name="Text 22"/>
          <p:cNvSpPr/>
          <p:nvPr/>
        </p:nvSpPr>
        <p:spPr>
          <a:xfrm>
            <a:off x="6597396" y="43434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5" name="Text 23"/>
          <p:cNvSpPr/>
          <p:nvPr/>
        </p:nvSpPr>
        <p:spPr>
          <a:xfrm>
            <a:off x="7237476" y="4315968"/>
            <a:ext cx="4174236" cy="502920"/>
          </a:xfrm>
          <a:prstGeom prst="rect">
            <a:avLst/>
          </a:prstGeom>
          <a:noFill/>
          <a:ln/>
        </p:spPr>
        <p:txBody>
          <a:bodyPr wrap="square" lIns="0" tIns="0" rIns="0" bIns="0" rtlCol="0" anchor="ctr"/>
          <a:lstStyle/>
          <a:p>
            <a:pPr indent="0" marL="0">
              <a:buNone/>
            </a:pPr>
            <a:r>
              <a:rPr lang="en-US" sz="1400" b="1" dirty="0">
                <a:solidFill>
                  <a:srgbClr val="1B2A52"/>
                </a:solidFill>
                <a:latin typeface="Cambria" pitchFamily="34" charset="0"/>
                <a:ea typeface="Cambria" pitchFamily="34" charset="-122"/>
                <a:cs typeface="Cambria" pitchFamily="34" charset="-120"/>
              </a:rPr>
              <a:t>A Pastoral Council</a:t>
            </a:r>
            <a:endParaRPr lang="en-US" sz="1400" dirty="0"/>
          </a:p>
        </p:txBody>
      </p:sp>
      <p:sp>
        <p:nvSpPr>
          <p:cNvPr id="26" name="Text 24"/>
          <p:cNvSpPr/>
          <p:nvPr/>
        </p:nvSpPr>
        <p:spPr>
          <a:xfrm>
            <a:off x="6597396" y="4937760"/>
            <a:ext cx="4814316" cy="960120"/>
          </a:xfrm>
          <a:prstGeom prst="rect">
            <a:avLst/>
          </a:prstGeom>
          <a:noFill/>
          <a:ln/>
        </p:spPr>
        <p:txBody>
          <a:bodyPr wrap="square" lIns="0" tIns="0" rIns="0" bIns="0" rtlCol="0" anchor="ctr"/>
          <a:lstStyle/>
          <a:p>
            <a:pPr indent="0" marL="0">
              <a:lnSpc>
                <a:spcPct val="122000"/>
              </a:lnSpc>
              <a:buNone/>
            </a:pPr>
            <a:r>
              <a:rPr lang="en-US" sz="1150" dirty="0">
                <a:solidFill>
                  <a:srgbClr val="23324E"/>
                </a:solidFill>
                <a:latin typeface="Calibri" pitchFamily="34" charset="0"/>
                <a:ea typeface="Calibri" pitchFamily="34" charset="-122"/>
                <a:cs typeface="Calibri" pitchFamily="34" charset="-120"/>
              </a:rPr>
              <a:t>The Council was defined as pastoral rather than merely doctrinal: focused on presenting the truth effectively, not simply defining it.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VOCABULARY</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Key Words and Concepts</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548640" y="1371600"/>
            <a:ext cx="11091672" cy="320040"/>
          </a:xfrm>
          <a:prstGeom prst="rect">
            <a:avLst/>
          </a:prstGeom>
          <a:noFill/>
          <a:ln/>
        </p:spPr>
        <p:txBody>
          <a:bodyPr wrap="square" lIns="0" tIns="0" rIns="0" bIns="0" rtlCol="0" anchor="ctr"/>
          <a:lstStyle/>
          <a:p>
            <a:pPr indent="0" marL="0">
              <a:buNone/>
            </a:pPr>
            <a:r>
              <a:rPr lang="en-US" sz="1300" i="1" dirty="0">
                <a:solidFill>
                  <a:srgbClr val="5C6B85"/>
                </a:solidFill>
                <a:latin typeface="Calibri" pitchFamily="34" charset="0"/>
                <a:ea typeface="Calibri" pitchFamily="34" charset="-122"/>
                <a:cs typeface="Calibri" pitchFamily="34" charset="-120"/>
              </a:rPr>
              <a:t>The working vocabulary of the Council, still used to interpret it today</a:t>
            </a:r>
            <a:endParaRPr lang="en-US" sz="1300" dirty="0"/>
          </a:p>
        </p:txBody>
      </p:sp>
      <p:sp>
        <p:nvSpPr>
          <p:cNvPr id="7" name="Shape 5"/>
          <p:cNvSpPr/>
          <p:nvPr/>
        </p:nvSpPr>
        <p:spPr>
          <a:xfrm>
            <a:off x="548640" y="1920240"/>
            <a:ext cx="1925726" cy="3794760"/>
          </a:xfrm>
          <a:prstGeom prst="roundRect">
            <a:avLst>
              <a:gd name="adj" fmla="val 379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8" name="Shape 6"/>
          <p:cNvSpPr/>
          <p:nvPr/>
        </p:nvSpPr>
        <p:spPr>
          <a:xfrm>
            <a:off x="548640" y="1920240"/>
            <a:ext cx="1925726" cy="502920"/>
          </a:xfrm>
          <a:prstGeom prst="roundRect">
            <a:avLst>
              <a:gd name="adj" fmla="val 14545"/>
            </a:avLst>
          </a:prstGeom>
          <a:solidFill>
            <a:srgbClr val="1B2A52"/>
          </a:solidFill>
          <a:ln/>
        </p:spPr>
      </p:sp>
      <p:sp>
        <p:nvSpPr>
          <p:cNvPr id="9" name="Shape 7"/>
          <p:cNvSpPr/>
          <p:nvPr/>
        </p:nvSpPr>
        <p:spPr>
          <a:xfrm>
            <a:off x="548640" y="2194560"/>
            <a:ext cx="1925726" cy="228600"/>
          </a:xfrm>
          <a:prstGeom prst="rect">
            <a:avLst/>
          </a:prstGeom>
          <a:solidFill>
            <a:srgbClr val="1B2A52"/>
          </a:solidFill>
          <a:ln/>
        </p:spPr>
      </p:sp>
      <p:sp>
        <p:nvSpPr>
          <p:cNvPr id="10" name="Text 8"/>
          <p:cNvSpPr/>
          <p:nvPr/>
        </p:nvSpPr>
        <p:spPr>
          <a:xfrm>
            <a:off x="658368" y="1920240"/>
            <a:ext cx="1706270" cy="502920"/>
          </a:xfrm>
          <a:prstGeom prst="rect">
            <a:avLst/>
          </a:prstGeom>
          <a:noFill/>
          <a:ln/>
        </p:spPr>
        <p:txBody>
          <a:bodyPr wrap="square" lIns="0" tIns="0" rIns="0" bIns="0" rtlCol="0" anchor="ctr"/>
          <a:lstStyle/>
          <a:p>
            <a:pPr algn="ctr" indent="0" marL="0">
              <a:buNone/>
            </a:pPr>
            <a:r>
              <a:rPr lang="en-US" sz="1250" b="1" dirty="0">
                <a:solidFill>
                  <a:srgbClr val="B8912F"/>
                </a:solidFill>
                <a:latin typeface="Cambria" pitchFamily="34" charset="0"/>
                <a:ea typeface="Cambria" pitchFamily="34" charset="-122"/>
                <a:cs typeface="Cambria" pitchFamily="34" charset="-120"/>
              </a:rPr>
              <a:t>Aggiornamento</a:t>
            </a:r>
            <a:endParaRPr lang="en-US" sz="1250" dirty="0"/>
          </a:p>
        </p:txBody>
      </p:sp>
      <p:sp>
        <p:nvSpPr>
          <p:cNvPr id="11" name="Text 9"/>
          <p:cNvSpPr/>
          <p:nvPr/>
        </p:nvSpPr>
        <p:spPr>
          <a:xfrm>
            <a:off x="713232" y="2606040"/>
            <a:ext cx="1596542" cy="2926080"/>
          </a:xfrm>
          <a:prstGeom prst="rect">
            <a:avLst/>
          </a:prstGeom>
          <a:noFill/>
          <a:ln/>
        </p:spPr>
        <p:txBody>
          <a:bodyPr wrap="square" lIns="0" tIns="0" rIns="0" bIns="0" rtlCol="0" anchor="ctr"/>
          <a:lstStyle/>
          <a:p>
            <a:pPr indent="0" marL="0">
              <a:lnSpc>
                <a:spcPct val="125000"/>
              </a:lnSpc>
              <a:buNone/>
            </a:pPr>
            <a:r>
              <a:rPr lang="en-US" sz="1080" dirty="0">
                <a:solidFill>
                  <a:srgbClr val="23324E"/>
                </a:solidFill>
                <a:latin typeface="Calibri" pitchFamily="34" charset="0"/>
                <a:ea typeface="Calibri" pitchFamily="34" charset="-122"/>
                <a:cs typeface="Calibri" pitchFamily="34" charset="-120"/>
              </a:rPr>
              <a:t>Bringing the Church “up to date.” Popularized by John XXIII: opening the Church's doors and windows to the present, rather than sheltering in the past.</a:t>
            </a:r>
            <a:endParaRPr lang="en-US" sz="1080" dirty="0"/>
          </a:p>
        </p:txBody>
      </p:sp>
      <p:sp>
        <p:nvSpPr>
          <p:cNvPr id="12" name="Shape 10"/>
          <p:cNvSpPr/>
          <p:nvPr/>
        </p:nvSpPr>
        <p:spPr>
          <a:xfrm>
            <a:off x="2840126" y="1920240"/>
            <a:ext cx="1925726" cy="3794760"/>
          </a:xfrm>
          <a:prstGeom prst="roundRect">
            <a:avLst>
              <a:gd name="adj" fmla="val 379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3" name="Shape 11"/>
          <p:cNvSpPr/>
          <p:nvPr/>
        </p:nvSpPr>
        <p:spPr>
          <a:xfrm>
            <a:off x="2840126" y="1920240"/>
            <a:ext cx="1925726" cy="502920"/>
          </a:xfrm>
          <a:prstGeom prst="roundRect">
            <a:avLst>
              <a:gd name="adj" fmla="val 14545"/>
            </a:avLst>
          </a:prstGeom>
          <a:solidFill>
            <a:srgbClr val="1B2A52"/>
          </a:solidFill>
          <a:ln/>
        </p:spPr>
      </p:sp>
      <p:sp>
        <p:nvSpPr>
          <p:cNvPr id="14" name="Shape 12"/>
          <p:cNvSpPr/>
          <p:nvPr/>
        </p:nvSpPr>
        <p:spPr>
          <a:xfrm>
            <a:off x="2840126" y="2194560"/>
            <a:ext cx="1925726" cy="228600"/>
          </a:xfrm>
          <a:prstGeom prst="rect">
            <a:avLst/>
          </a:prstGeom>
          <a:solidFill>
            <a:srgbClr val="1B2A52"/>
          </a:solidFill>
          <a:ln/>
        </p:spPr>
      </p:sp>
      <p:sp>
        <p:nvSpPr>
          <p:cNvPr id="15" name="Text 13"/>
          <p:cNvSpPr/>
          <p:nvPr/>
        </p:nvSpPr>
        <p:spPr>
          <a:xfrm>
            <a:off x="2949854" y="1920240"/>
            <a:ext cx="1706270" cy="502920"/>
          </a:xfrm>
          <a:prstGeom prst="rect">
            <a:avLst/>
          </a:prstGeom>
          <a:noFill/>
          <a:ln/>
        </p:spPr>
        <p:txBody>
          <a:bodyPr wrap="square" lIns="0" tIns="0" rIns="0" bIns="0" rtlCol="0" anchor="ctr"/>
          <a:lstStyle/>
          <a:p>
            <a:pPr algn="ctr" indent="0" marL="0">
              <a:buNone/>
            </a:pPr>
            <a:r>
              <a:rPr lang="en-US" sz="1250" b="1" dirty="0">
                <a:solidFill>
                  <a:srgbClr val="B8912F"/>
                </a:solidFill>
                <a:latin typeface="Cambria" pitchFamily="34" charset="0"/>
                <a:ea typeface="Cambria" pitchFamily="34" charset="-122"/>
                <a:cs typeface="Cambria" pitchFamily="34" charset="-120"/>
              </a:rPr>
              <a:t>Ressourcement</a:t>
            </a:r>
            <a:endParaRPr lang="en-US" sz="1250" dirty="0"/>
          </a:p>
        </p:txBody>
      </p:sp>
      <p:sp>
        <p:nvSpPr>
          <p:cNvPr id="16" name="Text 14"/>
          <p:cNvSpPr/>
          <p:nvPr/>
        </p:nvSpPr>
        <p:spPr>
          <a:xfrm>
            <a:off x="3004718" y="2606040"/>
            <a:ext cx="1596542" cy="2926080"/>
          </a:xfrm>
          <a:prstGeom prst="rect">
            <a:avLst/>
          </a:prstGeom>
          <a:noFill/>
          <a:ln/>
        </p:spPr>
        <p:txBody>
          <a:bodyPr wrap="square" lIns="0" tIns="0" rIns="0" bIns="0" rtlCol="0" anchor="ctr"/>
          <a:lstStyle/>
          <a:p>
            <a:pPr indent="0" marL="0">
              <a:lnSpc>
                <a:spcPct val="125000"/>
              </a:lnSpc>
              <a:buNone/>
            </a:pPr>
            <a:r>
              <a:rPr lang="en-US" sz="1080" dirty="0">
                <a:solidFill>
                  <a:srgbClr val="23324E"/>
                </a:solidFill>
                <a:latin typeface="Calibri" pitchFamily="34" charset="0"/>
                <a:ea typeface="Calibri" pitchFamily="34" charset="-122"/>
                <a:cs typeface="Calibri" pitchFamily="34" charset="-120"/>
              </a:rPr>
              <a:t>A return to Scripture and the Fathers, moving beyond the rigid neo-scholastic manuals — renewal by going back to the sources.</a:t>
            </a:r>
            <a:endParaRPr lang="en-US" sz="1080" dirty="0"/>
          </a:p>
        </p:txBody>
      </p:sp>
      <p:sp>
        <p:nvSpPr>
          <p:cNvPr id="17" name="Shape 15"/>
          <p:cNvSpPr/>
          <p:nvPr/>
        </p:nvSpPr>
        <p:spPr>
          <a:xfrm>
            <a:off x="5131613" y="1920240"/>
            <a:ext cx="1925726" cy="3794760"/>
          </a:xfrm>
          <a:prstGeom prst="roundRect">
            <a:avLst>
              <a:gd name="adj" fmla="val 379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8" name="Shape 16"/>
          <p:cNvSpPr/>
          <p:nvPr/>
        </p:nvSpPr>
        <p:spPr>
          <a:xfrm>
            <a:off x="5131613" y="1920240"/>
            <a:ext cx="1925726" cy="502920"/>
          </a:xfrm>
          <a:prstGeom prst="roundRect">
            <a:avLst>
              <a:gd name="adj" fmla="val 14545"/>
            </a:avLst>
          </a:prstGeom>
          <a:solidFill>
            <a:srgbClr val="1B2A52"/>
          </a:solidFill>
          <a:ln/>
        </p:spPr>
      </p:sp>
      <p:sp>
        <p:nvSpPr>
          <p:cNvPr id="19" name="Shape 17"/>
          <p:cNvSpPr/>
          <p:nvPr/>
        </p:nvSpPr>
        <p:spPr>
          <a:xfrm>
            <a:off x="5131613" y="2194560"/>
            <a:ext cx="1925726" cy="228600"/>
          </a:xfrm>
          <a:prstGeom prst="rect">
            <a:avLst/>
          </a:prstGeom>
          <a:solidFill>
            <a:srgbClr val="1B2A52"/>
          </a:solidFill>
          <a:ln/>
        </p:spPr>
      </p:sp>
      <p:sp>
        <p:nvSpPr>
          <p:cNvPr id="20" name="Text 18"/>
          <p:cNvSpPr/>
          <p:nvPr/>
        </p:nvSpPr>
        <p:spPr>
          <a:xfrm>
            <a:off x="5241341" y="1920240"/>
            <a:ext cx="1706270" cy="502920"/>
          </a:xfrm>
          <a:prstGeom prst="rect">
            <a:avLst/>
          </a:prstGeom>
          <a:noFill/>
          <a:ln/>
        </p:spPr>
        <p:txBody>
          <a:bodyPr wrap="square" lIns="0" tIns="0" rIns="0" bIns="0" rtlCol="0" anchor="ctr"/>
          <a:lstStyle/>
          <a:p>
            <a:pPr algn="ctr" indent="0" marL="0">
              <a:buNone/>
            </a:pPr>
            <a:r>
              <a:rPr lang="en-US" sz="1250" b="1" dirty="0">
                <a:solidFill>
                  <a:srgbClr val="B8912F"/>
                </a:solidFill>
                <a:latin typeface="Cambria" pitchFamily="34" charset="0"/>
                <a:ea typeface="Cambria" pitchFamily="34" charset="-122"/>
                <a:cs typeface="Cambria" pitchFamily="34" charset="-120"/>
              </a:rPr>
              <a:t>Pastoral</a:t>
            </a:r>
            <a:endParaRPr lang="en-US" sz="1250" dirty="0"/>
          </a:p>
        </p:txBody>
      </p:sp>
      <p:sp>
        <p:nvSpPr>
          <p:cNvPr id="21" name="Text 19"/>
          <p:cNvSpPr/>
          <p:nvPr/>
        </p:nvSpPr>
        <p:spPr>
          <a:xfrm>
            <a:off x="5296205" y="2606040"/>
            <a:ext cx="1596542" cy="2926080"/>
          </a:xfrm>
          <a:prstGeom prst="rect">
            <a:avLst/>
          </a:prstGeom>
          <a:noFill/>
          <a:ln/>
        </p:spPr>
        <p:txBody>
          <a:bodyPr wrap="square" lIns="0" tIns="0" rIns="0" bIns="0" rtlCol="0" anchor="ctr"/>
          <a:lstStyle/>
          <a:p>
            <a:pPr indent="0" marL="0">
              <a:lnSpc>
                <a:spcPct val="125000"/>
              </a:lnSpc>
              <a:buNone/>
            </a:pPr>
            <a:r>
              <a:rPr lang="en-US" sz="1080" dirty="0">
                <a:solidFill>
                  <a:srgbClr val="23324E"/>
                </a:solidFill>
                <a:latin typeface="Calibri" pitchFamily="34" charset="0"/>
                <a:ea typeface="Calibri" pitchFamily="34" charset="-122"/>
                <a:cs typeface="Calibri" pitchFamily="34" charset="-120"/>
              </a:rPr>
              <a:t>The Council's own self-description: concerned with how truth is presented and lived, engaging the modern world rather than condemning it.</a:t>
            </a:r>
            <a:endParaRPr lang="en-US" sz="1080" dirty="0"/>
          </a:p>
        </p:txBody>
      </p:sp>
      <p:sp>
        <p:nvSpPr>
          <p:cNvPr id="22" name="Shape 20"/>
          <p:cNvSpPr/>
          <p:nvPr/>
        </p:nvSpPr>
        <p:spPr>
          <a:xfrm>
            <a:off x="7423099" y="1920240"/>
            <a:ext cx="1925726" cy="3794760"/>
          </a:xfrm>
          <a:prstGeom prst="roundRect">
            <a:avLst>
              <a:gd name="adj" fmla="val 379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23" name="Shape 21"/>
          <p:cNvSpPr/>
          <p:nvPr/>
        </p:nvSpPr>
        <p:spPr>
          <a:xfrm>
            <a:off x="7423099" y="1920240"/>
            <a:ext cx="1925726" cy="502920"/>
          </a:xfrm>
          <a:prstGeom prst="roundRect">
            <a:avLst>
              <a:gd name="adj" fmla="val 14545"/>
            </a:avLst>
          </a:prstGeom>
          <a:solidFill>
            <a:srgbClr val="1B2A52"/>
          </a:solidFill>
          <a:ln/>
        </p:spPr>
      </p:sp>
      <p:sp>
        <p:nvSpPr>
          <p:cNvPr id="24" name="Shape 22"/>
          <p:cNvSpPr/>
          <p:nvPr/>
        </p:nvSpPr>
        <p:spPr>
          <a:xfrm>
            <a:off x="7423099" y="2194560"/>
            <a:ext cx="1925726" cy="228600"/>
          </a:xfrm>
          <a:prstGeom prst="rect">
            <a:avLst/>
          </a:prstGeom>
          <a:solidFill>
            <a:srgbClr val="1B2A52"/>
          </a:solidFill>
          <a:ln/>
        </p:spPr>
      </p:sp>
      <p:sp>
        <p:nvSpPr>
          <p:cNvPr id="25" name="Text 23"/>
          <p:cNvSpPr/>
          <p:nvPr/>
        </p:nvSpPr>
        <p:spPr>
          <a:xfrm>
            <a:off x="7532827" y="1920240"/>
            <a:ext cx="1706270" cy="502920"/>
          </a:xfrm>
          <a:prstGeom prst="rect">
            <a:avLst/>
          </a:prstGeom>
          <a:noFill/>
          <a:ln/>
        </p:spPr>
        <p:txBody>
          <a:bodyPr wrap="square" lIns="0" tIns="0" rIns="0" bIns="0" rtlCol="0" anchor="ctr"/>
          <a:lstStyle/>
          <a:p>
            <a:pPr algn="ctr" indent="0" marL="0">
              <a:buNone/>
            </a:pPr>
            <a:r>
              <a:rPr lang="en-US" sz="1250" b="1" dirty="0">
                <a:solidFill>
                  <a:srgbClr val="B8912F"/>
                </a:solidFill>
                <a:latin typeface="Cambria" pitchFamily="34" charset="0"/>
                <a:ea typeface="Cambria" pitchFamily="34" charset="-122"/>
                <a:cs typeface="Cambria" pitchFamily="34" charset="-120"/>
              </a:rPr>
              <a:t>Signs of the Times</a:t>
            </a:r>
            <a:endParaRPr lang="en-US" sz="1250" dirty="0"/>
          </a:p>
        </p:txBody>
      </p:sp>
      <p:sp>
        <p:nvSpPr>
          <p:cNvPr id="26" name="Text 24"/>
          <p:cNvSpPr/>
          <p:nvPr/>
        </p:nvSpPr>
        <p:spPr>
          <a:xfrm>
            <a:off x="7587691" y="2606040"/>
            <a:ext cx="1596542" cy="2926080"/>
          </a:xfrm>
          <a:prstGeom prst="rect">
            <a:avLst/>
          </a:prstGeom>
          <a:noFill/>
          <a:ln/>
        </p:spPr>
        <p:txBody>
          <a:bodyPr wrap="square" lIns="0" tIns="0" rIns="0" bIns="0" rtlCol="0" anchor="ctr"/>
          <a:lstStyle/>
          <a:p>
            <a:pPr indent="0" marL="0">
              <a:lnSpc>
                <a:spcPct val="125000"/>
              </a:lnSpc>
              <a:buNone/>
            </a:pPr>
            <a:r>
              <a:rPr lang="en-US" sz="1080" dirty="0">
                <a:solidFill>
                  <a:srgbClr val="23324E"/>
                </a:solidFill>
                <a:latin typeface="Calibri" pitchFamily="34" charset="0"/>
                <a:ea typeface="Calibri" pitchFamily="34" charset="-122"/>
                <a:cs typeface="Calibri" pitchFamily="34" charset="-120"/>
              </a:rPr>
              <a:t>The Church's duty to read contemporary events in the light of the Gospel — a phrase from Gaudium et Spes.</a:t>
            </a:r>
            <a:endParaRPr lang="en-US" sz="1080" dirty="0"/>
          </a:p>
        </p:txBody>
      </p:sp>
      <p:sp>
        <p:nvSpPr>
          <p:cNvPr id="27" name="Shape 25"/>
          <p:cNvSpPr/>
          <p:nvPr/>
        </p:nvSpPr>
        <p:spPr>
          <a:xfrm>
            <a:off x="9714586" y="1920240"/>
            <a:ext cx="1925726" cy="3794760"/>
          </a:xfrm>
          <a:prstGeom prst="roundRect">
            <a:avLst>
              <a:gd name="adj" fmla="val 379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28" name="Shape 26"/>
          <p:cNvSpPr/>
          <p:nvPr/>
        </p:nvSpPr>
        <p:spPr>
          <a:xfrm>
            <a:off x="9714586" y="1920240"/>
            <a:ext cx="1925726" cy="502920"/>
          </a:xfrm>
          <a:prstGeom prst="roundRect">
            <a:avLst>
              <a:gd name="adj" fmla="val 14545"/>
            </a:avLst>
          </a:prstGeom>
          <a:solidFill>
            <a:srgbClr val="1B2A52"/>
          </a:solidFill>
          <a:ln/>
        </p:spPr>
      </p:sp>
      <p:sp>
        <p:nvSpPr>
          <p:cNvPr id="29" name="Shape 27"/>
          <p:cNvSpPr/>
          <p:nvPr/>
        </p:nvSpPr>
        <p:spPr>
          <a:xfrm>
            <a:off x="9714586" y="2194560"/>
            <a:ext cx="1925726" cy="228600"/>
          </a:xfrm>
          <a:prstGeom prst="rect">
            <a:avLst/>
          </a:prstGeom>
          <a:solidFill>
            <a:srgbClr val="1B2A52"/>
          </a:solidFill>
          <a:ln/>
        </p:spPr>
      </p:sp>
      <p:sp>
        <p:nvSpPr>
          <p:cNvPr id="30" name="Text 28"/>
          <p:cNvSpPr/>
          <p:nvPr/>
        </p:nvSpPr>
        <p:spPr>
          <a:xfrm>
            <a:off x="9824314" y="1920240"/>
            <a:ext cx="1706270" cy="502920"/>
          </a:xfrm>
          <a:prstGeom prst="rect">
            <a:avLst/>
          </a:prstGeom>
          <a:noFill/>
          <a:ln/>
        </p:spPr>
        <p:txBody>
          <a:bodyPr wrap="square" lIns="0" tIns="0" rIns="0" bIns="0" rtlCol="0" anchor="ctr"/>
          <a:lstStyle/>
          <a:p>
            <a:pPr algn="ctr" indent="0" marL="0">
              <a:buNone/>
            </a:pPr>
            <a:r>
              <a:rPr lang="en-US" sz="1250" b="1" dirty="0">
                <a:solidFill>
                  <a:srgbClr val="B8912F"/>
                </a:solidFill>
                <a:latin typeface="Cambria" pitchFamily="34" charset="0"/>
                <a:ea typeface="Cambria" pitchFamily="34" charset="-122"/>
                <a:cs typeface="Cambria" pitchFamily="34" charset="-120"/>
              </a:rPr>
              <a:t>New Pentecost</a:t>
            </a:r>
            <a:endParaRPr lang="en-US" sz="1250" dirty="0"/>
          </a:p>
        </p:txBody>
      </p:sp>
      <p:sp>
        <p:nvSpPr>
          <p:cNvPr id="31" name="Text 29"/>
          <p:cNvSpPr/>
          <p:nvPr/>
        </p:nvSpPr>
        <p:spPr>
          <a:xfrm>
            <a:off x="9879178" y="2606040"/>
            <a:ext cx="1596542" cy="2926080"/>
          </a:xfrm>
          <a:prstGeom prst="rect">
            <a:avLst/>
          </a:prstGeom>
          <a:noFill/>
          <a:ln/>
        </p:spPr>
        <p:txBody>
          <a:bodyPr wrap="square" lIns="0" tIns="0" rIns="0" bIns="0" rtlCol="0" anchor="ctr"/>
          <a:lstStyle/>
          <a:p>
            <a:pPr indent="0" marL="0">
              <a:lnSpc>
                <a:spcPct val="125000"/>
              </a:lnSpc>
              <a:buNone/>
            </a:pPr>
            <a:r>
              <a:rPr lang="en-US" sz="1080" dirty="0">
                <a:solidFill>
                  <a:srgbClr val="23324E"/>
                </a:solidFill>
                <a:latin typeface="Calibri" pitchFamily="34" charset="0"/>
                <a:ea typeface="Calibri" pitchFamily="34" charset="-122"/>
                <a:cs typeface="Calibri" pitchFamily="34" charset="-120"/>
              </a:rPr>
              <a:t>John XXIII's hope for a fresh outpouring of the Holy Spirit, renewing the Church and empowering it for mission.</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1959 – 1962</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Preparing the Council</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48640" y="1508760"/>
            <a:ext cx="5362956" cy="4480560"/>
          </a:xfrm>
          <a:prstGeom prst="roundRect">
            <a:avLst>
              <a:gd name="adj" fmla="val 1633"/>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7" name="Text 5"/>
          <p:cNvSpPr/>
          <p:nvPr/>
        </p:nvSpPr>
        <p:spPr>
          <a:xfrm>
            <a:off x="822960" y="1691640"/>
            <a:ext cx="4814316" cy="411480"/>
          </a:xfrm>
          <a:prstGeom prst="rect">
            <a:avLst/>
          </a:prstGeom>
          <a:noFill/>
          <a:ln/>
        </p:spPr>
        <p:txBody>
          <a:bodyPr wrap="square" lIns="0" tIns="0" rIns="0" bIns="0" rtlCol="0" anchor="ctr"/>
          <a:lstStyle/>
          <a:p>
            <a:pPr indent="0" marL="0">
              <a:buNone/>
            </a:pPr>
            <a:r>
              <a:rPr lang="en-US" sz="1500" b="1" dirty="0">
                <a:solidFill>
                  <a:srgbClr val="1B2A52"/>
                </a:solidFill>
                <a:latin typeface="Cambria" pitchFamily="34" charset="0"/>
                <a:ea typeface="Cambria" pitchFamily="34" charset="-122"/>
                <a:cs typeface="Cambria" pitchFamily="34" charset="-120"/>
              </a:rPr>
              <a:t>From Consultation to Commissions</a:t>
            </a:r>
            <a:endParaRPr lang="en-US" sz="1500" dirty="0"/>
          </a:p>
        </p:txBody>
      </p:sp>
      <p:sp>
        <p:nvSpPr>
          <p:cNvPr id="8" name="Text 6"/>
          <p:cNvSpPr/>
          <p:nvPr/>
        </p:nvSpPr>
        <p:spPr>
          <a:xfrm>
            <a:off x="822960" y="2240280"/>
            <a:ext cx="4814316" cy="3566160"/>
          </a:xfrm>
          <a:prstGeom prst="rect">
            <a:avLst/>
          </a:prstGeom>
          <a:noFill/>
          <a:ln/>
        </p:spPr>
        <p:txBody>
          <a:bodyPr wrap="square" lIns="0" tIns="0" rIns="0" bIns="0" rtlCol="0" anchor="ctr"/>
          <a:lstStyle/>
          <a:p>
            <a:pPr marL="177800" indent="-177800">
              <a:lnSpc>
                <a:spcPct val="128000"/>
              </a:lnSpc>
              <a:spcAft>
                <a:spcPts val="1200"/>
              </a:spcAft>
              <a:buSzPct val="100000"/>
              <a:buChar char="▪"/>
            </a:pPr>
            <a:r>
              <a:rPr lang="en-US" sz="1200" dirty="0">
                <a:solidFill>
                  <a:srgbClr val="23324E"/>
                </a:solidFill>
                <a:latin typeface="Calibri" pitchFamily="34" charset="0"/>
                <a:ea typeface="Calibri" pitchFamily="34" charset="-122"/>
                <a:cs typeface="Calibri" pitchFamily="34" charset="-120"/>
              </a:rPr>
              <a:t>1960 — Ten preparatory commissions established, together with secretariats for media and for Christian unity, largely staffed by the Roman Curia</a:t>
            </a:r>
            <a:endParaRPr lang="en-US" sz="1200" dirty="0"/>
          </a:p>
          <a:p>
            <a:pPr marL="177800" indent="-177800">
              <a:lnSpc>
                <a:spcPct val="128000"/>
              </a:lnSpc>
              <a:spcAft>
                <a:spcPts val="1200"/>
              </a:spcAft>
              <a:buSzPct val="100000"/>
              <a:buChar char="▪"/>
            </a:pPr>
            <a:r>
              <a:rPr lang="en-US" sz="1200" dirty="0">
                <a:solidFill>
                  <a:srgbClr val="23324E"/>
                </a:solidFill>
                <a:latin typeface="Calibri" pitchFamily="34" charset="0"/>
                <a:ea typeface="Calibri" pitchFamily="34" charset="-122"/>
                <a:cs typeface="Calibri" pitchFamily="34" charset="-120"/>
              </a:rPr>
              <a:t>Bishops, religious superiors, and Catholic universities worldwide were invited to submit their hopes for the Council</a:t>
            </a:r>
            <a:endParaRPr lang="en-US" sz="1200" dirty="0"/>
          </a:p>
          <a:p>
            <a:pPr marL="177800" indent="-177800">
              <a:lnSpc>
                <a:spcPct val="128000"/>
              </a:lnSpc>
              <a:spcAft>
                <a:spcPts val="1200"/>
              </a:spcAft>
              <a:buSzPct val="100000"/>
              <a:buChar char="▪"/>
            </a:pPr>
            <a:r>
              <a:rPr lang="en-US" sz="1200" dirty="0">
                <a:solidFill>
                  <a:srgbClr val="23324E"/>
                </a:solidFill>
                <a:latin typeface="Calibri" pitchFamily="34" charset="0"/>
                <a:ea typeface="Calibri" pitchFamily="34" charset="-122"/>
                <a:cs typeface="Calibri" pitchFamily="34" charset="-120"/>
              </a:rPr>
              <a:t>Roughly 9,400 vota (suggestions) came in — distilled first into some 70 draft schemata, then reduced to about 20 by the time the Council opened</a:t>
            </a:r>
            <a:endParaRPr lang="en-US" sz="1200" dirty="0"/>
          </a:p>
        </p:txBody>
      </p:sp>
      <p:sp>
        <p:nvSpPr>
          <p:cNvPr id="9" name="Shape 7"/>
          <p:cNvSpPr/>
          <p:nvPr/>
        </p:nvSpPr>
        <p:spPr>
          <a:xfrm>
            <a:off x="6277356" y="1508760"/>
            <a:ext cx="5362956" cy="2148840"/>
          </a:xfrm>
          <a:prstGeom prst="roundRect">
            <a:avLst>
              <a:gd name="adj" fmla="val 3404"/>
            </a:avLst>
          </a:prstGeom>
          <a:solidFill>
            <a:srgbClr val="1B2A52"/>
          </a:solidFill>
          <a:ln w="12700">
            <a:solidFill>
              <a:srgbClr val="1B2A52"/>
            </a:solidFill>
            <a:prstDash val="solid"/>
          </a:ln>
          <a:effectLst>
            <a:outerShdw sx="100000" sy="100000" kx="0" ky="0" algn="bl" rotWithShape="0" blurRad="76200" dist="25400" dir="5400000">
              <a:srgbClr val="1B2A52">
                <a:alpha val="18000"/>
              </a:srgbClr>
            </a:outerShdw>
          </a:effectLst>
        </p:spPr>
      </p:sp>
      <p:sp>
        <p:nvSpPr>
          <p:cNvPr id="10" name="Text 8"/>
          <p:cNvSpPr/>
          <p:nvPr/>
        </p:nvSpPr>
        <p:spPr>
          <a:xfrm>
            <a:off x="6551676" y="1691640"/>
            <a:ext cx="4814316" cy="365760"/>
          </a:xfrm>
          <a:prstGeom prst="rect">
            <a:avLst/>
          </a:prstGeom>
          <a:noFill/>
          <a:ln/>
        </p:spPr>
        <p:txBody>
          <a:bodyPr wrap="square" lIns="0" tIns="0" rIns="0" bIns="0" rtlCol="0" anchor="ctr"/>
          <a:lstStyle/>
          <a:p>
            <a:pPr indent="0" marL="0">
              <a:buNone/>
            </a:pPr>
            <a:r>
              <a:rPr lang="en-US" sz="1450" b="1" dirty="0">
                <a:solidFill>
                  <a:srgbClr val="B8912F"/>
                </a:solidFill>
                <a:latin typeface="Cambria" pitchFamily="34" charset="0"/>
                <a:ea typeface="Cambria" pitchFamily="34" charset="-122"/>
                <a:cs typeface="Cambria" pitchFamily="34" charset="-120"/>
              </a:rPr>
              <a:t>How the Council Worked</a:t>
            </a:r>
            <a:endParaRPr lang="en-US" sz="1450" dirty="0"/>
          </a:p>
        </p:txBody>
      </p:sp>
      <p:sp>
        <p:nvSpPr>
          <p:cNvPr id="11" name="Text 9"/>
          <p:cNvSpPr/>
          <p:nvPr/>
        </p:nvSpPr>
        <p:spPr>
          <a:xfrm>
            <a:off x="6551676" y="2103120"/>
            <a:ext cx="4814316" cy="1463040"/>
          </a:xfrm>
          <a:prstGeom prst="rect">
            <a:avLst/>
          </a:prstGeom>
          <a:noFill/>
          <a:ln/>
        </p:spPr>
        <p:txBody>
          <a:bodyPr wrap="square" lIns="0" tIns="0" rIns="0" bIns="0" rtlCol="0" anchor="ctr"/>
          <a:lstStyle/>
          <a:p>
            <a:pPr marL="177800" indent="-177800">
              <a:lnSpc>
                <a:spcPct val="12000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Latin: official language of public sessions</a:t>
            </a:r>
            <a:endParaRPr lang="en-US" sz="1150" dirty="0"/>
          </a:p>
          <a:p>
            <a:pPr marL="177800" indent="-177800">
              <a:lnSpc>
                <a:spcPct val="12000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Two-thirds majority required to pass a text</a:t>
            </a:r>
            <a:endParaRPr lang="en-US" sz="1150" dirty="0"/>
          </a:p>
          <a:p>
            <a:pPr marL="177800" indent="-177800">
              <a:lnSpc>
                <a:spcPct val="12000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Placet · Non placet · Placet iuxta modum</a:t>
            </a:r>
            <a:endParaRPr lang="en-US" sz="1150" dirty="0"/>
          </a:p>
        </p:txBody>
      </p:sp>
      <p:sp>
        <p:nvSpPr>
          <p:cNvPr id="12" name="Shape 10"/>
          <p:cNvSpPr/>
          <p:nvPr/>
        </p:nvSpPr>
        <p:spPr>
          <a:xfrm>
            <a:off x="6277356" y="3794760"/>
            <a:ext cx="5362956" cy="2194560"/>
          </a:xfrm>
          <a:prstGeom prst="roundRect">
            <a:avLst>
              <a:gd name="adj" fmla="val 3333"/>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3" name="Text 11"/>
          <p:cNvSpPr/>
          <p:nvPr/>
        </p:nvSpPr>
        <p:spPr>
          <a:xfrm>
            <a:off x="6551676" y="3977640"/>
            <a:ext cx="4814316" cy="365760"/>
          </a:xfrm>
          <a:prstGeom prst="rect">
            <a:avLst/>
          </a:prstGeom>
          <a:noFill/>
          <a:ln/>
        </p:spPr>
        <p:txBody>
          <a:bodyPr wrap="square" lIns="0" tIns="0" rIns="0" bIns="0" rtlCol="0" anchor="ctr"/>
          <a:lstStyle/>
          <a:p>
            <a:pPr indent="0" marL="0">
              <a:buNone/>
            </a:pPr>
            <a:r>
              <a:rPr lang="en-US" sz="1450" b="1" dirty="0">
                <a:solidFill>
                  <a:srgbClr val="1B2A52"/>
                </a:solidFill>
                <a:latin typeface="Cambria" pitchFamily="34" charset="0"/>
                <a:ea typeface="Cambria" pitchFamily="34" charset="-122"/>
                <a:cs typeface="Cambria" pitchFamily="34" charset="-120"/>
              </a:rPr>
              <a:t>Working Structure</a:t>
            </a:r>
            <a:endParaRPr lang="en-US" sz="1450" dirty="0"/>
          </a:p>
        </p:txBody>
      </p:sp>
      <p:sp>
        <p:nvSpPr>
          <p:cNvPr id="14" name="Text 12"/>
          <p:cNvSpPr/>
          <p:nvPr/>
        </p:nvSpPr>
        <p:spPr>
          <a:xfrm>
            <a:off x="6551676" y="4389120"/>
            <a:ext cx="4814316" cy="155448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00" dirty="0">
                <a:solidFill>
                  <a:srgbClr val="23324E"/>
                </a:solidFill>
                <a:latin typeface="Calibri" pitchFamily="34" charset="0"/>
                <a:ea typeface="Calibri" pitchFamily="34" charset="-122"/>
                <a:cs typeface="Calibri" pitchFamily="34" charset="-120"/>
              </a:rPr>
              <a:t>General Congregations — daily working sessions for debate</a:t>
            </a:r>
            <a:endParaRPr lang="en-US" sz="1100" dirty="0"/>
          </a:p>
          <a:p>
            <a:pPr marL="177800" indent="-177800">
              <a:lnSpc>
                <a:spcPct val="120000"/>
              </a:lnSpc>
              <a:spcAft>
                <a:spcPts val="700"/>
              </a:spcAft>
              <a:buSzPct val="100000"/>
              <a:buChar char="▪"/>
            </a:pPr>
            <a:r>
              <a:rPr lang="en-US" sz="1100" dirty="0">
                <a:solidFill>
                  <a:srgbClr val="23324E"/>
                </a:solidFill>
                <a:latin typeface="Calibri" pitchFamily="34" charset="0"/>
                <a:ea typeface="Calibri" pitchFamily="34" charset="-122"/>
                <a:cs typeface="Calibri" pitchFamily="34" charset="-120"/>
              </a:rPr>
              <a:t>Ten Conciliar Commissions revised the texts</a:t>
            </a:r>
            <a:endParaRPr lang="en-US" sz="1100" dirty="0"/>
          </a:p>
          <a:p>
            <a:pPr marL="177800" indent="-177800">
              <a:lnSpc>
                <a:spcPct val="120000"/>
              </a:lnSpc>
              <a:spcAft>
                <a:spcPts val="700"/>
              </a:spcAft>
              <a:buSzPct val="100000"/>
              <a:buChar char="▪"/>
            </a:pPr>
            <a:r>
              <a:rPr lang="en-US" sz="1100" dirty="0">
                <a:solidFill>
                  <a:srgbClr val="23324E"/>
                </a:solidFill>
                <a:latin typeface="Calibri" pitchFamily="34" charset="0"/>
                <a:ea typeface="Calibri" pitchFamily="34" charset="-122"/>
                <a:cs typeface="Calibri" pitchFamily="34" charset="-120"/>
              </a:rPr>
              <a:t>Public Sessions — solemn ceremonies to promulgate documents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OCTOBER 13, 1962</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The Opening Revolt — Bishops Take Control</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554480"/>
            <a:ext cx="11091672" cy="1051560"/>
          </a:xfrm>
          <a:prstGeom prst="roundRect">
            <a:avLst>
              <a:gd name="adj" fmla="val 6957"/>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7" name="Text 5"/>
          <p:cNvSpPr/>
          <p:nvPr/>
        </p:nvSpPr>
        <p:spPr>
          <a:xfrm>
            <a:off x="822960" y="1554480"/>
            <a:ext cx="10543032" cy="1051560"/>
          </a:xfrm>
          <a:prstGeom prst="rect">
            <a:avLst/>
          </a:prstGeom>
          <a:noFill/>
          <a:ln/>
        </p:spPr>
        <p:txBody>
          <a:bodyPr wrap="square" lIns="0" tIns="0" rIns="0" bIns="0" rtlCol="0" anchor="ctr"/>
          <a:lstStyle/>
          <a:p>
            <a:pPr indent="0" marL="0">
              <a:lnSpc>
                <a:spcPct val="125000"/>
              </a:lnSpc>
              <a:buNone/>
            </a:pPr>
            <a:r>
              <a:rPr lang="en-US" sz="1300" i="1" dirty="0">
                <a:solidFill>
                  <a:srgbClr val="23324E"/>
                </a:solidFill>
                <a:latin typeface="Calibri" pitchFamily="34" charset="0"/>
                <a:ea typeface="Calibri" pitchFamily="34" charset="-122"/>
                <a:cs typeface="Calibri" pitchFamily="34" charset="-120"/>
              </a:rPr>
              <a:t>The Roman Curia expected the bishops to approve the prepared drafts quickly and return home within weeks. The first working session did not go as planned.</a:t>
            </a:r>
            <a:endParaRPr lang="en-US" sz="1300" dirty="0"/>
          </a:p>
        </p:txBody>
      </p:sp>
      <p:sp>
        <p:nvSpPr>
          <p:cNvPr id="8" name="Shape 6"/>
          <p:cNvSpPr/>
          <p:nvPr/>
        </p:nvSpPr>
        <p:spPr>
          <a:xfrm>
            <a:off x="548640" y="2834640"/>
            <a:ext cx="5362956" cy="3154680"/>
          </a:xfrm>
          <a:prstGeom prst="roundRect">
            <a:avLst>
              <a:gd name="adj" fmla="val 231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9" name="Text 7"/>
          <p:cNvSpPr/>
          <p:nvPr/>
        </p:nvSpPr>
        <p:spPr>
          <a:xfrm>
            <a:off x="822960" y="3017520"/>
            <a:ext cx="4814316" cy="365760"/>
          </a:xfrm>
          <a:prstGeom prst="rect">
            <a:avLst/>
          </a:prstGeom>
          <a:noFill/>
          <a:ln/>
        </p:spPr>
        <p:txBody>
          <a:bodyPr wrap="square" lIns="0" tIns="0" rIns="0" bIns="0" rtlCol="0" anchor="ctr"/>
          <a:lstStyle/>
          <a:p>
            <a:pPr indent="0" marL="0">
              <a:buNone/>
            </a:pPr>
            <a:r>
              <a:rPr lang="en-US" sz="1500" b="1" dirty="0">
                <a:solidFill>
                  <a:srgbClr val="7A1B2E"/>
                </a:solidFill>
                <a:latin typeface="Cambria" pitchFamily="34" charset="0"/>
                <a:ea typeface="Cambria" pitchFamily="34" charset="-122"/>
                <a:cs typeface="Cambria" pitchFamily="34" charset="-120"/>
              </a:rPr>
              <a:t>The Intervention</a:t>
            </a:r>
            <a:endParaRPr lang="en-US" sz="1500" dirty="0"/>
          </a:p>
        </p:txBody>
      </p:sp>
      <p:sp>
        <p:nvSpPr>
          <p:cNvPr id="10" name="Text 8"/>
          <p:cNvSpPr/>
          <p:nvPr/>
        </p:nvSpPr>
        <p:spPr>
          <a:xfrm>
            <a:off x="822960" y="3429000"/>
            <a:ext cx="4814316" cy="2377440"/>
          </a:xfrm>
          <a:prstGeom prst="rect">
            <a:avLst/>
          </a:prstGeom>
          <a:noFill/>
          <a:ln/>
        </p:spPr>
        <p:txBody>
          <a:bodyPr wrap="square" lIns="0" tIns="0" rIns="0" bIns="0" rtlCol="0" anchor="ctr"/>
          <a:lstStyle/>
          <a:p>
            <a:pPr indent="0" marL="0">
              <a:lnSpc>
                <a:spcPct val="128000"/>
              </a:lnSpc>
              <a:buNone/>
            </a:pPr>
            <a:r>
              <a:rPr lang="en-US" sz="1200" dirty="0">
                <a:solidFill>
                  <a:srgbClr val="23324E"/>
                </a:solidFill>
                <a:latin typeface="Calibri" pitchFamily="34" charset="0"/>
                <a:ea typeface="Calibri" pitchFamily="34" charset="-122"/>
                <a:cs typeface="Calibri" pitchFamily="34" charset="-120"/>
              </a:rPr>
              <a:t>Cardinals Achille Liénart (France) and Josef Frings (Germany) rose and moved to postpone the election of commission members — arguing bishops first needed time to know one another, rather than simply ratify the Curia's prepared list. The motion passed by acclamation.</a:t>
            </a:r>
            <a:endParaRPr lang="en-US" sz="1200" dirty="0"/>
          </a:p>
        </p:txBody>
      </p:sp>
      <p:sp>
        <p:nvSpPr>
          <p:cNvPr id="11" name="Shape 9"/>
          <p:cNvSpPr/>
          <p:nvPr/>
        </p:nvSpPr>
        <p:spPr>
          <a:xfrm>
            <a:off x="6277356" y="2834640"/>
            <a:ext cx="5362956" cy="3154680"/>
          </a:xfrm>
          <a:prstGeom prst="roundRect">
            <a:avLst>
              <a:gd name="adj" fmla="val 2319"/>
            </a:avLst>
          </a:prstGeom>
          <a:solidFill>
            <a:srgbClr val="1B2A52"/>
          </a:solidFill>
          <a:ln w="12700">
            <a:solidFill>
              <a:srgbClr val="1B2A52"/>
            </a:solidFill>
            <a:prstDash val="solid"/>
          </a:ln>
          <a:effectLst>
            <a:outerShdw sx="100000" sy="100000" kx="0" ky="0" algn="bl" rotWithShape="0" blurRad="76200" dist="25400" dir="5400000">
              <a:srgbClr val="1B2A52">
                <a:alpha val="18000"/>
              </a:srgbClr>
            </a:outerShdw>
          </a:effectLst>
        </p:spPr>
      </p:sp>
      <p:sp>
        <p:nvSpPr>
          <p:cNvPr id="12" name="Text 10"/>
          <p:cNvSpPr/>
          <p:nvPr/>
        </p:nvSpPr>
        <p:spPr>
          <a:xfrm>
            <a:off x="6551676" y="3017520"/>
            <a:ext cx="4814316" cy="365760"/>
          </a:xfrm>
          <a:prstGeom prst="rect">
            <a:avLst/>
          </a:prstGeom>
          <a:noFill/>
          <a:ln/>
        </p:spPr>
        <p:txBody>
          <a:bodyPr wrap="square" lIns="0" tIns="0" rIns="0" bIns="0" rtlCol="0" anchor="ctr"/>
          <a:lstStyle/>
          <a:p>
            <a:pPr indent="0" marL="0">
              <a:buNone/>
            </a:pPr>
            <a:r>
              <a:rPr lang="en-US" sz="1500" b="1" dirty="0">
                <a:solidFill>
                  <a:srgbClr val="B8912F"/>
                </a:solidFill>
                <a:latin typeface="Cambria" pitchFamily="34" charset="0"/>
                <a:ea typeface="Cambria" pitchFamily="34" charset="-122"/>
                <a:cs typeface="Cambria" pitchFamily="34" charset="-120"/>
              </a:rPr>
              <a:t>The Consequence</a:t>
            </a:r>
            <a:endParaRPr lang="en-US" sz="1500" dirty="0"/>
          </a:p>
        </p:txBody>
      </p:sp>
      <p:sp>
        <p:nvSpPr>
          <p:cNvPr id="13" name="Text 11"/>
          <p:cNvSpPr/>
          <p:nvPr/>
        </p:nvSpPr>
        <p:spPr>
          <a:xfrm>
            <a:off x="6551676" y="3429000"/>
            <a:ext cx="4814316" cy="2377440"/>
          </a:xfrm>
          <a:prstGeom prst="rect">
            <a:avLst/>
          </a:prstGeom>
          <a:noFill/>
          <a:ln/>
        </p:spPr>
        <p:txBody>
          <a:bodyPr wrap="square" lIns="0" tIns="0" rIns="0" bIns="0" rtlCol="0" anchor="ctr"/>
          <a:lstStyle/>
          <a:p>
            <a:pPr indent="0" marL="0">
              <a:lnSpc>
                <a:spcPct val="128000"/>
              </a:lnSpc>
              <a:buNone/>
            </a:pPr>
            <a:r>
              <a:rPr lang="en-US" sz="1200" dirty="0">
                <a:solidFill>
                  <a:srgbClr val="FFFFFF"/>
                </a:solidFill>
                <a:latin typeface="Calibri" pitchFamily="34" charset="0"/>
                <a:ea typeface="Calibri" pitchFamily="34" charset="-122"/>
                <a:cs typeface="Calibri" pitchFamily="34" charset="-120"/>
              </a:rPr>
              <a:t>Bishops elected their own representatives instead of accepting Curial nominees. Most prepared texts — except the one on the liturgy — were judged too scholastic and defensive, and sent back for a full rewrite reflecting John XXIII's pastoral vision.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THE COUNCIL'S PEOPLE</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Key Participants: Popes &amp; Council Leadership</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993002"/>
                <a:gridCol w="709867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Pope</a:t>
                      </a:r>
                      <a:endParaRPr lang="en-US" sz="1200" dirty="0">
                        <a:latin typeface="Calibri" charset="0"/>
                        <a:ea typeface="Calibri" charset="0"/>
                        <a:cs typeface="Calibri" charset="0"/>
                      </a:endParaRPr>
                    </a:p>
                  </a:txBody>
                  <a:tcPr marL="127000" marR="1270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1B2A5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127000" marR="1270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1B2A52"/>
                    </a:solidFill>
                  </a:tcPr>
                </a:tc>
              </a:tr>
              <a:tr h="566928">
                <a:tc>
                  <a:txBody>
                    <a:bodyPr/>
                    <a:lstStyle/>
                    <a:p>
                      <a:pPr indent="0" marL="0">
                        <a:buNone/>
                      </a:pPr>
                      <a:r>
                        <a:rPr lang="en-US" sz="1200" dirty="0">
                          <a:solidFill>
                            <a:srgbClr val="23324E"/>
                          </a:solidFill>
                          <a:latin typeface="Calibri" pitchFamily="34" charset="0"/>
                          <a:ea typeface="Calibri" pitchFamily="34" charset="-122"/>
                          <a:cs typeface="Calibri" pitchFamily="34" charset="-120"/>
                        </a:rPr>
                        <a:t>John XXIII (Angelo Roncalli)</a:t>
                      </a:r>
                      <a:endParaRPr lang="en-US" sz="1200" dirty="0">
                        <a:latin typeface="Calibri" charset="0"/>
                        <a:ea typeface="Calibri" charset="0"/>
                        <a:cs typeface="Calibri" charset="0"/>
                      </a:endParaRPr>
                    </a:p>
                  </a:txBody>
                  <a:tcPr marL="127000" marR="1270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200" dirty="0">
                          <a:solidFill>
                            <a:srgbClr val="23324E"/>
                          </a:solidFill>
                          <a:latin typeface="Calibri" pitchFamily="34" charset="0"/>
                          <a:ea typeface="Calibri" pitchFamily="34" charset="-122"/>
                          <a:cs typeface="Calibri" pitchFamily="34" charset="-120"/>
                        </a:rPr>
                        <a:t>Announced and opened the Council; died June 3, 1963, after the first session</a:t>
                      </a:r>
                      <a:endParaRPr lang="en-US" sz="1200" dirty="0">
                        <a:latin typeface="Calibri" charset="0"/>
                        <a:ea typeface="Calibri" charset="0"/>
                        <a:cs typeface="Calibri" charset="0"/>
                      </a:endParaRPr>
                    </a:p>
                  </a:txBody>
                  <a:tcPr marL="127000" marR="1270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3F1E8"/>
                    </a:solidFill>
                  </a:tcPr>
                </a:tc>
              </a:tr>
              <a:tr h="566928">
                <a:tc>
                  <a:txBody>
                    <a:bodyPr/>
                    <a:lstStyle/>
                    <a:p>
                      <a:pPr indent="0" marL="0">
                        <a:buNone/>
                      </a:pPr>
                      <a:r>
                        <a:rPr lang="en-US" sz="1200" dirty="0">
                          <a:solidFill>
                            <a:srgbClr val="23324E"/>
                          </a:solidFill>
                          <a:latin typeface="Calibri" pitchFamily="34" charset="0"/>
                          <a:ea typeface="Calibri" pitchFamily="34" charset="-122"/>
                          <a:cs typeface="Calibri" pitchFamily="34" charset="-120"/>
                        </a:rPr>
                        <a:t>Paul VI (Giovanni Battista Montini)</a:t>
                      </a:r>
                      <a:endParaRPr lang="en-US" sz="1200" dirty="0">
                        <a:latin typeface="Calibri" charset="0"/>
                        <a:ea typeface="Calibri" charset="0"/>
                        <a:cs typeface="Calibri" charset="0"/>
                      </a:endParaRPr>
                    </a:p>
                  </a:txBody>
                  <a:tcPr marL="127000" marR="1270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200" dirty="0">
                          <a:solidFill>
                            <a:srgbClr val="23324E"/>
                          </a:solidFill>
                          <a:latin typeface="Calibri" pitchFamily="34" charset="0"/>
                          <a:ea typeface="Calibri" pitchFamily="34" charset="-122"/>
                          <a:cs typeface="Calibri" pitchFamily="34" charset="-120"/>
                        </a:rPr>
                        <a:t>Elected June 21, 1963; guided Sessions 2–4; formally closed the Council December 8, 1965</a:t>
                      </a:r>
                      <a:endParaRPr lang="en-US" sz="1200" dirty="0">
                        <a:latin typeface="Calibri" charset="0"/>
                        <a:ea typeface="Calibri" charset="0"/>
                        <a:cs typeface="Calibri" charset="0"/>
                      </a:endParaRPr>
                    </a:p>
                  </a:txBody>
                  <a:tcPr marL="127000" marR="127000" marT="50800" marB="50800" anchor="ctr">
                    <a:lnL w="9525" cap="flat" cmpd="sng" algn="ctr">
                      <a:solidFill>
                        <a:srgbClr val="E2DCC8"/>
                      </a:solidFill>
                      <a:prstDash val="solid"/>
                      <a:round/>
                      <a:headEnd type="none" w="med" len="med"/>
                      <a:tailEnd type="none" w="med" len="med"/>
                    </a:lnL>
                    <a:lnR w="9525" cap="flat" cmpd="sng" algn="ctr">
                      <a:solidFill>
                        <a:srgbClr val="E2DCC8"/>
                      </a:solidFill>
                      <a:prstDash val="solid"/>
                      <a:round/>
                      <a:headEnd type="none" w="med" len="med"/>
                      <a:tailEnd type="none" w="med" len="med"/>
                    </a:lnR>
                    <a:lnT w="9525" cap="flat" cmpd="sng" algn="ctr">
                      <a:solidFill>
                        <a:srgbClr val="E2DCC8"/>
                      </a:solidFill>
                      <a:prstDash val="solid"/>
                      <a:round/>
                      <a:headEnd type="none" w="med" len="med"/>
                      <a:tailEnd type="none" w="med" len="med"/>
                    </a:lnT>
                    <a:lnB w="9525" cap="flat" cmpd="sng" algn="ctr">
                      <a:solidFill>
                        <a:srgbClr val="E2DCC8"/>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3246120"/>
            <a:ext cx="11091672" cy="365760"/>
          </a:xfrm>
          <a:prstGeom prst="rect">
            <a:avLst/>
          </a:prstGeom>
          <a:noFill/>
          <a:ln/>
        </p:spPr>
        <p:txBody>
          <a:bodyPr wrap="square" lIns="0" tIns="0" rIns="0" bIns="0" rtlCol="0" anchor="ctr"/>
          <a:lstStyle/>
          <a:p>
            <a:pPr indent="0" marL="0">
              <a:buNone/>
            </a:pPr>
            <a:r>
              <a:rPr lang="en-US" sz="1500" b="1" dirty="0">
                <a:solidFill>
                  <a:srgbClr val="1B2A52"/>
                </a:solidFill>
                <a:latin typeface="Cambria" pitchFamily="34" charset="0"/>
                <a:ea typeface="Cambria" pitchFamily="34" charset="-122"/>
                <a:cs typeface="Cambria" pitchFamily="34" charset="-120"/>
              </a:rPr>
              <a:t>Leading Voices in the Hall</a:t>
            </a:r>
            <a:endParaRPr lang="en-US" sz="1500" dirty="0"/>
          </a:p>
        </p:txBody>
      </p:sp>
      <p:sp>
        <p:nvSpPr>
          <p:cNvPr id="8" name="Shape 5"/>
          <p:cNvSpPr/>
          <p:nvPr/>
        </p:nvSpPr>
        <p:spPr>
          <a:xfrm>
            <a:off x="548640" y="3703320"/>
            <a:ext cx="1925726" cy="2286000"/>
          </a:xfrm>
          <a:prstGeom prst="roundRect">
            <a:avLst>
              <a:gd name="adj" fmla="val 379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9" name="Text 6"/>
          <p:cNvSpPr/>
          <p:nvPr/>
        </p:nvSpPr>
        <p:spPr>
          <a:xfrm>
            <a:off x="685800" y="3840480"/>
            <a:ext cx="1651406" cy="594360"/>
          </a:xfrm>
          <a:prstGeom prst="rect">
            <a:avLst/>
          </a:prstGeom>
          <a:noFill/>
          <a:ln/>
        </p:spPr>
        <p:txBody>
          <a:bodyPr wrap="square" lIns="0" tIns="0" rIns="0" bIns="0" rtlCol="0" anchor="ctr"/>
          <a:lstStyle/>
          <a:p>
            <a:pPr indent="0" marL="0">
              <a:lnSpc>
                <a:spcPct val="110000"/>
              </a:lnSpc>
              <a:buNone/>
            </a:pPr>
            <a:r>
              <a:rPr lang="en-US" sz="1200" b="1" dirty="0">
                <a:solidFill>
                  <a:srgbClr val="1B2A52"/>
                </a:solidFill>
                <a:latin typeface="Cambria" pitchFamily="34" charset="0"/>
                <a:ea typeface="Cambria" pitchFamily="34" charset="-122"/>
                <a:cs typeface="Cambria" pitchFamily="34" charset="-120"/>
              </a:rPr>
              <a:t>Achille Liénart</a:t>
            </a:r>
            <a:endParaRPr lang="en-US" sz="1200" dirty="0"/>
          </a:p>
        </p:txBody>
      </p:sp>
      <p:sp>
        <p:nvSpPr>
          <p:cNvPr id="10" name="Text 7"/>
          <p:cNvSpPr/>
          <p:nvPr/>
        </p:nvSpPr>
        <p:spPr>
          <a:xfrm>
            <a:off x="685800" y="4480560"/>
            <a:ext cx="1651406" cy="1417320"/>
          </a:xfrm>
          <a:prstGeom prst="rect">
            <a:avLst/>
          </a:prstGeom>
          <a:noFill/>
          <a:ln/>
        </p:spPr>
        <p:txBody>
          <a:bodyPr wrap="square" lIns="0" tIns="0" rIns="0" bIns="0" rtlCol="0" anchor="ctr"/>
          <a:lstStyle/>
          <a:p>
            <a:pPr indent="0" marL="0">
              <a:lnSpc>
                <a:spcPct val="120000"/>
              </a:lnSpc>
              <a:buNone/>
            </a:pPr>
            <a:r>
              <a:rPr lang="en-US" sz="1000" dirty="0">
                <a:solidFill>
                  <a:srgbClr val="23324E"/>
                </a:solidFill>
                <a:latin typeface="Calibri" pitchFamily="34" charset="0"/>
                <a:ea typeface="Calibri" pitchFamily="34" charset="-122"/>
                <a:cs typeface="Calibri" pitchFamily="34" charset="-120"/>
              </a:rPr>
              <a:t>France — led the opening procedural revolt against Curial control</a:t>
            </a:r>
            <a:endParaRPr lang="en-US" sz="1000" dirty="0"/>
          </a:p>
        </p:txBody>
      </p:sp>
      <p:sp>
        <p:nvSpPr>
          <p:cNvPr id="11" name="Shape 8"/>
          <p:cNvSpPr/>
          <p:nvPr/>
        </p:nvSpPr>
        <p:spPr>
          <a:xfrm>
            <a:off x="2840126" y="3703320"/>
            <a:ext cx="1925726" cy="2286000"/>
          </a:xfrm>
          <a:prstGeom prst="roundRect">
            <a:avLst>
              <a:gd name="adj" fmla="val 379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2" name="Text 9"/>
          <p:cNvSpPr/>
          <p:nvPr/>
        </p:nvSpPr>
        <p:spPr>
          <a:xfrm>
            <a:off x="2977286" y="3840480"/>
            <a:ext cx="1651406" cy="594360"/>
          </a:xfrm>
          <a:prstGeom prst="rect">
            <a:avLst/>
          </a:prstGeom>
          <a:noFill/>
          <a:ln/>
        </p:spPr>
        <p:txBody>
          <a:bodyPr wrap="square" lIns="0" tIns="0" rIns="0" bIns="0" rtlCol="0" anchor="ctr"/>
          <a:lstStyle/>
          <a:p>
            <a:pPr indent="0" marL="0">
              <a:lnSpc>
                <a:spcPct val="110000"/>
              </a:lnSpc>
              <a:buNone/>
            </a:pPr>
            <a:r>
              <a:rPr lang="en-US" sz="1200" b="1" dirty="0">
                <a:solidFill>
                  <a:srgbClr val="1B2A52"/>
                </a:solidFill>
                <a:latin typeface="Cambria" pitchFamily="34" charset="0"/>
                <a:ea typeface="Cambria" pitchFamily="34" charset="-122"/>
                <a:cs typeface="Cambria" pitchFamily="34" charset="-120"/>
              </a:rPr>
              <a:t>Josef Frings</a:t>
            </a:r>
            <a:endParaRPr lang="en-US" sz="1200" dirty="0"/>
          </a:p>
        </p:txBody>
      </p:sp>
      <p:sp>
        <p:nvSpPr>
          <p:cNvPr id="13" name="Text 10"/>
          <p:cNvSpPr/>
          <p:nvPr/>
        </p:nvSpPr>
        <p:spPr>
          <a:xfrm>
            <a:off x="2977286" y="4480560"/>
            <a:ext cx="1651406" cy="1417320"/>
          </a:xfrm>
          <a:prstGeom prst="rect">
            <a:avLst/>
          </a:prstGeom>
          <a:noFill/>
          <a:ln/>
        </p:spPr>
        <p:txBody>
          <a:bodyPr wrap="square" lIns="0" tIns="0" rIns="0" bIns="0" rtlCol="0" anchor="ctr"/>
          <a:lstStyle/>
          <a:p>
            <a:pPr indent="0" marL="0">
              <a:lnSpc>
                <a:spcPct val="120000"/>
              </a:lnSpc>
              <a:buNone/>
            </a:pPr>
            <a:r>
              <a:rPr lang="en-US" sz="1000" dirty="0">
                <a:solidFill>
                  <a:srgbClr val="23324E"/>
                </a:solidFill>
                <a:latin typeface="Calibri" pitchFamily="34" charset="0"/>
                <a:ea typeface="Calibri" pitchFamily="34" charset="-122"/>
                <a:cs typeface="Calibri" pitchFamily="34" charset="-120"/>
              </a:rPr>
              <a:t>Germany — challenged the Holy Office's handling of doctrine</a:t>
            </a:r>
            <a:endParaRPr lang="en-US" sz="1000" dirty="0"/>
          </a:p>
        </p:txBody>
      </p:sp>
      <p:sp>
        <p:nvSpPr>
          <p:cNvPr id="14" name="Shape 11"/>
          <p:cNvSpPr/>
          <p:nvPr/>
        </p:nvSpPr>
        <p:spPr>
          <a:xfrm>
            <a:off x="5131613" y="3703320"/>
            <a:ext cx="1925726" cy="2286000"/>
          </a:xfrm>
          <a:prstGeom prst="roundRect">
            <a:avLst>
              <a:gd name="adj" fmla="val 379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5" name="Text 12"/>
          <p:cNvSpPr/>
          <p:nvPr/>
        </p:nvSpPr>
        <p:spPr>
          <a:xfrm>
            <a:off x="5268773" y="3840480"/>
            <a:ext cx="1651406" cy="594360"/>
          </a:xfrm>
          <a:prstGeom prst="rect">
            <a:avLst/>
          </a:prstGeom>
          <a:noFill/>
          <a:ln/>
        </p:spPr>
        <p:txBody>
          <a:bodyPr wrap="square" lIns="0" tIns="0" rIns="0" bIns="0" rtlCol="0" anchor="ctr"/>
          <a:lstStyle/>
          <a:p>
            <a:pPr indent="0" marL="0">
              <a:lnSpc>
                <a:spcPct val="110000"/>
              </a:lnSpc>
              <a:buNone/>
            </a:pPr>
            <a:r>
              <a:rPr lang="en-US" sz="1200" b="1" dirty="0">
                <a:solidFill>
                  <a:srgbClr val="1B2A52"/>
                </a:solidFill>
                <a:latin typeface="Cambria" pitchFamily="34" charset="0"/>
                <a:ea typeface="Cambria" pitchFamily="34" charset="-122"/>
                <a:cs typeface="Cambria" pitchFamily="34" charset="-120"/>
              </a:rPr>
              <a:t>Léon-Joseph Suenens</a:t>
            </a:r>
            <a:endParaRPr lang="en-US" sz="1200" dirty="0"/>
          </a:p>
        </p:txBody>
      </p:sp>
      <p:sp>
        <p:nvSpPr>
          <p:cNvPr id="16" name="Text 13"/>
          <p:cNvSpPr/>
          <p:nvPr/>
        </p:nvSpPr>
        <p:spPr>
          <a:xfrm>
            <a:off x="5268773" y="4480560"/>
            <a:ext cx="1651406" cy="1417320"/>
          </a:xfrm>
          <a:prstGeom prst="rect">
            <a:avLst/>
          </a:prstGeom>
          <a:noFill/>
          <a:ln/>
        </p:spPr>
        <p:txBody>
          <a:bodyPr wrap="square" lIns="0" tIns="0" rIns="0" bIns="0" rtlCol="0" anchor="ctr"/>
          <a:lstStyle/>
          <a:p>
            <a:pPr indent="0" marL="0">
              <a:lnSpc>
                <a:spcPct val="120000"/>
              </a:lnSpc>
              <a:buNone/>
            </a:pPr>
            <a:r>
              <a:rPr lang="en-US" sz="1000" dirty="0">
                <a:solidFill>
                  <a:srgbClr val="23324E"/>
                </a:solidFill>
                <a:latin typeface="Calibri" pitchFamily="34" charset="0"/>
                <a:ea typeface="Calibri" pitchFamily="34" charset="-122"/>
                <a:cs typeface="Calibri" pitchFamily="34" charset="-120"/>
              </a:rPr>
              <a:t>Belgium — moderator who helped structure the Council's agenda</a:t>
            </a:r>
            <a:endParaRPr lang="en-US" sz="1000" dirty="0"/>
          </a:p>
        </p:txBody>
      </p:sp>
      <p:sp>
        <p:nvSpPr>
          <p:cNvPr id="17" name="Shape 14"/>
          <p:cNvSpPr/>
          <p:nvPr/>
        </p:nvSpPr>
        <p:spPr>
          <a:xfrm>
            <a:off x="7423099" y="3703320"/>
            <a:ext cx="1925726" cy="2286000"/>
          </a:xfrm>
          <a:prstGeom prst="roundRect">
            <a:avLst>
              <a:gd name="adj" fmla="val 379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8" name="Text 15"/>
          <p:cNvSpPr/>
          <p:nvPr/>
        </p:nvSpPr>
        <p:spPr>
          <a:xfrm>
            <a:off x="7560259" y="3840480"/>
            <a:ext cx="1651406" cy="594360"/>
          </a:xfrm>
          <a:prstGeom prst="rect">
            <a:avLst/>
          </a:prstGeom>
          <a:noFill/>
          <a:ln/>
        </p:spPr>
        <p:txBody>
          <a:bodyPr wrap="square" lIns="0" tIns="0" rIns="0" bIns="0" rtlCol="0" anchor="ctr"/>
          <a:lstStyle/>
          <a:p>
            <a:pPr indent="0" marL="0">
              <a:lnSpc>
                <a:spcPct val="110000"/>
              </a:lnSpc>
              <a:buNone/>
            </a:pPr>
            <a:r>
              <a:rPr lang="en-US" sz="1200" b="1" dirty="0">
                <a:solidFill>
                  <a:srgbClr val="1B2A52"/>
                </a:solidFill>
                <a:latin typeface="Cambria" pitchFamily="34" charset="0"/>
                <a:ea typeface="Cambria" pitchFamily="34" charset="-122"/>
                <a:cs typeface="Cambria" pitchFamily="34" charset="-120"/>
              </a:rPr>
              <a:t>Julius Döpfner</a:t>
            </a:r>
            <a:endParaRPr lang="en-US" sz="1200" dirty="0"/>
          </a:p>
        </p:txBody>
      </p:sp>
      <p:sp>
        <p:nvSpPr>
          <p:cNvPr id="19" name="Text 16"/>
          <p:cNvSpPr/>
          <p:nvPr/>
        </p:nvSpPr>
        <p:spPr>
          <a:xfrm>
            <a:off x="7560259" y="4480560"/>
            <a:ext cx="1651406" cy="1417320"/>
          </a:xfrm>
          <a:prstGeom prst="rect">
            <a:avLst/>
          </a:prstGeom>
          <a:noFill/>
          <a:ln/>
        </p:spPr>
        <p:txBody>
          <a:bodyPr wrap="square" lIns="0" tIns="0" rIns="0" bIns="0" rtlCol="0" anchor="ctr"/>
          <a:lstStyle/>
          <a:p>
            <a:pPr indent="0" marL="0">
              <a:lnSpc>
                <a:spcPct val="120000"/>
              </a:lnSpc>
              <a:buNone/>
            </a:pPr>
            <a:r>
              <a:rPr lang="en-US" sz="1000" dirty="0">
                <a:solidFill>
                  <a:srgbClr val="23324E"/>
                </a:solidFill>
                <a:latin typeface="Calibri" pitchFamily="34" charset="0"/>
                <a:ea typeface="Calibri" pitchFamily="34" charset="-122"/>
                <a:cs typeface="Calibri" pitchFamily="34" charset="-120"/>
              </a:rPr>
              <a:t>Germany — an influential moderator</a:t>
            </a:r>
            <a:endParaRPr lang="en-US" sz="1000" dirty="0"/>
          </a:p>
        </p:txBody>
      </p:sp>
      <p:sp>
        <p:nvSpPr>
          <p:cNvPr id="20" name="Shape 17"/>
          <p:cNvSpPr/>
          <p:nvPr/>
        </p:nvSpPr>
        <p:spPr>
          <a:xfrm>
            <a:off x="9714586" y="3703320"/>
            <a:ext cx="1925726" cy="2286000"/>
          </a:xfrm>
          <a:prstGeom prst="roundRect">
            <a:avLst>
              <a:gd name="adj" fmla="val 379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21" name="Text 18"/>
          <p:cNvSpPr/>
          <p:nvPr/>
        </p:nvSpPr>
        <p:spPr>
          <a:xfrm>
            <a:off x="9851746" y="3840480"/>
            <a:ext cx="1651406" cy="594360"/>
          </a:xfrm>
          <a:prstGeom prst="rect">
            <a:avLst/>
          </a:prstGeom>
          <a:noFill/>
          <a:ln/>
        </p:spPr>
        <p:txBody>
          <a:bodyPr wrap="square" lIns="0" tIns="0" rIns="0" bIns="0" rtlCol="0" anchor="ctr"/>
          <a:lstStyle/>
          <a:p>
            <a:pPr indent="0" marL="0">
              <a:lnSpc>
                <a:spcPct val="110000"/>
              </a:lnSpc>
              <a:buNone/>
            </a:pPr>
            <a:r>
              <a:rPr lang="en-US" sz="1200" b="1" dirty="0">
                <a:solidFill>
                  <a:srgbClr val="1B2A52"/>
                </a:solidFill>
                <a:latin typeface="Cambria" pitchFamily="34" charset="0"/>
                <a:ea typeface="Cambria" pitchFamily="34" charset="-122"/>
                <a:cs typeface="Cambria" pitchFamily="34" charset="-120"/>
              </a:rPr>
              <a:t>Alfredo Ottaviani</a:t>
            </a:r>
            <a:endParaRPr lang="en-US" sz="1200" dirty="0"/>
          </a:p>
        </p:txBody>
      </p:sp>
      <p:sp>
        <p:nvSpPr>
          <p:cNvPr id="22" name="Text 19"/>
          <p:cNvSpPr/>
          <p:nvPr/>
        </p:nvSpPr>
        <p:spPr>
          <a:xfrm>
            <a:off x="9851746" y="4480560"/>
            <a:ext cx="1651406" cy="1417320"/>
          </a:xfrm>
          <a:prstGeom prst="rect">
            <a:avLst/>
          </a:prstGeom>
          <a:noFill/>
          <a:ln/>
        </p:spPr>
        <p:txBody>
          <a:bodyPr wrap="square" lIns="0" tIns="0" rIns="0" bIns="0" rtlCol="0" anchor="ctr"/>
          <a:lstStyle/>
          <a:p>
            <a:pPr indent="0" marL="0">
              <a:lnSpc>
                <a:spcPct val="120000"/>
              </a:lnSpc>
              <a:buNone/>
            </a:pPr>
            <a:r>
              <a:rPr lang="en-US" sz="1000" dirty="0">
                <a:solidFill>
                  <a:srgbClr val="23324E"/>
                </a:solidFill>
                <a:latin typeface="Calibri" pitchFamily="34" charset="0"/>
                <a:ea typeface="Calibri" pitchFamily="34" charset="-122"/>
                <a:cs typeface="Calibri" pitchFamily="34" charset="-120"/>
              </a:rPr>
              <a:t>Italy — head of the Holy Office; led the conservative minority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THE COUNCIL'S PEOPLE</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Key Participants: Periti &amp; Observers</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48640" y="1463040"/>
            <a:ext cx="5362956" cy="365760"/>
          </a:xfrm>
          <a:prstGeom prst="rect">
            <a:avLst/>
          </a:prstGeom>
          <a:noFill/>
          <a:ln/>
        </p:spPr>
        <p:txBody>
          <a:bodyPr wrap="square" lIns="0" tIns="0" rIns="0" bIns="0" rtlCol="0" anchor="ctr"/>
          <a:lstStyle/>
          <a:p>
            <a:pPr indent="0" marL="0">
              <a:buNone/>
            </a:pPr>
            <a:r>
              <a:rPr lang="en-US" sz="1500" b="1" dirty="0">
                <a:solidFill>
                  <a:srgbClr val="1B2A52"/>
                </a:solidFill>
                <a:latin typeface="Cambria" pitchFamily="34" charset="0"/>
                <a:ea typeface="Cambria" pitchFamily="34" charset="-122"/>
                <a:cs typeface="Cambria" pitchFamily="34" charset="-120"/>
              </a:rPr>
              <a:t>Periti — Theological Experts</a:t>
            </a:r>
            <a:endParaRPr lang="en-US" sz="1500" dirty="0"/>
          </a:p>
        </p:txBody>
      </p:sp>
      <p:sp>
        <p:nvSpPr>
          <p:cNvPr id="7" name="Text 5"/>
          <p:cNvSpPr/>
          <p:nvPr/>
        </p:nvSpPr>
        <p:spPr>
          <a:xfrm>
            <a:off x="548640" y="1828800"/>
            <a:ext cx="5362956" cy="365760"/>
          </a:xfrm>
          <a:prstGeom prst="rect">
            <a:avLst/>
          </a:prstGeom>
          <a:noFill/>
          <a:ln/>
        </p:spPr>
        <p:txBody>
          <a:bodyPr wrap="square" lIns="0" tIns="0" rIns="0" bIns="0" rtlCol="0" anchor="ctr"/>
          <a:lstStyle/>
          <a:p>
            <a:pPr indent="0" marL="0">
              <a:buNone/>
            </a:pPr>
            <a:r>
              <a:rPr lang="en-US" sz="1100" i="1" dirty="0">
                <a:solidFill>
                  <a:srgbClr val="5C6B85"/>
                </a:solidFill>
                <a:latin typeface="Calibri" pitchFamily="34" charset="0"/>
                <a:ea typeface="Calibri" pitchFamily="34" charset="-122"/>
                <a:cs typeface="Calibri" pitchFamily="34" charset="-120"/>
              </a:rPr>
              <a:t>Several hundred officially designated periti advised the bishops throughout the Council.</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5362956" cy="914400"/>
        </p:xfrm>
        <a:graphic>
          <a:graphicData uri="http://schemas.openxmlformats.org/drawingml/2006/table">
            <a:tbl>
              <a:tblPr/>
              <a:tblGrid>
                <a:gridCol w="2145182"/>
                <a:gridCol w="3217774"/>
              </a:tblGrid>
              <a:tr h="402336">
                <a:tc>
                  <a:txBody>
                    <a:bodyPr/>
                    <a:lstStyle/>
                    <a:p>
                      <a:pPr indent="0" marL="0">
                        <a:buNone/>
                      </a:pPr>
                      <a:r>
                        <a:rPr lang="en-US" sz="1030" b="1" dirty="0">
                          <a:solidFill>
                            <a:srgbClr val="23324E"/>
                          </a:solidFill>
                          <a:latin typeface="Calibri" pitchFamily="34" charset="0"/>
                          <a:ea typeface="Calibri" pitchFamily="34" charset="-122"/>
                          <a:cs typeface="Calibri" pitchFamily="34" charset="-120"/>
                        </a:rPr>
                        <a:t>Joseph Ratzinger</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Advisor to Cardinal Frings; future Pope Benedict XVI</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402336">
                <a:tc>
                  <a:txBody>
                    <a:bodyPr/>
                    <a:lstStyle/>
                    <a:p>
                      <a:pPr indent="0" marL="0">
                        <a:buNone/>
                      </a:pPr>
                      <a:r>
                        <a:rPr lang="en-US" sz="1030" b="1" dirty="0">
                          <a:solidFill>
                            <a:srgbClr val="23324E"/>
                          </a:solidFill>
                          <a:latin typeface="Calibri" pitchFamily="34" charset="0"/>
                          <a:ea typeface="Calibri" pitchFamily="34" charset="-122"/>
                          <a:cs typeface="Calibri" pitchFamily="34" charset="-120"/>
                        </a:rPr>
                        <a:t>Karl Rahner</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German Jesuit; among the most influential conciliar theologians</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r h="402336">
                <a:tc>
                  <a:txBody>
                    <a:bodyPr/>
                    <a:lstStyle/>
                    <a:p>
                      <a:pPr indent="0" marL="0">
                        <a:buNone/>
                      </a:pPr>
                      <a:r>
                        <a:rPr lang="en-US" sz="1030" b="1" dirty="0">
                          <a:solidFill>
                            <a:srgbClr val="23324E"/>
                          </a:solidFill>
                          <a:latin typeface="Calibri" pitchFamily="34" charset="0"/>
                          <a:ea typeface="Calibri" pitchFamily="34" charset="-122"/>
                          <a:cs typeface="Calibri" pitchFamily="34" charset="-120"/>
                        </a:rPr>
                        <a:t>Yves Congar</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French Dominican; ecumenist and ecclesiologist</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402336">
                <a:tc>
                  <a:txBody>
                    <a:bodyPr/>
                    <a:lstStyle/>
                    <a:p>
                      <a:pPr indent="0" marL="0">
                        <a:buNone/>
                      </a:pPr>
                      <a:r>
                        <a:rPr lang="en-US" sz="1030" b="1" dirty="0">
                          <a:solidFill>
                            <a:srgbClr val="23324E"/>
                          </a:solidFill>
                          <a:latin typeface="Calibri" pitchFamily="34" charset="0"/>
                          <a:ea typeface="Calibri" pitchFamily="34" charset="-122"/>
                          <a:cs typeface="Calibri" pitchFamily="34" charset="-120"/>
                        </a:rPr>
                        <a:t>Henri de Lubac</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French Jesuit; ressourcement theologian</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r h="402336">
                <a:tc>
                  <a:txBody>
                    <a:bodyPr/>
                    <a:lstStyle/>
                    <a:p>
                      <a:pPr indent="0" marL="0">
                        <a:buNone/>
                      </a:pPr>
                      <a:r>
                        <a:rPr lang="en-US" sz="1030" b="1" dirty="0">
                          <a:solidFill>
                            <a:srgbClr val="23324E"/>
                          </a:solidFill>
                          <a:latin typeface="Calibri" pitchFamily="34" charset="0"/>
                          <a:ea typeface="Calibri" pitchFamily="34" charset="-122"/>
                          <a:cs typeface="Calibri" pitchFamily="34" charset="-120"/>
                        </a:rPr>
                        <a:t>Hans Küng</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Swiss theologian; later censured for dissent</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402336">
                <a:tc>
                  <a:txBody>
                    <a:bodyPr/>
                    <a:lstStyle/>
                    <a:p>
                      <a:pPr indent="0" marL="0">
                        <a:buNone/>
                      </a:pPr>
                      <a:r>
                        <a:rPr lang="en-US" sz="1030" b="1" dirty="0">
                          <a:solidFill>
                            <a:srgbClr val="23324E"/>
                          </a:solidFill>
                          <a:latin typeface="Calibri" pitchFamily="34" charset="0"/>
                          <a:ea typeface="Calibri" pitchFamily="34" charset="-122"/>
                          <a:cs typeface="Calibri" pitchFamily="34" charset="-120"/>
                        </a:rPr>
                        <a:t>Edward Schillebeeckx</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Belgian Dominican; sacramental theology</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r h="402336">
                <a:tc>
                  <a:txBody>
                    <a:bodyPr/>
                    <a:lstStyle/>
                    <a:p>
                      <a:pPr indent="0" marL="0">
                        <a:buNone/>
                      </a:pPr>
                      <a:r>
                        <a:rPr lang="en-US" sz="1030" b="1" dirty="0">
                          <a:solidFill>
                            <a:srgbClr val="23324E"/>
                          </a:solidFill>
                          <a:latin typeface="Calibri" pitchFamily="34" charset="0"/>
                          <a:ea typeface="Calibri" pitchFamily="34" charset="-122"/>
                          <a:cs typeface="Calibri" pitchFamily="34" charset="-120"/>
                        </a:rPr>
                        <a:t>John Courtney Murray</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American Jesuit; religious liberty advocate</a:t>
                      </a:r>
                      <a:endParaRPr lang="en-US" sz="1030" dirty="0">
                        <a:latin typeface="Calibri" charset="0"/>
                        <a:ea typeface="Calibri" charset="0"/>
                        <a:cs typeface="Calibri" charset="0"/>
                      </a:endParaRPr>
                    </a:p>
                  </a:txBody>
                  <a:tcPr marL="101600" marR="101600" marT="38100" marB="381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bl>
          </a:graphicData>
        </a:graphic>
      </p:graphicFrame>
      <p:sp>
        <p:nvSpPr>
          <p:cNvPr id="9" name="Shape 6"/>
          <p:cNvSpPr/>
          <p:nvPr/>
        </p:nvSpPr>
        <p:spPr>
          <a:xfrm>
            <a:off x="6277356" y="1463040"/>
            <a:ext cx="5362956" cy="4572000"/>
          </a:xfrm>
          <a:prstGeom prst="roundRect">
            <a:avLst>
              <a:gd name="adj" fmla="val 1600"/>
            </a:avLst>
          </a:prstGeom>
          <a:solidFill>
            <a:srgbClr val="1B2A52"/>
          </a:solidFill>
          <a:ln w="12700">
            <a:solidFill>
              <a:srgbClr val="1B2A52"/>
            </a:solidFill>
            <a:prstDash val="solid"/>
          </a:ln>
          <a:effectLst>
            <a:outerShdw sx="100000" sy="100000" kx="0" ky="0" algn="bl" rotWithShape="0" blurRad="76200" dist="25400" dir="5400000">
              <a:srgbClr val="1B2A52">
                <a:alpha val="18000"/>
              </a:srgbClr>
            </a:outerShdw>
          </a:effectLst>
        </p:spPr>
      </p:sp>
      <p:sp>
        <p:nvSpPr>
          <p:cNvPr id="10" name="Text 7"/>
          <p:cNvSpPr/>
          <p:nvPr/>
        </p:nvSpPr>
        <p:spPr>
          <a:xfrm>
            <a:off x="6551676" y="1691640"/>
            <a:ext cx="4814316" cy="365760"/>
          </a:xfrm>
          <a:prstGeom prst="rect">
            <a:avLst/>
          </a:prstGeom>
          <a:noFill/>
          <a:ln/>
        </p:spPr>
        <p:txBody>
          <a:bodyPr wrap="square" lIns="0" tIns="0" rIns="0" bIns="0" rtlCol="0" anchor="ctr"/>
          <a:lstStyle/>
          <a:p>
            <a:pPr indent="0" marL="0">
              <a:buNone/>
            </a:pPr>
            <a:r>
              <a:rPr lang="en-US" sz="1500" b="1" dirty="0">
                <a:solidFill>
                  <a:srgbClr val="B8912F"/>
                </a:solidFill>
                <a:latin typeface="Cambria" pitchFamily="34" charset="0"/>
                <a:ea typeface="Cambria" pitchFamily="34" charset="-122"/>
                <a:cs typeface="Cambria" pitchFamily="34" charset="-120"/>
              </a:rPr>
              <a:t>Observers and Auditors</a:t>
            </a:r>
            <a:endParaRPr lang="en-US" sz="1500" dirty="0"/>
          </a:p>
        </p:txBody>
      </p:sp>
      <p:sp>
        <p:nvSpPr>
          <p:cNvPr id="11" name="Text 8"/>
          <p:cNvSpPr/>
          <p:nvPr/>
        </p:nvSpPr>
        <p:spPr>
          <a:xfrm>
            <a:off x="6551676" y="2194560"/>
            <a:ext cx="4814316" cy="3566160"/>
          </a:xfrm>
          <a:prstGeom prst="rect">
            <a:avLst/>
          </a:prstGeom>
          <a:noFill/>
          <a:ln/>
        </p:spPr>
        <p:txBody>
          <a:bodyPr wrap="square" lIns="0" tIns="0" rIns="0" bIns="0" rtlCol="0" anchor="ctr"/>
          <a:lstStyle/>
          <a:p>
            <a:pPr marL="177800" indent="-177800">
              <a:lnSpc>
                <a:spcPct val="1300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Protestant and Orthodox observers were invited, growing to roughly 100 by the final session</a:t>
            </a:r>
            <a:endParaRPr lang="en-US" sz="1250" dirty="0"/>
          </a:p>
          <a:p>
            <a:pPr marL="177800" indent="-177800">
              <a:lnSpc>
                <a:spcPct val="1300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Laymen were admitted as auditors — a first for a general council</a:t>
            </a:r>
            <a:endParaRPr lang="en-US" sz="1250" dirty="0"/>
          </a:p>
          <a:p>
            <a:pPr marL="177800" indent="-177800">
              <a:lnSpc>
                <a:spcPct val="1300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Laywomen and women religious were added as auditors beginning in the third session, another historic first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CHRONOLOGY</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The Four Sessions of Vatican II</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508760"/>
            <a:ext cx="2567178" cy="4526280"/>
          </a:xfrm>
          <a:prstGeom prst="roundRect">
            <a:avLst>
              <a:gd name="adj" fmla="val 2850"/>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7" name="Shape 5"/>
          <p:cNvSpPr/>
          <p:nvPr/>
        </p:nvSpPr>
        <p:spPr>
          <a:xfrm>
            <a:off x="548640" y="1508760"/>
            <a:ext cx="2567178" cy="868680"/>
          </a:xfrm>
          <a:prstGeom prst="roundRect">
            <a:avLst>
              <a:gd name="adj" fmla="val 8421"/>
            </a:avLst>
          </a:prstGeom>
          <a:solidFill>
            <a:srgbClr val="1B2A52"/>
          </a:solidFill>
          <a:ln/>
        </p:spPr>
      </p:sp>
      <p:sp>
        <p:nvSpPr>
          <p:cNvPr id="8" name="Shape 6"/>
          <p:cNvSpPr/>
          <p:nvPr/>
        </p:nvSpPr>
        <p:spPr>
          <a:xfrm>
            <a:off x="548640" y="1965960"/>
            <a:ext cx="2567178" cy="411480"/>
          </a:xfrm>
          <a:prstGeom prst="rect">
            <a:avLst/>
          </a:prstGeom>
          <a:solidFill>
            <a:srgbClr val="1B2A52"/>
          </a:solidFill>
          <a:ln/>
        </p:spPr>
      </p:sp>
      <p:sp>
        <p:nvSpPr>
          <p:cNvPr id="9" name="Text 7"/>
          <p:cNvSpPr/>
          <p:nvPr/>
        </p:nvSpPr>
        <p:spPr>
          <a:xfrm>
            <a:off x="685800" y="1572768"/>
            <a:ext cx="2292858"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Session 1</a:t>
            </a:r>
            <a:endParaRPr lang="en-US" sz="1450" dirty="0"/>
          </a:p>
        </p:txBody>
      </p:sp>
      <p:sp>
        <p:nvSpPr>
          <p:cNvPr id="10" name="Text 8"/>
          <p:cNvSpPr/>
          <p:nvPr/>
        </p:nvSpPr>
        <p:spPr>
          <a:xfrm>
            <a:off x="685800" y="1920240"/>
            <a:ext cx="2292858" cy="320040"/>
          </a:xfrm>
          <a:prstGeom prst="rect">
            <a:avLst/>
          </a:prstGeom>
          <a:noFill/>
          <a:ln/>
        </p:spPr>
        <p:txBody>
          <a:bodyPr wrap="square" lIns="0" tIns="0" rIns="0" bIns="0" rtlCol="0" anchor="ctr"/>
          <a:lstStyle/>
          <a:p>
            <a:pPr indent="0" marL="0">
              <a:buNone/>
            </a:pPr>
            <a:r>
              <a:rPr lang="en-US" sz="1000" dirty="0">
                <a:solidFill>
                  <a:srgbClr val="E8DAAE"/>
                </a:solidFill>
                <a:latin typeface="Calibri" pitchFamily="34" charset="0"/>
                <a:ea typeface="Calibri" pitchFamily="34" charset="-122"/>
                <a:cs typeface="Calibri" pitchFamily="34" charset="-120"/>
              </a:rPr>
              <a:t>Oct – Dec 1962</a:t>
            </a:r>
            <a:endParaRPr lang="en-US" sz="1000" dirty="0"/>
          </a:p>
        </p:txBody>
      </p:sp>
      <p:sp>
        <p:nvSpPr>
          <p:cNvPr id="11" name="Text 9"/>
          <p:cNvSpPr/>
          <p:nvPr/>
        </p:nvSpPr>
        <p:spPr>
          <a:xfrm>
            <a:off x="685800" y="2514600"/>
            <a:ext cx="2292858" cy="274320"/>
          </a:xfrm>
          <a:prstGeom prst="rect">
            <a:avLst/>
          </a:prstGeom>
          <a:noFill/>
          <a:ln/>
        </p:spPr>
        <p:txBody>
          <a:bodyPr wrap="square" lIns="0" tIns="0" rIns="0" bIns="0" rtlCol="0" anchor="ctr"/>
          <a:lstStyle/>
          <a:p>
            <a:pPr indent="0" marL="0">
              <a:buNone/>
            </a:pPr>
            <a:r>
              <a:rPr lang="en-US" sz="1000" b="1" i="1" dirty="0">
                <a:solidFill>
                  <a:srgbClr val="5C6B85"/>
                </a:solidFill>
                <a:latin typeface="Calibri" pitchFamily="34" charset="0"/>
                <a:ea typeface="Calibri" pitchFamily="34" charset="-122"/>
                <a:cs typeface="Calibri" pitchFamily="34" charset="-120"/>
              </a:rPr>
              <a:t>Pope: John XXIII</a:t>
            </a:r>
            <a:endParaRPr lang="en-US" sz="1000" dirty="0"/>
          </a:p>
        </p:txBody>
      </p:sp>
      <p:sp>
        <p:nvSpPr>
          <p:cNvPr id="12" name="Text 10"/>
          <p:cNvSpPr/>
          <p:nvPr/>
        </p:nvSpPr>
        <p:spPr>
          <a:xfrm>
            <a:off x="685800" y="2834640"/>
            <a:ext cx="2292858" cy="1691640"/>
          </a:xfrm>
          <a:prstGeom prst="rect">
            <a:avLst/>
          </a:prstGeom>
          <a:noFill/>
          <a:ln/>
        </p:spPr>
        <p:txBody>
          <a:bodyPr wrap="square" lIns="0" tIns="0" rIns="0" bIns="0" rtlCol="0" anchor="ctr"/>
          <a:lstStyle/>
          <a:p>
            <a:pPr indent="0" marL="0">
              <a:lnSpc>
                <a:spcPct val="122000"/>
              </a:lnSpc>
              <a:buNone/>
            </a:pPr>
            <a:r>
              <a:rPr lang="en-US" sz="1000" dirty="0">
                <a:solidFill>
                  <a:srgbClr val="23324E"/>
                </a:solidFill>
                <a:latin typeface="Calibri" pitchFamily="34" charset="0"/>
                <a:ea typeface="Calibri" pitchFamily="34" charset="-122"/>
                <a:cs typeface="Calibri" pitchFamily="34" charset="-120"/>
              </a:rPr>
              <a:t>Opened with Gaudet Mater Ecclesia; bishops rejected Curial control of commission elections; early debate on the liturgy and the sources of revelation.</a:t>
            </a:r>
            <a:endParaRPr lang="en-US" sz="1000" dirty="0"/>
          </a:p>
        </p:txBody>
      </p:sp>
      <p:sp>
        <p:nvSpPr>
          <p:cNvPr id="13" name="Shape 11"/>
          <p:cNvSpPr/>
          <p:nvPr/>
        </p:nvSpPr>
        <p:spPr>
          <a:xfrm>
            <a:off x="685800" y="4572000"/>
            <a:ext cx="2292858" cy="0"/>
          </a:xfrm>
          <a:prstGeom prst="line">
            <a:avLst/>
          </a:prstGeom>
          <a:noFill/>
          <a:ln w="12700">
            <a:solidFill>
              <a:srgbClr val="DCD6C0"/>
            </a:solidFill>
            <a:prstDash val="solid"/>
          </a:ln>
        </p:spPr>
      </p:sp>
      <p:sp>
        <p:nvSpPr>
          <p:cNvPr id="14" name="Text 12"/>
          <p:cNvSpPr/>
          <p:nvPr/>
        </p:nvSpPr>
        <p:spPr>
          <a:xfrm>
            <a:off x="685800" y="4663440"/>
            <a:ext cx="2292858" cy="1280160"/>
          </a:xfrm>
          <a:prstGeom prst="rect">
            <a:avLst/>
          </a:prstGeom>
          <a:noFill/>
          <a:ln/>
        </p:spPr>
        <p:txBody>
          <a:bodyPr wrap="square" lIns="0" tIns="0" rIns="0" bIns="0" rtlCol="0" anchor="ctr"/>
          <a:lstStyle/>
          <a:p>
            <a:pPr indent="0" marL="0">
              <a:lnSpc>
                <a:spcPct val="120000"/>
              </a:lnSpc>
              <a:buNone/>
            </a:pPr>
            <a:r>
              <a:rPr lang="en-US" sz="930" i="1" dirty="0">
                <a:solidFill>
                  <a:srgbClr val="7A1B2E"/>
                </a:solidFill>
                <a:latin typeface="Calibri" pitchFamily="34" charset="0"/>
                <a:ea typeface="Calibri" pitchFamily="34" charset="-122"/>
                <a:cs typeface="Calibri" pitchFamily="34" charset="-120"/>
              </a:rPr>
              <a:t>No documents promulgated — established the Council as a genuine deliberative assembly</a:t>
            </a:r>
            <a:endParaRPr lang="en-US" sz="930" dirty="0"/>
          </a:p>
        </p:txBody>
      </p:sp>
      <p:sp>
        <p:nvSpPr>
          <p:cNvPr id="15" name="Shape 13"/>
          <p:cNvSpPr/>
          <p:nvPr/>
        </p:nvSpPr>
        <p:spPr>
          <a:xfrm>
            <a:off x="3390138" y="1508760"/>
            <a:ext cx="2567178" cy="4526280"/>
          </a:xfrm>
          <a:prstGeom prst="roundRect">
            <a:avLst>
              <a:gd name="adj" fmla="val 2850"/>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6" name="Shape 14"/>
          <p:cNvSpPr/>
          <p:nvPr/>
        </p:nvSpPr>
        <p:spPr>
          <a:xfrm>
            <a:off x="3390138" y="1508760"/>
            <a:ext cx="2567178" cy="868680"/>
          </a:xfrm>
          <a:prstGeom prst="roundRect">
            <a:avLst>
              <a:gd name="adj" fmla="val 8421"/>
            </a:avLst>
          </a:prstGeom>
          <a:solidFill>
            <a:srgbClr val="1B2A52"/>
          </a:solidFill>
          <a:ln/>
        </p:spPr>
      </p:sp>
      <p:sp>
        <p:nvSpPr>
          <p:cNvPr id="17" name="Shape 15"/>
          <p:cNvSpPr/>
          <p:nvPr/>
        </p:nvSpPr>
        <p:spPr>
          <a:xfrm>
            <a:off x="3390138" y="1965960"/>
            <a:ext cx="2567178" cy="411480"/>
          </a:xfrm>
          <a:prstGeom prst="rect">
            <a:avLst/>
          </a:prstGeom>
          <a:solidFill>
            <a:srgbClr val="1B2A52"/>
          </a:solidFill>
          <a:ln/>
        </p:spPr>
      </p:sp>
      <p:sp>
        <p:nvSpPr>
          <p:cNvPr id="18" name="Text 16"/>
          <p:cNvSpPr/>
          <p:nvPr/>
        </p:nvSpPr>
        <p:spPr>
          <a:xfrm>
            <a:off x="3527298" y="1572768"/>
            <a:ext cx="2292858"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Session 2</a:t>
            </a:r>
            <a:endParaRPr lang="en-US" sz="1450" dirty="0"/>
          </a:p>
        </p:txBody>
      </p:sp>
      <p:sp>
        <p:nvSpPr>
          <p:cNvPr id="19" name="Text 17"/>
          <p:cNvSpPr/>
          <p:nvPr/>
        </p:nvSpPr>
        <p:spPr>
          <a:xfrm>
            <a:off x="3527298" y="1920240"/>
            <a:ext cx="2292858" cy="320040"/>
          </a:xfrm>
          <a:prstGeom prst="rect">
            <a:avLst/>
          </a:prstGeom>
          <a:noFill/>
          <a:ln/>
        </p:spPr>
        <p:txBody>
          <a:bodyPr wrap="square" lIns="0" tIns="0" rIns="0" bIns="0" rtlCol="0" anchor="ctr"/>
          <a:lstStyle/>
          <a:p>
            <a:pPr indent="0" marL="0">
              <a:buNone/>
            </a:pPr>
            <a:r>
              <a:rPr lang="en-US" sz="1000" dirty="0">
                <a:solidFill>
                  <a:srgbClr val="E8DAAE"/>
                </a:solidFill>
                <a:latin typeface="Calibri" pitchFamily="34" charset="0"/>
                <a:ea typeface="Calibri" pitchFamily="34" charset="-122"/>
                <a:cs typeface="Calibri" pitchFamily="34" charset="-120"/>
              </a:rPr>
              <a:t>Sept – Dec 1963</a:t>
            </a:r>
            <a:endParaRPr lang="en-US" sz="1000" dirty="0"/>
          </a:p>
        </p:txBody>
      </p:sp>
      <p:sp>
        <p:nvSpPr>
          <p:cNvPr id="20" name="Text 18"/>
          <p:cNvSpPr/>
          <p:nvPr/>
        </p:nvSpPr>
        <p:spPr>
          <a:xfrm>
            <a:off x="3527298" y="2514600"/>
            <a:ext cx="2292858" cy="274320"/>
          </a:xfrm>
          <a:prstGeom prst="rect">
            <a:avLst/>
          </a:prstGeom>
          <a:noFill/>
          <a:ln/>
        </p:spPr>
        <p:txBody>
          <a:bodyPr wrap="square" lIns="0" tIns="0" rIns="0" bIns="0" rtlCol="0" anchor="ctr"/>
          <a:lstStyle/>
          <a:p>
            <a:pPr indent="0" marL="0">
              <a:buNone/>
            </a:pPr>
            <a:r>
              <a:rPr lang="en-US" sz="1000" b="1" i="1" dirty="0">
                <a:solidFill>
                  <a:srgbClr val="5C6B85"/>
                </a:solidFill>
                <a:latin typeface="Calibri" pitchFamily="34" charset="0"/>
                <a:ea typeface="Calibri" pitchFamily="34" charset="-122"/>
                <a:cs typeface="Calibri" pitchFamily="34" charset="-120"/>
              </a:rPr>
              <a:t>Pope: Paul VI</a:t>
            </a:r>
            <a:endParaRPr lang="en-US" sz="1000" dirty="0"/>
          </a:p>
        </p:txBody>
      </p:sp>
      <p:sp>
        <p:nvSpPr>
          <p:cNvPr id="21" name="Text 19"/>
          <p:cNvSpPr/>
          <p:nvPr/>
        </p:nvSpPr>
        <p:spPr>
          <a:xfrm>
            <a:off x="3527298" y="2834640"/>
            <a:ext cx="2292858" cy="1691640"/>
          </a:xfrm>
          <a:prstGeom prst="rect">
            <a:avLst/>
          </a:prstGeom>
          <a:noFill/>
          <a:ln/>
        </p:spPr>
        <p:txBody>
          <a:bodyPr wrap="square" lIns="0" tIns="0" rIns="0" bIns="0" rtlCol="0" anchor="ctr"/>
          <a:lstStyle/>
          <a:p>
            <a:pPr indent="0" marL="0">
              <a:lnSpc>
                <a:spcPct val="122000"/>
              </a:lnSpc>
              <a:buNone/>
            </a:pPr>
            <a:r>
              <a:rPr lang="en-US" sz="1000" dirty="0">
                <a:solidFill>
                  <a:srgbClr val="23324E"/>
                </a:solidFill>
                <a:latin typeface="Calibri" pitchFamily="34" charset="0"/>
                <a:ea typeface="Calibri" pitchFamily="34" charset="-122"/>
                <a:cs typeface="Calibri" pitchFamily="34" charset="-120"/>
              </a:rPr>
              <a:t>John XXIII died June 3, 1963. Focus turned to the nature of the Church and the role of bishops; ecumenical discussion advanced.</a:t>
            </a:r>
            <a:endParaRPr lang="en-US" sz="1000" dirty="0"/>
          </a:p>
        </p:txBody>
      </p:sp>
      <p:sp>
        <p:nvSpPr>
          <p:cNvPr id="22" name="Shape 20"/>
          <p:cNvSpPr/>
          <p:nvPr/>
        </p:nvSpPr>
        <p:spPr>
          <a:xfrm>
            <a:off x="3527298" y="4572000"/>
            <a:ext cx="2292858" cy="0"/>
          </a:xfrm>
          <a:prstGeom prst="line">
            <a:avLst/>
          </a:prstGeom>
          <a:noFill/>
          <a:ln w="12700">
            <a:solidFill>
              <a:srgbClr val="DCD6C0"/>
            </a:solidFill>
            <a:prstDash val="solid"/>
          </a:ln>
        </p:spPr>
      </p:sp>
      <p:sp>
        <p:nvSpPr>
          <p:cNvPr id="23" name="Text 21"/>
          <p:cNvSpPr/>
          <p:nvPr/>
        </p:nvSpPr>
        <p:spPr>
          <a:xfrm>
            <a:off x="3527298" y="4663440"/>
            <a:ext cx="2292858" cy="1280160"/>
          </a:xfrm>
          <a:prstGeom prst="rect">
            <a:avLst/>
          </a:prstGeom>
          <a:noFill/>
          <a:ln/>
        </p:spPr>
        <p:txBody>
          <a:bodyPr wrap="square" lIns="0" tIns="0" rIns="0" bIns="0" rtlCol="0" anchor="ctr"/>
          <a:lstStyle/>
          <a:p>
            <a:pPr indent="0" marL="0">
              <a:lnSpc>
                <a:spcPct val="120000"/>
              </a:lnSpc>
              <a:buNone/>
            </a:pPr>
            <a:r>
              <a:rPr lang="en-US" sz="930" i="1" dirty="0">
                <a:solidFill>
                  <a:srgbClr val="7A1B2E"/>
                </a:solidFill>
                <a:latin typeface="Calibri" pitchFamily="34" charset="0"/>
                <a:ea typeface="Calibri" pitchFamily="34" charset="-122"/>
                <a:cs typeface="Calibri" pitchFamily="34" charset="-120"/>
              </a:rPr>
              <a:t>Sacrosanctum Concilium · Inter Mirifica (Dec 4, 1963)</a:t>
            </a:r>
            <a:endParaRPr lang="en-US" sz="930" dirty="0"/>
          </a:p>
        </p:txBody>
      </p:sp>
      <p:sp>
        <p:nvSpPr>
          <p:cNvPr id="24" name="Shape 22"/>
          <p:cNvSpPr/>
          <p:nvPr/>
        </p:nvSpPr>
        <p:spPr>
          <a:xfrm>
            <a:off x="6231636" y="1508760"/>
            <a:ext cx="2567178" cy="4526280"/>
          </a:xfrm>
          <a:prstGeom prst="roundRect">
            <a:avLst>
              <a:gd name="adj" fmla="val 2850"/>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25" name="Shape 23"/>
          <p:cNvSpPr/>
          <p:nvPr/>
        </p:nvSpPr>
        <p:spPr>
          <a:xfrm>
            <a:off x="6231636" y="1508760"/>
            <a:ext cx="2567178" cy="868680"/>
          </a:xfrm>
          <a:prstGeom prst="roundRect">
            <a:avLst>
              <a:gd name="adj" fmla="val 8421"/>
            </a:avLst>
          </a:prstGeom>
          <a:solidFill>
            <a:srgbClr val="1B2A52"/>
          </a:solidFill>
          <a:ln/>
        </p:spPr>
      </p:sp>
      <p:sp>
        <p:nvSpPr>
          <p:cNvPr id="26" name="Shape 24"/>
          <p:cNvSpPr/>
          <p:nvPr/>
        </p:nvSpPr>
        <p:spPr>
          <a:xfrm>
            <a:off x="6231636" y="1965960"/>
            <a:ext cx="2567178" cy="411480"/>
          </a:xfrm>
          <a:prstGeom prst="rect">
            <a:avLst/>
          </a:prstGeom>
          <a:solidFill>
            <a:srgbClr val="1B2A52"/>
          </a:solidFill>
          <a:ln/>
        </p:spPr>
      </p:sp>
      <p:sp>
        <p:nvSpPr>
          <p:cNvPr id="27" name="Text 25"/>
          <p:cNvSpPr/>
          <p:nvPr/>
        </p:nvSpPr>
        <p:spPr>
          <a:xfrm>
            <a:off x="6368796" y="1572768"/>
            <a:ext cx="2292858"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Session 3</a:t>
            </a:r>
            <a:endParaRPr lang="en-US" sz="1450" dirty="0"/>
          </a:p>
        </p:txBody>
      </p:sp>
      <p:sp>
        <p:nvSpPr>
          <p:cNvPr id="28" name="Text 26"/>
          <p:cNvSpPr/>
          <p:nvPr/>
        </p:nvSpPr>
        <p:spPr>
          <a:xfrm>
            <a:off x="6368796" y="1920240"/>
            <a:ext cx="2292858" cy="320040"/>
          </a:xfrm>
          <a:prstGeom prst="rect">
            <a:avLst/>
          </a:prstGeom>
          <a:noFill/>
          <a:ln/>
        </p:spPr>
        <p:txBody>
          <a:bodyPr wrap="square" lIns="0" tIns="0" rIns="0" bIns="0" rtlCol="0" anchor="ctr"/>
          <a:lstStyle/>
          <a:p>
            <a:pPr indent="0" marL="0">
              <a:buNone/>
            </a:pPr>
            <a:r>
              <a:rPr lang="en-US" sz="1000" dirty="0">
                <a:solidFill>
                  <a:srgbClr val="E8DAAE"/>
                </a:solidFill>
                <a:latin typeface="Calibri" pitchFamily="34" charset="0"/>
                <a:ea typeface="Calibri" pitchFamily="34" charset="-122"/>
                <a:cs typeface="Calibri" pitchFamily="34" charset="-120"/>
              </a:rPr>
              <a:t>Sept – Nov 1964</a:t>
            </a:r>
            <a:endParaRPr lang="en-US" sz="1000" dirty="0"/>
          </a:p>
        </p:txBody>
      </p:sp>
      <p:sp>
        <p:nvSpPr>
          <p:cNvPr id="29" name="Text 27"/>
          <p:cNvSpPr/>
          <p:nvPr/>
        </p:nvSpPr>
        <p:spPr>
          <a:xfrm>
            <a:off x="6368796" y="2514600"/>
            <a:ext cx="2292858" cy="274320"/>
          </a:xfrm>
          <a:prstGeom prst="rect">
            <a:avLst/>
          </a:prstGeom>
          <a:noFill/>
          <a:ln/>
        </p:spPr>
        <p:txBody>
          <a:bodyPr wrap="square" lIns="0" tIns="0" rIns="0" bIns="0" rtlCol="0" anchor="ctr"/>
          <a:lstStyle/>
          <a:p>
            <a:pPr indent="0" marL="0">
              <a:buNone/>
            </a:pPr>
            <a:r>
              <a:rPr lang="en-US" sz="1000" b="1" i="1" dirty="0">
                <a:solidFill>
                  <a:srgbClr val="5C6B85"/>
                </a:solidFill>
                <a:latin typeface="Calibri" pitchFamily="34" charset="0"/>
                <a:ea typeface="Calibri" pitchFamily="34" charset="-122"/>
                <a:cs typeface="Calibri" pitchFamily="34" charset="-120"/>
              </a:rPr>
              <a:t>Pope: Paul VI</a:t>
            </a:r>
            <a:endParaRPr lang="en-US" sz="1000" dirty="0"/>
          </a:p>
        </p:txBody>
      </p:sp>
      <p:sp>
        <p:nvSpPr>
          <p:cNvPr id="30" name="Text 28"/>
          <p:cNvSpPr/>
          <p:nvPr/>
        </p:nvSpPr>
        <p:spPr>
          <a:xfrm>
            <a:off x="6368796" y="2834640"/>
            <a:ext cx="2292858" cy="1691640"/>
          </a:xfrm>
          <a:prstGeom prst="rect">
            <a:avLst/>
          </a:prstGeom>
          <a:noFill/>
          <a:ln/>
        </p:spPr>
        <p:txBody>
          <a:bodyPr wrap="square" lIns="0" tIns="0" rIns="0" bIns="0" rtlCol="0" anchor="ctr"/>
          <a:lstStyle/>
          <a:p>
            <a:pPr indent="0" marL="0">
              <a:lnSpc>
                <a:spcPct val="122000"/>
              </a:lnSpc>
              <a:buNone/>
            </a:pPr>
            <a:r>
              <a:rPr lang="en-US" sz="1000" dirty="0">
                <a:solidFill>
                  <a:srgbClr val="23324E"/>
                </a:solidFill>
                <a:latin typeface="Calibri" pitchFamily="34" charset="0"/>
                <a:ea typeface="Calibri" pitchFamily="34" charset="-122"/>
                <a:cs typeface="Calibri" pitchFamily="34" charset="-120"/>
              </a:rPr>
              <a:t>Debated religious liberty and relations with the Jewish people; ended in the tension of “Black Week.”</a:t>
            </a:r>
            <a:endParaRPr lang="en-US" sz="1000" dirty="0"/>
          </a:p>
        </p:txBody>
      </p:sp>
      <p:sp>
        <p:nvSpPr>
          <p:cNvPr id="31" name="Shape 29"/>
          <p:cNvSpPr/>
          <p:nvPr/>
        </p:nvSpPr>
        <p:spPr>
          <a:xfrm>
            <a:off x="6368796" y="4572000"/>
            <a:ext cx="2292858" cy="0"/>
          </a:xfrm>
          <a:prstGeom prst="line">
            <a:avLst/>
          </a:prstGeom>
          <a:noFill/>
          <a:ln w="12700">
            <a:solidFill>
              <a:srgbClr val="DCD6C0"/>
            </a:solidFill>
            <a:prstDash val="solid"/>
          </a:ln>
        </p:spPr>
      </p:sp>
      <p:sp>
        <p:nvSpPr>
          <p:cNvPr id="32" name="Text 30"/>
          <p:cNvSpPr/>
          <p:nvPr/>
        </p:nvSpPr>
        <p:spPr>
          <a:xfrm>
            <a:off x="6368796" y="4663440"/>
            <a:ext cx="2292858" cy="1280160"/>
          </a:xfrm>
          <a:prstGeom prst="rect">
            <a:avLst/>
          </a:prstGeom>
          <a:noFill/>
          <a:ln/>
        </p:spPr>
        <p:txBody>
          <a:bodyPr wrap="square" lIns="0" tIns="0" rIns="0" bIns="0" rtlCol="0" anchor="ctr"/>
          <a:lstStyle/>
          <a:p>
            <a:pPr indent="0" marL="0">
              <a:lnSpc>
                <a:spcPct val="120000"/>
              </a:lnSpc>
              <a:buNone/>
            </a:pPr>
            <a:r>
              <a:rPr lang="en-US" sz="930" i="1" dirty="0">
                <a:solidFill>
                  <a:srgbClr val="7A1B2E"/>
                </a:solidFill>
                <a:latin typeface="Calibri" pitchFamily="34" charset="0"/>
                <a:ea typeface="Calibri" pitchFamily="34" charset="-122"/>
                <a:cs typeface="Calibri" pitchFamily="34" charset="-120"/>
              </a:rPr>
              <a:t>Lumen Gentium · Unitatis Redintegratio · Orientalium Ecclesiarum (Nov 21, 1964)</a:t>
            </a:r>
            <a:endParaRPr lang="en-US" sz="930" dirty="0"/>
          </a:p>
        </p:txBody>
      </p:sp>
      <p:sp>
        <p:nvSpPr>
          <p:cNvPr id="33" name="Shape 31"/>
          <p:cNvSpPr/>
          <p:nvPr/>
        </p:nvSpPr>
        <p:spPr>
          <a:xfrm>
            <a:off x="9073134" y="1508760"/>
            <a:ext cx="2567178" cy="4526280"/>
          </a:xfrm>
          <a:prstGeom prst="roundRect">
            <a:avLst>
              <a:gd name="adj" fmla="val 2850"/>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34" name="Shape 32"/>
          <p:cNvSpPr/>
          <p:nvPr/>
        </p:nvSpPr>
        <p:spPr>
          <a:xfrm>
            <a:off x="9073134" y="1508760"/>
            <a:ext cx="2567178" cy="868680"/>
          </a:xfrm>
          <a:prstGeom prst="roundRect">
            <a:avLst>
              <a:gd name="adj" fmla="val 8421"/>
            </a:avLst>
          </a:prstGeom>
          <a:solidFill>
            <a:srgbClr val="7A1B2E"/>
          </a:solidFill>
          <a:ln/>
        </p:spPr>
      </p:sp>
      <p:sp>
        <p:nvSpPr>
          <p:cNvPr id="35" name="Shape 33"/>
          <p:cNvSpPr/>
          <p:nvPr/>
        </p:nvSpPr>
        <p:spPr>
          <a:xfrm>
            <a:off x="9073134" y="1965960"/>
            <a:ext cx="2567178" cy="411480"/>
          </a:xfrm>
          <a:prstGeom prst="rect">
            <a:avLst/>
          </a:prstGeom>
          <a:solidFill>
            <a:srgbClr val="7A1B2E"/>
          </a:solidFill>
          <a:ln/>
        </p:spPr>
      </p:sp>
      <p:sp>
        <p:nvSpPr>
          <p:cNvPr id="36" name="Text 34"/>
          <p:cNvSpPr/>
          <p:nvPr/>
        </p:nvSpPr>
        <p:spPr>
          <a:xfrm>
            <a:off x="9210294" y="1572768"/>
            <a:ext cx="2292858"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Session 4</a:t>
            </a:r>
            <a:endParaRPr lang="en-US" sz="1450" dirty="0"/>
          </a:p>
        </p:txBody>
      </p:sp>
      <p:sp>
        <p:nvSpPr>
          <p:cNvPr id="37" name="Text 35"/>
          <p:cNvSpPr/>
          <p:nvPr/>
        </p:nvSpPr>
        <p:spPr>
          <a:xfrm>
            <a:off x="9210294" y="1920240"/>
            <a:ext cx="2292858" cy="320040"/>
          </a:xfrm>
          <a:prstGeom prst="rect">
            <a:avLst/>
          </a:prstGeom>
          <a:noFill/>
          <a:ln/>
        </p:spPr>
        <p:txBody>
          <a:bodyPr wrap="square" lIns="0" tIns="0" rIns="0" bIns="0" rtlCol="0" anchor="ctr"/>
          <a:lstStyle/>
          <a:p>
            <a:pPr indent="0" marL="0">
              <a:buNone/>
            </a:pPr>
            <a:r>
              <a:rPr lang="en-US" sz="1000" dirty="0">
                <a:solidFill>
                  <a:srgbClr val="E8DAAE"/>
                </a:solidFill>
                <a:latin typeface="Calibri" pitchFamily="34" charset="0"/>
                <a:ea typeface="Calibri" pitchFamily="34" charset="-122"/>
                <a:cs typeface="Calibri" pitchFamily="34" charset="-120"/>
              </a:rPr>
              <a:t>Sept – Dec 1965</a:t>
            </a:r>
            <a:endParaRPr lang="en-US" sz="1000" dirty="0"/>
          </a:p>
        </p:txBody>
      </p:sp>
      <p:sp>
        <p:nvSpPr>
          <p:cNvPr id="38" name="Text 36"/>
          <p:cNvSpPr/>
          <p:nvPr/>
        </p:nvSpPr>
        <p:spPr>
          <a:xfrm>
            <a:off x="9210294" y="2514600"/>
            <a:ext cx="2292858" cy="274320"/>
          </a:xfrm>
          <a:prstGeom prst="rect">
            <a:avLst/>
          </a:prstGeom>
          <a:noFill/>
          <a:ln/>
        </p:spPr>
        <p:txBody>
          <a:bodyPr wrap="square" lIns="0" tIns="0" rIns="0" bIns="0" rtlCol="0" anchor="ctr"/>
          <a:lstStyle/>
          <a:p>
            <a:pPr indent="0" marL="0">
              <a:buNone/>
            </a:pPr>
            <a:r>
              <a:rPr lang="en-US" sz="1000" b="1" i="1" dirty="0">
                <a:solidFill>
                  <a:srgbClr val="5C6B85"/>
                </a:solidFill>
                <a:latin typeface="Calibri" pitchFamily="34" charset="0"/>
                <a:ea typeface="Calibri" pitchFamily="34" charset="-122"/>
                <a:cs typeface="Calibri" pitchFamily="34" charset="-120"/>
              </a:rPr>
              <a:t>Pope: Paul VI</a:t>
            </a:r>
            <a:endParaRPr lang="en-US" sz="1000" dirty="0"/>
          </a:p>
        </p:txBody>
      </p:sp>
      <p:sp>
        <p:nvSpPr>
          <p:cNvPr id="39" name="Text 37"/>
          <p:cNvSpPr/>
          <p:nvPr/>
        </p:nvSpPr>
        <p:spPr>
          <a:xfrm>
            <a:off x="9210294" y="2834640"/>
            <a:ext cx="2292858" cy="1691640"/>
          </a:xfrm>
          <a:prstGeom prst="rect">
            <a:avLst/>
          </a:prstGeom>
          <a:noFill/>
          <a:ln/>
        </p:spPr>
        <p:txBody>
          <a:bodyPr wrap="square" lIns="0" tIns="0" rIns="0" bIns="0" rtlCol="0" anchor="ctr"/>
          <a:lstStyle/>
          <a:p>
            <a:pPr indent="0" marL="0">
              <a:lnSpc>
                <a:spcPct val="122000"/>
              </a:lnSpc>
              <a:buNone/>
            </a:pPr>
            <a:r>
              <a:rPr lang="en-US" sz="1000" dirty="0">
                <a:solidFill>
                  <a:srgbClr val="23324E"/>
                </a:solidFill>
                <a:latin typeface="Calibri" pitchFamily="34" charset="0"/>
                <a:ea typeface="Calibri" pitchFamily="34" charset="-122"/>
                <a:cs typeface="Calibri" pitchFamily="34" charset="-120"/>
              </a:rPr>
              <a:t>Concluded debate on religious freedom and the Church in the modern world; mutual lifting of the 1054 excommunications with the Orthodox Church, Dec 7, 1965.</a:t>
            </a:r>
            <a:endParaRPr lang="en-US" sz="1000" dirty="0"/>
          </a:p>
        </p:txBody>
      </p:sp>
      <p:sp>
        <p:nvSpPr>
          <p:cNvPr id="40" name="Shape 38"/>
          <p:cNvSpPr/>
          <p:nvPr/>
        </p:nvSpPr>
        <p:spPr>
          <a:xfrm>
            <a:off x="9210294" y="4572000"/>
            <a:ext cx="2292858" cy="0"/>
          </a:xfrm>
          <a:prstGeom prst="line">
            <a:avLst/>
          </a:prstGeom>
          <a:noFill/>
          <a:ln w="12700">
            <a:solidFill>
              <a:srgbClr val="DCD6C0"/>
            </a:solidFill>
            <a:prstDash val="solid"/>
          </a:ln>
        </p:spPr>
      </p:sp>
      <p:sp>
        <p:nvSpPr>
          <p:cNvPr id="41" name="Text 39"/>
          <p:cNvSpPr/>
          <p:nvPr/>
        </p:nvSpPr>
        <p:spPr>
          <a:xfrm>
            <a:off x="9210294" y="4663440"/>
            <a:ext cx="2292858" cy="1280160"/>
          </a:xfrm>
          <a:prstGeom prst="rect">
            <a:avLst/>
          </a:prstGeom>
          <a:noFill/>
          <a:ln/>
        </p:spPr>
        <p:txBody>
          <a:bodyPr wrap="square" lIns="0" tIns="0" rIns="0" bIns="0" rtlCol="0" anchor="ctr"/>
          <a:lstStyle/>
          <a:p>
            <a:pPr indent="0" marL="0">
              <a:lnSpc>
                <a:spcPct val="120000"/>
              </a:lnSpc>
              <a:buNone/>
            </a:pPr>
            <a:r>
              <a:rPr lang="en-US" sz="930" i="1" dirty="0">
                <a:solidFill>
                  <a:srgbClr val="7A1B2E"/>
                </a:solidFill>
                <a:latin typeface="Calibri" pitchFamily="34" charset="0"/>
                <a:ea typeface="Calibri" pitchFamily="34" charset="-122"/>
                <a:cs typeface="Calibri" pitchFamily="34" charset="-120"/>
              </a:rPr>
              <a:t>The Council's remaining 11 documents, including Dei Verbum, Gaudium et Spes, Dignitatis Humanae, and Nostra Aetate</a:t>
            </a:r>
            <a:endParaRPr lang="en-US" sz="9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TENSIONS WITHIN THE COUNCIL</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Crises and Controversies I</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548640" y="1371600"/>
            <a:ext cx="11091672" cy="320040"/>
          </a:xfrm>
          <a:prstGeom prst="rect">
            <a:avLst/>
          </a:prstGeom>
          <a:noFill/>
          <a:ln/>
        </p:spPr>
        <p:txBody>
          <a:bodyPr wrap="square" lIns="0" tIns="0" rIns="0" bIns="0" rtlCol="0" anchor="ctr"/>
          <a:lstStyle/>
          <a:p>
            <a:pPr indent="0" marL="0">
              <a:buNone/>
            </a:pPr>
            <a:r>
              <a:rPr lang="en-US" sz="1300" i="1" dirty="0">
                <a:solidFill>
                  <a:srgbClr val="5C6B85"/>
                </a:solidFill>
                <a:latin typeface="Calibri" pitchFamily="34" charset="0"/>
                <a:ea typeface="Calibri" pitchFamily="34" charset="-122"/>
                <a:cs typeface="Calibri" pitchFamily="34" charset="-120"/>
              </a:rPr>
              <a:t>The third session ended in real turmoil</a:t>
            </a:r>
            <a:endParaRPr lang="en-US" sz="1300" dirty="0"/>
          </a:p>
        </p:txBody>
      </p:sp>
      <p:sp>
        <p:nvSpPr>
          <p:cNvPr id="7" name="Shape 5"/>
          <p:cNvSpPr/>
          <p:nvPr/>
        </p:nvSpPr>
        <p:spPr>
          <a:xfrm>
            <a:off x="548640" y="1874520"/>
            <a:ext cx="5362956" cy="4114800"/>
          </a:xfrm>
          <a:prstGeom prst="roundRect">
            <a:avLst>
              <a:gd name="adj" fmla="val 1778"/>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8" name="Shape 6"/>
          <p:cNvSpPr/>
          <p:nvPr/>
        </p:nvSpPr>
        <p:spPr>
          <a:xfrm>
            <a:off x="822960" y="2103120"/>
            <a:ext cx="502920" cy="502920"/>
          </a:xfrm>
          <a:prstGeom prst="ellipse">
            <a:avLst/>
          </a:prstGeom>
          <a:solidFill>
            <a:srgbClr val="7A1B2E"/>
          </a:solidFill>
          <a:ln/>
        </p:spPr>
      </p:sp>
      <p:sp>
        <p:nvSpPr>
          <p:cNvPr id="9" name="Text 7"/>
          <p:cNvSpPr/>
          <p:nvPr/>
        </p:nvSpPr>
        <p:spPr>
          <a:xfrm>
            <a:off x="822960" y="210312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p:nvPr/>
        </p:nvSpPr>
        <p:spPr>
          <a:xfrm>
            <a:off x="1463040" y="2121408"/>
            <a:ext cx="4174236" cy="457200"/>
          </a:xfrm>
          <a:prstGeom prst="rect">
            <a:avLst/>
          </a:prstGeom>
          <a:noFill/>
          <a:ln/>
        </p:spPr>
        <p:txBody>
          <a:bodyPr wrap="square" lIns="0" tIns="0" rIns="0" bIns="0" rtlCol="0" anchor="ctr"/>
          <a:lstStyle/>
          <a:p>
            <a:pPr indent="0" marL="0">
              <a:buNone/>
            </a:pPr>
            <a:r>
              <a:rPr lang="en-US" sz="1500" b="1" dirty="0">
                <a:solidFill>
                  <a:srgbClr val="1B2A52"/>
                </a:solidFill>
                <a:latin typeface="Cambria" pitchFamily="34" charset="0"/>
                <a:ea typeface="Cambria" pitchFamily="34" charset="-122"/>
                <a:cs typeface="Cambria" pitchFamily="34" charset="-120"/>
              </a:rPr>
              <a:t>Religious Freedom Postponed</a:t>
            </a:r>
            <a:endParaRPr lang="en-US" sz="1500" dirty="0"/>
          </a:p>
        </p:txBody>
      </p:sp>
      <p:sp>
        <p:nvSpPr>
          <p:cNvPr id="11" name="Text 9"/>
          <p:cNvSpPr/>
          <p:nvPr/>
        </p:nvSpPr>
        <p:spPr>
          <a:xfrm>
            <a:off x="822960" y="2788920"/>
            <a:ext cx="4814316" cy="3017520"/>
          </a:xfrm>
          <a:prstGeom prst="rect">
            <a:avLst/>
          </a:prstGeom>
          <a:noFill/>
          <a:ln/>
        </p:spPr>
        <p:txBody>
          <a:bodyPr wrap="square" lIns="0" tIns="0" rIns="0" bIns="0" rtlCol="0" anchor="ctr"/>
          <a:lstStyle/>
          <a:p>
            <a:pPr indent="0" marL="0">
              <a:lnSpc>
                <a:spcPct val="130000"/>
              </a:lnSpc>
              <a:buNone/>
            </a:pPr>
            <a:r>
              <a:rPr lang="en-US" sz="1250" dirty="0">
                <a:solidFill>
                  <a:srgbClr val="23324E"/>
                </a:solidFill>
                <a:latin typeface="Calibri" pitchFamily="34" charset="0"/>
                <a:ea typeface="Calibri" pitchFamily="34" charset="-122"/>
                <a:cs typeface="Calibri" pitchFamily="34" charset="-120"/>
              </a:rPr>
              <a:t>A vote on the religious freedom declaration was unexpectedly postponed by the Council's presiding cardinals near the close of the session. The move sparked real outrage — hundreds of bishops signed a petition of protest to Pope Paul VI.</a:t>
            </a:r>
            <a:endParaRPr lang="en-US" sz="1250" dirty="0"/>
          </a:p>
        </p:txBody>
      </p:sp>
      <p:sp>
        <p:nvSpPr>
          <p:cNvPr id="12" name="Shape 10"/>
          <p:cNvSpPr/>
          <p:nvPr/>
        </p:nvSpPr>
        <p:spPr>
          <a:xfrm>
            <a:off x="6277356" y="1874520"/>
            <a:ext cx="5362956" cy="4114800"/>
          </a:xfrm>
          <a:prstGeom prst="roundRect">
            <a:avLst>
              <a:gd name="adj" fmla="val 1778"/>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3" name="Shape 11"/>
          <p:cNvSpPr/>
          <p:nvPr/>
        </p:nvSpPr>
        <p:spPr>
          <a:xfrm>
            <a:off x="6551676" y="2103120"/>
            <a:ext cx="502920" cy="502920"/>
          </a:xfrm>
          <a:prstGeom prst="ellipse">
            <a:avLst/>
          </a:prstGeom>
          <a:solidFill>
            <a:srgbClr val="7A1B2E"/>
          </a:solidFill>
          <a:ln/>
        </p:spPr>
      </p:sp>
      <p:sp>
        <p:nvSpPr>
          <p:cNvPr id="14" name="Text 12"/>
          <p:cNvSpPr/>
          <p:nvPr/>
        </p:nvSpPr>
        <p:spPr>
          <a:xfrm>
            <a:off x="6551676" y="210312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5" name="Text 13"/>
          <p:cNvSpPr/>
          <p:nvPr/>
        </p:nvSpPr>
        <p:spPr>
          <a:xfrm>
            <a:off x="7191756" y="2121408"/>
            <a:ext cx="4174236" cy="457200"/>
          </a:xfrm>
          <a:prstGeom prst="rect">
            <a:avLst/>
          </a:prstGeom>
          <a:noFill/>
          <a:ln/>
        </p:spPr>
        <p:txBody>
          <a:bodyPr wrap="square" lIns="0" tIns="0" rIns="0" bIns="0" rtlCol="0" anchor="ctr"/>
          <a:lstStyle/>
          <a:p>
            <a:pPr indent="0" marL="0">
              <a:buNone/>
            </a:pPr>
            <a:r>
              <a:rPr lang="en-US" sz="1500" b="1" dirty="0">
                <a:solidFill>
                  <a:srgbClr val="1B2A52"/>
                </a:solidFill>
                <a:latin typeface="Cambria" pitchFamily="34" charset="0"/>
                <a:ea typeface="Cambria" pitchFamily="34" charset="-122"/>
                <a:cs typeface="Cambria" pitchFamily="34" charset="-120"/>
              </a:rPr>
              <a:t>Nota Explicativa Praevia</a:t>
            </a:r>
            <a:endParaRPr lang="en-US" sz="1500" dirty="0"/>
          </a:p>
        </p:txBody>
      </p:sp>
      <p:sp>
        <p:nvSpPr>
          <p:cNvPr id="16" name="Text 14"/>
          <p:cNvSpPr/>
          <p:nvPr/>
        </p:nvSpPr>
        <p:spPr>
          <a:xfrm>
            <a:off x="6551676" y="2788920"/>
            <a:ext cx="4814316" cy="3017520"/>
          </a:xfrm>
          <a:prstGeom prst="rect">
            <a:avLst/>
          </a:prstGeom>
          <a:noFill/>
          <a:ln/>
        </p:spPr>
        <p:txBody>
          <a:bodyPr wrap="square" lIns="0" tIns="0" rIns="0" bIns="0" rtlCol="0" anchor="ctr"/>
          <a:lstStyle/>
          <a:p>
            <a:pPr indent="0" marL="0">
              <a:lnSpc>
                <a:spcPct val="130000"/>
              </a:lnSpc>
              <a:buNone/>
            </a:pPr>
            <a:r>
              <a:rPr lang="en-US" sz="1250" dirty="0">
                <a:solidFill>
                  <a:srgbClr val="23324E"/>
                </a:solidFill>
                <a:latin typeface="Calibri" pitchFamily="34" charset="0"/>
                <a:ea typeface="Calibri" pitchFamily="34" charset="-122"/>
                <a:cs typeface="Calibri" pitchFamily="34" charset="-120"/>
              </a:rPr>
              <a:t>A “preliminary explanatory note” was attached to Lumen Gentium to clarify how collegiality — bishops governing together with the Pope — related to the Pope's own supreme authority. It eased the conservative minority's fear that collegiality would diminish the papacy.</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TENSIONS AFTER THE COUNCIL</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Crises and Controversies II: Traditionalist Opposition</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48640" y="1554480"/>
            <a:ext cx="11091672" cy="2743200"/>
          </a:xfrm>
          <a:prstGeom prst="roundRect">
            <a:avLst>
              <a:gd name="adj" fmla="val 2667"/>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7" name="Text 5"/>
          <p:cNvSpPr/>
          <p:nvPr/>
        </p:nvSpPr>
        <p:spPr>
          <a:xfrm>
            <a:off x="822960" y="1737360"/>
            <a:ext cx="10543032" cy="548640"/>
          </a:xfrm>
          <a:prstGeom prst="rect">
            <a:avLst/>
          </a:prstGeom>
          <a:noFill/>
          <a:ln/>
        </p:spPr>
        <p:txBody>
          <a:bodyPr wrap="square" lIns="0" tIns="0" rIns="0" bIns="0" rtlCol="0" anchor="ctr"/>
          <a:lstStyle/>
          <a:p>
            <a:pPr indent="0" marL="0">
              <a:lnSpc>
                <a:spcPct val="125000"/>
              </a:lnSpc>
              <a:buNone/>
            </a:pPr>
            <a:r>
              <a:rPr lang="en-US" sz="1250" dirty="0">
                <a:solidFill>
                  <a:srgbClr val="23324E"/>
                </a:solidFill>
                <a:latin typeface="Calibri" pitchFamily="34" charset="0"/>
                <a:ea typeface="Calibri" pitchFamily="34" charset="-122"/>
                <a:cs typeface="Calibri" pitchFamily="34" charset="-120"/>
              </a:rPr>
              <a:t>Archbishop Marcel Lefebvre led a traditionalist bloc, the Coetus Internationalis Patrum, that objected to several of the Council's central teachings:</a:t>
            </a:r>
            <a:endParaRPr lang="en-US" sz="1250" dirty="0"/>
          </a:p>
        </p:txBody>
      </p:sp>
      <p:sp>
        <p:nvSpPr>
          <p:cNvPr id="8" name="Shape 6"/>
          <p:cNvSpPr/>
          <p:nvPr/>
        </p:nvSpPr>
        <p:spPr>
          <a:xfrm>
            <a:off x="822960" y="2423160"/>
            <a:ext cx="2430018" cy="1691640"/>
          </a:xfrm>
          <a:prstGeom prst="roundRect">
            <a:avLst>
              <a:gd name="adj" fmla="val 3243"/>
            </a:avLst>
          </a:prstGeom>
          <a:solidFill>
            <a:srgbClr val="F3F1E8"/>
          </a:solidFill>
          <a:ln w="12700">
            <a:solidFill>
              <a:srgbClr val="DCD6C0"/>
            </a:solidFill>
            <a:prstDash val="solid"/>
          </a:ln>
        </p:spPr>
      </p:sp>
      <p:sp>
        <p:nvSpPr>
          <p:cNvPr id="9" name="Text 7"/>
          <p:cNvSpPr/>
          <p:nvPr/>
        </p:nvSpPr>
        <p:spPr>
          <a:xfrm>
            <a:off x="960120" y="2560320"/>
            <a:ext cx="2155698" cy="457200"/>
          </a:xfrm>
          <a:prstGeom prst="rect">
            <a:avLst/>
          </a:prstGeom>
          <a:noFill/>
          <a:ln/>
        </p:spPr>
        <p:txBody>
          <a:bodyPr wrap="square" lIns="0" tIns="0" rIns="0" bIns="0" rtlCol="0" anchor="ctr"/>
          <a:lstStyle/>
          <a:p>
            <a:pPr indent="0" marL="0">
              <a:buNone/>
            </a:pPr>
            <a:r>
              <a:rPr lang="en-US" sz="1250" b="1" dirty="0">
                <a:solidFill>
                  <a:srgbClr val="7A1B2E"/>
                </a:solidFill>
                <a:latin typeface="Cambria" pitchFamily="34" charset="0"/>
                <a:ea typeface="Cambria" pitchFamily="34" charset="-122"/>
                <a:cs typeface="Cambria" pitchFamily="34" charset="-120"/>
              </a:rPr>
              <a:t>Religious Liberty</a:t>
            </a:r>
            <a:endParaRPr lang="en-US" sz="1250" dirty="0"/>
          </a:p>
        </p:txBody>
      </p:sp>
      <p:sp>
        <p:nvSpPr>
          <p:cNvPr id="10" name="Text 8"/>
          <p:cNvSpPr/>
          <p:nvPr/>
        </p:nvSpPr>
        <p:spPr>
          <a:xfrm>
            <a:off x="960120" y="3063240"/>
            <a:ext cx="2155698" cy="960120"/>
          </a:xfrm>
          <a:prstGeom prst="rect">
            <a:avLst/>
          </a:prstGeom>
          <a:noFill/>
          <a:ln/>
        </p:spPr>
        <p:txBody>
          <a:bodyPr wrap="square" lIns="0" tIns="0" rIns="0" bIns="0" rtlCol="0" anchor="ctr"/>
          <a:lstStyle/>
          <a:p>
            <a:pPr indent="0" marL="0">
              <a:lnSpc>
                <a:spcPct val="120000"/>
              </a:lnSpc>
              <a:buNone/>
            </a:pPr>
            <a:r>
              <a:rPr lang="en-US" sz="1000" dirty="0">
                <a:solidFill>
                  <a:srgbClr val="23324E"/>
                </a:solidFill>
                <a:latin typeface="Calibri" pitchFamily="34" charset="0"/>
                <a:ea typeface="Calibri" pitchFamily="34" charset="-122"/>
                <a:cs typeface="Calibri" pitchFamily="34" charset="-120"/>
              </a:rPr>
              <a:t>viewed by his circle as a form of apostasy</a:t>
            </a:r>
            <a:endParaRPr lang="en-US" sz="1000" dirty="0"/>
          </a:p>
        </p:txBody>
      </p:sp>
      <p:sp>
        <p:nvSpPr>
          <p:cNvPr id="11" name="Shape 9"/>
          <p:cNvSpPr/>
          <p:nvPr/>
        </p:nvSpPr>
        <p:spPr>
          <a:xfrm>
            <a:off x="3527298" y="2423160"/>
            <a:ext cx="2430018" cy="1691640"/>
          </a:xfrm>
          <a:prstGeom prst="roundRect">
            <a:avLst>
              <a:gd name="adj" fmla="val 3243"/>
            </a:avLst>
          </a:prstGeom>
          <a:solidFill>
            <a:srgbClr val="F3F1E8"/>
          </a:solidFill>
          <a:ln w="12700">
            <a:solidFill>
              <a:srgbClr val="DCD6C0"/>
            </a:solidFill>
            <a:prstDash val="solid"/>
          </a:ln>
        </p:spPr>
      </p:sp>
      <p:sp>
        <p:nvSpPr>
          <p:cNvPr id="12" name="Text 10"/>
          <p:cNvSpPr/>
          <p:nvPr/>
        </p:nvSpPr>
        <p:spPr>
          <a:xfrm>
            <a:off x="3664458" y="2560320"/>
            <a:ext cx="2155698" cy="457200"/>
          </a:xfrm>
          <a:prstGeom prst="rect">
            <a:avLst/>
          </a:prstGeom>
          <a:noFill/>
          <a:ln/>
        </p:spPr>
        <p:txBody>
          <a:bodyPr wrap="square" lIns="0" tIns="0" rIns="0" bIns="0" rtlCol="0" anchor="ctr"/>
          <a:lstStyle/>
          <a:p>
            <a:pPr indent="0" marL="0">
              <a:buNone/>
            </a:pPr>
            <a:r>
              <a:rPr lang="en-US" sz="1250" b="1" dirty="0">
                <a:solidFill>
                  <a:srgbClr val="7A1B2E"/>
                </a:solidFill>
                <a:latin typeface="Cambria" pitchFamily="34" charset="0"/>
                <a:ea typeface="Cambria" pitchFamily="34" charset="-122"/>
                <a:cs typeface="Cambria" pitchFamily="34" charset="-120"/>
              </a:rPr>
              <a:t>Ecumenism</a:t>
            </a:r>
            <a:endParaRPr lang="en-US" sz="1250" dirty="0"/>
          </a:p>
        </p:txBody>
      </p:sp>
      <p:sp>
        <p:nvSpPr>
          <p:cNvPr id="13" name="Text 11"/>
          <p:cNvSpPr/>
          <p:nvPr/>
        </p:nvSpPr>
        <p:spPr>
          <a:xfrm>
            <a:off x="3664458" y="3063240"/>
            <a:ext cx="2155698" cy="960120"/>
          </a:xfrm>
          <a:prstGeom prst="rect">
            <a:avLst/>
          </a:prstGeom>
          <a:noFill/>
          <a:ln/>
        </p:spPr>
        <p:txBody>
          <a:bodyPr wrap="square" lIns="0" tIns="0" rIns="0" bIns="0" rtlCol="0" anchor="ctr"/>
          <a:lstStyle/>
          <a:p>
            <a:pPr indent="0" marL="0">
              <a:lnSpc>
                <a:spcPct val="120000"/>
              </a:lnSpc>
              <a:buNone/>
            </a:pPr>
            <a:r>
              <a:rPr lang="en-US" sz="1000" dirty="0">
                <a:solidFill>
                  <a:srgbClr val="23324E"/>
                </a:solidFill>
                <a:latin typeface="Calibri" pitchFamily="34" charset="0"/>
                <a:ea typeface="Calibri" pitchFamily="34" charset="-122"/>
                <a:cs typeface="Calibri" pitchFamily="34" charset="-120"/>
              </a:rPr>
              <a:t>seen as equating truth with error</a:t>
            </a:r>
            <a:endParaRPr lang="en-US" sz="1000" dirty="0"/>
          </a:p>
        </p:txBody>
      </p:sp>
      <p:sp>
        <p:nvSpPr>
          <p:cNvPr id="14" name="Shape 12"/>
          <p:cNvSpPr/>
          <p:nvPr/>
        </p:nvSpPr>
        <p:spPr>
          <a:xfrm>
            <a:off x="6231636" y="2423160"/>
            <a:ext cx="2430018" cy="1691640"/>
          </a:xfrm>
          <a:prstGeom prst="roundRect">
            <a:avLst>
              <a:gd name="adj" fmla="val 3243"/>
            </a:avLst>
          </a:prstGeom>
          <a:solidFill>
            <a:srgbClr val="F3F1E8"/>
          </a:solidFill>
          <a:ln w="12700">
            <a:solidFill>
              <a:srgbClr val="DCD6C0"/>
            </a:solidFill>
            <a:prstDash val="solid"/>
          </a:ln>
        </p:spPr>
      </p:sp>
      <p:sp>
        <p:nvSpPr>
          <p:cNvPr id="15" name="Text 13"/>
          <p:cNvSpPr/>
          <p:nvPr/>
        </p:nvSpPr>
        <p:spPr>
          <a:xfrm>
            <a:off x="6368796" y="2560320"/>
            <a:ext cx="2155698" cy="457200"/>
          </a:xfrm>
          <a:prstGeom prst="rect">
            <a:avLst/>
          </a:prstGeom>
          <a:noFill/>
          <a:ln/>
        </p:spPr>
        <p:txBody>
          <a:bodyPr wrap="square" lIns="0" tIns="0" rIns="0" bIns="0" rtlCol="0" anchor="ctr"/>
          <a:lstStyle/>
          <a:p>
            <a:pPr indent="0" marL="0">
              <a:buNone/>
            </a:pPr>
            <a:r>
              <a:rPr lang="en-US" sz="1250" b="1" dirty="0">
                <a:solidFill>
                  <a:srgbClr val="7A1B2E"/>
                </a:solidFill>
                <a:latin typeface="Cambria" pitchFamily="34" charset="0"/>
                <a:ea typeface="Cambria" pitchFamily="34" charset="-122"/>
                <a:cs typeface="Cambria" pitchFamily="34" charset="-120"/>
              </a:rPr>
              <a:t>Liturgical Reform</a:t>
            </a:r>
            <a:endParaRPr lang="en-US" sz="1250" dirty="0"/>
          </a:p>
        </p:txBody>
      </p:sp>
      <p:sp>
        <p:nvSpPr>
          <p:cNvPr id="16" name="Text 14"/>
          <p:cNvSpPr/>
          <p:nvPr/>
        </p:nvSpPr>
        <p:spPr>
          <a:xfrm>
            <a:off x="6368796" y="3063240"/>
            <a:ext cx="2155698" cy="960120"/>
          </a:xfrm>
          <a:prstGeom prst="rect">
            <a:avLst/>
          </a:prstGeom>
          <a:noFill/>
          <a:ln/>
        </p:spPr>
        <p:txBody>
          <a:bodyPr wrap="square" lIns="0" tIns="0" rIns="0" bIns="0" rtlCol="0" anchor="ctr"/>
          <a:lstStyle/>
          <a:p>
            <a:pPr indent="0" marL="0">
              <a:lnSpc>
                <a:spcPct val="120000"/>
              </a:lnSpc>
              <a:buNone/>
            </a:pPr>
            <a:r>
              <a:rPr lang="en-US" sz="1000" dirty="0">
                <a:solidFill>
                  <a:srgbClr val="23324E"/>
                </a:solidFill>
                <a:latin typeface="Calibri" pitchFamily="34" charset="0"/>
                <a:ea typeface="Calibri" pitchFamily="34" charset="-122"/>
                <a:cs typeface="Calibri" pitchFamily="34" charset="-120"/>
              </a:rPr>
              <a:t>read as abandonment of the Traditional Latin Mass</a:t>
            </a:r>
            <a:endParaRPr lang="en-US" sz="1000" dirty="0"/>
          </a:p>
        </p:txBody>
      </p:sp>
      <p:sp>
        <p:nvSpPr>
          <p:cNvPr id="17" name="Shape 15"/>
          <p:cNvSpPr/>
          <p:nvPr/>
        </p:nvSpPr>
        <p:spPr>
          <a:xfrm>
            <a:off x="8935974" y="2423160"/>
            <a:ext cx="2430018" cy="1691640"/>
          </a:xfrm>
          <a:prstGeom prst="roundRect">
            <a:avLst>
              <a:gd name="adj" fmla="val 3243"/>
            </a:avLst>
          </a:prstGeom>
          <a:solidFill>
            <a:srgbClr val="F3F1E8"/>
          </a:solidFill>
          <a:ln w="12700">
            <a:solidFill>
              <a:srgbClr val="DCD6C0"/>
            </a:solidFill>
            <a:prstDash val="solid"/>
          </a:ln>
        </p:spPr>
      </p:sp>
      <p:sp>
        <p:nvSpPr>
          <p:cNvPr id="18" name="Text 16"/>
          <p:cNvSpPr/>
          <p:nvPr/>
        </p:nvSpPr>
        <p:spPr>
          <a:xfrm>
            <a:off x="9073134" y="2560320"/>
            <a:ext cx="2155698" cy="457200"/>
          </a:xfrm>
          <a:prstGeom prst="rect">
            <a:avLst/>
          </a:prstGeom>
          <a:noFill/>
          <a:ln/>
        </p:spPr>
        <p:txBody>
          <a:bodyPr wrap="square" lIns="0" tIns="0" rIns="0" bIns="0" rtlCol="0" anchor="ctr"/>
          <a:lstStyle/>
          <a:p>
            <a:pPr indent="0" marL="0">
              <a:buNone/>
            </a:pPr>
            <a:r>
              <a:rPr lang="en-US" sz="1250" b="1" dirty="0">
                <a:solidFill>
                  <a:srgbClr val="7A1B2E"/>
                </a:solidFill>
                <a:latin typeface="Cambria" pitchFamily="34" charset="0"/>
                <a:ea typeface="Cambria" pitchFamily="34" charset="-122"/>
                <a:cs typeface="Cambria" pitchFamily="34" charset="-120"/>
              </a:rPr>
              <a:t>Collegiality</a:t>
            </a:r>
            <a:endParaRPr lang="en-US" sz="1250" dirty="0"/>
          </a:p>
        </p:txBody>
      </p:sp>
      <p:sp>
        <p:nvSpPr>
          <p:cNvPr id="19" name="Text 17"/>
          <p:cNvSpPr/>
          <p:nvPr/>
        </p:nvSpPr>
        <p:spPr>
          <a:xfrm>
            <a:off x="9073134" y="3063240"/>
            <a:ext cx="2155698" cy="960120"/>
          </a:xfrm>
          <a:prstGeom prst="rect">
            <a:avLst/>
          </a:prstGeom>
          <a:noFill/>
          <a:ln/>
        </p:spPr>
        <p:txBody>
          <a:bodyPr wrap="square" lIns="0" tIns="0" rIns="0" bIns="0" rtlCol="0" anchor="ctr"/>
          <a:lstStyle/>
          <a:p>
            <a:pPr indent="0" marL="0">
              <a:lnSpc>
                <a:spcPct val="120000"/>
              </a:lnSpc>
              <a:buNone/>
            </a:pPr>
            <a:r>
              <a:rPr lang="en-US" sz="1000" dirty="0">
                <a:solidFill>
                  <a:srgbClr val="23324E"/>
                </a:solidFill>
                <a:latin typeface="Calibri" pitchFamily="34" charset="0"/>
                <a:ea typeface="Calibri" pitchFamily="34" charset="-122"/>
                <a:cs typeface="Calibri" pitchFamily="34" charset="-120"/>
              </a:rPr>
              <a:t>seen as undermining papal authority</a:t>
            </a:r>
            <a:endParaRPr lang="en-US" sz="1000" dirty="0"/>
          </a:p>
        </p:txBody>
      </p:sp>
      <p:sp>
        <p:nvSpPr>
          <p:cNvPr id="20" name="Shape 18"/>
          <p:cNvSpPr/>
          <p:nvPr/>
        </p:nvSpPr>
        <p:spPr>
          <a:xfrm>
            <a:off x="548640" y="4480560"/>
            <a:ext cx="11091672" cy="1508760"/>
          </a:xfrm>
          <a:prstGeom prst="roundRect">
            <a:avLst>
              <a:gd name="adj" fmla="val 4848"/>
            </a:avLst>
          </a:prstGeom>
          <a:solidFill>
            <a:srgbClr val="1B2A52"/>
          </a:solidFill>
          <a:ln w="12700">
            <a:solidFill>
              <a:srgbClr val="1B2A52"/>
            </a:solidFill>
            <a:prstDash val="solid"/>
          </a:ln>
          <a:effectLst>
            <a:outerShdw sx="100000" sy="100000" kx="0" ky="0" algn="bl" rotWithShape="0" blurRad="76200" dist="25400" dir="5400000">
              <a:srgbClr val="1B2A52">
                <a:alpha val="18000"/>
              </a:srgbClr>
            </a:outerShdw>
          </a:effectLst>
        </p:spPr>
      </p:sp>
      <p:sp>
        <p:nvSpPr>
          <p:cNvPr id="21" name="Text 19"/>
          <p:cNvSpPr/>
          <p:nvPr/>
        </p:nvSpPr>
        <p:spPr>
          <a:xfrm>
            <a:off x="868680" y="4617720"/>
            <a:ext cx="10451592" cy="1280160"/>
          </a:xfrm>
          <a:prstGeom prst="rect">
            <a:avLst/>
          </a:prstGeom>
          <a:noFill/>
          <a:ln/>
        </p:spPr>
        <p:txBody>
          <a:bodyPr wrap="square" lIns="0" tIns="0" rIns="0" bIns="0" rtlCol="0" anchor="ctr"/>
          <a:lstStyle/>
          <a:p>
            <a:pPr indent="0" marL="0">
              <a:lnSpc>
                <a:spcPct val="128000"/>
              </a:lnSpc>
              <a:buNone/>
            </a:pPr>
            <a:r>
              <a:rPr lang="en-US" sz="1200" dirty="0">
                <a:solidFill>
                  <a:srgbClr val="FFFFFF"/>
                </a:solidFill>
                <a:latin typeface="Calibri" pitchFamily="34" charset="0"/>
                <a:ea typeface="Calibri" pitchFamily="34" charset="-122"/>
                <a:cs typeface="Calibri" pitchFamily="34" charset="-120"/>
              </a:rPr>
              <a:t>He founded the Society of St. Pius X (SSPX). In 1988, his unauthorized consecration of four bishops without a papal mandate brought automatic excommunication. Pope Benedict XVI lifted the four bishops' excommunications in 2009, though the Society's canonical status remains irregular.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RECEPTION AND REACTION</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Post-Council Turbulence</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17</a:t>
            </a:r>
            <a:endParaRPr lang="en-US" sz="900" dirty="0"/>
          </a:p>
        </p:txBody>
      </p:sp>
      <p:sp>
        <p:nvSpPr>
          <p:cNvPr id="6" name="Text 4"/>
          <p:cNvSpPr/>
          <p:nvPr/>
        </p:nvSpPr>
        <p:spPr>
          <a:xfrm>
            <a:off x="548640" y="1463040"/>
            <a:ext cx="11091672" cy="365760"/>
          </a:xfrm>
          <a:prstGeom prst="rect">
            <a:avLst/>
          </a:prstGeom>
          <a:noFill/>
          <a:ln/>
        </p:spPr>
        <p:txBody>
          <a:bodyPr wrap="square" lIns="0" tIns="0" rIns="0" bIns="0" rtlCol="0" anchor="ctr"/>
          <a:lstStyle/>
          <a:p>
            <a:pPr indent="0" marL="0">
              <a:buNone/>
            </a:pPr>
            <a:r>
              <a:rPr lang="en-US" sz="1300" i="1" dirty="0">
                <a:solidFill>
                  <a:srgbClr val="5C6B85"/>
                </a:solidFill>
                <a:latin typeface="Calibri" pitchFamily="34" charset="0"/>
                <a:ea typeface="Calibri" pitchFamily="34" charset="-122"/>
                <a:cs typeface="Calibri" pitchFamily="34" charset="-120"/>
              </a:rPr>
              <a:t>The years following the Council brought real strain alongside real renewal:</a:t>
            </a:r>
            <a:endParaRPr lang="en-US" sz="1300" dirty="0"/>
          </a:p>
        </p:txBody>
      </p:sp>
      <p:sp>
        <p:nvSpPr>
          <p:cNvPr id="7" name="Shape 5"/>
          <p:cNvSpPr/>
          <p:nvPr/>
        </p:nvSpPr>
        <p:spPr>
          <a:xfrm>
            <a:off x="548640" y="1965960"/>
            <a:ext cx="3453384" cy="1828800"/>
          </a:xfrm>
          <a:prstGeom prst="roundRect">
            <a:avLst>
              <a:gd name="adj" fmla="val 4000"/>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8" name="Text 6"/>
          <p:cNvSpPr/>
          <p:nvPr/>
        </p:nvSpPr>
        <p:spPr>
          <a:xfrm>
            <a:off x="777240" y="1965960"/>
            <a:ext cx="2996184" cy="1828800"/>
          </a:xfrm>
          <a:prstGeom prst="rect">
            <a:avLst/>
          </a:prstGeom>
          <a:noFill/>
          <a:ln/>
        </p:spPr>
        <p:txBody>
          <a:bodyPr wrap="square" lIns="0" tIns="0" rIns="0" bIns="0" rtlCol="0" anchor="ctr"/>
          <a:lstStyle/>
          <a:p>
            <a:pPr indent="0" marL="0">
              <a:lnSpc>
                <a:spcPct val="130000"/>
              </a:lnSpc>
              <a:buNone/>
            </a:pPr>
            <a:r>
              <a:rPr lang="en-US" sz="1250" dirty="0">
                <a:solidFill>
                  <a:srgbClr val="23324E"/>
                </a:solidFill>
                <a:latin typeface="Calibri" pitchFamily="34" charset="0"/>
                <a:ea typeface="Calibri" pitchFamily="34" charset="-122"/>
                <a:cs typeface="Calibri" pitchFamily="34" charset="-120"/>
              </a:rPr>
              <a:t>A wave of departures from priesthood and religious life in several regions</a:t>
            </a:r>
            <a:endParaRPr lang="en-US" sz="1250" dirty="0"/>
          </a:p>
        </p:txBody>
      </p:sp>
      <p:sp>
        <p:nvSpPr>
          <p:cNvPr id="9" name="Shape 7"/>
          <p:cNvSpPr/>
          <p:nvPr/>
        </p:nvSpPr>
        <p:spPr>
          <a:xfrm>
            <a:off x="4367784" y="1965960"/>
            <a:ext cx="3453384" cy="1828800"/>
          </a:xfrm>
          <a:prstGeom prst="roundRect">
            <a:avLst>
              <a:gd name="adj" fmla="val 4000"/>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0" name="Text 8"/>
          <p:cNvSpPr/>
          <p:nvPr/>
        </p:nvSpPr>
        <p:spPr>
          <a:xfrm>
            <a:off x="4596384" y="1965960"/>
            <a:ext cx="2996184" cy="1828800"/>
          </a:xfrm>
          <a:prstGeom prst="rect">
            <a:avLst/>
          </a:prstGeom>
          <a:noFill/>
          <a:ln/>
        </p:spPr>
        <p:txBody>
          <a:bodyPr wrap="square" lIns="0" tIns="0" rIns="0" bIns="0" rtlCol="0" anchor="ctr"/>
          <a:lstStyle/>
          <a:p>
            <a:pPr indent="0" marL="0">
              <a:lnSpc>
                <a:spcPct val="130000"/>
              </a:lnSpc>
              <a:buNone/>
            </a:pPr>
            <a:r>
              <a:rPr lang="en-US" sz="1250" dirty="0">
                <a:solidFill>
                  <a:srgbClr val="23324E"/>
                </a:solidFill>
                <a:latin typeface="Calibri" pitchFamily="34" charset="0"/>
                <a:ea typeface="Calibri" pitchFamily="34" charset="-122"/>
                <a:cs typeface="Calibri" pitchFamily="34" charset="-120"/>
              </a:rPr>
              <a:t>Declining Mass attendance in parts of the Western Church</a:t>
            </a:r>
            <a:endParaRPr lang="en-US" sz="1250" dirty="0"/>
          </a:p>
        </p:txBody>
      </p:sp>
      <p:sp>
        <p:nvSpPr>
          <p:cNvPr id="11" name="Shape 9"/>
          <p:cNvSpPr/>
          <p:nvPr/>
        </p:nvSpPr>
        <p:spPr>
          <a:xfrm>
            <a:off x="8186928" y="1965960"/>
            <a:ext cx="3453384" cy="1828800"/>
          </a:xfrm>
          <a:prstGeom prst="roundRect">
            <a:avLst>
              <a:gd name="adj" fmla="val 4000"/>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2" name="Text 10"/>
          <p:cNvSpPr/>
          <p:nvPr/>
        </p:nvSpPr>
        <p:spPr>
          <a:xfrm>
            <a:off x="8415528" y="1965960"/>
            <a:ext cx="2996184" cy="1828800"/>
          </a:xfrm>
          <a:prstGeom prst="rect">
            <a:avLst/>
          </a:prstGeom>
          <a:noFill/>
          <a:ln/>
        </p:spPr>
        <p:txBody>
          <a:bodyPr wrap="square" lIns="0" tIns="0" rIns="0" bIns="0" rtlCol="0" anchor="ctr"/>
          <a:lstStyle/>
          <a:p>
            <a:pPr indent="0" marL="0">
              <a:lnSpc>
                <a:spcPct val="130000"/>
              </a:lnSpc>
              <a:buNone/>
            </a:pPr>
            <a:r>
              <a:rPr lang="en-US" sz="1250" dirty="0">
                <a:solidFill>
                  <a:srgbClr val="23324E"/>
                </a:solidFill>
                <a:latin typeface="Calibri" pitchFamily="34" charset="0"/>
                <a:ea typeface="Calibri" pitchFamily="34" charset="-122"/>
                <a:cs typeface="Calibri" pitchFamily="34" charset="-120"/>
              </a:rPr>
              <a:t>Real confusion about how the new teaching was meant to be read and applied</a:t>
            </a:r>
            <a:endParaRPr lang="en-US" sz="1250" dirty="0"/>
          </a:p>
        </p:txBody>
      </p:sp>
      <p:sp>
        <p:nvSpPr>
          <p:cNvPr id="13" name="Shape 11"/>
          <p:cNvSpPr/>
          <p:nvPr/>
        </p:nvSpPr>
        <p:spPr>
          <a:xfrm>
            <a:off x="548640" y="4114800"/>
            <a:ext cx="11091672" cy="1874520"/>
          </a:xfrm>
          <a:prstGeom prst="roundRect">
            <a:avLst>
              <a:gd name="adj" fmla="val 3902"/>
            </a:avLst>
          </a:prstGeom>
          <a:solidFill>
            <a:srgbClr val="E8DAAE"/>
          </a:solidFill>
          <a:ln w="12700">
            <a:solidFill>
              <a:srgbClr val="B8912F"/>
            </a:solidFill>
            <a:prstDash val="solid"/>
          </a:ln>
          <a:effectLst>
            <a:outerShdw sx="100000" sy="100000" kx="0" ky="0" algn="bl" rotWithShape="0" blurRad="76200" dist="25400" dir="5400000">
              <a:srgbClr val="1B2A52">
                <a:alpha val="18000"/>
              </a:srgbClr>
            </a:outerShdw>
          </a:effectLst>
        </p:spPr>
      </p:sp>
      <p:sp>
        <p:nvSpPr>
          <p:cNvPr id="14" name="Text 12"/>
          <p:cNvSpPr/>
          <p:nvPr/>
        </p:nvSpPr>
        <p:spPr>
          <a:xfrm>
            <a:off x="868680" y="4279392"/>
            <a:ext cx="3200400" cy="365760"/>
          </a:xfrm>
          <a:prstGeom prst="rect">
            <a:avLst/>
          </a:prstGeom>
          <a:noFill/>
          <a:ln/>
        </p:spPr>
        <p:txBody>
          <a:bodyPr wrap="square" lIns="0" tIns="0" rIns="0" bIns="0" rtlCol="0" anchor="ctr"/>
          <a:lstStyle/>
          <a:p>
            <a:pPr indent="0" marL="0">
              <a:buNone/>
            </a:pPr>
            <a:r>
              <a:rPr lang="en-US" sz="1500" b="1" dirty="0">
                <a:solidFill>
                  <a:srgbClr val="1B2A52"/>
                </a:solidFill>
                <a:latin typeface="Cambria" pitchFamily="34" charset="0"/>
                <a:ea typeface="Cambria" pitchFamily="34" charset="-122"/>
                <a:cs typeface="Cambria" pitchFamily="34" charset="-120"/>
              </a:rPr>
              <a:t>Humanae Vitae, 1968</a:t>
            </a:r>
            <a:endParaRPr lang="en-US" sz="1500" dirty="0"/>
          </a:p>
        </p:txBody>
      </p:sp>
      <p:sp>
        <p:nvSpPr>
          <p:cNvPr id="15" name="Text 13"/>
          <p:cNvSpPr/>
          <p:nvPr/>
        </p:nvSpPr>
        <p:spPr>
          <a:xfrm>
            <a:off x="868680" y="4709160"/>
            <a:ext cx="10451592" cy="1143000"/>
          </a:xfrm>
          <a:prstGeom prst="rect">
            <a:avLst/>
          </a:prstGeom>
          <a:noFill/>
          <a:ln/>
        </p:spPr>
        <p:txBody>
          <a:bodyPr wrap="square" lIns="0" tIns="0" rIns="0" bIns="0" rtlCol="0" anchor="ctr"/>
          <a:lstStyle/>
          <a:p>
            <a:pPr indent="0" marL="0">
              <a:lnSpc>
                <a:spcPct val="130000"/>
              </a:lnSpc>
              <a:buNone/>
            </a:pPr>
            <a:r>
              <a:rPr lang="en-US" sz="1250" dirty="0">
                <a:solidFill>
                  <a:srgbClr val="1B2A52"/>
                </a:solidFill>
                <a:latin typeface="Calibri" pitchFamily="34" charset="0"/>
                <a:ea typeface="Calibri" pitchFamily="34" charset="-122"/>
                <a:cs typeface="Calibri" pitchFamily="34" charset="-120"/>
              </a:rPr>
              <a:t>Pope Paul VI's encyclical reaffirming the Church's teaching on birth control deepened the rift between the magisterium and a number of theologians in the years immediately following the Council.</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INTERPRETING THE COUNCIL</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The Great Debate: Continuity or Discontinuity?</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548640" y="1371600"/>
            <a:ext cx="11091672" cy="320040"/>
          </a:xfrm>
          <a:prstGeom prst="rect">
            <a:avLst/>
          </a:prstGeom>
          <a:noFill/>
          <a:ln/>
        </p:spPr>
        <p:txBody>
          <a:bodyPr wrap="square" lIns="0" tIns="0" rIns="0" bIns="0" rtlCol="0" anchor="ctr"/>
          <a:lstStyle/>
          <a:p>
            <a:pPr indent="0" marL="0">
              <a:buNone/>
            </a:pPr>
            <a:r>
              <a:rPr lang="en-US" sz="1300" i="1" dirty="0">
                <a:solidFill>
                  <a:srgbClr val="5C6B85"/>
                </a:solidFill>
                <a:latin typeface="Calibri" pitchFamily="34" charset="0"/>
                <a:ea typeface="Calibri" pitchFamily="34" charset="-122"/>
                <a:cs typeface="Calibri" pitchFamily="34" charset="-120"/>
              </a:rPr>
              <a:t>How should Vatican II be read against the whole of Church Tradition?</a:t>
            </a:r>
            <a:endParaRPr lang="en-US" sz="1300" dirty="0"/>
          </a:p>
        </p:txBody>
      </p:sp>
      <p:sp>
        <p:nvSpPr>
          <p:cNvPr id="7" name="Shape 5"/>
          <p:cNvSpPr/>
          <p:nvPr/>
        </p:nvSpPr>
        <p:spPr>
          <a:xfrm>
            <a:off x="548640" y="1828800"/>
            <a:ext cx="5362956" cy="4160520"/>
          </a:xfrm>
          <a:prstGeom prst="roundRect">
            <a:avLst>
              <a:gd name="adj" fmla="val 1758"/>
            </a:avLst>
          </a:prstGeom>
          <a:solidFill>
            <a:srgbClr val="F5EAEA"/>
          </a:solidFill>
          <a:ln w="12700">
            <a:solidFill>
              <a:srgbClr val="E0B9BC"/>
            </a:solidFill>
            <a:prstDash val="solid"/>
          </a:ln>
          <a:effectLst>
            <a:outerShdw sx="100000" sy="100000" kx="0" ky="0" algn="bl" rotWithShape="0" blurRad="76200" dist="25400" dir="5400000">
              <a:srgbClr val="1B2A52">
                <a:alpha val="18000"/>
              </a:srgbClr>
            </a:outerShdw>
          </a:effectLst>
        </p:spPr>
      </p:sp>
      <p:sp>
        <p:nvSpPr>
          <p:cNvPr id="8" name="Text 6"/>
          <p:cNvSpPr/>
          <p:nvPr/>
        </p:nvSpPr>
        <p:spPr>
          <a:xfrm>
            <a:off x="822960" y="2011680"/>
            <a:ext cx="4814316" cy="411480"/>
          </a:xfrm>
          <a:prstGeom prst="rect">
            <a:avLst/>
          </a:prstGeom>
          <a:noFill/>
          <a:ln/>
        </p:spPr>
        <p:txBody>
          <a:bodyPr wrap="square" lIns="0" tIns="0" rIns="0" bIns="0" rtlCol="0" anchor="ctr"/>
          <a:lstStyle/>
          <a:p>
            <a:pPr indent="0" marL="0">
              <a:buNone/>
            </a:pPr>
            <a:r>
              <a:rPr lang="en-US" sz="1600" b="1" dirty="0">
                <a:solidFill>
                  <a:srgbClr val="7A1B2E"/>
                </a:solidFill>
                <a:latin typeface="Cambria" pitchFamily="34" charset="0"/>
                <a:ea typeface="Cambria" pitchFamily="34" charset="-122"/>
                <a:cs typeface="Cambria" pitchFamily="34" charset="-120"/>
              </a:rPr>
              <a:t>Hermeneutic of Rupture</a:t>
            </a:r>
            <a:endParaRPr lang="en-US" sz="1600" dirty="0"/>
          </a:p>
        </p:txBody>
      </p:sp>
      <p:sp>
        <p:nvSpPr>
          <p:cNvPr id="9" name="Text 7"/>
          <p:cNvSpPr/>
          <p:nvPr/>
        </p:nvSpPr>
        <p:spPr>
          <a:xfrm>
            <a:off x="822960" y="2468880"/>
            <a:ext cx="4814316" cy="685800"/>
          </a:xfrm>
          <a:prstGeom prst="rect">
            <a:avLst/>
          </a:prstGeom>
          <a:noFill/>
          <a:ln/>
        </p:spPr>
        <p:txBody>
          <a:bodyPr wrap="square" lIns="0" tIns="0" rIns="0" bIns="0" rtlCol="0" anchor="ctr"/>
          <a:lstStyle/>
          <a:p>
            <a:pPr indent="0" marL="0">
              <a:lnSpc>
                <a:spcPct val="125000"/>
              </a:lnSpc>
              <a:buNone/>
            </a:pPr>
            <a:r>
              <a:rPr lang="en-US" sz="1150" i="1" dirty="0">
                <a:solidFill>
                  <a:srgbClr val="23324E"/>
                </a:solidFill>
                <a:latin typeface="Calibri" pitchFamily="34" charset="0"/>
                <a:ea typeface="Calibri" pitchFamily="34" charset="-122"/>
                <a:cs typeface="Calibri" pitchFamily="34" charset="-120"/>
              </a:rPr>
              <a:t>Vatican II is read as a break with the past — though the two readings below draw opposite conclusions from that same premise.</a:t>
            </a:r>
            <a:endParaRPr lang="en-US" sz="1150" dirty="0"/>
          </a:p>
        </p:txBody>
      </p:sp>
      <p:sp>
        <p:nvSpPr>
          <p:cNvPr id="10" name="Text 8"/>
          <p:cNvSpPr/>
          <p:nvPr/>
        </p:nvSpPr>
        <p:spPr>
          <a:xfrm>
            <a:off x="822960" y="3200400"/>
            <a:ext cx="4814316" cy="320040"/>
          </a:xfrm>
          <a:prstGeom prst="rect">
            <a:avLst/>
          </a:prstGeom>
          <a:noFill/>
          <a:ln/>
        </p:spPr>
        <p:txBody>
          <a:bodyPr wrap="square" lIns="0" tIns="0" rIns="0" bIns="0" rtlCol="0" anchor="ctr"/>
          <a:lstStyle/>
          <a:p>
            <a:pPr indent="0" marL="0">
              <a:buNone/>
            </a:pPr>
            <a:r>
              <a:rPr lang="en-US" sz="1200" b="1" dirty="0">
                <a:solidFill>
                  <a:srgbClr val="1B2A52"/>
                </a:solidFill>
                <a:latin typeface="Calibri" pitchFamily="34" charset="0"/>
                <a:ea typeface="Calibri" pitchFamily="34" charset="-122"/>
                <a:cs typeface="Calibri" pitchFamily="34" charset="-120"/>
              </a:rPr>
              <a:t>Progressive view</a:t>
            </a:r>
            <a:endParaRPr lang="en-US" sz="1200" dirty="0"/>
          </a:p>
        </p:txBody>
      </p:sp>
      <p:sp>
        <p:nvSpPr>
          <p:cNvPr id="11" name="Text 9"/>
          <p:cNvSpPr/>
          <p:nvPr/>
        </p:nvSpPr>
        <p:spPr>
          <a:xfrm>
            <a:off x="822960" y="3520440"/>
            <a:ext cx="4814316" cy="777240"/>
          </a:xfrm>
          <a:prstGeom prst="rect">
            <a:avLst/>
          </a:prstGeom>
          <a:noFill/>
          <a:ln/>
        </p:spPr>
        <p:txBody>
          <a:bodyPr wrap="square" lIns="0" tIns="0" rIns="0" bIns="0" rtlCol="0" anchor="ctr"/>
          <a:lstStyle/>
          <a:p>
            <a:pPr indent="0" marL="0">
              <a:lnSpc>
                <a:spcPct val="125000"/>
              </a:lnSpc>
              <a:buNone/>
            </a:pPr>
            <a:r>
              <a:rPr lang="en-US" sz="1150" dirty="0">
                <a:solidFill>
                  <a:srgbClr val="23324E"/>
                </a:solidFill>
                <a:latin typeface="Calibri" pitchFamily="34" charset="0"/>
                <a:ea typeface="Calibri" pitchFamily="34" charset="-122"/>
                <a:cs typeface="Calibri" pitchFamily="34" charset="-120"/>
              </a:rPr>
              <a:t>The Council was a liberation; the “spirit of Vatican II” points beyond the texts toward further reform.</a:t>
            </a:r>
            <a:endParaRPr lang="en-US" sz="1150" dirty="0"/>
          </a:p>
        </p:txBody>
      </p:sp>
      <p:sp>
        <p:nvSpPr>
          <p:cNvPr id="12" name="Text 10"/>
          <p:cNvSpPr/>
          <p:nvPr/>
        </p:nvSpPr>
        <p:spPr>
          <a:xfrm>
            <a:off x="822960" y="4343400"/>
            <a:ext cx="4814316" cy="320040"/>
          </a:xfrm>
          <a:prstGeom prst="rect">
            <a:avLst/>
          </a:prstGeom>
          <a:noFill/>
          <a:ln/>
        </p:spPr>
        <p:txBody>
          <a:bodyPr wrap="square" lIns="0" tIns="0" rIns="0" bIns="0" rtlCol="0" anchor="ctr"/>
          <a:lstStyle/>
          <a:p>
            <a:pPr indent="0" marL="0">
              <a:buNone/>
            </a:pPr>
            <a:r>
              <a:rPr lang="en-US" sz="1200" b="1" dirty="0">
                <a:solidFill>
                  <a:srgbClr val="1B2A52"/>
                </a:solidFill>
                <a:latin typeface="Calibri" pitchFamily="34" charset="0"/>
                <a:ea typeface="Calibri" pitchFamily="34" charset="-122"/>
                <a:cs typeface="Calibri" pitchFamily="34" charset="-120"/>
              </a:rPr>
              <a:t>Traditionalist view</a:t>
            </a:r>
            <a:endParaRPr lang="en-US" sz="1200" dirty="0"/>
          </a:p>
        </p:txBody>
      </p:sp>
      <p:sp>
        <p:nvSpPr>
          <p:cNvPr id="13" name="Text 11"/>
          <p:cNvSpPr/>
          <p:nvPr/>
        </p:nvSpPr>
        <p:spPr>
          <a:xfrm>
            <a:off x="822960" y="4663440"/>
            <a:ext cx="4814316" cy="777240"/>
          </a:xfrm>
          <a:prstGeom prst="rect">
            <a:avLst/>
          </a:prstGeom>
          <a:noFill/>
          <a:ln/>
        </p:spPr>
        <p:txBody>
          <a:bodyPr wrap="square" lIns="0" tIns="0" rIns="0" bIns="0" rtlCol="0" anchor="ctr"/>
          <a:lstStyle/>
          <a:p>
            <a:pPr indent="0" marL="0">
              <a:lnSpc>
                <a:spcPct val="125000"/>
              </a:lnSpc>
              <a:buNone/>
            </a:pPr>
            <a:r>
              <a:rPr lang="en-US" sz="1150" dirty="0">
                <a:solidFill>
                  <a:srgbClr val="23324E"/>
                </a:solidFill>
                <a:latin typeface="Calibri" pitchFamily="34" charset="0"/>
                <a:ea typeface="Calibri" pitchFamily="34" charset="-122"/>
                <a:cs typeface="Calibri" pitchFamily="34" charset="-120"/>
              </a:rPr>
              <a:t>The Council was a departure from Tradition that taught error.</a:t>
            </a:r>
            <a:endParaRPr lang="en-US" sz="1150" dirty="0"/>
          </a:p>
        </p:txBody>
      </p:sp>
      <p:sp>
        <p:nvSpPr>
          <p:cNvPr id="14" name="Shape 12"/>
          <p:cNvSpPr/>
          <p:nvPr/>
        </p:nvSpPr>
        <p:spPr>
          <a:xfrm>
            <a:off x="6277356" y="1828800"/>
            <a:ext cx="5362956" cy="4160520"/>
          </a:xfrm>
          <a:prstGeom prst="roundRect">
            <a:avLst>
              <a:gd name="adj" fmla="val 1758"/>
            </a:avLst>
          </a:prstGeom>
          <a:solidFill>
            <a:srgbClr val="EFF3ED"/>
          </a:solidFill>
          <a:ln w="12700">
            <a:solidFill>
              <a:srgbClr val="CBDFC4"/>
            </a:solidFill>
            <a:prstDash val="solid"/>
          </a:ln>
          <a:effectLst>
            <a:outerShdw sx="100000" sy="100000" kx="0" ky="0" algn="bl" rotWithShape="0" blurRad="76200" dist="25400" dir="5400000">
              <a:srgbClr val="1B2A52">
                <a:alpha val="18000"/>
              </a:srgbClr>
            </a:outerShdw>
          </a:effectLst>
        </p:spPr>
      </p:sp>
      <p:sp>
        <p:nvSpPr>
          <p:cNvPr id="15" name="Text 13"/>
          <p:cNvSpPr/>
          <p:nvPr/>
        </p:nvSpPr>
        <p:spPr>
          <a:xfrm>
            <a:off x="6551676" y="2011680"/>
            <a:ext cx="4814316" cy="4114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Hermeneutic of Continuity</a:t>
            </a:r>
            <a:endParaRPr lang="en-US" sz="1600" dirty="0"/>
          </a:p>
        </p:txBody>
      </p:sp>
      <p:sp>
        <p:nvSpPr>
          <p:cNvPr id="16" name="Text 14"/>
          <p:cNvSpPr/>
          <p:nvPr/>
        </p:nvSpPr>
        <p:spPr>
          <a:xfrm>
            <a:off x="6551676" y="2468880"/>
            <a:ext cx="4814316" cy="685800"/>
          </a:xfrm>
          <a:prstGeom prst="rect">
            <a:avLst/>
          </a:prstGeom>
          <a:noFill/>
          <a:ln/>
        </p:spPr>
        <p:txBody>
          <a:bodyPr wrap="square" lIns="0" tIns="0" rIns="0" bIns="0" rtlCol="0" anchor="ctr"/>
          <a:lstStyle/>
          <a:p>
            <a:pPr indent="0" marL="0">
              <a:lnSpc>
                <a:spcPct val="125000"/>
              </a:lnSpc>
              <a:buNone/>
            </a:pPr>
            <a:r>
              <a:rPr lang="en-US" sz="1150" i="1" dirty="0">
                <a:solidFill>
                  <a:srgbClr val="23324E"/>
                </a:solidFill>
                <a:latin typeface="Calibri" pitchFamily="34" charset="0"/>
                <a:ea typeface="Calibri" pitchFamily="34" charset="-122"/>
                <a:cs typeface="Calibri" pitchFamily="34" charset="-120"/>
              </a:rPr>
              <a:t>Promoted by Pope John Paul II and Pope Benedict XVI: the Council must be read together with the Church's entire Tradition.</a:t>
            </a:r>
            <a:endParaRPr lang="en-US" sz="1150" dirty="0"/>
          </a:p>
        </p:txBody>
      </p:sp>
      <p:sp>
        <p:nvSpPr>
          <p:cNvPr id="17" name="Text 15"/>
          <p:cNvSpPr/>
          <p:nvPr/>
        </p:nvSpPr>
        <p:spPr>
          <a:xfrm>
            <a:off x="6551676" y="3200400"/>
            <a:ext cx="4814316" cy="320040"/>
          </a:xfrm>
          <a:prstGeom prst="rect">
            <a:avLst/>
          </a:prstGeom>
          <a:noFill/>
          <a:ln/>
        </p:spPr>
        <p:txBody>
          <a:bodyPr wrap="square" lIns="0" tIns="0" rIns="0" bIns="0" rtlCol="0" anchor="ctr"/>
          <a:lstStyle/>
          <a:p>
            <a:pPr indent="0" marL="0">
              <a:buNone/>
            </a:pPr>
            <a:r>
              <a:rPr lang="en-US" sz="1200" b="1" dirty="0">
                <a:solidFill>
                  <a:srgbClr val="1B2A52"/>
                </a:solidFill>
                <a:latin typeface="Calibri" pitchFamily="34" charset="0"/>
                <a:ea typeface="Calibri" pitchFamily="34" charset="-122"/>
                <a:cs typeface="Calibri" pitchFamily="34" charset="-120"/>
              </a:rPr>
              <a:t>Benedict XVI, 2005</a:t>
            </a:r>
            <a:endParaRPr lang="en-US" sz="1200" dirty="0"/>
          </a:p>
        </p:txBody>
      </p:sp>
      <p:sp>
        <p:nvSpPr>
          <p:cNvPr id="18" name="Text 16"/>
          <p:cNvSpPr/>
          <p:nvPr/>
        </p:nvSpPr>
        <p:spPr>
          <a:xfrm>
            <a:off x="6551676" y="3520440"/>
            <a:ext cx="4814316" cy="914400"/>
          </a:xfrm>
          <a:prstGeom prst="rect">
            <a:avLst/>
          </a:prstGeom>
          <a:noFill/>
          <a:ln/>
        </p:spPr>
        <p:txBody>
          <a:bodyPr wrap="square" lIns="0" tIns="0" rIns="0" bIns="0" rtlCol="0" anchor="ctr"/>
          <a:lstStyle/>
          <a:p>
            <a:pPr indent="0" marL="0">
              <a:lnSpc>
                <a:spcPct val="125000"/>
              </a:lnSpc>
              <a:buNone/>
            </a:pPr>
            <a:r>
              <a:rPr lang="en-US" sz="1150" i="1" dirty="0">
                <a:solidFill>
                  <a:srgbClr val="23324E"/>
                </a:solidFill>
                <a:latin typeface="Calibri" pitchFamily="34" charset="0"/>
                <a:ea typeface="Calibri" pitchFamily="34" charset="-122"/>
                <a:cs typeface="Calibri" pitchFamily="34" charset="-120"/>
              </a:rPr>
              <a:t>There may be discontinuity in addressing particular historical situations, but continuity in the underlying principles of the faith.</a:t>
            </a:r>
            <a:endParaRPr lang="en-US" sz="1150" dirty="0"/>
          </a:p>
        </p:txBody>
      </p:sp>
      <p:sp>
        <p:nvSpPr>
          <p:cNvPr id="19" name="Text 17"/>
          <p:cNvSpPr/>
          <p:nvPr/>
        </p:nvSpPr>
        <p:spPr>
          <a:xfrm>
            <a:off x="6551676" y="4526280"/>
            <a:ext cx="4814316" cy="914400"/>
          </a:xfrm>
          <a:prstGeom prst="rect">
            <a:avLst/>
          </a:prstGeom>
          <a:noFill/>
          <a:ln/>
        </p:spPr>
        <p:txBody>
          <a:bodyPr wrap="square" lIns="0" tIns="0" rIns="0" bIns="0" rtlCol="0" anchor="ctr"/>
          <a:lstStyle/>
          <a:p>
            <a:pPr indent="0" marL="0">
              <a:lnSpc>
                <a:spcPct val="125000"/>
              </a:lnSpc>
              <a:buNone/>
            </a:pPr>
            <a:r>
              <a:rPr lang="en-US" sz="1150" dirty="0">
                <a:solidFill>
                  <a:srgbClr val="23324E"/>
                </a:solidFill>
                <a:latin typeface="Calibri" pitchFamily="34" charset="0"/>
                <a:ea typeface="Calibri" pitchFamily="34" charset="-122"/>
                <a:cs typeface="Calibri" pitchFamily="34" charset="-120"/>
              </a:rPr>
              <a:t>The Council intended to transmit doctrine “pure and integral,” expressed in a new way for a new age.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INTERPRETING THE COUNCIL</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Letter and Spirit — Two Journals</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48640" y="1554480"/>
            <a:ext cx="11091672" cy="1874520"/>
          </a:xfrm>
          <a:prstGeom prst="roundRect">
            <a:avLst>
              <a:gd name="adj" fmla="val 3902"/>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7" name="Text 5"/>
          <p:cNvSpPr/>
          <p:nvPr/>
        </p:nvSpPr>
        <p:spPr>
          <a:xfrm>
            <a:off x="822960" y="1737360"/>
            <a:ext cx="10543032" cy="365760"/>
          </a:xfrm>
          <a:prstGeom prst="rect">
            <a:avLst/>
          </a:prstGeom>
          <a:noFill/>
          <a:ln/>
        </p:spPr>
        <p:txBody>
          <a:bodyPr wrap="square" lIns="0" tIns="0" rIns="0" bIns="0" rtlCol="0" anchor="ctr"/>
          <a:lstStyle/>
          <a:p>
            <a:pPr indent="0" marL="0">
              <a:buNone/>
            </a:pPr>
            <a:r>
              <a:rPr lang="en-US" sz="1500" b="1" dirty="0">
                <a:solidFill>
                  <a:srgbClr val="1B2A52"/>
                </a:solidFill>
                <a:latin typeface="Cambria" pitchFamily="34" charset="0"/>
                <a:ea typeface="Cambria" pitchFamily="34" charset="-122"/>
                <a:cs typeface="Cambria" pitchFamily="34" charset="-120"/>
              </a:rPr>
              <a:t>The Letter and the Spirit</a:t>
            </a:r>
            <a:endParaRPr lang="en-US" sz="1500" dirty="0"/>
          </a:p>
        </p:txBody>
      </p:sp>
      <p:sp>
        <p:nvSpPr>
          <p:cNvPr id="8" name="Text 6"/>
          <p:cNvSpPr/>
          <p:nvPr/>
        </p:nvSpPr>
        <p:spPr>
          <a:xfrm>
            <a:off x="822960" y="2148840"/>
            <a:ext cx="10543032" cy="1188720"/>
          </a:xfrm>
          <a:prstGeom prst="rect">
            <a:avLst/>
          </a:prstGeom>
          <a:noFill/>
          <a:ln/>
        </p:spPr>
        <p:txBody>
          <a:bodyPr wrap="square" lIns="0" tIns="0" rIns="0" bIns="0" rtlCol="0" anchor="ctr"/>
          <a:lstStyle/>
          <a:p>
            <a:pPr indent="0" marL="0">
              <a:lnSpc>
                <a:spcPct val="130000"/>
              </a:lnSpc>
              <a:buNone/>
            </a:pPr>
            <a:r>
              <a:rPr lang="en-US" sz="1250" dirty="0">
                <a:solidFill>
                  <a:srgbClr val="23324E"/>
                </a:solidFill>
                <a:latin typeface="Calibri" pitchFamily="34" charset="0"/>
                <a:ea typeface="Calibri" pitchFamily="34" charset="-122"/>
                <a:cs typeface="Calibri" pitchFamily="34" charset="-120"/>
              </a:rPr>
              <a:t>The letter is what the documents actually say; the spirit is the trajectory the Council was thought to intend. Example: the documents preserved Latin as the Church's official liturgical language, yet the “spirit” of the reform led, within a few years, to worship almost entirely in the vernacular.</a:t>
            </a:r>
            <a:endParaRPr lang="en-US" sz="1250" dirty="0"/>
          </a:p>
        </p:txBody>
      </p:sp>
      <p:sp>
        <p:nvSpPr>
          <p:cNvPr id="9" name="Shape 7"/>
          <p:cNvSpPr/>
          <p:nvPr/>
        </p:nvSpPr>
        <p:spPr>
          <a:xfrm>
            <a:off x="548640" y="3657600"/>
            <a:ext cx="5362956" cy="2331720"/>
          </a:xfrm>
          <a:prstGeom prst="roundRect">
            <a:avLst>
              <a:gd name="adj" fmla="val 3137"/>
            </a:avLst>
          </a:prstGeom>
          <a:solidFill>
            <a:srgbClr val="1B2A52"/>
          </a:solidFill>
          <a:ln w="12700">
            <a:solidFill>
              <a:srgbClr val="1B2A52"/>
            </a:solidFill>
            <a:prstDash val="solid"/>
          </a:ln>
          <a:effectLst>
            <a:outerShdw sx="100000" sy="100000" kx="0" ky="0" algn="bl" rotWithShape="0" blurRad="76200" dist="25400" dir="5400000">
              <a:srgbClr val="1B2A52">
                <a:alpha val="18000"/>
              </a:srgbClr>
            </a:outerShdw>
          </a:effectLst>
        </p:spPr>
      </p:sp>
      <p:sp>
        <p:nvSpPr>
          <p:cNvPr id="10" name="Text 8"/>
          <p:cNvSpPr/>
          <p:nvPr/>
        </p:nvSpPr>
        <p:spPr>
          <a:xfrm>
            <a:off x="822960" y="3822192"/>
            <a:ext cx="4814316" cy="365760"/>
          </a:xfrm>
          <a:prstGeom prst="rect">
            <a:avLst/>
          </a:prstGeom>
          <a:noFill/>
          <a:ln/>
        </p:spPr>
        <p:txBody>
          <a:bodyPr wrap="square" lIns="0" tIns="0" rIns="0" bIns="0" rtlCol="0" anchor="ctr"/>
          <a:lstStyle/>
          <a:p>
            <a:pPr indent="0" marL="0">
              <a:buNone/>
            </a:pPr>
            <a:r>
              <a:rPr lang="en-US" sz="1600" b="1" i="1" dirty="0">
                <a:solidFill>
                  <a:srgbClr val="B8912F"/>
                </a:solidFill>
                <a:latin typeface="Cambria" pitchFamily="34" charset="0"/>
                <a:ea typeface="Cambria" pitchFamily="34" charset="-122"/>
                <a:cs typeface="Cambria" pitchFamily="34" charset="-120"/>
              </a:rPr>
              <a:t>Concilium</a:t>
            </a:r>
            <a:endParaRPr lang="en-US" sz="1600" dirty="0"/>
          </a:p>
        </p:txBody>
      </p:sp>
      <p:sp>
        <p:nvSpPr>
          <p:cNvPr id="11" name="Text 9"/>
          <p:cNvSpPr/>
          <p:nvPr/>
        </p:nvSpPr>
        <p:spPr>
          <a:xfrm>
            <a:off x="822960" y="4251960"/>
            <a:ext cx="4814316" cy="1645920"/>
          </a:xfrm>
          <a:prstGeom prst="rect">
            <a:avLst/>
          </a:prstGeom>
          <a:noFill/>
          <a:ln/>
        </p:spPr>
        <p:txBody>
          <a:bodyPr wrap="square" lIns="0" tIns="0" rIns="0" bIns="0" rtlCol="0" anchor="ctr"/>
          <a:lstStyle/>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Karl Rahner, Hans Küng, Edward Schillebeeckx. Read the Council through its trajectory and pressed for continued reform.</a:t>
            </a:r>
            <a:endParaRPr lang="en-US" sz="1200" dirty="0"/>
          </a:p>
        </p:txBody>
      </p:sp>
      <p:sp>
        <p:nvSpPr>
          <p:cNvPr id="12" name="Shape 10"/>
          <p:cNvSpPr/>
          <p:nvPr/>
        </p:nvSpPr>
        <p:spPr>
          <a:xfrm>
            <a:off x="6277356" y="3657600"/>
            <a:ext cx="5362956" cy="2331720"/>
          </a:xfrm>
          <a:prstGeom prst="roundRect">
            <a:avLst>
              <a:gd name="adj" fmla="val 3137"/>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3" name="Text 11"/>
          <p:cNvSpPr/>
          <p:nvPr/>
        </p:nvSpPr>
        <p:spPr>
          <a:xfrm>
            <a:off x="6551676" y="3822192"/>
            <a:ext cx="4814316" cy="365760"/>
          </a:xfrm>
          <a:prstGeom prst="rect">
            <a:avLst/>
          </a:prstGeom>
          <a:noFill/>
          <a:ln/>
        </p:spPr>
        <p:txBody>
          <a:bodyPr wrap="square" lIns="0" tIns="0" rIns="0" bIns="0" rtlCol="0" anchor="ctr"/>
          <a:lstStyle/>
          <a:p>
            <a:pPr indent="0" marL="0">
              <a:buNone/>
            </a:pPr>
            <a:r>
              <a:rPr lang="en-US" sz="1600" b="1" i="1" dirty="0">
                <a:solidFill>
                  <a:srgbClr val="7A1B2E"/>
                </a:solidFill>
                <a:latin typeface="Cambria" pitchFamily="34" charset="0"/>
                <a:ea typeface="Cambria" pitchFamily="34" charset="-122"/>
                <a:cs typeface="Cambria" pitchFamily="34" charset="-120"/>
              </a:rPr>
              <a:t>Communio</a:t>
            </a:r>
            <a:endParaRPr lang="en-US" sz="1600" dirty="0"/>
          </a:p>
        </p:txBody>
      </p:sp>
      <p:sp>
        <p:nvSpPr>
          <p:cNvPr id="14" name="Text 12"/>
          <p:cNvSpPr/>
          <p:nvPr/>
        </p:nvSpPr>
        <p:spPr>
          <a:xfrm>
            <a:off x="6551676" y="4251960"/>
            <a:ext cx="4814316" cy="1645920"/>
          </a:xfrm>
          <a:prstGeom prst="rect">
            <a:avLst/>
          </a:prstGeom>
          <a:noFill/>
          <a:ln/>
        </p:spPr>
        <p:txBody>
          <a:bodyPr wrap="square" lIns="0" tIns="0" rIns="0" bIns="0" rtlCol="0" anchor="ctr"/>
          <a:lstStyle/>
          <a:p>
            <a:pPr indent="0" marL="0">
              <a:lnSpc>
                <a:spcPct val="130000"/>
              </a:lnSpc>
              <a:buNone/>
            </a:pPr>
            <a:r>
              <a:rPr lang="en-US" sz="1200" dirty="0">
                <a:solidFill>
                  <a:srgbClr val="23324E"/>
                </a:solidFill>
                <a:latin typeface="Calibri" pitchFamily="34" charset="0"/>
                <a:ea typeface="Calibri" pitchFamily="34" charset="-122"/>
                <a:cs typeface="Calibri" pitchFamily="34" charset="-120"/>
              </a:rPr>
              <a:t>Joseph Ratzinger, Henri de Lubac, Hans Urs von Balthasar. Read the Council through its actual texts and cautioned against rupture.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TWO COMPLEMENTARY APPROACHES</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Aggiornamento &amp; Ressourcement</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548640" y="1600200"/>
            <a:ext cx="5362956" cy="502920"/>
          </a:xfrm>
          <a:prstGeom prst="roundRect">
            <a:avLst>
              <a:gd name="adj" fmla="val 10909"/>
            </a:avLst>
          </a:prstGeom>
          <a:solidFill>
            <a:srgbClr val="1B2A52"/>
          </a:solidFill>
          <a:ln/>
        </p:spPr>
      </p:sp>
      <p:sp>
        <p:nvSpPr>
          <p:cNvPr id="7" name="Shape 5"/>
          <p:cNvSpPr/>
          <p:nvPr/>
        </p:nvSpPr>
        <p:spPr>
          <a:xfrm>
            <a:off x="548640" y="1847088"/>
            <a:ext cx="5362956" cy="256032"/>
          </a:xfrm>
          <a:prstGeom prst="rect">
            <a:avLst/>
          </a:prstGeom>
          <a:solidFill>
            <a:srgbClr val="1B2A52"/>
          </a:solidFill>
          <a:ln/>
        </p:spPr>
      </p:sp>
      <p:sp>
        <p:nvSpPr>
          <p:cNvPr id="8" name="Text 6"/>
          <p:cNvSpPr/>
          <p:nvPr/>
        </p:nvSpPr>
        <p:spPr>
          <a:xfrm>
            <a:off x="548640" y="1600200"/>
            <a:ext cx="5362956"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Aggiornamento</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362956" cy="914400"/>
        </p:xfrm>
        <a:graphic>
          <a:graphicData uri="http://schemas.openxmlformats.org/drawingml/2006/table">
            <a:tbl>
              <a:tblPr/>
              <a:tblGrid>
                <a:gridCol w="1501628"/>
                <a:gridCol w="3861328"/>
              </a:tblGrid>
              <a:tr h="566928">
                <a:tc>
                  <a:txBody>
                    <a:bodyPr/>
                    <a:lstStyle/>
                    <a:p>
                      <a:pPr indent="0" marL="0">
                        <a:buNone/>
                      </a:pPr>
                      <a:r>
                        <a:rPr lang="en-US" sz="1150" b="1" dirty="0">
                          <a:solidFill>
                            <a:srgbClr val="1B2A52"/>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50" dirty="0">
                          <a:solidFill>
                            <a:srgbClr val="23324E"/>
                          </a:solidFill>
                          <a:latin typeface="Calibri" pitchFamily="34" charset="0"/>
                          <a:ea typeface="Calibri" pitchFamily="34" charset="-122"/>
                          <a:cs typeface="Calibri" pitchFamily="34" charset="-120"/>
                        </a:rPr>
                        <a:t>Bringing the Church up to date; adaptation to the present</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B2A52"/>
                          </a:solidFill>
                          <a:latin typeface="Calibri" pitchFamily="34" charset="0"/>
                          <a:ea typeface="Calibri" pitchFamily="34" charset="-122"/>
                          <a:cs typeface="Calibri" pitchFamily="34" charset="-120"/>
                        </a:rPr>
                        <a:t>Focus</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50" dirty="0">
                          <a:solidFill>
                            <a:srgbClr val="23324E"/>
                          </a:solidFill>
                          <a:latin typeface="Calibri" pitchFamily="34" charset="0"/>
                          <a:ea typeface="Calibri" pitchFamily="34" charset="-122"/>
                          <a:cs typeface="Calibri" pitchFamily="34" charset="-120"/>
                        </a:rPr>
                        <a:t>Engaging the present and the future</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B2A52"/>
                          </a:solidFill>
                          <a:latin typeface="Calibri" pitchFamily="34" charset="0"/>
                          <a:ea typeface="Calibri" pitchFamily="34" charset="-122"/>
                          <a:cs typeface="Calibri" pitchFamily="34" charset="-120"/>
                        </a:rPr>
                        <a:t>Posture</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50" dirty="0">
                          <a:solidFill>
                            <a:srgbClr val="23324E"/>
                          </a:solidFill>
                          <a:latin typeface="Calibri" pitchFamily="34" charset="0"/>
                          <a:ea typeface="Calibri" pitchFamily="34" charset="-122"/>
                          <a:cs typeface="Calibri" pitchFamily="34" charset="-120"/>
                        </a:rPr>
                        <a:t>Opening to the modern world</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B2A52"/>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50" dirty="0">
                          <a:solidFill>
                            <a:srgbClr val="23324E"/>
                          </a:solidFill>
                          <a:latin typeface="Calibri" pitchFamily="34" charset="0"/>
                          <a:ea typeface="Calibri" pitchFamily="34" charset="-122"/>
                          <a:cs typeface="Calibri" pitchFamily="34" charset="-120"/>
                        </a:rPr>
                        <a:t>Losing identity by over-adapting to culture</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bl>
          </a:graphicData>
        </a:graphic>
      </p:graphicFrame>
      <p:sp>
        <p:nvSpPr>
          <p:cNvPr id="10" name="Shape 7"/>
          <p:cNvSpPr/>
          <p:nvPr/>
        </p:nvSpPr>
        <p:spPr>
          <a:xfrm>
            <a:off x="6277356" y="1600200"/>
            <a:ext cx="5362956" cy="502920"/>
          </a:xfrm>
          <a:prstGeom prst="roundRect">
            <a:avLst>
              <a:gd name="adj" fmla="val 10909"/>
            </a:avLst>
          </a:prstGeom>
          <a:solidFill>
            <a:srgbClr val="7A1B2E"/>
          </a:solidFill>
          <a:ln/>
        </p:spPr>
      </p:sp>
      <p:sp>
        <p:nvSpPr>
          <p:cNvPr id="11" name="Shape 8"/>
          <p:cNvSpPr/>
          <p:nvPr/>
        </p:nvSpPr>
        <p:spPr>
          <a:xfrm>
            <a:off x="6277356" y="1847088"/>
            <a:ext cx="5362956" cy="256032"/>
          </a:xfrm>
          <a:prstGeom prst="rect">
            <a:avLst/>
          </a:prstGeom>
          <a:solidFill>
            <a:srgbClr val="7A1B2E"/>
          </a:solidFill>
          <a:ln/>
        </p:spPr>
      </p:sp>
      <p:sp>
        <p:nvSpPr>
          <p:cNvPr id="12" name="Text 9"/>
          <p:cNvSpPr/>
          <p:nvPr/>
        </p:nvSpPr>
        <p:spPr>
          <a:xfrm>
            <a:off x="6277356" y="1600200"/>
            <a:ext cx="5362956"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Ressourcement</a:t>
            </a:r>
            <a:endParaRPr lang="en-US" sz="1600" dirty="0"/>
          </a:p>
        </p:txBody>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277356" y="2103120"/>
          <a:ext cx="5362956" cy="914400"/>
        </p:xfrm>
        <a:graphic>
          <a:graphicData uri="http://schemas.openxmlformats.org/drawingml/2006/table">
            <a:tbl>
              <a:tblPr/>
              <a:tblGrid>
                <a:gridCol w="1501628"/>
                <a:gridCol w="3861328"/>
              </a:tblGrid>
              <a:tr h="566928">
                <a:tc>
                  <a:txBody>
                    <a:bodyPr/>
                    <a:lstStyle/>
                    <a:p>
                      <a:pPr indent="0" marL="0">
                        <a:buNone/>
                      </a:pPr>
                      <a:r>
                        <a:rPr lang="en-US" sz="1150" b="1" dirty="0">
                          <a:solidFill>
                            <a:srgbClr val="1B2A52"/>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50" dirty="0">
                          <a:solidFill>
                            <a:srgbClr val="23324E"/>
                          </a:solidFill>
                          <a:latin typeface="Calibri" pitchFamily="34" charset="0"/>
                          <a:ea typeface="Calibri" pitchFamily="34" charset="-122"/>
                          <a:cs typeface="Calibri" pitchFamily="34" charset="-120"/>
                        </a:rPr>
                        <a:t>Recovering the authentic sources of the faith</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B2A52"/>
                          </a:solidFill>
                          <a:latin typeface="Calibri" pitchFamily="34" charset="0"/>
                          <a:ea typeface="Calibri" pitchFamily="34" charset="-122"/>
                          <a:cs typeface="Calibri" pitchFamily="34" charset="-120"/>
                        </a:rPr>
                        <a:t>Focus</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50" dirty="0">
                          <a:solidFill>
                            <a:srgbClr val="23324E"/>
                          </a:solidFill>
                          <a:latin typeface="Calibri" pitchFamily="34" charset="0"/>
                          <a:ea typeface="Calibri" pitchFamily="34" charset="-122"/>
                          <a:cs typeface="Calibri" pitchFamily="34" charset="-120"/>
                        </a:rPr>
                        <a:t>Returning to Scripture and the Church Fathers</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B2A52"/>
                          </a:solidFill>
                          <a:latin typeface="Calibri" pitchFamily="34" charset="0"/>
                          <a:ea typeface="Calibri" pitchFamily="34" charset="-122"/>
                          <a:cs typeface="Calibri" pitchFamily="34" charset="-120"/>
                        </a:rPr>
                        <a:t>Posture</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50" dirty="0">
                          <a:solidFill>
                            <a:srgbClr val="23324E"/>
                          </a:solidFill>
                          <a:latin typeface="Calibri" pitchFamily="34" charset="0"/>
                          <a:ea typeface="Calibri" pitchFamily="34" charset="-122"/>
                          <a:cs typeface="Calibri" pitchFamily="34" charset="-120"/>
                        </a:rPr>
                        <a:t>Renewal through Tradition</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B2A52"/>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50" dirty="0">
                          <a:solidFill>
                            <a:srgbClr val="23324E"/>
                          </a:solidFill>
                          <a:latin typeface="Calibri" pitchFamily="34" charset="0"/>
                          <a:ea typeface="Calibri" pitchFamily="34" charset="-122"/>
                          <a:cs typeface="Calibri" pitchFamily="34" charset="-120"/>
                        </a:rPr>
                        <a:t>Antiquarianism; romanticizing the past</a:t>
                      </a:r>
                      <a:endParaRPr lang="en-US" sz="115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bl>
          </a:graphicData>
        </a:graphic>
      </p:graphicFrame>
      <p:sp>
        <p:nvSpPr>
          <p:cNvPr id="14" name="Shape 10"/>
          <p:cNvSpPr/>
          <p:nvPr/>
        </p:nvSpPr>
        <p:spPr>
          <a:xfrm>
            <a:off x="548640" y="4526280"/>
            <a:ext cx="11091672" cy="1417320"/>
          </a:xfrm>
          <a:prstGeom prst="roundRect">
            <a:avLst>
              <a:gd name="adj" fmla="val 5161"/>
            </a:avLst>
          </a:prstGeom>
          <a:solidFill>
            <a:srgbClr val="E8DAAE"/>
          </a:solidFill>
          <a:ln w="12700">
            <a:solidFill>
              <a:srgbClr val="B8912F"/>
            </a:solidFill>
            <a:prstDash val="solid"/>
          </a:ln>
          <a:effectLst>
            <a:outerShdw sx="100000" sy="100000" kx="0" ky="0" algn="bl" rotWithShape="0" blurRad="76200" dist="25400" dir="5400000">
              <a:srgbClr val="1B2A52">
                <a:alpha val="18000"/>
              </a:srgbClr>
            </a:outerShdw>
          </a:effectLst>
        </p:spPr>
      </p:sp>
      <p:sp>
        <p:nvSpPr>
          <p:cNvPr id="15" name="Text 11"/>
          <p:cNvSpPr/>
          <p:nvPr/>
        </p:nvSpPr>
        <p:spPr>
          <a:xfrm>
            <a:off x="868680" y="4681728"/>
            <a:ext cx="10451592" cy="411480"/>
          </a:xfrm>
          <a:prstGeom prst="rect">
            <a:avLst/>
          </a:prstGeom>
          <a:noFill/>
          <a:ln/>
        </p:spPr>
        <p:txBody>
          <a:bodyPr wrap="square" lIns="0" tIns="0" rIns="0" bIns="0" rtlCol="0" anchor="ctr"/>
          <a:lstStyle/>
          <a:p>
            <a:pPr indent="0" marL="0">
              <a:buNone/>
            </a:pPr>
            <a:r>
              <a:rPr lang="en-US" sz="1700" b="1" i="1" dirty="0">
                <a:solidFill>
                  <a:srgbClr val="1B2A52"/>
                </a:solidFill>
                <a:latin typeface="Cambria" pitchFamily="34" charset="0"/>
                <a:ea typeface="Cambria" pitchFamily="34" charset="-122"/>
                <a:cs typeface="Cambria" pitchFamily="34" charset="-120"/>
              </a:rPr>
              <a:t>“Fresh by being very old at the same time.”</a:t>
            </a:r>
            <a:endParaRPr lang="en-US" sz="1700" dirty="0"/>
          </a:p>
        </p:txBody>
      </p:sp>
      <p:sp>
        <p:nvSpPr>
          <p:cNvPr id="16" name="Text 12"/>
          <p:cNvSpPr/>
          <p:nvPr/>
        </p:nvSpPr>
        <p:spPr>
          <a:xfrm>
            <a:off x="868680" y="5138928"/>
            <a:ext cx="10451592" cy="685800"/>
          </a:xfrm>
          <a:prstGeom prst="rect">
            <a:avLst/>
          </a:prstGeom>
          <a:noFill/>
          <a:ln/>
        </p:spPr>
        <p:txBody>
          <a:bodyPr wrap="square" lIns="0" tIns="0" rIns="0" bIns="0" rtlCol="0" anchor="ctr"/>
          <a:lstStyle/>
          <a:p>
            <a:pPr indent="0" marL="0">
              <a:lnSpc>
                <a:spcPct val="125000"/>
              </a:lnSpc>
              <a:buNone/>
            </a:pPr>
            <a:r>
              <a:rPr lang="en-US" sz="1200" dirty="0">
                <a:solidFill>
                  <a:srgbClr val="1B2A52"/>
                </a:solidFill>
                <a:latin typeface="Calibri" pitchFamily="34" charset="0"/>
                <a:ea typeface="Calibri" pitchFamily="34" charset="-122"/>
                <a:cs typeface="Calibri" pitchFamily="34" charset="-120"/>
              </a:rPr>
              <a:t>The Council pursued authentic renewal by returning to the sources (ressourcement) in order to engage the present more effectively (aggiornamento).</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THE COUNCIL'S TEACHING</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The 16 Documents: Constitutions &amp; Declarations</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21</a:t>
            </a:r>
            <a:endParaRPr lang="en-US" sz="900" dirty="0"/>
          </a:p>
        </p:txBody>
      </p:sp>
      <p:sp>
        <p:nvSpPr>
          <p:cNvPr id="6" name="Text 4"/>
          <p:cNvSpPr/>
          <p:nvPr/>
        </p:nvSpPr>
        <p:spPr>
          <a:xfrm>
            <a:off x="548640" y="1417320"/>
            <a:ext cx="11091672" cy="320040"/>
          </a:xfrm>
          <a:prstGeom prst="rect">
            <a:avLst/>
          </a:prstGeom>
          <a:noFill/>
          <a:ln/>
        </p:spPr>
        <p:txBody>
          <a:bodyPr wrap="square" lIns="0" tIns="0" rIns="0" bIns="0" rtlCol="0" anchor="ctr"/>
          <a:lstStyle/>
          <a:p>
            <a:pPr indent="0" marL="0">
              <a:buNone/>
            </a:pPr>
            <a:r>
              <a:rPr lang="en-US" sz="1400" b="1" dirty="0">
                <a:solidFill>
                  <a:srgbClr val="1B2A52"/>
                </a:solidFill>
                <a:latin typeface="Cambria" pitchFamily="34" charset="0"/>
                <a:ea typeface="Cambria" pitchFamily="34" charset="-122"/>
                <a:cs typeface="Cambria" pitchFamily="34" charset="-120"/>
              </a:rPr>
              <a:t>The Four Constitutions</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327502"/>
                <a:gridCol w="3105668"/>
                <a:gridCol w="4658502"/>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Latin Title</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1B2A5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Common Title</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1B2A5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1B2A52"/>
                    </a:solidFill>
                  </a:tcPr>
                </a:tc>
              </a:tr>
              <a:tr h="457200">
                <a:tc>
                  <a:txBody>
                    <a:bodyPr/>
                    <a:lstStyle/>
                    <a:p>
                      <a:pPr indent="0" marL="0">
                        <a:buNone/>
                      </a:pPr>
                      <a:r>
                        <a:rPr lang="en-US" sz="1100" b="1" i="1" dirty="0">
                          <a:solidFill>
                            <a:srgbClr val="23324E"/>
                          </a:solidFill>
                          <a:latin typeface="Calibri" pitchFamily="34" charset="0"/>
                          <a:ea typeface="Calibri" pitchFamily="34" charset="-122"/>
                          <a:cs typeface="Calibri" pitchFamily="34" charset="-120"/>
                        </a:rPr>
                        <a:t>Sacrosanctum Concilium</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Sacred Liturgy</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Liturgical reform and renewal</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r h="457200">
                <a:tc>
                  <a:txBody>
                    <a:bodyPr/>
                    <a:lstStyle/>
                    <a:p>
                      <a:pPr indent="0" marL="0">
                        <a:buNone/>
                      </a:pPr>
                      <a:r>
                        <a:rPr lang="en-US" sz="1100" b="1" i="1" dirty="0">
                          <a:solidFill>
                            <a:srgbClr val="23324E"/>
                          </a:solidFill>
                          <a:latin typeface="Calibri" pitchFamily="34" charset="0"/>
                          <a:ea typeface="Calibri" pitchFamily="34" charset="-122"/>
                          <a:cs typeface="Calibri" pitchFamily="34" charset="-120"/>
                        </a:rPr>
                        <a:t>Lumen Gentium</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The Church</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Nature and mission of the Church</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457200">
                <a:tc>
                  <a:txBody>
                    <a:bodyPr/>
                    <a:lstStyle/>
                    <a:p>
                      <a:pPr indent="0" marL="0">
                        <a:buNone/>
                      </a:pPr>
                      <a:r>
                        <a:rPr lang="en-US" sz="1100" b="1" i="1" dirty="0">
                          <a:solidFill>
                            <a:srgbClr val="23324E"/>
                          </a:solidFill>
                          <a:latin typeface="Calibri" pitchFamily="34" charset="0"/>
                          <a:ea typeface="Calibri" pitchFamily="34" charset="-122"/>
                          <a:cs typeface="Calibri" pitchFamily="34" charset="-120"/>
                        </a:rPr>
                        <a:t>Dei Verbum</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Divine Revelation</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Scripture, Tradition, and Revelation</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r h="457200">
                <a:tc>
                  <a:txBody>
                    <a:bodyPr/>
                    <a:lstStyle/>
                    <a:p>
                      <a:pPr indent="0" marL="0">
                        <a:buNone/>
                      </a:pPr>
                      <a:r>
                        <a:rPr lang="en-US" sz="1100" b="1" i="1" dirty="0">
                          <a:solidFill>
                            <a:srgbClr val="23324E"/>
                          </a:solidFill>
                          <a:latin typeface="Calibri" pitchFamily="34" charset="0"/>
                          <a:ea typeface="Calibri" pitchFamily="34" charset="-122"/>
                          <a:cs typeface="Calibri" pitchFamily="34" charset="-120"/>
                        </a:rPr>
                        <a:t>Gaudium et Spes</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Church in the Modern World</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The Church's relationship with contemporary society</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4617720"/>
            <a:ext cx="11091672" cy="320040"/>
          </a:xfrm>
          <a:prstGeom prst="rect">
            <a:avLst/>
          </a:prstGeom>
          <a:noFill/>
          <a:ln/>
        </p:spPr>
        <p:txBody>
          <a:bodyPr wrap="square" lIns="0" tIns="0" rIns="0" bIns="0" rtlCol="0" anchor="ctr"/>
          <a:lstStyle/>
          <a:p>
            <a:pPr indent="0" marL="0">
              <a:buNone/>
            </a:pPr>
            <a:r>
              <a:rPr lang="en-US" sz="1400" b="1" dirty="0">
                <a:solidFill>
                  <a:srgbClr val="1B2A52"/>
                </a:solidFill>
                <a:latin typeface="Cambria" pitchFamily="34" charset="0"/>
                <a:ea typeface="Cambria" pitchFamily="34" charset="-122"/>
                <a:cs typeface="Cambria" pitchFamily="34" charset="-120"/>
              </a:rPr>
              <a:t>The Three Declarations</a:t>
            </a:r>
            <a:endParaRPr lang="en-US" sz="140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548640" y="4983480"/>
          <a:ext cx="11091672" cy="914400"/>
        </p:xfrm>
        <a:graphic>
          <a:graphicData uri="http://schemas.openxmlformats.org/drawingml/2006/table">
            <a:tbl>
              <a:tblPr/>
              <a:tblGrid>
                <a:gridCol w="3327502"/>
                <a:gridCol w="3105668"/>
                <a:gridCol w="4658502"/>
              </a:tblGrid>
              <a:tr h="457200">
                <a:tc>
                  <a:txBody>
                    <a:bodyPr/>
                    <a:lstStyle/>
                    <a:p>
                      <a:pPr indent="0" marL="0">
                        <a:buNone/>
                      </a:pPr>
                      <a:r>
                        <a:rPr lang="en-US" sz="1100" b="1" i="1" dirty="0">
                          <a:solidFill>
                            <a:srgbClr val="23324E"/>
                          </a:solidFill>
                          <a:latin typeface="Calibri" pitchFamily="34" charset="0"/>
                          <a:ea typeface="Calibri" pitchFamily="34" charset="-122"/>
                          <a:cs typeface="Calibri" pitchFamily="34" charset="-120"/>
                        </a:rPr>
                        <a:t>Dignitatis Humanae</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Religious Freedom</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The right to religious liberty</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457200">
                <a:tc>
                  <a:txBody>
                    <a:bodyPr/>
                    <a:lstStyle/>
                    <a:p>
                      <a:pPr indent="0" marL="0">
                        <a:buNone/>
                      </a:pPr>
                      <a:r>
                        <a:rPr lang="en-US" sz="1100" b="1" i="1" dirty="0">
                          <a:solidFill>
                            <a:srgbClr val="23324E"/>
                          </a:solidFill>
                          <a:latin typeface="Calibri" pitchFamily="34" charset="0"/>
                          <a:ea typeface="Calibri" pitchFamily="34" charset="-122"/>
                          <a:cs typeface="Calibri" pitchFamily="34" charset="-120"/>
                        </a:rPr>
                        <a:t>Nostra Aetate</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Non-Christian Religions</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Relations with Judaism, Islam, and other faiths</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r h="457200">
                <a:tc>
                  <a:txBody>
                    <a:bodyPr/>
                    <a:lstStyle/>
                    <a:p>
                      <a:pPr indent="0" marL="0">
                        <a:buNone/>
                      </a:pPr>
                      <a:r>
                        <a:rPr lang="en-US" sz="1100" b="1" i="1" dirty="0">
                          <a:solidFill>
                            <a:srgbClr val="23324E"/>
                          </a:solidFill>
                          <a:latin typeface="Calibri" pitchFamily="34" charset="0"/>
                          <a:ea typeface="Calibri" pitchFamily="34" charset="-122"/>
                          <a:cs typeface="Calibri" pitchFamily="34" charset="-120"/>
                        </a:rPr>
                        <a:t>Gravissimum Educationis</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Christian Education</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100" dirty="0">
                          <a:solidFill>
                            <a:srgbClr val="23324E"/>
                          </a:solidFill>
                          <a:latin typeface="Calibri" pitchFamily="34" charset="0"/>
                          <a:ea typeface="Calibri" pitchFamily="34" charset="-122"/>
                          <a:cs typeface="Calibri" pitchFamily="34" charset="-120"/>
                        </a:rPr>
                        <a:t>Catholic education</a:t>
                      </a:r>
                      <a:endParaRPr lang="en-US" sz="110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THE COUNCIL'S TEACHING</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The 16 Documents: The Nine Decrees</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327502"/>
                <a:gridCol w="3105668"/>
                <a:gridCol w="4658502"/>
              </a:tblGrid>
              <a:tr h="457200">
                <a:tc>
                  <a:txBody>
                    <a:bodyPr/>
                    <a:lstStyle/>
                    <a:p>
                      <a:pPr indent="0" marL="0">
                        <a:buNone/>
                      </a:pPr>
                      <a:r>
                        <a:rPr lang="en-US" sz="1030" b="1" dirty="0">
                          <a:solidFill>
                            <a:srgbClr val="FFFFFF"/>
                          </a:solidFill>
                          <a:latin typeface="Calibri" pitchFamily="34" charset="0"/>
                          <a:ea typeface="Calibri" pitchFamily="34" charset="-122"/>
                          <a:cs typeface="Calibri" pitchFamily="34" charset="-120"/>
                        </a:rPr>
                        <a:t>Latin Title</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7A1B2E"/>
                    </a:solidFill>
                  </a:tcPr>
                </a:tc>
                <a:tc>
                  <a:txBody>
                    <a:bodyPr/>
                    <a:lstStyle/>
                    <a:p>
                      <a:pPr indent="0" marL="0">
                        <a:buNone/>
                      </a:pPr>
                      <a:r>
                        <a:rPr lang="en-US" sz="1030" b="1" dirty="0">
                          <a:solidFill>
                            <a:srgbClr val="FFFFFF"/>
                          </a:solidFill>
                          <a:latin typeface="Calibri" pitchFamily="34" charset="0"/>
                          <a:ea typeface="Calibri" pitchFamily="34" charset="-122"/>
                          <a:cs typeface="Calibri" pitchFamily="34" charset="-120"/>
                        </a:rPr>
                        <a:t>Common Title</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7A1B2E"/>
                    </a:solidFill>
                  </a:tcPr>
                </a:tc>
                <a:tc>
                  <a:txBody>
                    <a:bodyPr/>
                    <a:lstStyle/>
                    <a:p>
                      <a:pPr indent="0" marL="0">
                        <a:buNone/>
                      </a:pPr>
                      <a:r>
                        <a:rPr lang="en-US" sz="1030" b="1" dirty="0">
                          <a:solidFill>
                            <a:srgbClr val="FFFFFF"/>
                          </a:solidFill>
                          <a:latin typeface="Calibri" pitchFamily="34" charset="0"/>
                          <a:ea typeface="Calibri" pitchFamily="34" charset="-122"/>
                          <a:cs typeface="Calibri" pitchFamily="34" charset="-120"/>
                        </a:rPr>
                        <a:t>Topic</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7A1B2E"/>
                    </a:solidFill>
                  </a:tcPr>
                </a:tc>
              </a:tr>
              <a:tr h="457200">
                <a:tc>
                  <a:txBody>
                    <a:bodyPr/>
                    <a:lstStyle/>
                    <a:p>
                      <a:pPr indent="0" marL="0">
                        <a:buNone/>
                      </a:pPr>
                      <a:r>
                        <a:rPr lang="en-US" sz="1030" b="1" i="1" dirty="0">
                          <a:solidFill>
                            <a:srgbClr val="23324E"/>
                          </a:solidFill>
                          <a:latin typeface="Calibri" pitchFamily="34" charset="0"/>
                          <a:ea typeface="Calibri" pitchFamily="34" charset="-122"/>
                          <a:cs typeface="Calibri" pitchFamily="34" charset="-120"/>
                        </a:rPr>
                        <a:t>Unitatis Redintegratio</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Ecumenism</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Relations with other Christians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r h="457200">
                <a:tc>
                  <a:txBody>
                    <a:bodyPr/>
                    <a:lstStyle/>
                    <a:p>
                      <a:pPr indent="0" marL="0">
                        <a:buNone/>
                      </a:pPr>
                      <a:r>
                        <a:rPr lang="en-US" sz="1030" b="1" i="1" dirty="0">
                          <a:solidFill>
                            <a:srgbClr val="23324E"/>
                          </a:solidFill>
                          <a:latin typeface="Calibri" pitchFamily="34" charset="0"/>
                          <a:ea typeface="Calibri" pitchFamily="34" charset="-122"/>
                          <a:cs typeface="Calibri" pitchFamily="34" charset="-120"/>
                        </a:rPr>
                        <a:t>Orientalium Ecclesiarum</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Eastern Catholic Churches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Recognition of Eastern rites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457200">
                <a:tc>
                  <a:txBody>
                    <a:bodyPr/>
                    <a:lstStyle/>
                    <a:p>
                      <a:pPr indent="0" marL="0">
                        <a:buNone/>
                      </a:pPr>
                      <a:r>
                        <a:rPr lang="en-US" sz="1030" b="1" i="1" dirty="0">
                          <a:solidFill>
                            <a:srgbClr val="23324E"/>
                          </a:solidFill>
                          <a:latin typeface="Calibri" pitchFamily="34" charset="0"/>
                          <a:ea typeface="Calibri" pitchFamily="34" charset="-122"/>
                          <a:cs typeface="Calibri" pitchFamily="34" charset="-120"/>
                        </a:rPr>
                        <a:t>Christus Dominus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Pastoral Office of Bishops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The role of bishops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r h="457200">
                <a:tc>
                  <a:txBody>
                    <a:bodyPr/>
                    <a:lstStyle/>
                    <a:p>
                      <a:pPr indent="0" marL="0">
                        <a:buNone/>
                      </a:pPr>
                      <a:r>
                        <a:rPr lang="en-US" sz="1030" b="1" i="1" dirty="0">
                          <a:solidFill>
                            <a:srgbClr val="23324E"/>
                          </a:solidFill>
                          <a:latin typeface="Calibri" pitchFamily="34" charset="0"/>
                          <a:ea typeface="Calibri" pitchFamily="34" charset="-122"/>
                          <a:cs typeface="Calibri" pitchFamily="34" charset="-120"/>
                        </a:rPr>
                        <a:t>Optatam Totius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Priestly Training</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Seminary formation</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457200">
                <a:tc>
                  <a:txBody>
                    <a:bodyPr/>
                    <a:lstStyle/>
                    <a:p>
                      <a:pPr indent="0" marL="0">
                        <a:buNone/>
                      </a:pPr>
                      <a:r>
                        <a:rPr lang="en-US" sz="1030" b="1" i="1" dirty="0">
                          <a:solidFill>
                            <a:srgbClr val="23324E"/>
                          </a:solidFill>
                          <a:latin typeface="Calibri" pitchFamily="34" charset="0"/>
                          <a:ea typeface="Calibri" pitchFamily="34" charset="-122"/>
                          <a:cs typeface="Calibri" pitchFamily="34" charset="-120"/>
                        </a:rPr>
                        <a:t>Perfectae Caritatis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Religious Life</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Renewal of religious orders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r h="457200">
                <a:tc>
                  <a:txBody>
                    <a:bodyPr/>
                    <a:lstStyle/>
                    <a:p>
                      <a:pPr indent="0" marL="0">
                        <a:buNone/>
                      </a:pPr>
                      <a:r>
                        <a:rPr lang="en-US" sz="1030" b="1" i="1" dirty="0">
                          <a:solidFill>
                            <a:srgbClr val="23324E"/>
                          </a:solidFill>
                          <a:latin typeface="Calibri" pitchFamily="34" charset="0"/>
                          <a:ea typeface="Calibri" pitchFamily="34" charset="-122"/>
                          <a:cs typeface="Calibri" pitchFamily="34" charset="-120"/>
                        </a:rPr>
                        <a:t>Apostolicam Actuositatem</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Apostolate of the Laity</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The role of the laity</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457200">
                <a:tc>
                  <a:txBody>
                    <a:bodyPr/>
                    <a:lstStyle/>
                    <a:p>
                      <a:pPr indent="0" marL="0">
                        <a:buNone/>
                      </a:pPr>
                      <a:r>
                        <a:rPr lang="en-US" sz="1030" b="1" i="1" dirty="0">
                          <a:solidFill>
                            <a:srgbClr val="23324E"/>
                          </a:solidFill>
                          <a:latin typeface="Calibri" pitchFamily="34" charset="0"/>
                          <a:ea typeface="Calibri" pitchFamily="34" charset="-122"/>
                          <a:cs typeface="Calibri" pitchFamily="34" charset="-120"/>
                        </a:rPr>
                        <a:t>Presbyterorum Ordinis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Priestly Ministry and Life</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The life and work of priests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r h="457200">
                <a:tc>
                  <a:txBody>
                    <a:bodyPr/>
                    <a:lstStyle/>
                    <a:p>
                      <a:pPr indent="0" marL="0">
                        <a:buNone/>
                      </a:pPr>
                      <a:r>
                        <a:rPr lang="en-US" sz="1030" b="1" i="1" dirty="0">
                          <a:solidFill>
                            <a:srgbClr val="23324E"/>
                          </a:solidFill>
                          <a:latin typeface="Calibri" pitchFamily="34" charset="0"/>
                          <a:ea typeface="Calibri" pitchFamily="34" charset="-122"/>
                          <a:cs typeface="Calibri" pitchFamily="34" charset="-120"/>
                        </a:rPr>
                        <a:t>Ad Gentes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Missionary Activity</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The Church's global mission</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FFFFF"/>
                    </a:solidFill>
                  </a:tcPr>
                </a:tc>
              </a:tr>
              <a:tr h="457200">
                <a:tc>
                  <a:txBody>
                    <a:bodyPr/>
                    <a:lstStyle/>
                    <a:p>
                      <a:pPr indent="0" marL="0">
                        <a:buNone/>
                      </a:pPr>
                      <a:r>
                        <a:rPr lang="en-US" sz="1030" b="1" i="1" dirty="0">
                          <a:solidFill>
                            <a:srgbClr val="23324E"/>
                          </a:solidFill>
                          <a:latin typeface="Calibri" pitchFamily="34" charset="0"/>
                          <a:ea typeface="Calibri" pitchFamily="34" charset="-122"/>
                          <a:cs typeface="Calibri" pitchFamily="34" charset="-120"/>
                        </a:rPr>
                        <a:t>Inter Mirifica</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Social Communications</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c>
                  <a:txBody>
                    <a:bodyPr/>
                    <a:lstStyle/>
                    <a:p>
                      <a:pPr indent="0" marL="0">
                        <a:buNone/>
                      </a:pPr>
                      <a:r>
                        <a:rPr lang="en-US" sz="1030" dirty="0">
                          <a:solidFill>
                            <a:srgbClr val="23324E"/>
                          </a:solidFill>
                          <a:latin typeface="Calibri" pitchFamily="34" charset="0"/>
                          <a:ea typeface="Calibri" pitchFamily="34" charset="-122"/>
                          <a:cs typeface="Calibri" pitchFamily="34" charset="-120"/>
                        </a:rPr>
                        <a:t>Media and communication</a:t>
                      </a:r>
                      <a:endParaRPr lang="en-US" sz="1030" dirty="0">
                        <a:latin typeface="Calibri" charset="0"/>
                        <a:ea typeface="Calibri" charset="0"/>
                        <a:cs typeface="Calibri" charset="0"/>
                      </a:endParaRPr>
                    </a:p>
                  </a:txBody>
                  <a:tcPr marL="127000" marR="127000" marT="50800" marB="50800" anchor="ctr">
                    <a:lnL w="7620" cap="flat" cmpd="sng" algn="ctr">
                      <a:solidFill>
                        <a:srgbClr val="E2DCC8"/>
                      </a:solidFill>
                      <a:prstDash val="solid"/>
                      <a:round/>
                      <a:headEnd type="none" w="med" len="med"/>
                      <a:tailEnd type="none" w="med" len="med"/>
                    </a:lnL>
                    <a:lnR w="7620" cap="flat" cmpd="sng" algn="ctr">
                      <a:solidFill>
                        <a:srgbClr val="E2DCC8"/>
                      </a:solidFill>
                      <a:prstDash val="solid"/>
                      <a:round/>
                      <a:headEnd type="none" w="med" len="med"/>
                      <a:tailEnd type="none" w="med" len="med"/>
                    </a:lnR>
                    <a:lnT w="7620" cap="flat" cmpd="sng" algn="ctr">
                      <a:solidFill>
                        <a:srgbClr val="E2DCC8"/>
                      </a:solidFill>
                      <a:prstDash val="solid"/>
                      <a:round/>
                      <a:headEnd type="none" w="med" len="med"/>
                      <a:tailEnd type="none" w="med" len="med"/>
                    </a:lnT>
                    <a:lnB w="7620" cap="flat" cmpd="sng" algn="ctr">
                      <a:solidFill>
                        <a:srgbClr val="E2DCC8"/>
                      </a:solidFill>
                      <a:prstDash val="solid"/>
                      <a:round/>
                      <a:headEnd type="none" w="med" len="med"/>
                      <a:tailEnd type="none" w="med" len="med"/>
                    </a:lnB>
                    <a:solidFill>
                      <a:srgbClr val="F3F1E8"/>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MAJOR THEOLOGICAL SHIFTS</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Liturgy and the Church</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548640" y="1554480"/>
            <a:ext cx="5362956" cy="4434840"/>
          </a:xfrm>
          <a:prstGeom prst="roundRect">
            <a:avLst>
              <a:gd name="adj" fmla="val 164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7" name="Text 5"/>
          <p:cNvSpPr/>
          <p:nvPr/>
        </p:nvSpPr>
        <p:spPr>
          <a:xfrm>
            <a:off x="822960" y="1737360"/>
            <a:ext cx="4814316" cy="411480"/>
          </a:xfrm>
          <a:prstGeom prst="rect">
            <a:avLst/>
          </a:prstGeom>
          <a:noFill/>
          <a:ln/>
        </p:spPr>
        <p:txBody>
          <a:bodyPr wrap="square" lIns="0" tIns="0" rIns="0" bIns="0" rtlCol="0" anchor="ctr"/>
          <a:lstStyle/>
          <a:p>
            <a:pPr indent="0" marL="0">
              <a:buNone/>
            </a:pPr>
            <a:r>
              <a:rPr lang="en-US" sz="1600" b="1" dirty="0">
                <a:solidFill>
                  <a:srgbClr val="1B2A52"/>
                </a:solidFill>
                <a:latin typeface="Cambria" pitchFamily="34" charset="0"/>
                <a:ea typeface="Cambria" pitchFamily="34" charset="-122"/>
                <a:cs typeface="Cambria" pitchFamily="34" charset="-120"/>
              </a:rPr>
              <a:t>Liturgical Renewal</a:t>
            </a:r>
            <a:endParaRPr lang="en-US" sz="1600" dirty="0"/>
          </a:p>
        </p:txBody>
      </p:sp>
      <p:sp>
        <p:nvSpPr>
          <p:cNvPr id="8" name="Text 6"/>
          <p:cNvSpPr/>
          <p:nvPr/>
        </p:nvSpPr>
        <p:spPr>
          <a:xfrm>
            <a:off x="822960" y="2240280"/>
            <a:ext cx="4814316" cy="3657600"/>
          </a:xfrm>
          <a:prstGeom prst="rect">
            <a:avLst/>
          </a:prstGeom>
          <a:noFill/>
          <a:ln/>
        </p:spPr>
        <p:txBody>
          <a:bodyPr wrap="square" lIns="0" tIns="0" rIns="0" bIns="0" rtlCol="0" anchor="ctr"/>
          <a:lstStyle/>
          <a:p>
            <a:pPr marL="177800" indent="-177800">
              <a:lnSpc>
                <a:spcPct val="125000"/>
              </a:lnSpc>
              <a:spcAft>
                <a:spcPts val="1000"/>
              </a:spcAft>
              <a:buSzPct val="100000"/>
              <a:buChar char="▪"/>
            </a:pPr>
            <a:r>
              <a:rPr lang="en-US" sz="1200" dirty="0">
                <a:solidFill>
                  <a:srgbClr val="23324E"/>
                </a:solidFill>
                <a:latin typeface="Calibri" pitchFamily="34" charset="0"/>
                <a:ea typeface="Calibri" pitchFamily="34" charset="-122"/>
                <a:cs typeface="Calibri" pitchFamily="34" charset="-120"/>
              </a:rPr>
              <a:t>Vernacular language permitted alongside Latin, which remained official</a:t>
            </a:r>
            <a:endParaRPr lang="en-US" sz="1200" dirty="0"/>
          </a:p>
          <a:p>
            <a:pPr marL="177800" indent="-177800">
              <a:lnSpc>
                <a:spcPct val="125000"/>
              </a:lnSpc>
              <a:spcAft>
                <a:spcPts val="1000"/>
              </a:spcAft>
              <a:buSzPct val="100000"/>
              <a:buChar char="▪"/>
            </a:pPr>
            <a:r>
              <a:rPr lang="en-US" sz="1200" dirty="0">
                <a:solidFill>
                  <a:srgbClr val="23324E"/>
                </a:solidFill>
                <a:latin typeface="Calibri" pitchFamily="34" charset="0"/>
                <a:ea typeface="Calibri" pitchFamily="34" charset="-122"/>
                <a:cs typeface="Calibri" pitchFamily="34" charset="-120"/>
              </a:rPr>
              <a:t>“Full, conscious, and active” participation of the faithful</a:t>
            </a:r>
            <a:endParaRPr lang="en-US" sz="1200" dirty="0"/>
          </a:p>
          <a:p>
            <a:pPr marL="177800" indent="-177800">
              <a:lnSpc>
                <a:spcPct val="125000"/>
              </a:lnSpc>
              <a:spcAft>
                <a:spcPts val="1000"/>
              </a:spcAft>
              <a:buSzPct val="100000"/>
              <a:buChar char="▪"/>
            </a:pPr>
            <a:r>
              <a:rPr lang="en-US" sz="1200" dirty="0">
                <a:solidFill>
                  <a:srgbClr val="23324E"/>
                </a:solidFill>
                <a:latin typeface="Calibri" pitchFamily="34" charset="0"/>
                <a:ea typeface="Calibri" pitchFamily="34" charset="-122"/>
                <a:cs typeface="Calibri" pitchFamily="34" charset="-120"/>
              </a:rPr>
              <a:t>Simplification of redundant or unclear elements</a:t>
            </a:r>
            <a:endParaRPr lang="en-US" sz="1200" dirty="0"/>
          </a:p>
          <a:p>
            <a:pPr marL="177800" indent="-177800">
              <a:lnSpc>
                <a:spcPct val="125000"/>
              </a:lnSpc>
              <a:spcAft>
                <a:spcPts val="1000"/>
              </a:spcAft>
              <a:buSzPct val="100000"/>
              <a:buChar char="▪"/>
            </a:pPr>
            <a:r>
              <a:rPr lang="en-US" sz="1200" dirty="0">
                <a:solidFill>
                  <a:srgbClr val="23324E"/>
                </a:solidFill>
                <a:latin typeface="Calibri" pitchFamily="34" charset="0"/>
                <a:ea typeface="Calibri" pitchFamily="34" charset="-122"/>
                <a:cs typeface="Calibri" pitchFamily="34" charset="-120"/>
              </a:rPr>
              <a:t>Communion under both kinds on specific occasions</a:t>
            </a:r>
            <a:endParaRPr lang="en-US" sz="1200" dirty="0"/>
          </a:p>
          <a:p>
            <a:pPr marL="177800" indent="-177800">
              <a:lnSpc>
                <a:spcPct val="125000"/>
              </a:lnSpc>
              <a:spcAft>
                <a:spcPts val="1000"/>
              </a:spcAft>
              <a:buSzPct val="100000"/>
              <a:buChar char="▪"/>
            </a:pPr>
            <a:r>
              <a:rPr lang="en-US" sz="1200" dirty="0">
                <a:solidFill>
                  <a:srgbClr val="23324E"/>
                </a:solidFill>
                <a:latin typeface="Calibri" pitchFamily="34" charset="0"/>
                <a:ea typeface="Calibri" pitchFamily="34" charset="-122"/>
                <a:cs typeface="Calibri" pitchFamily="34" charset="-120"/>
              </a:rPr>
              <a:t>Concelebration — several priests celebrating Mass together</a:t>
            </a:r>
            <a:endParaRPr lang="en-US" sz="1200" dirty="0"/>
          </a:p>
          <a:p>
            <a:pPr marL="177800" indent="-177800">
              <a:lnSpc>
                <a:spcPct val="125000"/>
              </a:lnSpc>
              <a:spcAft>
                <a:spcPts val="1000"/>
              </a:spcAft>
              <a:buSzPct val="100000"/>
              <a:buChar char="▪"/>
            </a:pPr>
            <a:r>
              <a:rPr lang="en-US" sz="1200" dirty="0">
                <a:solidFill>
                  <a:srgbClr val="23324E"/>
                </a:solidFill>
                <a:latin typeface="Calibri" pitchFamily="34" charset="0"/>
                <a:ea typeface="Calibri" pitchFamily="34" charset="-122"/>
                <a:cs typeface="Calibri" pitchFamily="34" charset="-120"/>
              </a:rPr>
              <a:t>An expanded lectionary for broader exposure to Scripture</a:t>
            </a:r>
            <a:endParaRPr lang="en-US" sz="1200" dirty="0"/>
          </a:p>
        </p:txBody>
      </p:sp>
      <p:sp>
        <p:nvSpPr>
          <p:cNvPr id="9" name="Shape 7"/>
          <p:cNvSpPr/>
          <p:nvPr/>
        </p:nvSpPr>
        <p:spPr>
          <a:xfrm>
            <a:off x="6277356" y="1554480"/>
            <a:ext cx="5362956" cy="4434840"/>
          </a:xfrm>
          <a:prstGeom prst="roundRect">
            <a:avLst>
              <a:gd name="adj" fmla="val 1649"/>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0" name="Text 8"/>
          <p:cNvSpPr/>
          <p:nvPr/>
        </p:nvSpPr>
        <p:spPr>
          <a:xfrm>
            <a:off x="6551676" y="1737360"/>
            <a:ext cx="4814316" cy="411480"/>
          </a:xfrm>
          <a:prstGeom prst="rect">
            <a:avLst/>
          </a:prstGeom>
          <a:noFill/>
          <a:ln/>
        </p:spPr>
        <p:txBody>
          <a:bodyPr wrap="square" lIns="0" tIns="0" rIns="0" bIns="0" rtlCol="0" anchor="ctr"/>
          <a:lstStyle/>
          <a:p>
            <a:pPr indent="0" marL="0">
              <a:buNone/>
            </a:pPr>
            <a:r>
              <a:rPr lang="en-US" sz="1600" b="1" dirty="0">
                <a:solidFill>
                  <a:srgbClr val="1B2A52"/>
                </a:solidFill>
                <a:latin typeface="Cambria" pitchFamily="34" charset="0"/>
                <a:ea typeface="Cambria" pitchFamily="34" charset="-122"/>
                <a:cs typeface="Cambria" pitchFamily="34" charset="-120"/>
              </a:rPr>
              <a:t>A Renewed Ecclesiology</a:t>
            </a:r>
            <a:endParaRPr lang="en-US" sz="1600" dirty="0"/>
          </a:p>
        </p:txBody>
      </p:sp>
      <p:sp>
        <p:nvSpPr>
          <p:cNvPr id="11" name="Text 9"/>
          <p:cNvSpPr/>
          <p:nvPr/>
        </p:nvSpPr>
        <p:spPr>
          <a:xfrm>
            <a:off x="6551676" y="2240280"/>
            <a:ext cx="4814316" cy="3657600"/>
          </a:xfrm>
          <a:prstGeom prst="rect">
            <a:avLst/>
          </a:prstGeom>
          <a:noFill/>
          <a:ln/>
        </p:spPr>
        <p:txBody>
          <a:bodyPr wrap="square" lIns="0" tIns="0" rIns="0" bIns="0" rtlCol="0" anchor="ctr"/>
          <a:lstStyle/>
          <a:p>
            <a:pPr marL="177800" indent="-177800">
              <a:lnSpc>
                <a:spcPct val="125000"/>
              </a:lnSpc>
              <a:spcAft>
                <a:spcPts val="1000"/>
              </a:spcAft>
              <a:buSzPct val="100000"/>
              <a:buChar char="▪"/>
            </a:pPr>
            <a:r>
              <a:rPr lang="en-US" sz="1200" dirty="0">
                <a:solidFill>
                  <a:srgbClr val="23324E"/>
                </a:solidFill>
                <a:latin typeface="Calibri" pitchFamily="34" charset="0"/>
                <a:ea typeface="Calibri" pitchFamily="34" charset="-122"/>
                <a:cs typeface="Calibri" pitchFamily="34" charset="-120"/>
              </a:rPr>
              <a:t>The Church described first as the “People of God,” not only its hierarchy</a:t>
            </a:r>
            <a:endParaRPr lang="en-US" sz="1200" dirty="0"/>
          </a:p>
          <a:p>
            <a:pPr marL="177800" indent="-177800">
              <a:lnSpc>
                <a:spcPct val="125000"/>
              </a:lnSpc>
              <a:spcAft>
                <a:spcPts val="1000"/>
              </a:spcAft>
              <a:buSzPct val="100000"/>
              <a:buChar char="▪"/>
            </a:pPr>
            <a:r>
              <a:rPr lang="en-US" sz="1200" dirty="0">
                <a:solidFill>
                  <a:srgbClr val="23324E"/>
                </a:solidFill>
                <a:latin typeface="Calibri" pitchFamily="34" charset="0"/>
                <a:ea typeface="Calibri" pitchFamily="34" charset="-122"/>
                <a:cs typeface="Calibri" pitchFamily="34" charset="-120"/>
              </a:rPr>
              <a:t>Collegiality — bishops govern together with the Pope</a:t>
            </a:r>
            <a:endParaRPr lang="en-US" sz="1200" dirty="0"/>
          </a:p>
          <a:p>
            <a:pPr marL="177800" indent="-177800">
              <a:lnSpc>
                <a:spcPct val="125000"/>
              </a:lnSpc>
              <a:spcAft>
                <a:spcPts val="1000"/>
              </a:spcAft>
              <a:buSzPct val="100000"/>
              <a:buChar char="▪"/>
            </a:pPr>
            <a:r>
              <a:rPr lang="en-US" sz="1200" dirty="0">
                <a:solidFill>
                  <a:srgbClr val="23324E"/>
                </a:solidFill>
                <a:latin typeface="Calibri" pitchFamily="34" charset="0"/>
                <a:ea typeface="Calibri" pitchFamily="34" charset="-122"/>
                <a:cs typeface="Calibri" pitchFamily="34" charset="-120"/>
              </a:rPr>
              <a:t>“Subsistit in” — the Church of Christ “subsists in” the Catholic Church, acknowledging elements of the Church beyond her own visible boundaries</a:t>
            </a:r>
            <a:endParaRPr lang="en-US" sz="1200" dirty="0"/>
          </a:p>
          <a:p>
            <a:pPr marL="177800" indent="-177800">
              <a:lnSpc>
                <a:spcPct val="125000"/>
              </a:lnSpc>
              <a:spcAft>
                <a:spcPts val="1000"/>
              </a:spcAft>
              <a:buSzPct val="100000"/>
              <a:buChar char="▪"/>
            </a:pPr>
            <a:r>
              <a:rPr lang="en-US" sz="1200" dirty="0">
                <a:solidFill>
                  <a:srgbClr val="23324E"/>
                </a:solidFill>
                <a:latin typeface="Calibri" pitchFamily="34" charset="0"/>
                <a:ea typeface="Calibri" pitchFamily="34" charset="-122"/>
                <a:cs typeface="Calibri" pitchFamily="34" charset="-120"/>
              </a:rPr>
              <a:t>A universal call to holiness extended to all the baptized, not only clergy and religious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MAJOR THEOLOGICAL SHIFTS</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Ecumenism, Religious Freedom &amp; Other Religions</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48640" y="1554480"/>
            <a:ext cx="3453384" cy="4434840"/>
          </a:xfrm>
          <a:prstGeom prst="roundRect">
            <a:avLst>
              <a:gd name="adj" fmla="val 2118"/>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7" name="Shape 5"/>
          <p:cNvSpPr/>
          <p:nvPr/>
        </p:nvSpPr>
        <p:spPr>
          <a:xfrm>
            <a:off x="548640" y="1554480"/>
            <a:ext cx="3453384" cy="548640"/>
          </a:xfrm>
          <a:prstGeom prst="roundRect">
            <a:avLst>
              <a:gd name="adj" fmla="val 13333"/>
            </a:avLst>
          </a:prstGeom>
          <a:solidFill>
            <a:srgbClr val="1B2A52"/>
          </a:solidFill>
          <a:ln/>
        </p:spPr>
      </p:sp>
      <p:sp>
        <p:nvSpPr>
          <p:cNvPr id="8" name="Shape 6"/>
          <p:cNvSpPr/>
          <p:nvPr/>
        </p:nvSpPr>
        <p:spPr>
          <a:xfrm>
            <a:off x="548640" y="1828800"/>
            <a:ext cx="3453384" cy="274320"/>
          </a:xfrm>
          <a:prstGeom prst="rect">
            <a:avLst/>
          </a:prstGeom>
          <a:solidFill>
            <a:srgbClr val="1B2A52"/>
          </a:solidFill>
          <a:ln/>
        </p:spPr>
      </p:sp>
      <p:sp>
        <p:nvSpPr>
          <p:cNvPr id="9" name="Text 7"/>
          <p:cNvSpPr/>
          <p:nvPr/>
        </p:nvSpPr>
        <p:spPr>
          <a:xfrm>
            <a:off x="685800" y="1554480"/>
            <a:ext cx="3179064" cy="548640"/>
          </a:xfrm>
          <a:prstGeom prst="rect">
            <a:avLst/>
          </a:prstGeom>
          <a:noFill/>
          <a:ln/>
        </p:spPr>
        <p:txBody>
          <a:bodyPr wrap="square" lIns="0" tIns="0" rIns="0" bIns="0" rtlCol="0" anchor="ctr"/>
          <a:lstStyle/>
          <a:p>
            <a:pPr algn="ctr" indent="0" marL="0">
              <a:buNone/>
            </a:pPr>
            <a:r>
              <a:rPr lang="en-US" sz="1350" b="1" dirty="0">
                <a:solidFill>
                  <a:srgbClr val="B8912F"/>
                </a:solidFill>
                <a:latin typeface="Cambria" pitchFamily="34" charset="0"/>
                <a:ea typeface="Cambria" pitchFamily="34" charset="-122"/>
                <a:cs typeface="Cambria" pitchFamily="34" charset="-120"/>
              </a:rPr>
              <a:t>Ecumenism</a:t>
            </a:r>
            <a:endParaRPr lang="en-US" sz="1350" dirty="0"/>
          </a:p>
        </p:txBody>
      </p:sp>
      <p:sp>
        <p:nvSpPr>
          <p:cNvPr id="10" name="Text 8"/>
          <p:cNvSpPr/>
          <p:nvPr/>
        </p:nvSpPr>
        <p:spPr>
          <a:xfrm>
            <a:off x="749808" y="2286000"/>
            <a:ext cx="3051048" cy="3566160"/>
          </a:xfrm>
          <a:prstGeom prst="rect">
            <a:avLst/>
          </a:prstGeom>
          <a:noFill/>
          <a:ln/>
        </p:spPr>
        <p:txBody>
          <a:bodyPr wrap="square" lIns="0" tIns="0" rIns="0" bIns="0" rtlCol="0" anchor="ctr"/>
          <a:lstStyle/>
          <a:p>
            <a:pPr marL="152400" indent="-152400">
              <a:lnSpc>
                <a:spcPct val="128000"/>
              </a:lnSpc>
              <a:spcAft>
                <a:spcPts val="1200"/>
              </a:spcAft>
              <a:buSzPct val="100000"/>
              <a:buChar char="▪"/>
            </a:pPr>
            <a:r>
              <a:rPr lang="en-US" sz="1100" dirty="0">
                <a:solidFill>
                  <a:srgbClr val="23324E"/>
                </a:solidFill>
                <a:latin typeface="Calibri" pitchFamily="34" charset="0"/>
                <a:ea typeface="Calibri" pitchFamily="34" charset="-122"/>
                <a:cs typeface="Calibri" pitchFamily="34" charset="-120"/>
              </a:rPr>
              <a:t>Dialogue, not hostility, with Protestant and Orthodox Christians</a:t>
            </a:r>
            <a:endParaRPr lang="en-US" sz="1100" dirty="0"/>
          </a:p>
          <a:p>
            <a:pPr marL="152400" indent="-152400">
              <a:lnSpc>
                <a:spcPct val="128000"/>
              </a:lnSpc>
              <a:spcAft>
                <a:spcPts val="1200"/>
              </a:spcAft>
              <a:buSzPct val="100000"/>
              <a:buChar char="▪"/>
            </a:pPr>
            <a:r>
              <a:rPr lang="en-US" sz="1100" dirty="0">
                <a:solidFill>
                  <a:srgbClr val="23324E"/>
                </a:solidFill>
                <a:latin typeface="Calibri" pitchFamily="34" charset="0"/>
                <a:ea typeface="Calibri" pitchFamily="34" charset="-122"/>
                <a:cs typeface="Calibri" pitchFamily="34" charset="-120"/>
              </a:rPr>
              <a:t>Other Christian communities hold “true elements of the Church of Christ”</a:t>
            </a:r>
            <a:endParaRPr lang="en-US" sz="1100" dirty="0"/>
          </a:p>
          <a:p>
            <a:pPr marL="152400" indent="-152400">
              <a:lnSpc>
                <a:spcPct val="128000"/>
              </a:lnSpc>
              <a:spcAft>
                <a:spcPts val="1200"/>
              </a:spcAft>
              <a:buSzPct val="100000"/>
              <a:buChar char="▪"/>
            </a:pPr>
            <a:r>
              <a:rPr lang="en-US" sz="1100" dirty="0">
                <a:solidFill>
                  <a:srgbClr val="23324E"/>
                </a:solidFill>
                <a:latin typeface="Calibri" pitchFamily="34" charset="0"/>
                <a:ea typeface="Calibri" pitchFamily="34" charset="-122"/>
                <a:cs typeface="Calibri" pitchFamily="34" charset="-120"/>
              </a:rPr>
              <a:t>A “hierarchy of truths” helps locate what is most central to the faith</a:t>
            </a:r>
            <a:endParaRPr lang="en-US" sz="1100" dirty="0"/>
          </a:p>
        </p:txBody>
      </p:sp>
      <p:sp>
        <p:nvSpPr>
          <p:cNvPr id="11" name="Shape 9"/>
          <p:cNvSpPr/>
          <p:nvPr/>
        </p:nvSpPr>
        <p:spPr>
          <a:xfrm>
            <a:off x="4367784" y="1554480"/>
            <a:ext cx="3453384" cy="4434840"/>
          </a:xfrm>
          <a:prstGeom prst="roundRect">
            <a:avLst>
              <a:gd name="adj" fmla="val 2118"/>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2" name="Shape 10"/>
          <p:cNvSpPr/>
          <p:nvPr/>
        </p:nvSpPr>
        <p:spPr>
          <a:xfrm>
            <a:off x="4367784" y="1554480"/>
            <a:ext cx="3453384" cy="548640"/>
          </a:xfrm>
          <a:prstGeom prst="roundRect">
            <a:avLst>
              <a:gd name="adj" fmla="val 13333"/>
            </a:avLst>
          </a:prstGeom>
          <a:solidFill>
            <a:srgbClr val="1B2A52"/>
          </a:solidFill>
          <a:ln/>
        </p:spPr>
      </p:sp>
      <p:sp>
        <p:nvSpPr>
          <p:cNvPr id="13" name="Shape 11"/>
          <p:cNvSpPr/>
          <p:nvPr/>
        </p:nvSpPr>
        <p:spPr>
          <a:xfrm>
            <a:off x="4367784" y="1828800"/>
            <a:ext cx="3453384" cy="274320"/>
          </a:xfrm>
          <a:prstGeom prst="rect">
            <a:avLst/>
          </a:prstGeom>
          <a:solidFill>
            <a:srgbClr val="1B2A52"/>
          </a:solidFill>
          <a:ln/>
        </p:spPr>
      </p:sp>
      <p:sp>
        <p:nvSpPr>
          <p:cNvPr id="14" name="Text 12"/>
          <p:cNvSpPr/>
          <p:nvPr/>
        </p:nvSpPr>
        <p:spPr>
          <a:xfrm>
            <a:off x="4504944" y="1554480"/>
            <a:ext cx="3179064" cy="548640"/>
          </a:xfrm>
          <a:prstGeom prst="rect">
            <a:avLst/>
          </a:prstGeom>
          <a:noFill/>
          <a:ln/>
        </p:spPr>
        <p:txBody>
          <a:bodyPr wrap="square" lIns="0" tIns="0" rIns="0" bIns="0" rtlCol="0" anchor="ctr"/>
          <a:lstStyle/>
          <a:p>
            <a:pPr algn="ctr" indent="0" marL="0">
              <a:buNone/>
            </a:pPr>
            <a:r>
              <a:rPr lang="en-US" sz="1350" b="1" dirty="0">
                <a:solidFill>
                  <a:srgbClr val="B8912F"/>
                </a:solidFill>
                <a:latin typeface="Cambria" pitchFamily="34" charset="0"/>
                <a:ea typeface="Cambria" pitchFamily="34" charset="-122"/>
                <a:cs typeface="Cambria" pitchFamily="34" charset="-120"/>
              </a:rPr>
              <a:t>Religious Freedom</a:t>
            </a:r>
            <a:endParaRPr lang="en-US" sz="1350" dirty="0"/>
          </a:p>
        </p:txBody>
      </p:sp>
      <p:sp>
        <p:nvSpPr>
          <p:cNvPr id="15" name="Text 13"/>
          <p:cNvSpPr/>
          <p:nvPr/>
        </p:nvSpPr>
        <p:spPr>
          <a:xfrm>
            <a:off x="4568952" y="2286000"/>
            <a:ext cx="3051048" cy="3566160"/>
          </a:xfrm>
          <a:prstGeom prst="rect">
            <a:avLst/>
          </a:prstGeom>
          <a:noFill/>
          <a:ln/>
        </p:spPr>
        <p:txBody>
          <a:bodyPr wrap="square" lIns="0" tIns="0" rIns="0" bIns="0" rtlCol="0" anchor="ctr"/>
          <a:lstStyle/>
          <a:p>
            <a:pPr marL="152400" indent="-152400">
              <a:lnSpc>
                <a:spcPct val="128000"/>
              </a:lnSpc>
              <a:spcAft>
                <a:spcPts val="1200"/>
              </a:spcAft>
              <a:buSzPct val="100000"/>
              <a:buChar char="▪"/>
            </a:pPr>
            <a:r>
              <a:rPr lang="en-US" sz="1100" dirty="0">
                <a:solidFill>
                  <a:srgbClr val="23324E"/>
                </a:solidFill>
                <a:latin typeface="Calibri" pitchFamily="34" charset="0"/>
                <a:ea typeface="Calibri" pitchFamily="34" charset="-122"/>
                <a:cs typeface="Calibri" pitchFamily="34" charset="-120"/>
              </a:rPr>
              <a:t>Grounded in the dignity of the human person</a:t>
            </a:r>
            <a:endParaRPr lang="en-US" sz="1100" dirty="0"/>
          </a:p>
          <a:p>
            <a:pPr marL="152400" indent="-152400">
              <a:lnSpc>
                <a:spcPct val="128000"/>
              </a:lnSpc>
              <a:spcAft>
                <a:spcPts val="1200"/>
              </a:spcAft>
              <a:buSzPct val="100000"/>
              <a:buChar char="▪"/>
            </a:pPr>
            <a:r>
              <a:rPr lang="en-US" sz="1100" dirty="0">
                <a:solidFill>
                  <a:srgbClr val="23324E"/>
                </a:solidFill>
                <a:latin typeface="Calibri" pitchFamily="34" charset="0"/>
                <a:ea typeface="Calibri" pitchFamily="34" charset="-122"/>
                <a:cs typeface="Calibri" pitchFamily="34" charset="-120"/>
              </a:rPr>
              <a:t>Immunity from coercion in religious matters, for all persons</a:t>
            </a:r>
            <a:endParaRPr lang="en-US" sz="1100" dirty="0"/>
          </a:p>
          <a:p>
            <a:pPr marL="152400" indent="-152400">
              <a:lnSpc>
                <a:spcPct val="128000"/>
              </a:lnSpc>
              <a:spcAft>
                <a:spcPts val="1200"/>
              </a:spcAft>
              <a:buSzPct val="100000"/>
              <a:buChar char="▪"/>
            </a:pPr>
            <a:r>
              <a:rPr lang="en-US" sz="1100" dirty="0">
                <a:solidFill>
                  <a:srgbClr val="23324E"/>
                </a:solidFill>
                <a:latin typeface="Calibri" pitchFamily="34" charset="0"/>
                <a:ea typeface="Calibri" pitchFamily="34" charset="-122"/>
                <a:cs typeface="Calibri" pitchFamily="34" charset="-120"/>
              </a:rPr>
              <a:t>A shift from defending only the rights of truth to defending the rights of the person</a:t>
            </a:r>
            <a:endParaRPr lang="en-US" sz="1100" dirty="0"/>
          </a:p>
        </p:txBody>
      </p:sp>
      <p:sp>
        <p:nvSpPr>
          <p:cNvPr id="16" name="Shape 14"/>
          <p:cNvSpPr/>
          <p:nvPr/>
        </p:nvSpPr>
        <p:spPr>
          <a:xfrm>
            <a:off x="8186928" y="1554480"/>
            <a:ext cx="3453384" cy="4434840"/>
          </a:xfrm>
          <a:prstGeom prst="roundRect">
            <a:avLst>
              <a:gd name="adj" fmla="val 2118"/>
            </a:avLst>
          </a:prstGeom>
          <a:solidFill>
            <a:srgbClr val="F3F1E8"/>
          </a:solidFill>
          <a:ln w="12700">
            <a:solidFill>
              <a:srgbClr val="DCD6C0"/>
            </a:solidFill>
            <a:prstDash val="solid"/>
          </a:ln>
          <a:effectLst>
            <a:outerShdw sx="100000" sy="100000" kx="0" ky="0" algn="bl" rotWithShape="0" blurRad="76200" dist="25400" dir="5400000">
              <a:srgbClr val="1B2A52">
                <a:alpha val="18000"/>
              </a:srgbClr>
            </a:outerShdw>
          </a:effectLst>
        </p:spPr>
      </p:sp>
      <p:sp>
        <p:nvSpPr>
          <p:cNvPr id="17" name="Shape 15"/>
          <p:cNvSpPr/>
          <p:nvPr/>
        </p:nvSpPr>
        <p:spPr>
          <a:xfrm>
            <a:off x="8186928" y="1554480"/>
            <a:ext cx="3453384" cy="548640"/>
          </a:xfrm>
          <a:prstGeom prst="roundRect">
            <a:avLst>
              <a:gd name="adj" fmla="val 13333"/>
            </a:avLst>
          </a:prstGeom>
          <a:solidFill>
            <a:srgbClr val="1B2A52"/>
          </a:solidFill>
          <a:ln/>
        </p:spPr>
      </p:sp>
      <p:sp>
        <p:nvSpPr>
          <p:cNvPr id="18" name="Shape 16"/>
          <p:cNvSpPr/>
          <p:nvPr/>
        </p:nvSpPr>
        <p:spPr>
          <a:xfrm>
            <a:off x="8186928" y="1828800"/>
            <a:ext cx="3453384" cy="274320"/>
          </a:xfrm>
          <a:prstGeom prst="rect">
            <a:avLst/>
          </a:prstGeom>
          <a:solidFill>
            <a:srgbClr val="1B2A52"/>
          </a:solidFill>
          <a:ln/>
        </p:spPr>
      </p:sp>
      <p:sp>
        <p:nvSpPr>
          <p:cNvPr id="19" name="Text 17"/>
          <p:cNvSpPr/>
          <p:nvPr/>
        </p:nvSpPr>
        <p:spPr>
          <a:xfrm>
            <a:off x="8324088" y="1554480"/>
            <a:ext cx="3179064" cy="548640"/>
          </a:xfrm>
          <a:prstGeom prst="rect">
            <a:avLst/>
          </a:prstGeom>
          <a:noFill/>
          <a:ln/>
        </p:spPr>
        <p:txBody>
          <a:bodyPr wrap="square" lIns="0" tIns="0" rIns="0" bIns="0" rtlCol="0" anchor="ctr"/>
          <a:lstStyle/>
          <a:p>
            <a:pPr algn="ctr" indent="0" marL="0">
              <a:buNone/>
            </a:pPr>
            <a:r>
              <a:rPr lang="en-US" sz="1350" b="1" dirty="0">
                <a:solidFill>
                  <a:srgbClr val="B8912F"/>
                </a:solidFill>
                <a:latin typeface="Cambria" pitchFamily="34" charset="0"/>
                <a:ea typeface="Cambria" pitchFamily="34" charset="-122"/>
                <a:cs typeface="Cambria" pitchFamily="34" charset="-120"/>
              </a:rPr>
              <a:t>Other Religions</a:t>
            </a:r>
            <a:endParaRPr lang="en-US" sz="1350" dirty="0"/>
          </a:p>
        </p:txBody>
      </p:sp>
      <p:sp>
        <p:nvSpPr>
          <p:cNvPr id="20" name="Text 18"/>
          <p:cNvSpPr/>
          <p:nvPr/>
        </p:nvSpPr>
        <p:spPr>
          <a:xfrm>
            <a:off x="8388096" y="2286000"/>
            <a:ext cx="3051048" cy="3566160"/>
          </a:xfrm>
          <a:prstGeom prst="rect">
            <a:avLst/>
          </a:prstGeom>
          <a:noFill/>
          <a:ln/>
        </p:spPr>
        <p:txBody>
          <a:bodyPr wrap="square" lIns="0" tIns="0" rIns="0" bIns="0" rtlCol="0" anchor="ctr"/>
          <a:lstStyle/>
          <a:p>
            <a:pPr marL="152400" indent="-152400">
              <a:lnSpc>
                <a:spcPct val="128000"/>
              </a:lnSpc>
              <a:spcAft>
                <a:spcPts val="1200"/>
              </a:spcAft>
              <a:buSzPct val="100000"/>
              <a:buChar char="▪"/>
            </a:pPr>
            <a:r>
              <a:rPr lang="en-US" sz="1100" dirty="0">
                <a:solidFill>
                  <a:srgbClr val="23324E"/>
                </a:solidFill>
                <a:latin typeface="Calibri" pitchFamily="34" charset="0"/>
                <a:ea typeface="Calibri" pitchFamily="34" charset="-122"/>
                <a:cs typeface="Calibri" pitchFamily="34" charset="-120"/>
              </a:rPr>
              <a:t>Rejection of all hatred and persecution of the Jewish people</a:t>
            </a:r>
            <a:endParaRPr lang="en-US" sz="1100" dirty="0"/>
          </a:p>
          <a:p>
            <a:pPr marL="152400" indent="-152400">
              <a:lnSpc>
                <a:spcPct val="128000"/>
              </a:lnSpc>
              <a:spcAft>
                <a:spcPts val="1200"/>
              </a:spcAft>
              <a:buSzPct val="100000"/>
              <a:buChar char="▪"/>
            </a:pPr>
            <a:r>
              <a:rPr lang="en-US" sz="1100" dirty="0">
                <a:solidFill>
                  <a:srgbClr val="23324E"/>
                </a:solidFill>
                <a:latin typeface="Calibri" pitchFamily="34" charset="0"/>
                <a:ea typeface="Calibri" pitchFamily="34" charset="-122"/>
                <a:cs typeface="Calibri" pitchFamily="34" charset="-120"/>
              </a:rPr>
              <a:t>Rejection of the old collective “deicide” charge against the Jews</a:t>
            </a:r>
            <a:endParaRPr lang="en-US" sz="1100" dirty="0"/>
          </a:p>
          <a:p>
            <a:pPr marL="152400" indent="-152400">
              <a:lnSpc>
                <a:spcPct val="128000"/>
              </a:lnSpc>
              <a:spcAft>
                <a:spcPts val="1200"/>
              </a:spcAft>
              <a:buSzPct val="100000"/>
              <a:buChar char="▪"/>
            </a:pPr>
            <a:r>
              <a:rPr lang="en-US" sz="1100" dirty="0">
                <a:solidFill>
                  <a:srgbClr val="23324E"/>
                </a:solidFill>
                <a:latin typeface="Calibri" pitchFamily="34" charset="0"/>
                <a:ea typeface="Calibri" pitchFamily="34" charset="-122"/>
                <a:cs typeface="Calibri" pitchFamily="34" charset="-120"/>
              </a:rPr>
              <a:t>“Nothing true and holy” in other religions is rejected; Hinduism, Buddhism, and Islam are named explicitly in Nostra Aetate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SIXTY YEARS ON</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The Legacy of Vatican II</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548640" y="1554480"/>
            <a:ext cx="5362956" cy="3840480"/>
          </a:xfrm>
          <a:prstGeom prst="roundRect">
            <a:avLst>
              <a:gd name="adj" fmla="val 1905"/>
            </a:avLst>
          </a:prstGeom>
          <a:solidFill>
            <a:srgbClr val="EFF3ED"/>
          </a:solidFill>
          <a:ln w="12700">
            <a:solidFill>
              <a:srgbClr val="CBDFC4"/>
            </a:solidFill>
            <a:prstDash val="solid"/>
          </a:ln>
          <a:effectLst>
            <a:outerShdw sx="100000" sy="100000" kx="0" ky="0" algn="bl" rotWithShape="0" blurRad="76200" dist="25400" dir="5400000">
              <a:srgbClr val="1B2A52">
                <a:alpha val="18000"/>
              </a:srgbClr>
            </a:outerShdw>
          </a:effectLst>
        </p:spPr>
      </p:sp>
      <p:sp>
        <p:nvSpPr>
          <p:cNvPr id="7" name="Text 5"/>
          <p:cNvSpPr/>
          <p:nvPr/>
        </p:nvSpPr>
        <p:spPr>
          <a:xfrm>
            <a:off x="822960" y="1737360"/>
            <a:ext cx="4814316" cy="36576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What Changed</a:t>
            </a:r>
            <a:endParaRPr lang="en-US" sz="1600" dirty="0"/>
          </a:p>
        </p:txBody>
      </p:sp>
      <p:sp>
        <p:nvSpPr>
          <p:cNvPr id="8" name="Text 6"/>
          <p:cNvSpPr/>
          <p:nvPr/>
        </p:nvSpPr>
        <p:spPr>
          <a:xfrm>
            <a:off x="822960" y="2148840"/>
            <a:ext cx="4814316" cy="3108960"/>
          </a:xfrm>
          <a:prstGeom prst="rect">
            <a:avLst/>
          </a:prstGeom>
          <a:noFill/>
          <a:ln/>
        </p:spPr>
        <p:txBody>
          <a:bodyPr wrap="square" lIns="0" tIns="0" rIns="0" bIns="0" rtlCol="0" anchor="ctr"/>
          <a:lstStyle/>
          <a:p>
            <a:pPr marL="177800" indent="-177800">
              <a:lnSpc>
                <a:spcPct val="122000"/>
              </a:lnSpc>
              <a:spcAft>
                <a:spcPts val="800"/>
              </a:spcAft>
              <a:buSzPct val="100000"/>
              <a:buChar char="▪"/>
            </a:pPr>
            <a:r>
              <a:rPr lang="en-US" sz="1130" dirty="0">
                <a:solidFill>
                  <a:srgbClr val="23324E"/>
                </a:solidFill>
                <a:latin typeface="Calibri" pitchFamily="34" charset="0"/>
                <a:ea typeface="Calibri" pitchFamily="34" charset="-122"/>
                <a:cs typeface="Calibri" pitchFamily="34" charset="-120"/>
              </a:rPr>
              <a:t>A renewed self-understanding as the People of God</a:t>
            </a:r>
            <a:endParaRPr lang="en-US" sz="1130" dirty="0"/>
          </a:p>
          <a:p>
            <a:pPr marL="177800" indent="-177800">
              <a:lnSpc>
                <a:spcPct val="122000"/>
              </a:lnSpc>
              <a:spcAft>
                <a:spcPts val="800"/>
              </a:spcAft>
              <a:buSzPct val="100000"/>
              <a:buChar char="▪"/>
            </a:pPr>
            <a:r>
              <a:rPr lang="en-US" sz="1130" dirty="0">
                <a:solidFill>
                  <a:srgbClr val="23324E"/>
                </a:solidFill>
                <a:latin typeface="Calibri" pitchFamily="34" charset="0"/>
                <a:ea typeface="Calibri" pitchFamily="34" charset="-122"/>
                <a:cs typeface="Calibri" pitchFamily="34" charset="-120"/>
              </a:rPr>
              <a:t>Liturgical renewal — active participation in intelligible worship</a:t>
            </a:r>
            <a:endParaRPr lang="en-US" sz="1130" dirty="0"/>
          </a:p>
          <a:p>
            <a:pPr marL="177800" indent="-177800">
              <a:lnSpc>
                <a:spcPct val="122000"/>
              </a:lnSpc>
              <a:spcAft>
                <a:spcPts val="800"/>
              </a:spcAft>
              <a:buSzPct val="100000"/>
              <a:buChar char="▪"/>
            </a:pPr>
            <a:r>
              <a:rPr lang="en-US" sz="1130" dirty="0">
                <a:solidFill>
                  <a:srgbClr val="23324E"/>
                </a:solidFill>
                <a:latin typeface="Calibri" pitchFamily="34" charset="0"/>
                <a:ea typeface="Calibri" pitchFamily="34" charset="-122"/>
                <a:cs typeface="Calibri" pitchFamily="34" charset="-120"/>
              </a:rPr>
              <a:t>Ecumenical openness toward other Christians</a:t>
            </a:r>
            <a:endParaRPr lang="en-US" sz="1130" dirty="0"/>
          </a:p>
          <a:p>
            <a:pPr marL="177800" indent="-177800">
              <a:lnSpc>
                <a:spcPct val="122000"/>
              </a:lnSpc>
              <a:spcAft>
                <a:spcPts val="800"/>
              </a:spcAft>
              <a:buSzPct val="100000"/>
              <a:buChar char="▪"/>
            </a:pPr>
            <a:r>
              <a:rPr lang="en-US" sz="1130" dirty="0">
                <a:solidFill>
                  <a:srgbClr val="23324E"/>
                </a:solidFill>
                <a:latin typeface="Calibri" pitchFamily="34" charset="0"/>
                <a:ea typeface="Calibri" pitchFamily="34" charset="-122"/>
                <a:cs typeface="Calibri" pitchFamily="34" charset="-120"/>
              </a:rPr>
              <a:t>Interreligious respect toward other world religions</a:t>
            </a:r>
            <a:endParaRPr lang="en-US" sz="1130" dirty="0"/>
          </a:p>
          <a:p>
            <a:pPr marL="177800" indent="-177800">
              <a:lnSpc>
                <a:spcPct val="122000"/>
              </a:lnSpc>
              <a:spcAft>
                <a:spcPts val="800"/>
              </a:spcAft>
              <a:buSzPct val="100000"/>
              <a:buChar char="▪"/>
            </a:pPr>
            <a:r>
              <a:rPr lang="en-US" sz="1130" dirty="0">
                <a:solidFill>
                  <a:srgbClr val="23324E"/>
                </a:solidFill>
                <a:latin typeface="Calibri" pitchFamily="34" charset="0"/>
                <a:ea typeface="Calibri" pitchFamily="34" charset="-122"/>
                <a:cs typeface="Calibri" pitchFamily="34" charset="-120"/>
              </a:rPr>
              <a:t>A defense of religious freedom grounded in human dignity</a:t>
            </a:r>
            <a:endParaRPr lang="en-US" sz="1130" dirty="0"/>
          </a:p>
          <a:p>
            <a:pPr marL="177800" indent="-177800">
              <a:lnSpc>
                <a:spcPct val="122000"/>
              </a:lnSpc>
              <a:spcAft>
                <a:spcPts val="800"/>
              </a:spcAft>
              <a:buSzPct val="100000"/>
              <a:buChar char="▪"/>
            </a:pPr>
            <a:r>
              <a:rPr lang="en-US" sz="1130" dirty="0">
                <a:solidFill>
                  <a:srgbClr val="23324E"/>
                </a:solidFill>
                <a:latin typeface="Calibri" pitchFamily="34" charset="0"/>
                <a:ea typeface="Calibri" pitchFamily="34" charset="-122"/>
                <a:cs typeface="Calibri" pitchFamily="34" charset="-120"/>
              </a:rPr>
              <a:t>Scripture restored to the center of Catholic life</a:t>
            </a:r>
            <a:endParaRPr lang="en-US" sz="1130" dirty="0"/>
          </a:p>
          <a:p>
            <a:pPr marL="177800" indent="-177800">
              <a:lnSpc>
                <a:spcPct val="122000"/>
              </a:lnSpc>
              <a:spcAft>
                <a:spcPts val="800"/>
              </a:spcAft>
              <a:buSzPct val="100000"/>
              <a:buChar char="▪"/>
            </a:pPr>
            <a:r>
              <a:rPr lang="en-US" sz="1130" dirty="0">
                <a:solidFill>
                  <a:srgbClr val="23324E"/>
                </a:solidFill>
                <a:latin typeface="Calibri" pitchFamily="34" charset="0"/>
                <a:ea typeface="Calibri" pitchFamily="34" charset="-122"/>
                <a:cs typeface="Calibri" pitchFamily="34" charset="-120"/>
              </a:rPr>
              <a:t>The laity's universal call to holiness and mission</a:t>
            </a:r>
            <a:endParaRPr lang="en-US" sz="1130" dirty="0"/>
          </a:p>
        </p:txBody>
      </p:sp>
      <p:sp>
        <p:nvSpPr>
          <p:cNvPr id="9" name="Shape 7"/>
          <p:cNvSpPr/>
          <p:nvPr/>
        </p:nvSpPr>
        <p:spPr>
          <a:xfrm>
            <a:off x="6277356" y="1554480"/>
            <a:ext cx="5362956" cy="3840480"/>
          </a:xfrm>
          <a:prstGeom prst="roundRect">
            <a:avLst>
              <a:gd name="adj" fmla="val 1905"/>
            </a:avLst>
          </a:prstGeom>
          <a:solidFill>
            <a:srgbClr val="F5EAEA"/>
          </a:solidFill>
          <a:ln w="12700">
            <a:solidFill>
              <a:srgbClr val="E0B9BC"/>
            </a:solidFill>
            <a:prstDash val="solid"/>
          </a:ln>
          <a:effectLst>
            <a:outerShdw sx="100000" sy="100000" kx="0" ky="0" algn="bl" rotWithShape="0" blurRad="76200" dist="25400" dir="5400000">
              <a:srgbClr val="1B2A52">
                <a:alpha val="18000"/>
              </a:srgbClr>
            </a:outerShdw>
          </a:effectLst>
        </p:spPr>
      </p:sp>
      <p:sp>
        <p:nvSpPr>
          <p:cNvPr id="10" name="Text 8"/>
          <p:cNvSpPr/>
          <p:nvPr/>
        </p:nvSpPr>
        <p:spPr>
          <a:xfrm>
            <a:off x="6551676" y="1737360"/>
            <a:ext cx="4814316" cy="365760"/>
          </a:xfrm>
          <a:prstGeom prst="rect">
            <a:avLst/>
          </a:prstGeom>
          <a:noFill/>
          <a:ln/>
        </p:spPr>
        <p:txBody>
          <a:bodyPr wrap="square" lIns="0" tIns="0" rIns="0" bIns="0" rtlCol="0" anchor="ctr"/>
          <a:lstStyle/>
          <a:p>
            <a:pPr indent="0" marL="0">
              <a:buNone/>
            </a:pPr>
            <a:r>
              <a:rPr lang="en-US" sz="1600" b="1" dirty="0">
                <a:solidFill>
                  <a:srgbClr val="7A1B2E"/>
                </a:solidFill>
                <a:latin typeface="Cambria" pitchFamily="34" charset="0"/>
                <a:ea typeface="Cambria" pitchFamily="34" charset="-122"/>
                <a:cs typeface="Cambria" pitchFamily="34" charset="-120"/>
              </a:rPr>
              <a:t>What Remains Open</a:t>
            </a:r>
            <a:endParaRPr lang="en-US" sz="1600" dirty="0"/>
          </a:p>
        </p:txBody>
      </p:sp>
      <p:sp>
        <p:nvSpPr>
          <p:cNvPr id="11" name="Text 9"/>
          <p:cNvSpPr/>
          <p:nvPr/>
        </p:nvSpPr>
        <p:spPr>
          <a:xfrm>
            <a:off x="6551676" y="2148840"/>
            <a:ext cx="4814316" cy="3108960"/>
          </a:xfrm>
          <a:prstGeom prst="rect">
            <a:avLst/>
          </a:prstGeom>
          <a:noFill/>
          <a:ln/>
        </p:spPr>
        <p:txBody>
          <a:bodyPr wrap="square" lIns="0" tIns="0" rIns="0" bIns="0" rtlCol="0" anchor="ctr"/>
          <a:lstStyle/>
          <a:p>
            <a:pPr marL="177800" indent="-177800">
              <a:lnSpc>
                <a:spcPct val="125000"/>
              </a:lnSpc>
              <a:spcAft>
                <a:spcPts val="1000"/>
              </a:spcAft>
              <a:buSzPct val="100000"/>
              <a:buChar char="▪"/>
            </a:pPr>
            <a:r>
              <a:rPr lang="en-US" sz="1130" dirty="0">
                <a:solidFill>
                  <a:srgbClr val="23324E"/>
                </a:solidFill>
                <a:latin typeface="Calibri" pitchFamily="34" charset="0"/>
                <a:ea typeface="Calibri" pitchFamily="34" charset="-122"/>
                <a:cs typeface="Calibri" pitchFamily="34" charset="-120"/>
              </a:rPr>
              <a:t>How to hold continuity and renewal together</a:t>
            </a:r>
            <a:endParaRPr lang="en-US" sz="1130" dirty="0"/>
          </a:p>
          <a:p>
            <a:pPr marL="177800" indent="-177800">
              <a:lnSpc>
                <a:spcPct val="125000"/>
              </a:lnSpc>
              <a:spcAft>
                <a:spcPts val="1000"/>
              </a:spcAft>
              <a:buSzPct val="100000"/>
              <a:buChar char="▪"/>
            </a:pPr>
            <a:r>
              <a:rPr lang="en-US" sz="1130" dirty="0">
                <a:solidFill>
                  <a:srgbClr val="23324E"/>
                </a:solidFill>
                <a:latin typeface="Calibri" pitchFamily="34" charset="0"/>
                <a:ea typeface="Calibri" pitchFamily="34" charset="-122"/>
                <a:cs typeface="Calibri" pitchFamily="34" charset="-120"/>
              </a:rPr>
              <a:t>How to weigh the letter of the texts against their spirit</a:t>
            </a:r>
            <a:endParaRPr lang="en-US" sz="1130" dirty="0"/>
          </a:p>
          <a:p>
            <a:pPr marL="177800" indent="-177800">
              <a:lnSpc>
                <a:spcPct val="125000"/>
              </a:lnSpc>
              <a:spcAft>
                <a:spcPts val="1000"/>
              </a:spcAft>
              <a:buSzPct val="100000"/>
              <a:buChar char="▪"/>
            </a:pPr>
            <a:r>
              <a:rPr lang="en-US" sz="1130" dirty="0">
                <a:solidFill>
                  <a:srgbClr val="23324E"/>
                </a:solidFill>
                <a:latin typeface="Calibri" pitchFamily="34" charset="0"/>
                <a:ea typeface="Calibri" pitchFamily="34" charset="-122"/>
                <a:cs typeface="Calibri" pitchFamily="34" charset="-120"/>
              </a:rPr>
              <a:t>How to address liturgical polarization</a:t>
            </a:r>
            <a:endParaRPr lang="en-US" sz="1130" dirty="0"/>
          </a:p>
          <a:p>
            <a:pPr marL="177800" indent="-177800">
              <a:lnSpc>
                <a:spcPct val="125000"/>
              </a:lnSpc>
              <a:spcAft>
                <a:spcPts val="1000"/>
              </a:spcAft>
              <a:buSzPct val="100000"/>
              <a:buChar char="▪"/>
            </a:pPr>
            <a:r>
              <a:rPr lang="en-US" sz="1130" dirty="0">
                <a:solidFill>
                  <a:srgbClr val="23324E"/>
                </a:solidFill>
                <a:latin typeface="Calibri" pitchFamily="34" charset="0"/>
                <a:ea typeface="Calibri" pitchFamily="34" charset="-122"/>
                <a:cs typeface="Calibri" pitchFamily="34" charset="-120"/>
              </a:rPr>
              <a:t>How to heal the traditionalist schism</a:t>
            </a:r>
            <a:endParaRPr lang="en-US" sz="1130" dirty="0"/>
          </a:p>
          <a:p>
            <a:pPr marL="177800" indent="-177800">
              <a:lnSpc>
                <a:spcPct val="125000"/>
              </a:lnSpc>
              <a:spcAft>
                <a:spcPts val="1000"/>
              </a:spcAft>
              <a:buSzPct val="100000"/>
              <a:buChar char="▪"/>
            </a:pPr>
            <a:r>
              <a:rPr lang="en-US" sz="1130" dirty="0">
                <a:solidFill>
                  <a:srgbClr val="23324E"/>
                </a:solidFill>
                <a:latin typeface="Calibri" pitchFamily="34" charset="0"/>
                <a:ea typeface="Calibri" pitchFamily="34" charset="-122"/>
                <a:cs typeface="Calibri" pitchFamily="34" charset="-120"/>
              </a:rPr>
              <a:t>How to implement collegiality in practice</a:t>
            </a:r>
            <a:endParaRPr lang="en-US" sz="1130" dirty="0"/>
          </a:p>
        </p:txBody>
      </p:sp>
      <p:sp>
        <p:nvSpPr>
          <p:cNvPr id="12" name="Shape 10"/>
          <p:cNvSpPr/>
          <p:nvPr/>
        </p:nvSpPr>
        <p:spPr>
          <a:xfrm>
            <a:off x="548640" y="5532120"/>
            <a:ext cx="11091672" cy="822960"/>
          </a:xfrm>
          <a:prstGeom prst="roundRect">
            <a:avLst>
              <a:gd name="adj" fmla="val 8889"/>
            </a:avLst>
          </a:prstGeom>
          <a:solidFill>
            <a:srgbClr val="1B2A52"/>
          </a:solidFill>
          <a:ln w="12700">
            <a:solidFill>
              <a:srgbClr val="1B2A52"/>
            </a:solidFill>
            <a:prstDash val="solid"/>
          </a:ln>
        </p:spPr>
      </p:sp>
      <p:sp>
        <p:nvSpPr>
          <p:cNvPr id="13" name="Text 11"/>
          <p:cNvSpPr/>
          <p:nvPr/>
        </p:nvSpPr>
        <p:spPr>
          <a:xfrm>
            <a:off x="822960" y="5532120"/>
            <a:ext cx="10543032" cy="822960"/>
          </a:xfrm>
          <a:prstGeom prst="rect">
            <a:avLst/>
          </a:prstGeom>
          <a:noFill/>
          <a:ln/>
        </p:spPr>
        <p:txBody>
          <a:bodyPr wrap="square" lIns="0" tIns="0" rIns="0" bIns="0" rtlCol="0" anchor="ctr"/>
          <a:lstStyle/>
          <a:p>
            <a:pPr algn="ctr" indent="0" marL="0">
              <a:buNone/>
            </a:pPr>
            <a:r>
              <a:rPr lang="en-US" sz="1350" i="1" dirty="0">
                <a:solidFill>
                  <a:srgbClr val="E8DAAE"/>
                </a:solidFill>
                <a:latin typeface="Cambria" pitchFamily="34" charset="0"/>
                <a:ea typeface="Cambria" pitchFamily="34" charset="-122"/>
                <a:cs typeface="Cambria" pitchFamily="34" charset="-120"/>
              </a:rPr>
              <a:t>The Council remains a compass for the Church's future — one to be read with the whole of Tradition as its map.</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2A52"/>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Council's Invitation</a:t>
            </a:r>
            <a:endParaRPr lang="en-US" sz="2700" dirty="0"/>
          </a:p>
        </p:txBody>
      </p:sp>
      <p:sp>
        <p:nvSpPr>
          <p:cNvPr id="4" name="Shape 2"/>
          <p:cNvSpPr/>
          <p:nvPr/>
        </p:nvSpPr>
        <p:spPr>
          <a:xfrm>
            <a:off x="548640" y="1600200"/>
            <a:ext cx="11091672" cy="1554480"/>
          </a:xfrm>
          <a:prstGeom prst="roundRect">
            <a:avLst>
              <a:gd name="adj" fmla="val 4706"/>
            </a:avLst>
          </a:prstGeom>
          <a:solidFill>
            <a:srgbClr val="121D38"/>
          </a:solidFill>
          <a:ln w="12700">
            <a:solidFill>
              <a:srgbClr val="121D38"/>
            </a:solidFill>
            <a:prstDash val="solid"/>
          </a:ln>
          <a:effectLst>
            <a:outerShdw sx="100000" sy="100000" kx="0" ky="0" algn="bl" rotWithShape="0" blurRad="76200" dist="25400" dir="5400000">
              <a:srgbClr val="1B2A52">
                <a:alpha val="18000"/>
              </a:srgbClr>
            </a:outerShdw>
          </a:effectLst>
        </p:spPr>
      </p:sp>
      <p:sp>
        <p:nvSpPr>
          <p:cNvPr id="5" name="Text 3"/>
          <p:cNvSpPr/>
          <p:nvPr/>
        </p:nvSpPr>
        <p:spPr>
          <a:xfrm>
            <a:off x="914400" y="1783080"/>
            <a:ext cx="10360152" cy="685800"/>
          </a:xfrm>
          <a:prstGeom prst="rect">
            <a:avLst/>
          </a:prstGeom>
          <a:noFill/>
          <a:ln/>
        </p:spPr>
        <p:txBody>
          <a:bodyPr wrap="square" lIns="0" tIns="0" rIns="0" bIns="0" rtlCol="0" anchor="ctr"/>
          <a:lstStyle/>
          <a:p>
            <a:pPr indent="0" marL="0">
              <a:buNone/>
            </a:pPr>
            <a:r>
              <a:rPr lang="en-US" sz="1800" b="1" i="1" dirty="0">
                <a:solidFill>
                  <a:srgbClr val="B8912F"/>
                </a:solidFill>
                <a:latin typeface="Cambria" pitchFamily="34" charset="0"/>
                <a:ea typeface="Cambria" pitchFamily="34" charset="-122"/>
                <a:cs typeface="Cambria" pitchFamily="34" charset="-120"/>
              </a:rPr>
              <a:t>“The joys and hopes, the griefs and anxieties of the followers of Christ.”</a:t>
            </a:r>
            <a:endParaRPr lang="en-US" sz="1800" dirty="0"/>
          </a:p>
        </p:txBody>
      </p:sp>
      <p:sp>
        <p:nvSpPr>
          <p:cNvPr id="6" name="Text 4"/>
          <p:cNvSpPr/>
          <p:nvPr/>
        </p:nvSpPr>
        <p:spPr>
          <a:xfrm>
            <a:off x="914400" y="2514600"/>
            <a:ext cx="10360152" cy="594360"/>
          </a:xfrm>
          <a:prstGeom prst="rect">
            <a:avLst/>
          </a:prstGeom>
          <a:noFill/>
          <a:ln/>
        </p:spPr>
        <p:txBody>
          <a:bodyPr wrap="square" lIns="0" tIns="0" rIns="0" bIns="0" rtlCol="0" anchor="ctr"/>
          <a:lstStyle/>
          <a:p>
            <a:pPr indent="0" marL="0">
              <a:lnSpc>
                <a:spcPct val="120000"/>
              </a:lnSpc>
              <a:buNone/>
            </a:pPr>
            <a:r>
              <a:rPr lang="en-US" sz="1050" i="1" dirty="0">
                <a:solidFill>
                  <a:srgbClr val="9FADC7"/>
                </a:solidFill>
                <a:latin typeface="Calibri" pitchFamily="34" charset="0"/>
                <a:ea typeface="Calibri" pitchFamily="34" charset="-122"/>
                <a:cs typeface="Calibri" pitchFamily="34" charset="-120"/>
              </a:rPr>
              <a:t>The opening words of Gaudium et Spes §1, promulgated December 7, 1965 — not, as sometimes assumed, a separate message issued in 1962. (The Council Fathers had, in fact, issued a distinct Message to Humanity on October 20, 1962.)</a:t>
            </a:r>
            <a:endParaRPr lang="en-US" sz="1050" dirty="0"/>
          </a:p>
        </p:txBody>
      </p:sp>
      <p:sp>
        <p:nvSpPr>
          <p:cNvPr id="7" name="Shape 5"/>
          <p:cNvSpPr/>
          <p:nvPr/>
        </p:nvSpPr>
        <p:spPr>
          <a:xfrm>
            <a:off x="548640" y="3337560"/>
            <a:ext cx="5362956" cy="1828800"/>
          </a:xfrm>
          <a:prstGeom prst="roundRect">
            <a:avLst>
              <a:gd name="adj" fmla="val 4000"/>
            </a:avLst>
          </a:prstGeom>
          <a:solidFill>
            <a:srgbClr val="5A2530"/>
          </a:solidFill>
          <a:ln w="12700">
            <a:solidFill>
              <a:srgbClr val="5A2530"/>
            </a:solidFill>
            <a:prstDash val="solid"/>
          </a:ln>
          <a:effectLst>
            <a:outerShdw sx="100000" sy="100000" kx="0" ky="0" algn="bl" rotWithShape="0" blurRad="76200" dist="25400" dir="5400000">
              <a:srgbClr val="1B2A52">
                <a:alpha val="18000"/>
              </a:srgbClr>
            </a:outerShdw>
          </a:effectLst>
        </p:spPr>
      </p:sp>
      <p:sp>
        <p:nvSpPr>
          <p:cNvPr id="8" name="Text 6"/>
          <p:cNvSpPr/>
          <p:nvPr/>
        </p:nvSpPr>
        <p:spPr>
          <a:xfrm>
            <a:off x="822960" y="3493008"/>
            <a:ext cx="4814316"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Vatican II Was Not About</a:t>
            </a:r>
            <a:endParaRPr lang="en-US" sz="1400" dirty="0"/>
          </a:p>
        </p:txBody>
      </p:sp>
      <p:sp>
        <p:nvSpPr>
          <p:cNvPr id="9" name="Text 7"/>
          <p:cNvSpPr/>
          <p:nvPr/>
        </p:nvSpPr>
        <p:spPr>
          <a:xfrm>
            <a:off x="822960" y="3886200"/>
            <a:ext cx="4814316" cy="1188720"/>
          </a:xfrm>
          <a:prstGeom prst="rect">
            <a:avLst/>
          </a:prstGeom>
          <a:noFill/>
          <a:ln/>
        </p:spPr>
        <p:txBody>
          <a:bodyPr wrap="square" lIns="0" tIns="0" rIns="0" bIns="0" rtlCol="0" anchor="ctr"/>
          <a:lstStyle/>
          <a:p>
            <a:pPr marL="152400" indent="-152400">
              <a:lnSpc>
                <a:spcPct val="120000"/>
              </a:lnSpc>
              <a:spcAft>
                <a:spcPts val="600"/>
              </a:spcAft>
              <a:buSzPct val="100000"/>
              <a:buChar char="▪"/>
            </a:pPr>
            <a:r>
              <a:rPr lang="en-US" sz="1150" dirty="0">
                <a:solidFill>
                  <a:srgbClr val="F0DCE0"/>
                </a:solidFill>
                <a:latin typeface="Calibri" pitchFamily="34" charset="0"/>
                <a:ea typeface="Calibri" pitchFamily="34" charset="-122"/>
                <a:cs typeface="Calibri" pitchFamily="34" charset="-120"/>
              </a:rPr>
              <a:t>Abandoning Tradition</a:t>
            </a:r>
            <a:endParaRPr lang="en-US" sz="1150" dirty="0"/>
          </a:p>
          <a:p>
            <a:pPr marL="152400" indent="-152400">
              <a:lnSpc>
                <a:spcPct val="120000"/>
              </a:lnSpc>
              <a:spcAft>
                <a:spcPts val="600"/>
              </a:spcAft>
              <a:buSzPct val="100000"/>
              <a:buChar char="▪"/>
            </a:pPr>
            <a:r>
              <a:rPr lang="en-US" sz="1150" dirty="0">
                <a:solidFill>
                  <a:srgbClr val="F0DCE0"/>
                </a:solidFill>
                <a:latin typeface="Calibri" pitchFamily="34" charset="0"/>
                <a:ea typeface="Calibri" pitchFamily="34" charset="-122"/>
                <a:cs typeface="Calibri" pitchFamily="34" charset="-120"/>
              </a:rPr>
              <a:t>Capitulating to modernism</a:t>
            </a:r>
            <a:endParaRPr lang="en-US" sz="1150" dirty="0"/>
          </a:p>
          <a:p>
            <a:pPr marL="152400" indent="-152400">
              <a:lnSpc>
                <a:spcPct val="120000"/>
              </a:lnSpc>
              <a:spcAft>
                <a:spcPts val="600"/>
              </a:spcAft>
              <a:buSzPct val="100000"/>
              <a:buChar char="▪"/>
            </a:pPr>
            <a:r>
              <a:rPr lang="en-US" sz="1150" dirty="0">
                <a:solidFill>
                  <a:srgbClr val="F0DCE0"/>
                </a:solidFill>
                <a:latin typeface="Calibri" pitchFamily="34" charset="0"/>
                <a:ea typeface="Calibri" pitchFamily="34" charset="-122"/>
                <a:cs typeface="Calibri" pitchFamily="34" charset="-120"/>
              </a:rPr>
              <a:t>Becoming “Protestant”</a:t>
            </a:r>
            <a:endParaRPr lang="en-US" sz="1150" dirty="0"/>
          </a:p>
        </p:txBody>
      </p:sp>
      <p:sp>
        <p:nvSpPr>
          <p:cNvPr id="10" name="Shape 8"/>
          <p:cNvSpPr/>
          <p:nvPr/>
        </p:nvSpPr>
        <p:spPr>
          <a:xfrm>
            <a:off x="6277356" y="3337560"/>
            <a:ext cx="5362956" cy="1828800"/>
          </a:xfrm>
          <a:prstGeom prst="roundRect">
            <a:avLst>
              <a:gd name="adj" fmla="val 4000"/>
            </a:avLst>
          </a:prstGeom>
          <a:solidFill>
            <a:srgbClr val="1E3A5F"/>
          </a:solidFill>
          <a:ln w="12700">
            <a:solidFill>
              <a:srgbClr val="1E3A5F"/>
            </a:solidFill>
            <a:prstDash val="solid"/>
          </a:ln>
          <a:effectLst>
            <a:outerShdw sx="100000" sy="100000" kx="0" ky="0" algn="bl" rotWithShape="0" blurRad="76200" dist="25400" dir="5400000">
              <a:srgbClr val="1B2A52">
                <a:alpha val="18000"/>
              </a:srgbClr>
            </a:outerShdw>
          </a:effectLst>
        </p:spPr>
      </p:sp>
      <p:sp>
        <p:nvSpPr>
          <p:cNvPr id="11" name="Text 9"/>
          <p:cNvSpPr/>
          <p:nvPr/>
        </p:nvSpPr>
        <p:spPr>
          <a:xfrm>
            <a:off x="6551676" y="3493008"/>
            <a:ext cx="4814316" cy="365760"/>
          </a:xfrm>
          <a:prstGeom prst="rect">
            <a:avLst/>
          </a:prstGeom>
          <a:noFill/>
          <a:ln/>
        </p:spPr>
        <p:txBody>
          <a:bodyPr wrap="square" lIns="0" tIns="0" rIns="0" bIns="0" rtlCol="0" anchor="ctr"/>
          <a:lstStyle/>
          <a:p>
            <a:pPr indent="0" marL="0">
              <a:buNone/>
            </a:pPr>
            <a:r>
              <a:rPr lang="en-US" sz="1400" b="1" dirty="0">
                <a:solidFill>
                  <a:srgbClr val="B8912F"/>
                </a:solidFill>
                <a:latin typeface="Cambria" pitchFamily="34" charset="0"/>
                <a:ea typeface="Cambria" pitchFamily="34" charset="-122"/>
                <a:cs typeface="Cambria" pitchFamily="34" charset="-120"/>
              </a:rPr>
              <a:t>Vatican II Was About</a:t>
            </a:r>
            <a:endParaRPr lang="en-US" sz="1400" dirty="0"/>
          </a:p>
        </p:txBody>
      </p:sp>
      <p:sp>
        <p:nvSpPr>
          <p:cNvPr id="12" name="Text 10"/>
          <p:cNvSpPr/>
          <p:nvPr/>
        </p:nvSpPr>
        <p:spPr>
          <a:xfrm>
            <a:off x="6551676" y="3886200"/>
            <a:ext cx="4814316" cy="1188720"/>
          </a:xfrm>
          <a:prstGeom prst="rect">
            <a:avLst/>
          </a:prstGeom>
          <a:noFill/>
          <a:ln/>
        </p:spPr>
        <p:txBody>
          <a:bodyPr wrap="square" lIns="0" tIns="0" rIns="0" bIns="0" rtlCol="0" anchor="ctr"/>
          <a:lstStyle/>
          <a:p>
            <a:pPr marL="152400" indent="-152400">
              <a:lnSpc>
                <a:spcPct val="120000"/>
              </a:lnSpc>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Rediscovering the Church's authentic sources</a:t>
            </a:r>
            <a:endParaRPr lang="en-US" sz="1150" dirty="0"/>
          </a:p>
          <a:p>
            <a:pPr marL="152400" indent="-152400">
              <a:lnSpc>
                <a:spcPct val="120000"/>
              </a:lnSpc>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Presenting the faith effectively to the modern world</a:t>
            </a:r>
            <a:endParaRPr lang="en-US" sz="1150" dirty="0"/>
          </a:p>
          <a:p>
            <a:pPr marL="152400" indent="-152400">
              <a:lnSpc>
                <a:spcPct val="120000"/>
              </a:lnSpc>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Reading the “signs of the times”</a:t>
            </a:r>
            <a:endParaRPr lang="en-US" sz="1150" dirty="0"/>
          </a:p>
        </p:txBody>
      </p:sp>
      <p:sp>
        <p:nvSpPr>
          <p:cNvPr id="13" name="Text 11"/>
          <p:cNvSpPr/>
          <p:nvPr/>
        </p:nvSpPr>
        <p:spPr>
          <a:xfrm>
            <a:off x="548640" y="5394960"/>
            <a:ext cx="11091672" cy="822960"/>
          </a:xfrm>
          <a:prstGeom prst="rect">
            <a:avLst/>
          </a:prstGeom>
          <a:noFill/>
          <a:ln/>
        </p:spPr>
        <p:txBody>
          <a:bodyPr wrap="square" lIns="0" tIns="0" rIns="0" bIns="0" rtlCol="0" anchor="ctr"/>
          <a:lstStyle/>
          <a:p>
            <a:pPr algn="ctr" indent="0" marL="0">
              <a:lnSpc>
                <a:spcPct val="125000"/>
              </a:lnSpc>
              <a:buNone/>
            </a:pPr>
            <a:r>
              <a:rPr lang="en-US" sz="1350" i="1" dirty="0">
                <a:solidFill>
                  <a:srgbClr val="E8DAAE"/>
                </a:solidFill>
                <a:latin typeface="Cambria" pitchFamily="34" charset="0"/>
                <a:ea typeface="Cambria" pitchFamily="34" charset="-122"/>
                <a:cs typeface="Cambria" pitchFamily="34" charset="-120"/>
              </a:rPr>
              <a:t>“...the duty of scrutinizing the signs of the times...” — Gaudium et Spes, 4. The Council ended; its implementation continues.</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lIns="0" tIns="0" rIns="0" bIns="0" rtlCol="0" anchor="ctr"/>
          <a:lstStyle/>
          <a:p>
            <a:pPr algn="l" indent="0" marL="0">
              <a:buNone/>
            </a:pPr>
            <a:r>
              <a:rPr lang="en-US" sz="1200" b="1" spc="200" kern="0" dirty="0">
                <a:solidFill>
                  <a:srgbClr val="B8912F"/>
                </a:solidFill>
                <a:latin typeface="Calibri" pitchFamily="34" charset="0"/>
                <a:ea typeface="Calibri" pitchFamily="34" charset="-122"/>
                <a:cs typeface="Calibri" pitchFamily="34" charset="-120"/>
              </a:rPr>
              <a:t>AT A GLANCE</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Timeline Summary</a:t>
            </a:r>
            <a:endParaRPr lang="en-US" sz="2700" dirty="0"/>
          </a:p>
        </p:txBody>
      </p:sp>
      <p:sp>
        <p:nvSpPr>
          <p:cNvPr id="4" name="Text 2"/>
          <p:cNvSpPr/>
          <p:nvPr/>
        </p:nvSpPr>
        <p:spPr>
          <a:xfrm>
            <a:off x="548640" y="6537960"/>
            <a:ext cx="7315200" cy="274320"/>
          </a:xfrm>
          <a:prstGeom prst="rect">
            <a:avLst/>
          </a:prstGeom>
          <a:noFill/>
          <a:ln/>
        </p:spPr>
        <p:txBody>
          <a:bodyPr wrap="square" lIns="0" tIns="0" rIns="0" bIns="0" rtlCol="0" anchor="ctr"/>
          <a:lstStyle/>
          <a:p>
            <a:pPr indent="0" marL="0">
              <a:buNone/>
            </a:pPr>
            <a:r>
              <a:rPr lang="en-US" sz="900" dirty="0">
                <a:solidFill>
                  <a:srgbClr val="5C6B85"/>
                </a:solidFill>
                <a:latin typeface="Calibri" pitchFamily="34" charset="0"/>
                <a:ea typeface="Calibri" pitchFamily="34" charset="-122"/>
                <a:cs typeface="Calibri" pitchFamily="34" charset="-120"/>
              </a:rPr>
              <a:t>Vatican II and the Evolution of Modern Catholic Thought</a:t>
            </a:r>
            <a:endParaRPr lang="en-US" sz="900" dirty="0"/>
          </a:p>
        </p:txBody>
      </p:sp>
      <p:sp>
        <p:nvSpPr>
          <p:cNvPr id="5" name="Text 3"/>
          <p:cNvSpPr/>
          <p:nvPr/>
        </p:nvSpPr>
        <p:spPr>
          <a:xfrm>
            <a:off x="11091672" y="6537960"/>
            <a:ext cx="548640" cy="274320"/>
          </a:xfrm>
          <a:prstGeom prst="rect">
            <a:avLst/>
          </a:prstGeom>
          <a:noFill/>
          <a:ln/>
        </p:spPr>
        <p:txBody>
          <a:bodyPr wrap="square" lIns="0" tIns="0" rIns="0" bIns="0" rtlCol="0" anchor="ctr"/>
          <a:lstStyle/>
          <a:p>
            <a:pPr algn="r" indent="0" marL="0">
              <a:buNone/>
            </a:pPr>
            <a:r>
              <a:rPr lang="en-US" sz="900" dirty="0">
                <a:solidFill>
                  <a:srgbClr val="5C6B85"/>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48640" y="1673352"/>
            <a:ext cx="109728" cy="109728"/>
          </a:xfrm>
          <a:prstGeom prst="ellipse">
            <a:avLst/>
          </a:prstGeom>
          <a:solidFill>
            <a:srgbClr val="B8912F"/>
          </a:solidFill>
          <a:ln/>
        </p:spPr>
      </p:sp>
      <p:sp>
        <p:nvSpPr>
          <p:cNvPr id="7" name="Shape 5"/>
          <p:cNvSpPr/>
          <p:nvPr/>
        </p:nvSpPr>
        <p:spPr>
          <a:xfrm>
            <a:off x="603504" y="1783080"/>
            <a:ext cx="0" cy="484632"/>
          </a:xfrm>
          <a:prstGeom prst="line">
            <a:avLst/>
          </a:prstGeom>
          <a:noFill/>
          <a:ln w="15875">
            <a:solidFill>
              <a:srgbClr val="DCD6C0"/>
            </a:solidFill>
            <a:prstDash val="solid"/>
          </a:ln>
        </p:spPr>
      </p:sp>
      <p:sp>
        <p:nvSpPr>
          <p:cNvPr id="8" name="Text 6"/>
          <p:cNvSpPr/>
          <p:nvPr/>
        </p:nvSpPr>
        <p:spPr>
          <a:xfrm>
            <a:off x="822960" y="1572768"/>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1869–1870</a:t>
            </a:r>
            <a:endParaRPr lang="en-US" sz="1050" dirty="0"/>
          </a:p>
        </p:txBody>
      </p:sp>
      <p:sp>
        <p:nvSpPr>
          <p:cNvPr id="9" name="Text 7"/>
          <p:cNvSpPr/>
          <p:nvPr/>
        </p:nvSpPr>
        <p:spPr>
          <a:xfrm>
            <a:off x="2286000" y="1572768"/>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Vatican I convenes; interrupted, never formally closed</a:t>
            </a:r>
            <a:endParaRPr lang="en-US" sz="1030" dirty="0"/>
          </a:p>
        </p:txBody>
      </p:sp>
      <p:sp>
        <p:nvSpPr>
          <p:cNvPr id="10" name="Shape 8"/>
          <p:cNvSpPr/>
          <p:nvPr/>
        </p:nvSpPr>
        <p:spPr>
          <a:xfrm>
            <a:off x="548640" y="2295144"/>
            <a:ext cx="109728" cy="109728"/>
          </a:xfrm>
          <a:prstGeom prst="ellipse">
            <a:avLst/>
          </a:prstGeom>
          <a:solidFill>
            <a:srgbClr val="B8912F"/>
          </a:solidFill>
          <a:ln/>
        </p:spPr>
      </p:sp>
      <p:sp>
        <p:nvSpPr>
          <p:cNvPr id="11" name="Shape 9"/>
          <p:cNvSpPr/>
          <p:nvPr/>
        </p:nvSpPr>
        <p:spPr>
          <a:xfrm>
            <a:off x="603504" y="2404872"/>
            <a:ext cx="0" cy="484632"/>
          </a:xfrm>
          <a:prstGeom prst="line">
            <a:avLst/>
          </a:prstGeom>
          <a:noFill/>
          <a:ln w="15875">
            <a:solidFill>
              <a:srgbClr val="DCD6C0"/>
            </a:solidFill>
            <a:prstDash val="solid"/>
          </a:ln>
        </p:spPr>
      </p:sp>
      <p:sp>
        <p:nvSpPr>
          <p:cNvPr id="12" name="Text 10"/>
          <p:cNvSpPr/>
          <p:nvPr/>
        </p:nvSpPr>
        <p:spPr>
          <a:xfrm>
            <a:off x="822960" y="2194560"/>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Jan 25, 1959</a:t>
            </a:r>
            <a:endParaRPr lang="en-US" sz="1050" dirty="0"/>
          </a:p>
        </p:txBody>
      </p:sp>
      <p:sp>
        <p:nvSpPr>
          <p:cNvPr id="13" name="Text 11"/>
          <p:cNvSpPr/>
          <p:nvPr/>
        </p:nvSpPr>
        <p:spPr>
          <a:xfrm>
            <a:off x="2286000" y="2194560"/>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John XXIII announces Vatican II</a:t>
            </a:r>
            <a:endParaRPr lang="en-US" sz="1030" dirty="0"/>
          </a:p>
        </p:txBody>
      </p:sp>
      <p:sp>
        <p:nvSpPr>
          <p:cNvPr id="14" name="Shape 12"/>
          <p:cNvSpPr/>
          <p:nvPr/>
        </p:nvSpPr>
        <p:spPr>
          <a:xfrm>
            <a:off x="548640" y="2916936"/>
            <a:ext cx="109728" cy="109728"/>
          </a:xfrm>
          <a:prstGeom prst="ellipse">
            <a:avLst/>
          </a:prstGeom>
          <a:solidFill>
            <a:srgbClr val="B8912F"/>
          </a:solidFill>
          <a:ln/>
        </p:spPr>
      </p:sp>
      <p:sp>
        <p:nvSpPr>
          <p:cNvPr id="15" name="Shape 13"/>
          <p:cNvSpPr/>
          <p:nvPr/>
        </p:nvSpPr>
        <p:spPr>
          <a:xfrm>
            <a:off x="603504" y="3026664"/>
            <a:ext cx="0" cy="484632"/>
          </a:xfrm>
          <a:prstGeom prst="line">
            <a:avLst/>
          </a:prstGeom>
          <a:noFill/>
          <a:ln w="15875">
            <a:solidFill>
              <a:srgbClr val="DCD6C0"/>
            </a:solidFill>
            <a:prstDash val="solid"/>
          </a:ln>
        </p:spPr>
      </p:sp>
      <p:sp>
        <p:nvSpPr>
          <p:cNvPr id="16" name="Text 14"/>
          <p:cNvSpPr/>
          <p:nvPr/>
        </p:nvSpPr>
        <p:spPr>
          <a:xfrm>
            <a:off x="822960" y="2816352"/>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Oct 11, 1962</a:t>
            </a:r>
            <a:endParaRPr lang="en-US" sz="1050" dirty="0"/>
          </a:p>
        </p:txBody>
      </p:sp>
      <p:sp>
        <p:nvSpPr>
          <p:cNvPr id="17" name="Text 15"/>
          <p:cNvSpPr/>
          <p:nvPr/>
        </p:nvSpPr>
        <p:spPr>
          <a:xfrm>
            <a:off x="2286000" y="2816352"/>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Council opens; Gaudet Mater Ecclesia</a:t>
            </a:r>
            <a:endParaRPr lang="en-US" sz="1030" dirty="0"/>
          </a:p>
        </p:txBody>
      </p:sp>
      <p:sp>
        <p:nvSpPr>
          <p:cNvPr id="18" name="Shape 16"/>
          <p:cNvSpPr/>
          <p:nvPr/>
        </p:nvSpPr>
        <p:spPr>
          <a:xfrm>
            <a:off x="548640" y="3538728"/>
            <a:ext cx="109728" cy="109728"/>
          </a:xfrm>
          <a:prstGeom prst="ellipse">
            <a:avLst/>
          </a:prstGeom>
          <a:solidFill>
            <a:srgbClr val="B8912F"/>
          </a:solidFill>
          <a:ln/>
        </p:spPr>
      </p:sp>
      <p:sp>
        <p:nvSpPr>
          <p:cNvPr id="19" name="Shape 17"/>
          <p:cNvSpPr/>
          <p:nvPr/>
        </p:nvSpPr>
        <p:spPr>
          <a:xfrm>
            <a:off x="603504" y="3648456"/>
            <a:ext cx="0" cy="484632"/>
          </a:xfrm>
          <a:prstGeom prst="line">
            <a:avLst/>
          </a:prstGeom>
          <a:noFill/>
          <a:ln w="15875">
            <a:solidFill>
              <a:srgbClr val="DCD6C0"/>
            </a:solidFill>
            <a:prstDash val="solid"/>
          </a:ln>
        </p:spPr>
      </p:sp>
      <p:sp>
        <p:nvSpPr>
          <p:cNvPr id="20" name="Text 18"/>
          <p:cNvSpPr/>
          <p:nvPr/>
        </p:nvSpPr>
        <p:spPr>
          <a:xfrm>
            <a:off x="822960" y="3438144"/>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Oct 13, 1962</a:t>
            </a:r>
            <a:endParaRPr lang="en-US" sz="1050" dirty="0"/>
          </a:p>
        </p:txBody>
      </p:sp>
      <p:sp>
        <p:nvSpPr>
          <p:cNvPr id="21" name="Text 19"/>
          <p:cNvSpPr/>
          <p:nvPr/>
        </p:nvSpPr>
        <p:spPr>
          <a:xfrm>
            <a:off x="2286000" y="3438144"/>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Bishops assert control of commission elections</a:t>
            </a:r>
            <a:endParaRPr lang="en-US" sz="1030" dirty="0"/>
          </a:p>
        </p:txBody>
      </p:sp>
      <p:sp>
        <p:nvSpPr>
          <p:cNvPr id="22" name="Shape 20"/>
          <p:cNvSpPr/>
          <p:nvPr/>
        </p:nvSpPr>
        <p:spPr>
          <a:xfrm>
            <a:off x="548640" y="4160520"/>
            <a:ext cx="109728" cy="109728"/>
          </a:xfrm>
          <a:prstGeom prst="ellipse">
            <a:avLst/>
          </a:prstGeom>
          <a:solidFill>
            <a:srgbClr val="B8912F"/>
          </a:solidFill>
          <a:ln/>
        </p:spPr>
      </p:sp>
      <p:sp>
        <p:nvSpPr>
          <p:cNvPr id="23" name="Shape 21"/>
          <p:cNvSpPr/>
          <p:nvPr/>
        </p:nvSpPr>
        <p:spPr>
          <a:xfrm>
            <a:off x="603504" y="4270248"/>
            <a:ext cx="0" cy="484632"/>
          </a:xfrm>
          <a:prstGeom prst="line">
            <a:avLst/>
          </a:prstGeom>
          <a:noFill/>
          <a:ln w="15875">
            <a:solidFill>
              <a:srgbClr val="DCD6C0"/>
            </a:solidFill>
            <a:prstDash val="solid"/>
          </a:ln>
        </p:spPr>
      </p:sp>
      <p:sp>
        <p:nvSpPr>
          <p:cNvPr id="24" name="Text 22"/>
          <p:cNvSpPr/>
          <p:nvPr/>
        </p:nvSpPr>
        <p:spPr>
          <a:xfrm>
            <a:off x="822960" y="4059936"/>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Dec 8, 1962</a:t>
            </a:r>
            <a:endParaRPr lang="en-US" sz="1050" dirty="0"/>
          </a:p>
        </p:txBody>
      </p:sp>
      <p:sp>
        <p:nvSpPr>
          <p:cNvPr id="25" name="Text 23"/>
          <p:cNvSpPr/>
          <p:nvPr/>
        </p:nvSpPr>
        <p:spPr>
          <a:xfrm>
            <a:off x="2286000" y="4059936"/>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First session ends</a:t>
            </a:r>
            <a:endParaRPr lang="en-US" sz="1030" dirty="0"/>
          </a:p>
        </p:txBody>
      </p:sp>
      <p:sp>
        <p:nvSpPr>
          <p:cNvPr id="26" name="Shape 24"/>
          <p:cNvSpPr/>
          <p:nvPr/>
        </p:nvSpPr>
        <p:spPr>
          <a:xfrm>
            <a:off x="548640" y="4782312"/>
            <a:ext cx="109728" cy="109728"/>
          </a:xfrm>
          <a:prstGeom prst="ellipse">
            <a:avLst/>
          </a:prstGeom>
          <a:solidFill>
            <a:srgbClr val="B8912F"/>
          </a:solidFill>
          <a:ln/>
        </p:spPr>
      </p:sp>
      <p:sp>
        <p:nvSpPr>
          <p:cNvPr id="27" name="Shape 25"/>
          <p:cNvSpPr/>
          <p:nvPr/>
        </p:nvSpPr>
        <p:spPr>
          <a:xfrm>
            <a:off x="603504" y="4892040"/>
            <a:ext cx="0" cy="484632"/>
          </a:xfrm>
          <a:prstGeom prst="line">
            <a:avLst/>
          </a:prstGeom>
          <a:noFill/>
          <a:ln w="15875">
            <a:solidFill>
              <a:srgbClr val="DCD6C0"/>
            </a:solidFill>
            <a:prstDash val="solid"/>
          </a:ln>
        </p:spPr>
      </p:sp>
      <p:sp>
        <p:nvSpPr>
          <p:cNvPr id="28" name="Text 26"/>
          <p:cNvSpPr/>
          <p:nvPr/>
        </p:nvSpPr>
        <p:spPr>
          <a:xfrm>
            <a:off x="822960" y="4681728"/>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Jun 3, 1963</a:t>
            </a:r>
            <a:endParaRPr lang="en-US" sz="1050" dirty="0"/>
          </a:p>
        </p:txBody>
      </p:sp>
      <p:sp>
        <p:nvSpPr>
          <p:cNvPr id="29" name="Text 27"/>
          <p:cNvSpPr/>
          <p:nvPr/>
        </p:nvSpPr>
        <p:spPr>
          <a:xfrm>
            <a:off x="2286000" y="4681728"/>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Pope John XXIII dies</a:t>
            </a:r>
            <a:endParaRPr lang="en-US" sz="1030" dirty="0"/>
          </a:p>
        </p:txBody>
      </p:sp>
      <p:sp>
        <p:nvSpPr>
          <p:cNvPr id="30" name="Shape 28"/>
          <p:cNvSpPr/>
          <p:nvPr/>
        </p:nvSpPr>
        <p:spPr>
          <a:xfrm>
            <a:off x="548640" y="5404104"/>
            <a:ext cx="109728" cy="109728"/>
          </a:xfrm>
          <a:prstGeom prst="ellipse">
            <a:avLst/>
          </a:prstGeom>
          <a:solidFill>
            <a:srgbClr val="B8912F"/>
          </a:solidFill>
          <a:ln/>
        </p:spPr>
      </p:sp>
      <p:sp>
        <p:nvSpPr>
          <p:cNvPr id="31" name="Shape 29"/>
          <p:cNvSpPr/>
          <p:nvPr/>
        </p:nvSpPr>
        <p:spPr>
          <a:xfrm>
            <a:off x="603504" y="5513832"/>
            <a:ext cx="0" cy="484632"/>
          </a:xfrm>
          <a:prstGeom prst="line">
            <a:avLst/>
          </a:prstGeom>
          <a:noFill/>
          <a:ln w="15875">
            <a:solidFill>
              <a:srgbClr val="DCD6C0"/>
            </a:solidFill>
            <a:prstDash val="solid"/>
          </a:ln>
        </p:spPr>
      </p:sp>
      <p:sp>
        <p:nvSpPr>
          <p:cNvPr id="32" name="Text 30"/>
          <p:cNvSpPr/>
          <p:nvPr/>
        </p:nvSpPr>
        <p:spPr>
          <a:xfrm>
            <a:off x="822960" y="5303520"/>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Jun 21, 1963</a:t>
            </a:r>
            <a:endParaRPr lang="en-US" sz="1050" dirty="0"/>
          </a:p>
        </p:txBody>
      </p:sp>
      <p:sp>
        <p:nvSpPr>
          <p:cNvPr id="33" name="Text 31"/>
          <p:cNvSpPr/>
          <p:nvPr/>
        </p:nvSpPr>
        <p:spPr>
          <a:xfrm>
            <a:off x="2286000" y="5303520"/>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Paul VI elected</a:t>
            </a:r>
            <a:endParaRPr lang="en-US" sz="1030" dirty="0"/>
          </a:p>
        </p:txBody>
      </p:sp>
      <p:sp>
        <p:nvSpPr>
          <p:cNvPr id="34" name="Shape 32"/>
          <p:cNvSpPr/>
          <p:nvPr/>
        </p:nvSpPr>
        <p:spPr>
          <a:xfrm>
            <a:off x="6277356" y="1673352"/>
            <a:ext cx="109728" cy="109728"/>
          </a:xfrm>
          <a:prstGeom prst="ellipse">
            <a:avLst/>
          </a:prstGeom>
          <a:solidFill>
            <a:srgbClr val="B8912F"/>
          </a:solidFill>
          <a:ln/>
        </p:spPr>
      </p:sp>
      <p:sp>
        <p:nvSpPr>
          <p:cNvPr id="35" name="Shape 33"/>
          <p:cNvSpPr/>
          <p:nvPr/>
        </p:nvSpPr>
        <p:spPr>
          <a:xfrm>
            <a:off x="6332220" y="1783080"/>
            <a:ext cx="0" cy="484632"/>
          </a:xfrm>
          <a:prstGeom prst="line">
            <a:avLst/>
          </a:prstGeom>
          <a:noFill/>
          <a:ln w="15875">
            <a:solidFill>
              <a:srgbClr val="DCD6C0"/>
            </a:solidFill>
            <a:prstDash val="solid"/>
          </a:ln>
        </p:spPr>
      </p:sp>
      <p:sp>
        <p:nvSpPr>
          <p:cNvPr id="36" name="Text 34"/>
          <p:cNvSpPr/>
          <p:nvPr/>
        </p:nvSpPr>
        <p:spPr>
          <a:xfrm>
            <a:off x="6551676" y="1572768"/>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Dec 4, 1963</a:t>
            </a:r>
            <a:endParaRPr lang="en-US" sz="1050" dirty="0"/>
          </a:p>
        </p:txBody>
      </p:sp>
      <p:sp>
        <p:nvSpPr>
          <p:cNvPr id="37" name="Text 35"/>
          <p:cNvSpPr/>
          <p:nvPr/>
        </p:nvSpPr>
        <p:spPr>
          <a:xfrm>
            <a:off x="8014716" y="1572768"/>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Sacrosanctum Concilium promulgated</a:t>
            </a:r>
            <a:endParaRPr lang="en-US" sz="1030" dirty="0"/>
          </a:p>
        </p:txBody>
      </p:sp>
      <p:sp>
        <p:nvSpPr>
          <p:cNvPr id="38" name="Shape 36"/>
          <p:cNvSpPr/>
          <p:nvPr/>
        </p:nvSpPr>
        <p:spPr>
          <a:xfrm>
            <a:off x="6277356" y="2295144"/>
            <a:ext cx="109728" cy="109728"/>
          </a:xfrm>
          <a:prstGeom prst="ellipse">
            <a:avLst/>
          </a:prstGeom>
          <a:solidFill>
            <a:srgbClr val="B8912F"/>
          </a:solidFill>
          <a:ln/>
        </p:spPr>
      </p:sp>
      <p:sp>
        <p:nvSpPr>
          <p:cNvPr id="39" name="Shape 37"/>
          <p:cNvSpPr/>
          <p:nvPr/>
        </p:nvSpPr>
        <p:spPr>
          <a:xfrm>
            <a:off x="6332220" y="2404872"/>
            <a:ext cx="0" cy="484632"/>
          </a:xfrm>
          <a:prstGeom prst="line">
            <a:avLst/>
          </a:prstGeom>
          <a:noFill/>
          <a:ln w="15875">
            <a:solidFill>
              <a:srgbClr val="DCD6C0"/>
            </a:solidFill>
            <a:prstDash val="solid"/>
          </a:ln>
        </p:spPr>
      </p:sp>
      <p:sp>
        <p:nvSpPr>
          <p:cNvPr id="40" name="Text 38"/>
          <p:cNvSpPr/>
          <p:nvPr/>
        </p:nvSpPr>
        <p:spPr>
          <a:xfrm>
            <a:off x="6551676" y="2194560"/>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Nov 1964</a:t>
            </a:r>
            <a:endParaRPr lang="en-US" sz="1050" dirty="0"/>
          </a:p>
        </p:txBody>
      </p:sp>
      <p:sp>
        <p:nvSpPr>
          <p:cNvPr id="41" name="Text 39"/>
          <p:cNvSpPr/>
          <p:nvPr/>
        </p:nvSpPr>
        <p:spPr>
          <a:xfrm>
            <a:off x="8014716" y="2194560"/>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“Black Week” crisis</a:t>
            </a:r>
            <a:endParaRPr lang="en-US" sz="1030" dirty="0"/>
          </a:p>
        </p:txBody>
      </p:sp>
      <p:sp>
        <p:nvSpPr>
          <p:cNvPr id="42" name="Shape 40"/>
          <p:cNvSpPr/>
          <p:nvPr/>
        </p:nvSpPr>
        <p:spPr>
          <a:xfrm>
            <a:off x="6277356" y="2916936"/>
            <a:ext cx="109728" cy="109728"/>
          </a:xfrm>
          <a:prstGeom prst="ellipse">
            <a:avLst/>
          </a:prstGeom>
          <a:solidFill>
            <a:srgbClr val="B8912F"/>
          </a:solidFill>
          <a:ln/>
        </p:spPr>
      </p:sp>
      <p:sp>
        <p:nvSpPr>
          <p:cNvPr id="43" name="Shape 41"/>
          <p:cNvSpPr/>
          <p:nvPr/>
        </p:nvSpPr>
        <p:spPr>
          <a:xfrm>
            <a:off x="6332220" y="3026664"/>
            <a:ext cx="0" cy="484632"/>
          </a:xfrm>
          <a:prstGeom prst="line">
            <a:avLst/>
          </a:prstGeom>
          <a:noFill/>
          <a:ln w="15875">
            <a:solidFill>
              <a:srgbClr val="DCD6C0"/>
            </a:solidFill>
            <a:prstDash val="solid"/>
          </a:ln>
        </p:spPr>
      </p:sp>
      <p:sp>
        <p:nvSpPr>
          <p:cNvPr id="44" name="Text 42"/>
          <p:cNvSpPr/>
          <p:nvPr/>
        </p:nvSpPr>
        <p:spPr>
          <a:xfrm>
            <a:off x="6551676" y="2816352"/>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Nov 21, 1964</a:t>
            </a:r>
            <a:endParaRPr lang="en-US" sz="1050" dirty="0"/>
          </a:p>
        </p:txBody>
      </p:sp>
      <p:sp>
        <p:nvSpPr>
          <p:cNvPr id="45" name="Text 43"/>
          <p:cNvSpPr/>
          <p:nvPr/>
        </p:nvSpPr>
        <p:spPr>
          <a:xfrm>
            <a:off x="8014716" y="2816352"/>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Lumen Gentium promulgated</a:t>
            </a:r>
            <a:endParaRPr lang="en-US" sz="1030" dirty="0"/>
          </a:p>
        </p:txBody>
      </p:sp>
      <p:sp>
        <p:nvSpPr>
          <p:cNvPr id="46" name="Shape 44"/>
          <p:cNvSpPr/>
          <p:nvPr/>
        </p:nvSpPr>
        <p:spPr>
          <a:xfrm>
            <a:off x="6277356" y="3538728"/>
            <a:ext cx="109728" cy="109728"/>
          </a:xfrm>
          <a:prstGeom prst="ellipse">
            <a:avLst/>
          </a:prstGeom>
          <a:solidFill>
            <a:srgbClr val="B8912F"/>
          </a:solidFill>
          <a:ln/>
        </p:spPr>
      </p:sp>
      <p:sp>
        <p:nvSpPr>
          <p:cNvPr id="47" name="Shape 45"/>
          <p:cNvSpPr/>
          <p:nvPr/>
        </p:nvSpPr>
        <p:spPr>
          <a:xfrm>
            <a:off x="6332220" y="3648456"/>
            <a:ext cx="0" cy="484632"/>
          </a:xfrm>
          <a:prstGeom prst="line">
            <a:avLst/>
          </a:prstGeom>
          <a:noFill/>
          <a:ln w="15875">
            <a:solidFill>
              <a:srgbClr val="DCD6C0"/>
            </a:solidFill>
            <a:prstDash val="solid"/>
          </a:ln>
        </p:spPr>
      </p:sp>
      <p:sp>
        <p:nvSpPr>
          <p:cNvPr id="48" name="Text 46"/>
          <p:cNvSpPr/>
          <p:nvPr/>
        </p:nvSpPr>
        <p:spPr>
          <a:xfrm>
            <a:off x="6551676" y="3438144"/>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Oct 28, 1965</a:t>
            </a:r>
            <a:endParaRPr lang="en-US" sz="1050" dirty="0"/>
          </a:p>
        </p:txBody>
      </p:sp>
      <p:sp>
        <p:nvSpPr>
          <p:cNvPr id="49" name="Text 47"/>
          <p:cNvSpPr/>
          <p:nvPr/>
        </p:nvSpPr>
        <p:spPr>
          <a:xfrm>
            <a:off x="8014716" y="3438144"/>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Five documents promulgated, incl. Nostra Aetate</a:t>
            </a:r>
            <a:endParaRPr lang="en-US" sz="1030" dirty="0"/>
          </a:p>
        </p:txBody>
      </p:sp>
      <p:sp>
        <p:nvSpPr>
          <p:cNvPr id="50" name="Shape 48"/>
          <p:cNvSpPr/>
          <p:nvPr/>
        </p:nvSpPr>
        <p:spPr>
          <a:xfrm>
            <a:off x="6277356" y="4160520"/>
            <a:ext cx="109728" cy="109728"/>
          </a:xfrm>
          <a:prstGeom prst="ellipse">
            <a:avLst/>
          </a:prstGeom>
          <a:solidFill>
            <a:srgbClr val="B8912F"/>
          </a:solidFill>
          <a:ln/>
        </p:spPr>
      </p:sp>
      <p:sp>
        <p:nvSpPr>
          <p:cNvPr id="51" name="Shape 49"/>
          <p:cNvSpPr/>
          <p:nvPr/>
        </p:nvSpPr>
        <p:spPr>
          <a:xfrm>
            <a:off x="6332220" y="4270248"/>
            <a:ext cx="0" cy="484632"/>
          </a:xfrm>
          <a:prstGeom prst="line">
            <a:avLst/>
          </a:prstGeom>
          <a:noFill/>
          <a:ln w="15875">
            <a:solidFill>
              <a:srgbClr val="DCD6C0"/>
            </a:solidFill>
            <a:prstDash val="solid"/>
          </a:ln>
        </p:spPr>
      </p:sp>
      <p:sp>
        <p:nvSpPr>
          <p:cNvPr id="52" name="Text 50"/>
          <p:cNvSpPr/>
          <p:nvPr/>
        </p:nvSpPr>
        <p:spPr>
          <a:xfrm>
            <a:off x="6551676" y="4059936"/>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Dec 7, 1965</a:t>
            </a:r>
            <a:endParaRPr lang="en-US" sz="1050" dirty="0"/>
          </a:p>
        </p:txBody>
      </p:sp>
      <p:sp>
        <p:nvSpPr>
          <p:cNvPr id="53" name="Text 51"/>
          <p:cNvSpPr/>
          <p:nvPr/>
        </p:nvSpPr>
        <p:spPr>
          <a:xfrm>
            <a:off x="8014716" y="4059936"/>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Gaudium et Spes and Dignitatis Humanae promulgated; 1054 excommunications lifted</a:t>
            </a:r>
            <a:endParaRPr lang="en-US" sz="1030" dirty="0"/>
          </a:p>
        </p:txBody>
      </p:sp>
      <p:sp>
        <p:nvSpPr>
          <p:cNvPr id="54" name="Shape 52"/>
          <p:cNvSpPr/>
          <p:nvPr/>
        </p:nvSpPr>
        <p:spPr>
          <a:xfrm>
            <a:off x="6277356" y="4782312"/>
            <a:ext cx="109728" cy="109728"/>
          </a:xfrm>
          <a:prstGeom prst="ellipse">
            <a:avLst/>
          </a:prstGeom>
          <a:solidFill>
            <a:srgbClr val="B8912F"/>
          </a:solidFill>
          <a:ln/>
        </p:spPr>
      </p:sp>
      <p:sp>
        <p:nvSpPr>
          <p:cNvPr id="55" name="Shape 53"/>
          <p:cNvSpPr/>
          <p:nvPr/>
        </p:nvSpPr>
        <p:spPr>
          <a:xfrm>
            <a:off x="6332220" y="4892040"/>
            <a:ext cx="0" cy="484632"/>
          </a:xfrm>
          <a:prstGeom prst="line">
            <a:avLst/>
          </a:prstGeom>
          <a:noFill/>
          <a:ln w="15875">
            <a:solidFill>
              <a:srgbClr val="DCD6C0"/>
            </a:solidFill>
            <a:prstDash val="solid"/>
          </a:ln>
        </p:spPr>
      </p:sp>
      <p:sp>
        <p:nvSpPr>
          <p:cNvPr id="56" name="Text 54"/>
          <p:cNvSpPr/>
          <p:nvPr/>
        </p:nvSpPr>
        <p:spPr>
          <a:xfrm>
            <a:off x="6551676" y="4681728"/>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Dec 8, 1965</a:t>
            </a:r>
            <a:endParaRPr lang="en-US" sz="1050" dirty="0"/>
          </a:p>
        </p:txBody>
      </p:sp>
      <p:sp>
        <p:nvSpPr>
          <p:cNvPr id="57" name="Text 55"/>
          <p:cNvSpPr/>
          <p:nvPr/>
        </p:nvSpPr>
        <p:spPr>
          <a:xfrm>
            <a:off x="8014716" y="4681728"/>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Vatican II formally closes</a:t>
            </a:r>
            <a:endParaRPr lang="en-US" sz="1030" dirty="0"/>
          </a:p>
        </p:txBody>
      </p:sp>
      <p:sp>
        <p:nvSpPr>
          <p:cNvPr id="58" name="Shape 56"/>
          <p:cNvSpPr/>
          <p:nvPr/>
        </p:nvSpPr>
        <p:spPr>
          <a:xfrm>
            <a:off x="6277356" y="5404104"/>
            <a:ext cx="109728" cy="109728"/>
          </a:xfrm>
          <a:prstGeom prst="ellipse">
            <a:avLst/>
          </a:prstGeom>
          <a:solidFill>
            <a:srgbClr val="B8912F"/>
          </a:solidFill>
          <a:ln/>
        </p:spPr>
      </p:sp>
      <p:sp>
        <p:nvSpPr>
          <p:cNvPr id="59" name="Shape 57"/>
          <p:cNvSpPr/>
          <p:nvPr/>
        </p:nvSpPr>
        <p:spPr>
          <a:xfrm>
            <a:off x="6332220" y="5513832"/>
            <a:ext cx="0" cy="484632"/>
          </a:xfrm>
          <a:prstGeom prst="line">
            <a:avLst/>
          </a:prstGeom>
          <a:noFill/>
          <a:ln w="15875">
            <a:solidFill>
              <a:srgbClr val="DCD6C0"/>
            </a:solidFill>
            <a:prstDash val="solid"/>
          </a:ln>
        </p:spPr>
      </p:sp>
      <p:sp>
        <p:nvSpPr>
          <p:cNvPr id="60" name="Text 58"/>
          <p:cNvSpPr/>
          <p:nvPr/>
        </p:nvSpPr>
        <p:spPr>
          <a:xfrm>
            <a:off x="6551676" y="5303520"/>
            <a:ext cx="1417320" cy="621792"/>
          </a:xfrm>
          <a:prstGeom prst="rect">
            <a:avLst/>
          </a:prstGeom>
          <a:noFill/>
          <a:ln/>
        </p:spPr>
        <p:txBody>
          <a:bodyPr wrap="square" lIns="0" tIns="0" rIns="0" bIns="0" rtlCol="0" anchor="t"/>
          <a:lstStyle/>
          <a:p>
            <a:pPr indent="0" marL="0">
              <a:buNone/>
            </a:pPr>
            <a:r>
              <a:rPr lang="en-US" sz="1050" b="1" dirty="0">
                <a:solidFill>
                  <a:srgbClr val="7A1B2E"/>
                </a:solidFill>
                <a:latin typeface="Calibri" pitchFamily="34" charset="0"/>
                <a:ea typeface="Calibri" pitchFamily="34" charset="-122"/>
                <a:cs typeface="Calibri" pitchFamily="34" charset="-120"/>
              </a:rPr>
              <a:t>1988 / 2009</a:t>
            </a:r>
            <a:endParaRPr lang="en-US" sz="1050" dirty="0"/>
          </a:p>
        </p:txBody>
      </p:sp>
      <p:sp>
        <p:nvSpPr>
          <p:cNvPr id="61" name="Text 59"/>
          <p:cNvSpPr/>
          <p:nvPr/>
        </p:nvSpPr>
        <p:spPr>
          <a:xfrm>
            <a:off x="8014716" y="5303520"/>
            <a:ext cx="3351276" cy="621792"/>
          </a:xfrm>
          <a:prstGeom prst="rect">
            <a:avLst/>
          </a:prstGeom>
          <a:noFill/>
          <a:ln/>
        </p:spPr>
        <p:txBody>
          <a:bodyPr wrap="square" lIns="0" tIns="0" rIns="0" bIns="0" rtlCol="0" anchor="t"/>
          <a:lstStyle/>
          <a:p>
            <a:pPr indent="0" marL="0">
              <a:lnSpc>
                <a:spcPct val="110000"/>
              </a:lnSpc>
              <a:buNone/>
            </a:pPr>
            <a:r>
              <a:rPr lang="en-US" sz="1030" dirty="0">
                <a:solidFill>
                  <a:srgbClr val="23324E"/>
                </a:solidFill>
                <a:latin typeface="Calibri" pitchFamily="34" charset="0"/>
                <a:ea typeface="Calibri" pitchFamily="34" charset="-122"/>
                <a:cs typeface="Calibri" pitchFamily="34" charset="-120"/>
              </a:rPr>
              <a:t>Lefebvre's excommunication; four SSPX bishops' excommunications lifted</a:t>
            </a:r>
            <a:endParaRPr lang="en-US" sz="10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Morning Star Regional Seminary, Barrackpore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Vatican II and the Evolution of Modern Catholic Thought</dc:title>
  <dc:subject>PptxGenJS Presentation</dc:subject>
  <dc:creator>Fr. William Anthony, MSFS</dc:creator>
  <cp:lastModifiedBy>Fr. William Anthony, MSFS</cp:lastModifiedBy>
  <cp:revision>1</cp:revision>
  <dcterms:created xsi:type="dcterms:W3CDTF">2026-08-08T02:04:46Z</dcterms:created>
  <dcterms:modified xsi:type="dcterms:W3CDTF">2026-08-08T02:04:46Z</dcterms:modified>
</cp:coreProperties>
</file>